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99" r:id="rId2"/>
    <p:sldId id="300" r:id="rId3"/>
    <p:sldId id="301" r:id="rId4"/>
    <p:sldId id="302" r:id="rId5"/>
    <p:sldId id="303" r:id="rId6"/>
    <p:sldId id="304" r:id="rId7"/>
    <p:sldId id="305" r:id="rId8"/>
    <p:sldId id="306" r:id="rId9"/>
    <p:sldId id="307" r:id="rId10"/>
    <p:sldId id="308" r:id="rId11"/>
    <p:sldId id="310" r:id="rId12"/>
    <p:sldId id="311" r:id="rId13"/>
    <p:sldId id="312" r:id="rId14"/>
    <p:sldId id="313" r:id="rId15"/>
    <p:sldId id="314" r:id="rId16"/>
    <p:sldId id="315" r:id="rId17"/>
    <p:sldId id="316" r:id="rId18"/>
    <p:sldId id="317" r:id="rId19"/>
    <p:sldId id="318" r:id="rId20"/>
    <p:sldId id="319" r:id="rId21"/>
    <p:sldId id="320" r:id="rId22"/>
    <p:sldId id="321" r:id="rId23"/>
    <p:sldId id="322" r:id="rId24"/>
    <p:sldId id="323" r:id="rId25"/>
    <p:sldId id="324" r:id="rId26"/>
    <p:sldId id="325" r:id="rId27"/>
    <p:sldId id="326" r:id="rId28"/>
    <p:sldId id="327" r:id="rId29"/>
    <p:sldId id="328" r:id="rId30"/>
    <p:sldId id="329" r:id="rId31"/>
    <p:sldId id="330" r:id="rId32"/>
    <p:sldId id="331" r:id="rId33"/>
    <p:sldId id="332" r:id="rId34"/>
    <p:sldId id="333" r:id="rId35"/>
    <p:sldId id="334" r:id="rId36"/>
    <p:sldId id="335" r:id="rId37"/>
    <p:sldId id="336" r:id="rId38"/>
    <p:sldId id="338" r:id="rId39"/>
    <p:sldId id="339" r:id="rId40"/>
    <p:sldId id="340" r:id="rId41"/>
    <p:sldId id="341" r:id="rId42"/>
    <p:sldId id="342" r:id="rId43"/>
    <p:sldId id="337"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646E01-5C55-4336-92D7-019C173B68CA}" type="datetimeFigureOut">
              <a:rPr lang="en-GB" smtClean="0"/>
              <a:t>01/03/2026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41616A-645A-4A1B-A476-7911B27DC4E6}" type="slidenum">
              <a:rPr lang="en-GB" smtClean="0"/>
              <a:t>‹#›</a:t>
            </a:fld>
            <a:endParaRPr lang="en-GB"/>
          </a:p>
        </p:txBody>
      </p:sp>
    </p:spTree>
    <p:extLst>
      <p:ext uri="{BB962C8B-B14F-4D97-AF65-F5344CB8AC3E}">
        <p14:creationId xmlns:p14="http://schemas.microsoft.com/office/powerpoint/2010/main" val="24219110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D41616A-645A-4A1B-A476-7911B27DC4E6}" type="slidenum">
              <a:rPr lang="en-GB" smtClean="0"/>
              <a:t>40</a:t>
            </a:fld>
            <a:endParaRPr lang="en-GB"/>
          </a:p>
        </p:txBody>
      </p:sp>
    </p:spTree>
    <p:extLst>
      <p:ext uri="{BB962C8B-B14F-4D97-AF65-F5344CB8AC3E}">
        <p14:creationId xmlns:p14="http://schemas.microsoft.com/office/powerpoint/2010/main" val="7533186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519B8-3B9C-8DC6-74D9-FE7C16094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43A9EB-7C53-B3D4-7810-C6DB14EC5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2EE3A-6470-0082-BD33-23A94CAC8C6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CE02CD9-3AC8-0FBC-D0BF-20CAB8828063}"/>
              </a:ext>
            </a:extLst>
          </p:cNvPr>
          <p:cNvSpPr>
            <a:spLocks noGrp="1"/>
          </p:cNvSpPr>
          <p:nvPr>
            <p:ph type="sldNum" sz="quarter" idx="5"/>
          </p:nvPr>
        </p:nvSpPr>
        <p:spPr/>
        <p:txBody>
          <a:bodyPr/>
          <a:lstStyle/>
          <a:p>
            <a:fld id="{2D41616A-645A-4A1B-A476-7911B27DC4E6}" type="slidenum">
              <a:rPr lang="en-GB" smtClean="0"/>
              <a:t>41</a:t>
            </a:fld>
            <a:endParaRPr lang="en-GB"/>
          </a:p>
        </p:txBody>
      </p:sp>
    </p:spTree>
    <p:extLst>
      <p:ext uri="{BB962C8B-B14F-4D97-AF65-F5344CB8AC3E}">
        <p14:creationId xmlns:p14="http://schemas.microsoft.com/office/powerpoint/2010/main" val="28516852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848BB-E548-6ED9-819D-D7E4365D4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B3D3-EA3B-F842-695D-BB833675B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93654-3A73-F582-1870-811C43A740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9871642-6991-16C5-12E1-4656F42BDFCF}"/>
              </a:ext>
            </a:extLst>
          </p:cNvPr>
          <p:cNvSpPr>
            <a:spLocks noGrp="1"/>
          </p:cNvSpPr>
          <p:nvPr>
            <p:ph type="sldNum" sz="quarter" idx="5"/>
          </p:nvPr>
        </p:nvSpPr>
        <p:spPr/>
        <p:txBody>
          <a:bodyPr/>
          <a:lstStyle/>
          <a:p>
            <a:fld id="{2D41616A-645A-4A1B-A476-7911B27DC4E6}" type="slidenum">
              <a:rPr lang="en-GB" smtClean="0"/>
              <a:t>42</a:t>
            </a:fld>
            <a:endParaRPr lang="en-GB"/>
          </a:p>
        </p:txBody>
      </p:sp>
    </p:spTree>
    <p:extLst>
      <p:ext uri="{BB962C8B-B14F-4D97-AF65-F5344CB8AC3E}">
        <p14:creationId xmlns:p14="http://schemas.microsoft.com/office/powerpoint/2010/main" val="6730382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CF787-7B67-8E43-9351-E9DBED277AC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F15E0C7E-E9D9-2CB4-FC90-D69602E0FF5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74F6C4A3-F50E-678F-55FC-62FB7CB2CA44}"/>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C44C9616-6C71-05C2-005E-0906C51355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6FE277B-C638-0E8F-717F-6AAE82EAD055}"/>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2415929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CF53A-B5A8-5FF7-7D11-E2D3B401A14B}"/>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0424E37-4AC6-2775-336E-83FD879CCDC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41E19A8-01DA-523C-9D82-14515194CDCB}"/>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23B10D46-929A-9BC1-33AD-266CE7CD2C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41AE64F-70F6-91CF-D013-249BC8913525}"/>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22530408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BDF81-62A3-9544-5940-17CE5CBB7EE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55472D4B-36CF-3486-2B5B-FA8B18DD26E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87F6FEB-8F7F-E118-1F7C-BA18D20F3A3C}"/>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91EAC979-2395-8FA9-303E-91098EDD9EE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4E4DD0-FF73-8C62-0442-8F50CBD04577}"/>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706457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A122F-9B1A-4646-E241-BB680D6B95E6}"/>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CE2344C-7C9F-60E9-83D9-528AD45519E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46D1CFCB-D3FF-7687-E88F-E96F180E35B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9683A036-F6B5-2CEB-1145-F56009F10CBA}"/>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6" name="Footer Placeholder 5">
            <a:extLst>
              <a:ext uri="{FF2B5EF4-FFF2-40B4-BE49-F238E27FC236}">
                <a16:creationId xmlns:a16="http://schemas.microsoft.com/office/drawing/2014/main" id="{0865E309-3F8B-3EB8-5053-8CAC83536CE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1C2396D-8B61-A532-D6B1-4E8AADCB644C}"/>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10803383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FB519-BA85-2EBF-F51B-6E55F696B9A8}"/>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D9A396F9-A51B-546E-7E72-9234DD016EC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3296313-2923-6D5F-4A3E-EA16FE92F17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FA6FCAC-43BA-04D2-D7BF-CB0C95C63A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7A32218-2069-1ED5-3C45-7ABF03562C4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363C7DD3-FC8F-BC38-2F3C-9F2274B45DCE}"/>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8" name="Footer Placeholder 7">
            <a:extLst>
              <a:ext uri="{FF2B5EF4-FFF2-40B4-BE49-F238E27FC236}">
                <a16:creationId xmlns:a16="http://schemas.microsoft.com/office/drawing/2014/main" id="{9E19B3BB-4C3C-5060-573A-8935A32AECE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13725D63-E124-AD3F-9D70-0EB7DB81E2BA}"/>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3689451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8F6D8-0147-1E65-716A-0715EA118622}"/>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51B88828-4527-B607-EF84-926ECE322D3B}"/>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4" name="Footer Placeholder 3">
            <a:extLst>
              <a:ext uri="{FF2B5EF4-FFF2-40B4-BE49-F238E27FC236}">
                <a16:creationId xmlns:a16="http://schemas.microsoft.com/office/drawing/2014/main" id="{9F8A9B7D-0C35-CD59-B335-6965D80684A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CE97D009-23A5-6AF9-F588-A6CA03564C83}"/>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4986014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5FF6A5-6108-16B1-E38B-7029F803967F}"/>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3" name="Footer Placeholder 2">
            <a:extLst>
              <a:ext uri="{FF2B5EF4-FFF2-40B4-BE49-F238E27FC236}">
                <a16:creationId xmlns:a16="http://schemas.microsoft.com/office/drawing/2014/main" id="{E1AA1FD1-9013-25EB-A828-6C4D71FF855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3CEC2FF-FFCC-7CCA-64DE-A3BFCE496D3E}"/>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1837903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23B6A-4E78-8825-8990-8128490AC71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68262AB0-65A1-BBC6-7A62-9BB809D35B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68BD358B-6F81-8259-6ED8-C5CE47E6DE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14E64D-2E9E-CCE9-82D1-43264D56818F}"/>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6" name="Footer Placeholder 5">
            <a:extLst>
              <a:ext uri="{FF2B5EF4-FFF2-40B4-BE49-F238E27FC236}">
                <a16:creationId xmlns:a16="http://schemas.microsoft.com/office/drawing/2014/main" id="{6315FC1B-BF3B-BE9C-77EC-67EE13B296B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561D142-006B-5C9B-1B63-A39E1CA22B43}"/>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533063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FB8ED-F165-8A0C-C064-D48A8FA21C7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EC9185BD-6164-1B50-BCE2-47BA5364BE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7F14BBF7-AA92-CAE3-4DE3-2979DD65E8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3809DB-D444-A8B1-5F68-EA20761D28C1}"/>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6" name="Footer Placeholder 5">
            <a:extLst>
              <a:ext uri="{FF2B5EF4-FFF2-40B4-BE49-F238E27FC236}">
                <a16:creationId xmlns:a16="http://schemas.microsoft.com/office/drawing/2014/main" id="{B60740EA-AD8B-D95D-4741-F51B1CCCDEC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433FF3A-7E2B-BCC8-1872-0A65B1BBF014}"/>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42496712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77FE2-A32C-66CE-BEF6-1D3F668F4E14}"/>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8596EE0-2B59-F14A-B62D-2F933E9BB8B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C6ACA6C-9732-D545-7B1F-E77060CFEBFB}"/>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147E23D8-8982-F0F5-6B01-6F4679383F9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28750BE-5C62-5715-7587-C1CFF94D75DB}"/>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22163144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EC314C-A065-F6E3-F439-3237F44696FD}"/>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E1661A7C-7D38-01A3-F6F4-E6317BB6032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689CDC09-50FB-470F-3913-77CBAAE33609}"/>
              </a:ext>
            </a:extLst>
          </p:cNvPr>
          <p:cNvSpPr>
            <a:spLocks noGrp="1"/>
          </p:cNvSpPr>
          <p:nvPr>
            <p:ph type="dt" sz="half" idx="10"/>
          </p:nvPr>
        </p:nvSpPr>
        <p:spPr/>
        <p:txBody>
          <a:body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04353F82-40DC-CB5C-F741-6431F76F201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3E840F4-EA65-285A-53D3-65F96464E486}"/>
              </a:ext>
            </a:extLst>
          </p:cNvPr>
          <p:cNvSpPr>
            <a:spLocks noGrp="1"/>
          </p:cNvSpPr>
          <p:nvPr>
            <p:ph type="sldNum" sz="quarter" idx="12"/>
          </p:nvPr>
        </p:nvSpPr>
        <p:spPr/>
        <p:txBody>
          <a:bodyPr/>
          <a:lstStyle/>
          <a:p>
            <a:fld id="{F74CCF26-C483-4D0E-80C9-EC21F5F669E8}" type="slidenum">
              <a:rPr lang="en-GB" smtClean="0"/>
              <a:t>‹#›</a:t>
            </a:fld>
            <a:endParaRPr lang="en-GB"/>
          </a:p>
        </p:txBody>
      </p:sp>
    </p:spTree>
    <p:extLst>
      <p:ext uri="{BB962C8B-B14F-4D97-AF65-F5344CB8AC3E}">
        <p14:creationId xmlns:p14="http://schemas.microsoft.com/office/powerpoint/2010/main" val="961174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D7BA85-DEAC-5D49-6658-B9E813D691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2FFDC6BE-1998-98BD-CD72-D0F7767FCC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8A0AFA3-D7F7-29F7-D64C-9B00B2AB34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8B7E97-625A-4BCC-B496-5CABD61294FA}" type="datetimeFigureOut">
              <a:rPr lang="en-GB" smtClean="0"/>
              <a:t>01/03/2026</a:t>
            </a:fld>
            <a:endParaRPr lang="en-GB"/>
          </a:p>
        </p:txBody>
      </p:sp>
      <p:sp>
        <p:nvSpPr>
          <p:cNvPr id="5" name="Footer Placeholder 4">
            <a:extLst>
              <a:ext uri="{FF2B5EF4-FFF2-40B4-BE49-F238E27FC236}">
                <a16:creationId xmlns:a16="http://schemas.microsoft.com/office/drawing/2014/main" id="{BED278AF-5FD5-D266-5766-AD2756E7E9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A84630E-BDAF-9D1A-69A6-87414EB8E97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4CCF26-C483-4D0E-80C9-EC21F5F669E8}" type="slidenum">
              <a:rPr lang="en-GB" smtClean="0"/>
              <a:t>‹#›</a:t>
            </a:fld>
            <a:endParaRPr lang="en-GB"/>
          </a:p>
        </p:txBody>
      </p:sp>
    </p:spTree>
    <p:extLst>
      <p:ext uri="{BB962C8B-B14F-4D97-AF65-F5344CB8AC3E}">
        <p14:creationId xmlns:p14="http://schemas.microsoft.com/office/powerpoint/2010/main" val="13536225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Each test will be mentioned in each levels video. </a:t>
            </a:r>
            <a:br>
              <a:rPr lang="en-GB" dirty="0"/>
            </a:br>
            <a:r>
              <a:rPr lang="en-GB" dirty="0"/>
              <a:t>The videos will be added at the end of the table slides.</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not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0" y="391886"/>
          <a:ext cx="12034157" cy="5842405"/>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29164">
                  <a:extLst>
                    <a:ext uri="{9D8B030D-6E8A-4147-A177-3AD203B41FA5}">
                      <a16:colId xmlns:a16="http://schemas.microsoft.com/office/drawing/2014/main" val="786884226"/>
                    </a:ext>
                  </a:extLst>
                </a:gridCol>
                <a:gridCol w="1102178">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 Arach also plays his vent crawl sound when is attack timer starts, giving the player a small window to react to Arach. Arach plays the </a:t>
                      </a:r>
                      <a:r>
                        <a:rPr lang="en-GB" sz="800" dirty="0" err="1"/>
                        <a:t>the</a:t>
                      </a:r>
                      <a:r>
                        <a:rPr lang="en-GB" sz="800" dirty="0"/>
                        <a:t> same sound but form different audio directions based on if he’s attack from the front vent or back vent.</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 Arach also plays his vent crawl sound when is attack timer starts, giving the player a small window to react to Arach. Arach plays the </a:t>
                      </a:r>
                      <a:r>
                        <a:rPr lang="en-GB" sz="800" dirty="0" err="1"/>
                        <a:t>the</a:t>
                      </a:r>
                      <a:r>
                        <a:rPr lang="en-GB" sz="800" dirty="0"/>
                        <a:t> same sound but form different audio directions based on if he’s attack from the front vent or back vent.</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0" y="391886"/>
          <a:ext cx="12034157" cy="602673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1428750">
                  <a:extLst>
                    <a:ext uri="{9D8B030D-6E8A-4147-A177-3AD203B41FA5}">
                      <a16:colId xmlns:a16="http://schemas.microsoft.com/office/drawing/2014/main" val="3102287305"/>
                    </a:ext>
                  </a:extLst>
                </a:gridCol>
                <a:gridCol w="677635">
                  <a:extLst>
                    <a:ext uri="{9D8B030D-6E8A-4147-A177-3AD203B41FA5}">
                      <a16:colId xmlns:a16="http://schemas.microsoft.com/office/drawing/2014/main" val="4080696647"/>
                    </a:ext>
                  </a:extLst>
                </a:gridCol>
                <a:gridCol w="1306286">
                  <a:extLst>
                    <a:ext uri="{9D8B030D-6E8A-4147-A177-3AD203B41FA5}">
                      <a16:colId xmlns:a16="http://schemas.microsoft.com/office/drawing/2014/main" val="132880537"/>
                    </a:ext>
                  </a:extLst>
                </a:gridCol>
                <a:gridCol w="7143750">
                  <a:extLst>
                    <a:ext uri="{9D8B030D-6E8A-4147-A177-3AD203B41FA5}">
                      <a16:colId xmlns:a16="http://schemas.microsoft.com/office/drawing/2014/main" val="786884226"/>
                    </a:ext>
                  </a:extLst>
                </a:gridCol>
                <a:gridCol w="775607">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txBody>
                  <a:tcPr/>
                </a:tc>
                <a:tc>
                  <a:txBody>
                    <a:bodyPr/>
                    <a:lstStyle/>
                    <a:p>
                      <a:endParaRPr lang="en-GB" sz="800" dirty="0"/>
                    </a:p>
                  </a:txBody>
                  <a:tcPr/>
                </a:tc>
                <a:extLst>
                  <a:ext uri="{0D108BD9-81ED-4DB2-BD59-A6C34878D82A}">
                    <a16:rowId xmlns:a16="http://schemas.microsoft.com/office/drawing/2014/main" val="2541011158"/>
                  </a:ext>
                </a:extLst>
              </a:tr>
              <a:tr h="548322">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nvGraphicFramePr>
        <p:xfrm>
          <a:off x="0" y="391886"/>
          <a:ext cx="10940142" cy="6048463"/>
        </p:xfrm>
        <a:graphic>
          <a:graphicData uri="http://schemas.openxmlformats.org/drawingml/2006/table">
            <a:tbl>
              <a:tblPr firstRow="1" bandRow="1">
                <a:tableStyleId>{5C22544A-7EE6-4342-B048-85BDC9FD1C3A}</a:tableStyleId>
              </a:tblPr>
              <a:tblGrid>
                <a:gridCol w="471903">
                  <a:extLst>
                    <a:ext uri="{9D8B030D-6E8A-4147-A177-3AD203B41FA5}">
                      <a16:colId xmlns:a16="http://schemas.microsoft.com/office/drawing/2014/main" val="2041145262"/>
                    </a:ext>
                  </a:extLst>
                </a:gridCol>
                <a:gridCol w="1657147">
                  <a:extLst>
                    <a:ext uri="{9D8B030D-6E8A-4147-A177-3AD203B41FA5}">
                      <a16:colId xmlns:a16="http://schemas.microsoft.com/office/drawing/2014/main" val="3102287305"/>
                    </a:ext>
                  </a:extLst>
                </a:gridCol>
                <a:gridCol w="616636">
                  <a:extLst>
                    <a:ext uri="{9D8B030D-6E8A-4147-A177-3AD203B41FA5}">
                      <a16:colId xmlns:a16="http://schemas.microsoft.com/office/drawing/2014/main" val="4080696647"/>
                    </a:ext>
                  </a:extLst>
                </a:gridCol>
                <a:gridCol w="1019984">
                  <a:extLst>
                    <a:ext uri="{9D8B030D-6E8A-4147-A177-3AD203B41FA5}">
                      <a16:colId xmlns:a16="http://schemas.microsoft.com/office/drawing/2014/main" val="132880537"/>
                    </a:ext>
                  </a:extLst>
                </a:gridCol>
                <a:gridCol w="3587236">
                  <a:extLst>
                    <a:ext uri="{9D8B030D-6E8A-4147-A177-3AD203B41FA5}">
                      <a16:colId xmlns:a16="http://schemas.microsoft.com/office/drawing/2014/main" val="786884226"/>
                    </a:ext>
                  </a:extLst>
                </a:gridCol>
                <a:gridCol w="3587236">
                  <a:extLst>
                    <a:ext uri="{9D8B030D-6E8A-4147-A177-3AD203B41FA5}">
                      <a16:colId xmlns:a16="http://schemas.microsoft.com/office/drawing/2014/main" val="3813578648"/>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 He also does this for </a:t>
                      </a:r>
                      <a:r>
                        <a:rPr lang="en-GB" sz="800" dirty="0" err="1"/>
                        <a:t>Gwiber</a:t>
                      </a:r>
                      <a:r>
                        <a:rPr lang="en-GB" sz="800" dirty="0"/>
                        <a:t> and Bulker.</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 He also does this for </a:t>
                      </a:r>
                      <a:r>
                        <a:rPr lang="en-GB" sz="800" dirty="0" err="1"/>
                        <a:t>Gwiber</a:t>
                      </a:r>
                      <a:r>
                        <a:rPr lang="en-GB" sz="800" dirty="0"/>
                        <a:t> and Bulker.</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FED8-8070-9576-7EC6-AE635117491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5D6642C-B464-D525-3EB5-3AAB8B4ACC80}"/>
              </a:ext>
            </a:extLst>
          </p:cNvPr>
          <p:cNvGraphicFramePr>
            <a:graphicFrameLocks noGrp="1"/>
          </p:cNvGraphicFramePr>
          <p:nvPr/>
        </p:nvGraphicFramePr>
        <p:xfrm>
          <a:off x="114300" y="391885"/>
          <a:ext cx="11487150" cy="5987503"/>
        </p:xfrm>
        <a:graphic>
          <a:graphicData uri="http://schemas.openxmlformats.org/drawingml/2006/table">
            <a:tbl>
              <a:tblPr firstRow="1" bandRow="1">
                <a:tableStyleId>{5C22544A-7EE6-4342-B048-85BDC9FD1C3A}</a:tableStyleId>
              </a:tblPr>
              <a:tblGrid>
                <a:gridCol w="495498">
                  <a:extLst>
                    <a:ext uri="{9D8B030D-6E8A-4147-A177-3AD203B41FA5}">
                      <a16:colId xmlns:a16="http://schemas.microsoft.com/office/drawing/2014/main" val="2041145262"/>
                    </a:ext>
                  </a:extLst>
                </a:gridCol>
                <a:gridCol w="1740005">
                  <a:extLst>
                    <a:ext uri="{9D8B030D-6E8A-4147-A177-3AD203B41FA5}">
                      <a16:colId xmlns:a16="http://schemas.microsoft.com/office/drawing/2014/main" val="3102287305"/>
                    </a:ext>
                  </a:extLst>
                </a:gridCol>
                <a:gridCol w="647468">
                  <a:extLst>
                    <a:ext uri="{9D8B030D-6E8A-4147-A177-3AD203B41FA5}">
                      <a16:colId xmlns:a16="http://schemas.microsoft.com/office/drawing/2014/main" val="4080696647"/>
                    </a:ext>
                  </a:extLst>
                </a:gridCol>
                <a:gridCol w="1070983">
                  <a:extLst>
                    <a:ext uri="{9D8B030D-6E8A-4147-A177-3AD203B41FA5}">
                      <a16:colId xmlns:a16="http://schemas.microsoft.com/office/drawing/2014/main" val="132880537"/>
                    </a:ext>
                  </a:extLst>
                </a:gridCol>
                <a:gridCol w="5002267">
                  <a:extLst>
                    <a:ext uri="{9D8B030D-6E8A-4147-A177-3AD203B41FA5}">
                      <a16:colId xmlns:a16="http://schemas.microsoft.com/office/drawing/2014/main" val="786884226"/>
                    </a:ext>
                  </a:extLst>
                </a:gridCol>
                <a:gridCol w="2530929">
                  <a:extLst>
                    <a:ext uri="{9D8B030D-6E8A-4147-A177-3AD203B41FA5}">
                      <a16:colId xmlns:a16="http://schemas.microsoft.com/office/drawing/2014/main" val="642979864"/>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43.</a:t>
                      </a:r>
                    </a:p>
                  </a:txBody>
                  <a:tcPr/>
                </a:tc>
                <a:tc>
                  <a:txBody>
                    <a:bodyPr/>
                    <a:lstStyle/>
                    <a:p>
                      <a:r>
                        <a:rPr lang="en-GB" sz="800" dirty="0"/>
                        <a:t>Oxygen Door/vent controller</a:t>
                      </a:r>
                    </a:p>
                  </a:txBody>
                  <a:tcPr/>
                </a:tc>
                <a:tc>
                  <a:txBody>
                    <a:bodyPr/>
                    <a:lstStyle/>
                    <a:p>
                      <a:r>
                        <a:rPr lang="en-GB" sz="800" dirty="0"/>
                        <a:t>Rm_level1 - 5</a:t>
                      </a:r>
                    </a:p>
                  </a:txBody>
                  <a:tcPr/>
                </a:tc>
                <a:tc>
                  <a:txBody>
                    <a:bodyPr/>
                    <a:lstStyle/>
                    <a:p>
                      <a:r>
                        <a:rPr lang="en-GB" sz="800" dirty="0" err="1"/>
                        <a:t>obj_oxygen_door_controller</a:t>
                      </a:r>
                      <a:endParaRPr lang="en-GB" sz="800" dirty="0"/>
                    </a:p>
                  </a:txBody>
                  <a:tcPr/>
                </a:tc>
                <a:tc>
                  <a:txBody>
                    <a:bodyPr/>
                    <a:lstStyle/>
                    <a:p>
                      <a:r>
                        <a:rPr lang="en-GB" sz="800" dirty="0"/>
                        <a:t>The Oxygen controller is very unique so discussing its function may take a bit, so I will break down its function into its key functions. </a:t>
                      </a:r>
                    </a:p>
                    <a:p>
                      <a:endParaRPr lang="en-GB" sz="800" dirty="0"/>
                    </a:p>
                    <a:p>
                      <a:r>
                        <a:rPr lang="en-GB" sz="800" dirty="0"/>
                        <a:t>The oxygen controller has 5 primary functions</a:t>
                      </a:r>
                    </a:p>
                    <a:p>
                      <a:endParaRPr lang="en-GB" sz="800" dirty="0"/>
                    </a:p>
                    <a:p>
                      <a:pPr marL="228600" indent="-228600">
                        <a:buAutoNum type="arabicPeriod"/>
                      </a:pPr>
                      <a:r>
                        <a:rPr lang="en-GB" sz="800" dirty="0"/>
                        <a:t>Sync Doors and Vents together</a:t>
                      </a:r>
                    </a:p>
                    <a:p>
                      <a:pPr marL="228600" indent="-228600">
                        <a:buAutoNum type="arabicPeriod"/>
                      </a:pPr>
                      <a:endParaRPr lang="en-GB" sz="800" dirty="0"/>
                    </a:p>
                    <a:p>
                      <a:pPr marL="228600" indent="-228600">
                        <a:buAutoNum type="arabicPeriod"/>
                      </a:pPr>
                      <a:r>
                        <a:rPr lang="en-GB" sz="800" dirty="0"/>
                        <a:t>Decrease Oxygen faster when more vents/doors are closed and increase it when less or none are closed (the oxygens speed is determined by the number of doors open and closed</a:t>
                      </a:r>
                    </a:p>
                    <a:p>
                      <a:pPr marL="228600" indent="-228600">
                        <a:buAutoNum type="arabicPeriod"/>
                      </a:pPr>
                      <a:endParaRPr lang="en-GB" sz="800" dirty="0"/>
                    </a:p>
                    <a:p>
                      <a:pPr marL="228600" indent="-228600">
                        <a:buAutoNum type="arabicPeriod"/>
                      </a:pPr>
                      <a:r>
                        <a:rPr lang="en-GB" sz="800" dirty="0"/>
                        <a:t>Acknowledge when oxygen = 0, and decrease HP</a:t>
                      </a:r>
                    </a:p>
                    <a:p>
                      <a:pPr marL="228600" indent="-228600">
                        <a:buAutoNum type="arabicPeriod"/>
                      </a:pPr>
                      <a:endParaRPr lang="en-GB" sz="800" dirty="0"/>
                    </a:p>
                    <a:p>
                      <a:pPr marL="228600" indent="-228600">
                        <a:buAutoNum type="arabicPeriod"/>
                      </a:pPr>
                      <a:r>
                        <a:rPr lang="en-GB" sz="800" dirty="0"/>
                        <a:t>If HP = 0, </a:t>
                      </a:r>
                      <a:r>
                        <a:rPr lang="en-GB" sz="800" dirty="0" err="1"/>
                        <a:t>global.dead</a:t>
                      </a:r>
                      <a:r>
                        <a:rPr lang="en-GB" sz="800" dirty="0"/>
                        <a:t> = true</a:t>
                      </a:r>
                    </a:p>
                    <a:p>
                      <a:pPr marL="228600" indent="-228600">
                        <a:buAutoNum type="arabicPeriod"/>
                      </a:pPr>
                      <a:endParaRPr lang="en-GB" sz="800" dirty="0"/>
                    </a:p>
                    <a:p>
                      <a:pPr marL="228600" indent="-228600">
                        <a:buAutoNum type="arabicPeriod"/>
                      </a:pPr>
                      <a:r>
                        <a:rPr lang="en-GB" sz="800" dirty="0"/>
                        <a:t>Change the doors/vents sprites and objects based on whether the doors/vents are in an open or closed state.</a:t>
                      </a:r>
                    </a:p>
                  </a:txBody>
                  <a:tcPr/>
                </a:tc>
                <a:tc>
                  <a:txBody>
                    <a:bodyPr/>
                    <a:lstStyle/>
                    <a:p>
                      <a:pPr marL="228600" indent="-228600">
                        <a:buAutoNum type="arabicPeriod"/>
                      </a:pPr>
                      <a:endParaRPr lang="en-GB" sz="800" dirty="0"/>
                    </a:p>
                  </a:txBody>
                  <a:tcPr/>
                </a:tc>
                <a:extLst>
                  <a:ext uri="{0D108BD9-81ED-4DB2-BD59-A6C34878D82A}">
                    <a16:rowId xmlns:a16="http://schemas.microsoft.com/office/drawing/2014/main" val="289599235"/>
                  </a:ext>
                </a:extLst>
              </a:tr>
              <a:tr h="470623">
                <a:tc>
                  <a:txBody>
                    <a:bodyPr/>
                    <a:lstStyle/>
                    <a:p>
                      <a:r>
                        <a:rPr lang="en-GB" sz="800" dirty="0"/>
                        <a:t>44.</a:t>
                      </a:r>
                    </a:p>
                  </a:txBody>
                  <a:tcPr/>
                </a:tc>
                <a:tc>
                  <a:txBody>
                    <a:bodyPr/>
                    <a:lstStyle/>
                    <a:p>
                      <a:r>
                        <a:rPr lang="en-GB" sz="800" dirty="0"/>
                        <a:t>Camera controller level 1</a:t>
                      </a:r>
                    </a:p>
                  </a:txBody>
                  <a:tcPr/>
                </a:tc>
                <a:tc>
                  <a:txBody>
                    <a:bodyPr/>
                    <a:lstStyle/>
                    <a:p>
                      <a:r>
                        <a:rPr lang="en-GB" sz="800" dirty="0"/>
                        <a:t>Rm_level1</a:t>
                      </a:r>
                    </a:p>
                  </a:txBody>
                  <a:tcPr/>
                </a:tc>
                <a:tc>
                  <a:txBody>
                    <a:bodyPr/>
                    <a:lstStyle/>
                    <a:p>
                      <a:r>
                        <a:rPr lang="en-GB" sz="800" dirty="0"/>
                        <a:t>obj_camera_controller_lvl1</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1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2</a:t>
                      </a:r>
                    </a:p>
                    <a:p>
                      <a:endParaRPr lang="en-GB" sz="800" dirty="0"/>
                    </a:p>
                  </a:txBody>
                  <a:tcPr/>
                </a:tc>
                <a:tc>
                  <a:txBody>
                    <a:bodyPr/>
                    <a:lstStyle/>
                    <a:p>
                      <a:r>
                        <a:rPr lang="en-GB" sz="800" dirty="0"/>
                        <a:t>Rm_level2</a:t>
                      </a:r>
                    </a:p>
                  </a:txBody>
                  <a:tcPr/>
                </a:tc>
                <a:tc>
                  <a:txBody>
                    <a:bodyPr/>
                    <a:lstStyle/>
                    <a:p>
                      <a:r>
                        <a:rPr lang="en-GB" sz="800" dirty="0"/>
                        <a:t>Obj_camera_controller_lvl2</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2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D6904CAE-3462-802B-2A36-A942CF4E9F87}"/>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5956008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6EFD9-5657-72F8-5C69-FD38EBC53D4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769D7B3-5A5E-19FE-FCF9-91E8CFBD8B16}"/>
              </a:ext>
            </a:extLst>
          </p:cNvPr>
          <p:cNvGraphicFramePr>
            <a:graphicFrameLocks noGrp="1"/>
          </p:cNvGraphicFramePr>
          <p:nvPr/>
        </p:nvGraphicFramePr>
        <p:xfrm>
          <a:off x="114301" y="391885"/>
          <a:ext cx="10874827" cy="63532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obj_camera_controller_lvl3</a:t>
                      </a:r>
                    </a:p>
                    <a:p>
                      <a:endParaRPr lang="en-GB" sz="800" dirty="0"/>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3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47.</a:t>
                      </a:r>
                    </a:p>
                  </a:txBody>
                  <a:tcPr/>
                </a:tc>
                <a:tc>
                  <a:txBody>
                    <a:bodyPr/>
                    <a:lstStyle/>
                    <a:p>
                      <a:r>
                        <a:rPr lang="en-GB" sz="800" dirty="0"/>
                        <a:t>Camera controller level 4</a:t>
                      </a:r>
                    </a:p>
                  </a:txBody>
                  <a:tcPr/>
                </a:tc>
                <a:tc>
                  <a:txBody>
                    <a:bodyPr/>
                    <a:lstStyle/>
                    <a:p>
                      <a:r>
                        <a:rPr lang="en-GB" sz="800" dirty="0"/>
                        <a:t>Rm_level4</a:t>
                      </a:r>
                    </a:p>
                  </a:txBody>
                  <a:tcPr/>
                </a:tc>
                <a:tc>
                  <a:txBody>
                    <a:bodyPr/>
                    <a:lstStyle/>
                    <a:p>
                      <a:r>
                        <a:rPr lang="en-GB" sz="800" dirty="0"/>
                        <a:t>obj_camera_controller_lvl4</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4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Camera controller level 5</a:t>
                      </a:r>
                    </a:p>
                    <a:p>
                      <a:endParaRPr lang="en-GB" sz="800" dirty="0"/>
                    </a:p>
                  </a:txBody>
                  <a:tcPr/>
                </a:tc>
                <a:tc>
                  <a:txBody>
                    <a:bodyPr/>
                    <a:lstStyle/>
                    <a:p>
                      <a:r>
                        <a:rPr lang="en-GB" sz="800" dirty="0"/>
                        <a:t>Rm_level5</a:t>
                      </a:r>
                    </a:p>
                  </a:txBody>
                  <a:tcPr/>
                </a:tc>
                <a:tc>
                  <a:txBody>
                    <a:bodyPr/>
                    <a:lstStyle/>
                    <a:p>
                      <a:r>
                        <a:rPr lang="en-GB" sz="800" dirty="0"/>
                        <a:t>Obj_camera_controller_lvl5</a:t>
                      </a:r>
                    </a:p>
                  </a:txBody>
                  <a:tcPr/>
                </a:tc>
                <a:tc>
                  <a:txBody>
                    <a:bodyPr/>
                    <a:lstStyle/>
                    <a:p>
                      <a:pPr marL="0" indent="0">
                        <a:buNone/>
                      </a:pPr>
                      <a:r>
                        <a:rPr lang="en-GB" sz="800" dirty="0"/>
                        <a:t>The camera controller is to change the player view to a specific zone within the room. Utilizing a script to identify what zone to look at. In addition, the controller itself in its create code contains all the co-ordinates of every zone in level 5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bl>
          </a:graphicData>
        </a:graphic>
      </p:graphicFrame>
      <p:sp>
        <p:nvSpPr>
          <p:cNvPr id="2" name="TextBox 1">
            <a:extLst>
              <a:ext uri="{FF2B5EF4-FFF2-40B4-BE49-F238E27FC236}">
                <a16:creationId xmlns:a16="http://schemas.microsoft.com/office/drawing/2014/main" id="{75F9E048-6337-9132-4E48-07400039BC98}"/>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3046066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623B9-484F-0887-686E-D8BB72489BF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4ADAA5F-494B-0AB9-AA89-C443F5417DB4}"/>
              </a:ext>
            </a:extLst>
          </p:cNvPr>
          <p:cNvGraphicFramePr>
            <a:graphicFrameLocks noGrp="1"/>
          </p:cNvGraphicFramePr>
          <p:nvPr/>
        </p:nvGraphicFramePr>
        <p:xfrm>
          <a:off x="114301" y="391885"/>
          <a:ext cx="10874827" cy="459884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1</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obj_sound_controller_lvl1</a:t>
                      </a:r>
                    </a:p>
                    <a:p>
                      <a:endParaRPr lang="en-GB" sz="800" dirty="0"/>
                    </a:p>
                  </a:txBody>
                  <a:tcPr/>
                </a:tc>
                <a:tc>
                  <a:txBody>
                    <a:bodyPr/>
                    <a:lstStyle/>
                    <a:p>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50.</a:t>
                      </a:r>
                    </a:p>
                  </a:txBody>
                  <a:tcPr/>
                </a:tc>
                <a:tc>
                  <a:txBody>
                    <a:bodyPr/>
                    <a:lstStyle/>
                    <a:p>
                      <a:r>
                        <a:rPr lang="en-GB" sz="800" dirty="0"/>
                        <a:t>Sound controller level 2</a:t>
                      </a:r>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3</a:t>
                      </a:r>
                    </a:p>
                    <a:p>
                      <a:endParaRPr lang="en-GB" sz="800" dirty="0"/>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52.</a:t>
                      </a:r>
                    </a:p>
                  </a:txBody>
                  <a:tcPr/>
                </a:tc>
                <a:tc>
                  <a:txBody>
                    <a:bodyPr/>
                    <a:lstStyle/>
                    <a:p>
                      <a:r>
                        <a:rPr lang="en-GB" sz="800" dirty="0"/>
                        <a:t>Sound controller level 4</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for level 4 hasn’t been made yet, due to the fact that prototype doesn’t have sound and Arach already has his own sound playing in his code.</a:t>
                      </a:r>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53.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Sound controller level 5</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obj_sound_controller_lvl5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The sound controller plays the sounds based off in game conditions. If an enemy is in Cam 2, play left hallway sound. If an enemy is in Cam 7, play right hallway sound. Next is the ambience, the sound controller plays the ambience sound on loop throughout the level. Lastly, every time K9 moves to a different zone he plays his footstep SFX. </a:t>
                      </a:r>
                      <a:r>
                        <a:rPr lang="en-GB" sz="800" b="1" dirty="0"/>
                        <a:t>NOTE: (They are still using place-holder sounds), </a:t>
                      </a:r>
                      <a:r>
                        <a:rPr lang="en-GB" sz="800" dirty="0"/>
                        <a:t>in addition </a:t>
                      </a:r>
                      <a:r>
                        <a:rPr lang="en-GB" sz="800" dirty="0" err="1"/>
                        <a:t>Gwibers</a:t>
                      </a:r>
                      <a:r>
                        <a:rPr lang="en-GB" sz="800" dirty="0"/>
                        <a:t> footsteps haven’t been done.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AA77FAAA-C496-9910-E97D-F48489976CBF}"/>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18949872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22C8A-F106-3B79-337F-5A852C0206B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E36A9E4-F376-75A9-D380-54CF8EE89CBE}"/>
              </a:ext>
            </a:extLst>
          </p:cNvPr>
          <p:cNvGraphicFramePr>
            <a:graphicFrameLocks noGrp="1"/>
          </p:cNvGraphicFramePr>
          <p:nvPr/>
        </p:nvGraphicFramePr>
        <p:xfrm>
          <a:off x="114301" y="391885"/>
          <a:ext cx="10874827" cy="42196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54.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1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2  which is camera zone 1.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55.</a:t>
                      </a:r>
                    </a:p>
                  </a:txBody>
                  <a:tcPr/>
                </a:tc>
                <a:tc>
                  <a:txBody>
                    <a:bodyPr/>
                    <a:lstStyle/>
                    <a:p>
                      <a:r>
                        <a:rPr lang="en-GB" sz="800" dirty="0"/>
                        <a:t>Level 2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56.</a:t>
                      </a:r>
                    </a:p>
                  </a:txBody>
                  <a:tcPr/>
                </a:tc>
                <a:tc>
                  <a:txBody>
                    <a:bodyPr/>
                    <a:lstStyle/>
                    <a:p>
                      <a:r>
                        <a:rPr lang="en-GB" sz="800" dirty="0"/>
                        <a:t>Level 3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57.</a:t>
                      </a:r>
                    </a:p>
                  </a:txBody>
                  <a:tcPr/>
                </a:tc>
                <a:tc>
                  <a:txBody>
                    <a:bodyPr/>
                    <a:lstStyle/>
                    <a:p>
                      <a:r>
                        <a:rPr lang="en-GB" sz="800" dirty="0"/>
                        <a:t>Level 4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58.</a:t>
                      </a:r>
                    </a:p>
                  </a:txBody>
                  <a:tcPr/>
                </a:tc>
                <a:tc>
                  <a:txBody>
                    <a:bodyPr/>
                    <a:lstStyle/>
                    <a:p>
                      <a:r>
                        <a:rPr lang="en-GB" sz="800" dirty="0"/>
                        <a:t>Level 5 Camera 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  which is camera zone 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FE6391BD-9AC9-1E04-9A9A-A2815C0E1C83}"/>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0875053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8D93-F99C-FC6B-4344-D56270FC9CF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6C0B635-90CC-88F1-548B-7FDEC90928B2}"/>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2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3  which is camera zone 2.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60.</a:t>
                      </a:r>
                    </a:p>
                  </a:txBody>
                  <a:tcPr/>
                </a:tc>
                <a:tc>
                  <a:txBody>
                    <a:bodyPr/>
                    <a:lstStyle/>
                    <a:p>
                      <a:r>
                        <a:rPr lang="en-GB" sz="800" dirty="0"/>
                        <a:t>Level 2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61.</a:t>
                      </a:r>
                    </a:p>
                  </a:txBody>
                  <a:tcPr/>
                </a:tc>
                <a:tc>
                  <a:txBody>
                    <a:bodyPr/>
                    <a:lstStyle/>
                    <a:p>
                      <a:r>
                        <a:rPr lang="en-GB" sz="800" dirty="0"/>
                        <a:t>Level 3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62.</a:t>
                      </a:r>
                    </a:p>
                  </a:txBody>
                  <a:tcPr/>
                </a:tc>
                <a:tc>
                  <a:txBody>
                    <a:bodyPr/>
                    <a:lstStyle/>
                    <a:p>
                      <a:r>
                        <a:rPr lang="en-GB" sz="800" dirty="0"/>
                        <a:t>Level 4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63.</a:t>
                      </a:r>
                    </a:p>
                  </a:txBody>
                  <a:tcPr/>
                </a:tc>
                <a:tc>
                  <a:txBody>
                    <a:bodyPr/>
                    <a:lstStyle/>
                    <a:p>
                      <a:r>
                        <a:rPr lang="en-GB" sz="800" dirty="0"/>
                        <a:t>Level 5 Camera 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3  which is camera zone 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B1F2BB4E-2D60-2EBE-FE04-FCBC6395F8A5}"/>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821351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8E55-890D-ED74-BDA8-7BEBDF0B266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01D46EA-3DD9-624B-4704-AD54586A8FDC}"/>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3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4  which is camera zone 3.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65.</a:t>
                      </a:r>
                    </a:p>
                  </a:txBody>
                  <a:tcPr/>
                </a:tc>
                <a:tc>
                  <a:txBody>
                    <a:bodyPr/>
                    <a:lstStyle/>
                    <a:p>
                      <a:r>
                        <a:rPr lang="en-GB" sz="800" dirty="0"/>
                        <a:t>Level 2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66.</a:t>
                      </a:r>
                    </a:p>
                  </a:txBody>
                  <a:tcPr/>
                </a:tc>
                <a:tc>
                  <a:txBody>
                    <a:bodyPr/>
                    <a:lstStyle/>
                    <a:p>
                      <a:r>
                        <a:rPr lang="en-GB" sz="800" dirty="0"/>
                        <a:t>Level 3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67.</a:t>
                      </a:r>
                    </a:p>
                  </a:txBody>
                  <a:tcPr/>
                </a:tc>
                <a:tc>
                  <a:txBody>
                    <a:bodyPr/>
                    <a:lstStyle/>
                    <a:p>
                      <a:r>
                        <a:rPr lang="en-GB" sz="800" dirty="0"/>
                        <a:t>Level 4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68.</a:t>
                      </a:r>
                    </a:p>
                  </a:txBody>
                  <a:tcPr/>
                </a:tc>
                <a:tc>
                  <a:txBody>
                    <a:bodyPr/>
                    <a:lstStyle/>
                    <a:p>
                      <a:r>
                        <a:rPr lang="en-GB" sz="800" dirty="0"/>
                        <a:t>Level 5 Camera 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Obj_cam_3_lvl5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4  which is camera zone 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67BA3D89-FDD3-FB3B-80F8-638E74D01F6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867753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94D43-BA9C-62D7-9C7C-5E1B3BE9540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E8C87FE-23E7-1CBB-50D9-2ACAC4D0A216}"/>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4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5  which is camera zone 4.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70.</a:t>
                      </a:r>
                    </a:p>
                  </a:txBody>
                  <a:tcPr/>
                </a:tc>
                <a:tc>
                  <a:txBody>
                    <a:bodyPr/>
                    <a:lstStyle/>
                    <a:p>
                      <a:r>
                        <a:rPr lang="en-GB" sz="800" dirty="0"/>
                        <a:t>Level 2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71.</a:t>
                      </a:r>
                    </a:p>
                  </a:txBody>
                  <a:tcPr/>
                </a:tc>
                <a:tc>
                  <a:txBody>
                    <a:bodyPr/>
                    <a:lstStyle/>
                    <a:p>
                      <a:r>
                        <a:rPr lang="en-GB" sz="800" dirty="0"/>
                        <a:t>Level 3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72.</a:t>
                      </a:r>
                    </a:p>
                  </a:txBody>
                  <a:tcPr/>
                </a:tc>
                <a:tc>
                  <a:txBody>
                    <a:bodyPr/>
                    <a:lstStyle/>
                    <a:p>
                      <a:r>
                        <a:rPr lang="en-GB" sz="800" dirty="0"/>
                        <a:t>Level 4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73.</a:t>
                      </a:r>
                    </a:p>
                  </a:txBody>
                  <a:tcPr/>
                </a:tc>
                <a:tc>
                  <a:txBody>
                    <a:bodyPr/>
                    <a:lstStyle/>
                    <a:p>
                      <a:r>
                        <a:rPr lang="en-GB" sz="800" dirty="0"/>
                        <a:t>Level 5 Camera 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Obj_cam_4_lvl5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5  which is camera zone 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FE1C7E6-07C7-9E93-5F46-9F42373FEE2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6242812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66AE4-90DA-9DA9-9558-2D9FC656C1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7E80575-0300-EB6A-9DEE-5B2C7937A95A}"/>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5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6  which is camera zone 5.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75.</a:t>
                      </a:r>
                    </a:p>
                  </a:txBody>
                  <a:tcPr/>
                </a:tc>
                <a:tc>
                  <a:txBody>
                    <a:bodyPr/>
                    <a:lstStyle/>
                    <a:p>
                      <a:r>
                        <a:rPr lang="en-GB" sz="800" dirty="0"/>
                        <a:t>Level 2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76.</a:t>
                      </a:r>
                    </a:p>
                  </a:txBody>
                  <a:tcPr/>
                </a:tc>
                <a:tc>
                  <a:txBody>
                    <a:bodyPr/>
                    <a:lstStyle/>
                    <a:p>
                      <a:r>
                        <a:rPr lang="en-GB" sz="800" dirty="0"/>
                        <a:t>Level 3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77.</a:t>
                      </a:r>
                    </a:p>
                  </a:txBody>
                  <a:tcPr/>
                </a:tc>
                <a:tc>
                  <a:txBody>
                    <a:bodyPr/>
                    <a:lstStyle/>
                    <a:p>
                      <a:r>
                        <a:rPr lang="en-GB" sz="800" dirty="0"/>
                        <a:t>Level 4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78.</a:t>
                      </a:r>
                    </a:p>
                  </a:txBody>
                  <a:tcPr/>
                </a:tc>
                <a:tc>
                  <a:txBody>
                    <a:bodyPr/>
                    <a:lstStyle/>
                    <a:p>
                      <a:r>
                        <a:rPr lang="en-GB" sz="800" dirty="0"/>
                        <a:t>Level 5 Camera 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Obj_cam_5_lvl5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6  which is camera zone 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D35DEA05-3702-0E0C-377A-18029DBB0DB5}"/>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299798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E98E9-F349-58AC-5654-696B1BE915C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D525263-CC97-BE46-C400-5CDE4580D22C}"/>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79.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6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7  which is camera zone 6.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80.</a:t>
                      </a:r>
                    </a:p>
                  </a:txBody>
                  <a:tcPr/>
                </a:tc>
                <a:tc>
                  <a:txBody>
                    <a:bodyPr/>
                    <a:lstStyle/>
                    <a:p>
                      <a:r>
                        <a:rPr lang="en-GB" sz="800" dirty="0"/>
                        <a:t>Level 2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81.</a:t>
                      </a:r>
                    </a:p>
                  </a:txBody>
                  <a:tcPr/>
                </a:tc>
                <a:tc>
                  <a:txBody>
                    <a:bodyPr/>
                    <a:lstStyle/>
                    <a:p>
                      <a:r>
                        <a:rPr lang="en-GB" sz="800" dirty="0"/>
                        <a:t>Level 3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82.</a:t>
                      </a:r>
                    </a:p>
                  </a:txBody>
                  <a:tcPr/>
                </a:tc>
                <a:tc>
                  <a:txBody>
                    <a:bodyPr/>
                    <a:lstStyle/>
                    <a:p>
                      <a:r>
                        <a:rPr lang="en-GB" sz="800" dirty="0"/>
                        <a:t>Level 4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83.</a:t>
                      </a:r>
                    </a:p>
                  </a:txBody>
                  <a:tcPr/>
                </a:tc>
                <a:tc>
                  <a:txBody>
                    <a:bodyPr/>
                    <a:lstStyle/>
                    <a:p>
                      <a:r>
                        <a:rPr lang="en-GB" sz="800" dirty="0"/>
                        <a:t>Level 5 Camera 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Obj_cam_6_lvl5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7  which is camera zone 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1D5397F7-8898-130C-229A-8C463AE83E5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41859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DFF7-AB0A-F9AF-8284-54E53A604FF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8BD4BC2-08CC-1C79-A44F-E12621C47937}"/>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84.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7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8  which is camera zone 7.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85.</a:t>
                      </a:r>
                    </a:p>
                  </a:txBody>
                  <a:tcPr/>
                </a:tc>
                <a:tc>
                  <a:txBody>
                    <a:bodyPr/>
                    <a:lstStyle/>
                    <a:p>
                      <a:r>
                        <a:rPr lang="en-GB" sz="800" dirty="0"/>
                        <a:t>Level 2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86.</a:t>
                      </a:r>
                    </a:p>
                  </a:txBody>
                  <a:tcPr/>
                </a:tc>
                <a:tc>
                  <a:txBody>
                    <a:bodyPr/>
                    <a:lstStyle/>
                    <a:p>
                      <a:r>
                        <a:rPr lang="en-GB" sz="800" dirty="0"/>
                        <a:t>Level 3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87.</a:t>
                      </a:r>
                    </a:p>
                  </a:txBody>
                  <a:tcPr/>
                </a:tc>
                <a:tc>
                  <a:txBody>
                    <a:bodyPr/>
                    <a:lstStyle/>
                    <a:p>
                      <a:r>
                        <a:rPr lang="en-GB" sz="800" dirty="0"/>
                        <a:t>Level 4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88.</a:t>
                      </a:r>
                    </a:p>
                  </a:txBody>
                  <a:tcPr/>
                </a:tc>
                <a:tc>
                  <a:txBody>
                    <a:bodyPr/>
                    <a:lstStyle/>
                    <a:p>
                      <a:r>
                        <a:rPr lang="en-GB" sz="800" dirty="0"/>
                        <a:t>Level 5 Camera 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Obj_cam_7_lvl5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8  which is camera zone 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75FBECCC-A55D-7F37-EBE7-80BEE1830AF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244807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99668-4BE5-1DF4-FCF6-C2712F40831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435255-4932-942D-93E9-EAC48DEBB32D}"/>
              </a:ext>
            </a:extLst>
          </p:cNvPr>
          <p:cNvGraphicFramePr>
            <a:graphicFrameLocks noGrp="1"/>
          </p:cNvGraphicFramePr>
          <p:nvPr/>
        </p:nvGraphicFramePr>
        <p:xfrm>
          <a:off x="114301" y="391885"/>
          <a:ext cx="10874827" cy="434158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1 Camera 8 Button trigger</a:t>
                      </a:r>
                    </a:p>
                  </a:txBody>
                  <a:tcPr/>
                </a:tc>
                <a:tc>
                  <a:txBody>
                    <a:bodyPr/>
                    <a:lstStyle/>
                    <a:p>
                      <a:r>
                        <a:rPr lang="en-GB" sz="800" dirty="0"/>
                        <a:t>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a:t>
                      </a:r>
                    </a:p>
                    <a:p>
                      <a:endParaRPr lang="en-GB" sz="800" dirty="0"/>
                    </a:p>
                  </a:txBody>
                  <a:tcPr/>
                </a:tc>
                <a:tc>
                  <a:txBody>
                    <a:bodyPr/>
                    <a:lstStyle/>
                    <a:p>
                      <a:r>
                        <a:rPr lang="en-GB" sz="800" dirty="0"/>
                        <a:t>When the mouse left click button is pressed, it will utilize the camera change script for level 1 to change the cameras position to view </a:t>
                      </a:r>
                      <a:r>
                        <a:rPr lang="en-GB" sz="800" dirty="0" err="1"/>
                        <a:t>global.current_zone</a:t>
                      </a:r>
                      <a:r>
                        <a:rPr lang="en-GB" sz="800" dirty="0"/>
                        <a:t>  = 9  which is camera zone 8. It will also play the button click SFX upon clicking  the left mouse button.</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90.</a:t>
                      </a:r>
                    </a:p>
                  </a:txBody>
                  <a:tcPr/>
                </a:tc>
                <a:tc>
                  <a:txBody>
                    <a:bodyPr/>
                    <a:lstStyle/>
                    <a:p>
                      <a:r>
                        <a:rPr lang="en-GB" sz="800" dirty="0"/>
                        <a:t>Level 2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91.</a:t>
                      </a:r>
                    </a:p>
                  </a:txBody>
                  <a:tcPr/>
                </a:tc>
                <a:tc>
                  <a:txBody>
                    <a:bodyPr/>
                    <a:lstStyle/>
                    <a:p>
                      <a:r>
                        <a:rPr lang="en-GB" sz="800" dirty="0"/>
                        <a:t>Level 3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92.</a:t>
                      </a:r>
                    </a:p>
                  </a:txBody>
                  <a:tcPr/>
                </a:tc>
                <a:tc>
                  <a:txBody>
                    <a:bodyPr/>
                    <a:lstStyle/>
                    <a:p>
                      <a:r>
                        <a:rPr lang="en-GB" sz="800" dirty="0"/>
                        <a:t>Level 4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93.</a:t>
                      </a:r>
                    </a:p>
                  </a:txBody>
                  <a:tcPr/>
                </a:tc>
                <a:tc>
                  <a:txBody>
                    <a:bodyPr/>
                    <a:lstStyle/>
                    <a:p>
                      <a:r>
                        <a:rPr lang="en-GB" sz="800" dirty="0"/>
                        <a:t>Level 5 Camera 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Obj_cam_8_lvl5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9  which is camera zone 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A6B157ED-0515-2BB2-B272-92EE12D9F47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439713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C01A6-3CE8-D984-4664-5F1F51F22AC6}"/>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7D18892-1FE8-269A-D8DF-4F250168A2E1}"/>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94.</a:t>
                      </a:r>
                    </a:p>
                  </a:txBody>
                  <a:tcPr/>
                </a:tc>
                <a:tc>
                  <a:txBody>
                    <a:bodyPr/>
                    <a:lstStyle/>
                    <a:p>
                      <a:r>
                        <a:rPr lang="en-GB" sz="800" dirty="0"/>
                        <a:t>Level 2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95.</a:t>
                      </a:r>
                    </a:p>
                  </a:txBody>
                  <a:tcPr/>
                </a:tc>
                <a:tc>
                  <a:txBody>
                    <a:bodyPr/>
                    <a:lstStyle/>
                    <a:p>
                      <a:r>
                        <a:rPr lang="en-GB" sz="800" dirty="0"/>
                        <a:t>Level 3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96.</a:t>
                      </a:r>
                    </a:p>
                  </a:txBody>
                  <a:tcPr/>
                </a:tc>
                <a:tc>
                  <a:txBody>
                    <a:bodyPr/>
                    <a:lstStyle/>
                    <a:p>
                      <a:r>
                        <a:rPr lang="en-GB" sz="800" dirty="0"/>
                        <a:t>Level 4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97.</a:t>
                      </a:r>
                    </a:p>
                  </a:txBody>
                  <a:tcPr/>
                </a:tc>
                <a:tc>
                  <a:txBody>
                    <a:bodyPr/>
                    <a:lstStyle/>
                    <a:p>
                      <a:r>
                        <a:rPr lang="en-GB" sz="800" dirty="0"/>
                        <a:t>Level 5 Camera 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10  which is camera zone 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28CCEBDE-8BA9-5310-49FA-DD3C1490857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900985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B0FC9-97A1-4E49-8BD7-029236CEBB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F46893D-8234-E3AA-53F3-78D0C66A369F}"/>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98.</a:t>
                      </a:r>
                    </a:p>
                  </a:txBody>
                  <a:tcPr/>
                </a:tc>
                <a:tc>
                  <a:txBody>
                    <a:bodyPr/>
                    <a:lstStyle/>
                    <a:p>
                      <a:r>
                        <a:rPr lang="en-GB" sz="800" dirty="0"/>
                        <a:t>Level 2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99.</a:t>
                      </a:r>
                    </a:p>
                  </a:txBody>
                  <a:tcPr/>
                </a:tc>
                <a:tc>
                  <a:txBody>
                    <a:bodyPr/>
                    <a:lstStyle/>
                    <a:p>
                      <a:r>
                        <a:rPr lang="en-GB" sz="800" dirty="0"/>
                        <a:t>Level 3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100.</a:t>
                      </a:r>
                    </a:p>
                  </a:txBody>
                  <a:tcPr/>
                </a:tc>
                <a:tc>
                  <a:txBody>
                    <a:bodyPr/>
                    <a:lstStyle/>
                    <a:p>
                      <a:r>
                        <a:rPr lang="en-GB" sz="800" dirty="0"/>
                        <a:t>Level 4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101.</a:t>
                      </a:r>
                    </a:p>
                  </a:txBody>
                  <a:tcPr/>
                </a:tc>
                <a:tc>
                  <a:txBody>
                    <a:bodyPr/>
                    <a:lstStyle/>
                    <a:p>
                      <a:r>
                        <a:rPr lang="en-GB" sz="800" dirty="0"/>
                        <a:t>Level 5 Camera 10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Obj_cam_10_lvl5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11  which is camera zone 10.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7BB83A1-D8DB-3D8C-32AB-1BE770F45350}"/>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4413751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45210-7793-5E09-0DD3-DB6BCF8A74E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B92E914-309C-2955-6EE9-AD5D4594CF94}"/>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102.</a:t>
                      </a:r>
                    </a:p>
                  </a:txBody>
                  <a:tcPr/>
                </a:tc>
                <a:tc>
                  <a:txBody>
                    <a:bodyPr/>
                    <a:lstStyle/>
                    <a:p>
                      <a:r>
                        <a:rPr lang="en-GB" sz="800" dirty="0"/>
                        <a:t>Level 2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103.</a:t>
                      </a:r>
                    </a:p>
                  </a:txBody>
                  <a:tcPr/>
                </a:tc>
                <a:tc>
                  <a:txBody>
                    <a:bodyPr/>
                    <a:lstStyle/>
                    <a:p>
                      <a:r>
                        <a:rPr lang="en-GB" sz="800" dirty="0"/>
                        <a:t>Level 3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104.</a:t>
                      </a:r>
                    </a:p>
                  </a:txBody>
                  <a:tcPr/>
                </a:tc>
                <a:tc>
                  <a:txBody>
                    <a:bodyPr/>
                    <a:lstStyle/>
                    <a:p>
                      <a:r>
                        <a:rPr lang="en-GB" sz="800" dirty="0"/>
                        <a:t>Level 4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105.</a:t>
                      </a:r>
                    </a:p>
                  </a:txBody>
                  <a:tcPr/>
                </a:tc>
                <a:tc>
                  <a:txBody>
                    <a:bodyPr/>
                    <a:lstStyle/>
                    <a:p>
                      <a:r>
                        <a:rPr lang="en-GB" sz="800" dirty="0"/>
                        <a:t>Level 5 Camera 11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Obj_cam_11_lvl5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12  which is camera zone 11.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493BF314-0C6B-D610-B3EE-92F7D123FDBE}"/>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39036143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7BC0D-FE09-2167-36CE-510862E127A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E4C27CA-D78A-D004-996C-6C26A0BE5F1F}"/>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106.</a:t>
                      </a:r>
                    </a:p>
                  </a:txBody>
                  <a:tcPr/>
                </a:tc>
                <a:tc>
                  <a:txBody>
                    <a:bodyPr/>
                    <a:lstStyle/>
                    <a:p>
                      <a:r>
                        <a:rPr lang="en-GB" sz="800" dirty="0"/>
                        <a:t>Level 2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107.</a:t>
                      </a:r>
                    </a:p>
                  </a:txBody>
                  <a:tcPr/>
                </a:tc>
                <a:tc>
                  <a:txBody>
                    <a:bodyPr/>
                    <a:lstStyle/>
                    <a:p>
                      <a:r>
                        <a:rPr lang="en-GB" sz="800" dirty="0"/>
                        <a:t>Level 3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108.</a:t>
                      </a:r>
                    </a:p>
                  </a:txBody>
                  <a:tcPr/>
                </a:tc>
                <a:tc>
                  <a:txBody>
                    <a:bodyPr/>
                    <a:lstStyle/>
                    <a:p>
                      <a:r>
                        <a:rPr lang="en-GB" sz="800" dirty="0"/>
                        <a:t>Level 4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109.</a:t>
                      </a:r>
                    </a:p>
                  </a:txBody>
                  <a:tcPr/>
                </a:tc>
                <a:tc>
                  <a:txBody>
                    <a:bodyPr/>
                    <a:lstStyle/>
                    <a:p>
                      <a:r>
                        <a:rPr lang="en-GB" sz="800" dirty="0"/>
                        <a:t>Level 5 Camera 12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Obj_cam_12_lvl5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13  which is camera zone 12.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B435EBE8-7991-87B6-95F0-430187D351F4}"/>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612980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2EC8-8E1F-A8E4-2946-0CDC250E517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2DF33C0-D4DE-FDE9-673E-7652378884DB}"/>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110.</a:t>
                      </a:r>
                    </a:p>
                  </a:txBody>
                  <a:tcPr/>
                </a:tc>
                <a:tc>
                  <a:txBody>
                    <a:bodyPr/>
                    <a:lstStyle/>
                    <a:p>
                      <a:r>
                        <a:rPr lang="en-GB" sz="800" dirty="0"/>
                        <a:t>Level 2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111.</a:t>
                      </a:r>
                    </a:p>
                  </a:txBody>
                  <a:tcPr/>
                </a:tc>
                <a:tc>
                  <a:txBody>
                    <a:bodyPr/>
                    <a:lstStyle/>
                    <a:p>
                      <a:r>
                        <a:rPr lang="en-GB" sz="800" dirty="0"/>
                        <a:t>Level 3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112.</a:t>
                      </a:r>
                    </a:p>
                  </a:txBody>
                  <a:tcPr/>
                </a:tc>
                <a:tc>
                  <a:txBody>
                    <a:bodyPr/>
                    <a:lstStyle/>
                    <a:p>
                      <a:r>
                        <a:rPr lang="en-GB" sz="800" dirty="0"/>
                        <a:t>Level 4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113.</a:t>
                      </a:r>
                    </a:p>
                  </a:txBody>
                  <a:tcPr/>
                </a:tc>
                <a:tc>
                  <a:txBody>
                    <a:bodyPr/>
                    <a:lstStyle/>
                    <a:p>
                      <a:r>
                        <a:rPr lang="en-GB" sz="800" dirty="0"/>
                        <a:t>Level 5 Camera 13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Obj_cam_13_lvl5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14  which is camera zone 13.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EE82A7DB-474B-271F-3B20-86F2BCF043EF}"/>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4143800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A8FF1-52EE-DB2E-EAFA-F2349BDEC22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1CBC6B7-C8FD-EECF-EF4D-3A264C231DED}"/>
              </a:ext>
            </a:extLst>
          </p:cNvPr>
          <p:cNvGraphicFramePr>
            <a:graphicFrameLocks noGrp="1"/>
          </p:cNvGraphicFramePr>
          <p:nvPr/>
        </p:nvGraphicFramePr>
        <p:xfrm>
          <a:off x="114301" y="391885"/>
          <a:ext cx="10874827" cy="376246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114.</a:t>
                      </a:r>
                    </a:p>
                  </a:txBody>
                  <a:tcPr/>
                </a:tc>
                <a:tc>
                  <a:txBody>
                    <a:bodyPr/>
                    <a:lstStyle/>
                    <a:p>
                      <a:r>
                        <a:rPr lang="en-GB" sz="800" dirty="0"/>
                        <a:t>Level 2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2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115.</a:t>
                      </a:r>
                    </a:p>
                  </a:txBody>
                  <a:tcPr/>
                </a:tc>
                <a:tc>
                  <a:txBody>
                    <a:bodyPr/>
                    <a:lstStyle/>
                    <a:p>
                      <a:r>
                        <a:rPr lang="en-GB" sz="800" dirty="0"/>
                        <a:t>Level 3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116.</a:t>
                      </a:r>
                    </a:p>
                  </a:txBody>
                  <a:tcPr/>
                </a:tc>
                <a:tc>
                  <a:txBody>
                    <a:bodyPr/>
                    <a:lstStyle/>
                    <a:p>
                      <a:r>
                        <a:rPr lang="en-GB" sz="800" dirty="0"/>
                        <a:t>Level 4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117.</a:t>
                      </a:r>
                    </a:p>
                  </a:txBody>
                  <a:tcPr/>
                </a:tc>
                <a:tc>
                  <a:txBody>
                    <a:bodyPr/>
                    <a:lstStyle/>
                    <a:p>
                      <a:r>
                        <a:rPr lang="en-GB" sz="800" dirty="0"/>
                        <a:t>Level 5 Camera 14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Obj_cam_14_lvl5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15  which is camera zone 14.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F0AF59DB-C887-67AD-A8DA-ADFA1ED966FB}"/>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994759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6F87F-DA70-01D6-33A7-2B855C34985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63C286C-16EA-9A29-BD01-CFD35098E1B0}"/>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118.</a:t>
                      </a:r>
                    </a:p>
                  </a:txBody>
                  <a:tcPr/>
                </a:tc>
                <a:tc>
                  <a:txBody>
                    <a:bodyPr/>
                    <a:lstStyle/>
                    <a:p>
                      <a:r>
                        <a:rPr lang="en-GB" sz="800" dirty="0"/>
                        <a:t>Level 3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119.</a:t>
                      </a:r>
                    </a:p>
                  </a:txBody>
                  <a:tcPr/>
                </a:tc>
                <a:tc>
                  <a:txBody>
                    <a:bodyPr/>
                    <a:lstStyle/>
                    <a:p>
                      <a:r>
                        <a:rPr lang="en-GB" sz="800" dirty="0"/>
                        <a:t>Level 4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120.</a:t>
                      </a:r>
                    </a:p>
                  </a:txBody>
                  <a:tcPr/>
                </a:tc>
                <a:tc>
                  <a:txBody>
                    <a:bodyPr/>
                    <a:lstStyle/>
                    <a:p>
                      <a:r>
                        <a:rPr lang="en-GB" sz="800" dirty="0"/>
                        <a:t>Level 5 Camera 15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Obj_cam_15_lvl5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16  which is camera zone 15.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1455CE5D-81E0-131F-751B-11FD2C5F9EBA}"/>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7314498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52DB3-89AA-22B0-66C2-E92AB543249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12C6EC1-016D-7EA8-6BF1-D1E02C1E2CAD}"/>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121.</a:t>
                      </a:r>
                    </a:p>
                  </a:txBody>
                  <a:tcPr/>
                </a:tc>
                <a:tc>
                  <a:txBody>
                    <a:bodyPr/>
                    <a:lstStyle/>
                    <a:p>
                      <a:r>
                        <a:rPr lang="en-GB" sz="800" dirty="0"/>
                        <a:t>Level 3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122.</a:t>
                      </a:r>
                    </a:p>
                  </a:txBody>
                  <a:tcPr/>
                </a:tc>
                <a:tc>
                  <a:txBody>
                    <a:bodyPr/>
                    <a:lstStyle/>
                    <a:p>
                      <a:r>
                        <a:rPr lang="en-GB" sz="800" dirty="0"/>
                        <a:t>Level 4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123.</a:t>
                      </a:r>
                    </a:p>
                  </a:txBody>
                  <a:tcPr/>
                </a:tc>
                <a:tc>
                  <a:txBody>
                    <a:bodyPr/>
                    <a:lstStyle/>
                    <a:p>
                      <a:r>
                        <a:rPr lang="en-GB" sz="800" dirty="0"/>
                        <a:t>Level 5 Camera 16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Obj_cam_16_lvl5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17  which is camera zone 16.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96D91E03-6A84-2A69-6733-5D0CE39AFB6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5994885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0809-C564-43F8-EF90-2987356222D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2C07393-1C10-64B7-692C-5F3941BE48D5}"/>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124.</a:t>
                      </a:r>
                    </a:p>
                  </a:txBody>
                  <a:tcPr/>
                </a:tc>
                <a:tc>
                  <a:txBody>
                    <a:bodyPr/>
                    <a:lstStyle/>
                    <a:p>
                      <a:r>
                        <a:rPr lang="en-GB" sz="800" dirty="0"/>
                        <a:t>Level 3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125.</a:t>
                      </a:r>
                    </a:p>
                  </a:txBody>
                  <a:tcPr/>
                </a:tc>
                <a:tc>
                  <a:txBody>
                    <a:bodyPr/>
                    <a:lstStyle/>
                    <a:p>
                      <a:r>
                        <a:rPr lang="en-GB" sz="800" dirty="0"/>
                        <a:t>Level 4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126.</a:t>
                      </a:r>
                    </a:p>
                  </a:txBody>
                  <a:tcPr/>
                </a:tc>
                <a:tc>
                  <a:txBody>
                    <a:bodyPr/>
                    <a:lstStyle/>
                    <a:p>
                      <a:r>
                        <a:rPr lang="en-GB" sz="800" dirty="0"/>
                        <a:t>Level 5 Camera 17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Obj_cam_17_lvl5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18  which is camera zone 17.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82B78C50-155D-67C7-99BF-38BD60A73538}"/>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0362936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38CF4-3584-A5AA-1098-83596320162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165F9C3-B4D9-BE03-B884-485ADCC68249}"/>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127.</a:t>
                      </a:r>
                    </a:p>
                  </a:txBody>
                  <a:tcPr/>
                </a:tc>
                <a:tc>
                  <a:txBody>
                    <a:bodyPr/>
                    <a:lstStyle/>
                    <a:p>
                      <a:r>
                        <a:rPr lang="en-GB" sz="800" dirty="0"/>
                        <a:t>Level 3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128.</a:t>
                      </a:r>
                    </a:p>
                  </a:txBody>
                  <a:tcPr/>
                </a:tc>
                <a:tc>
                  <a:txBody>
                    <a:bodyPr/>
                    <a:lstStyle/>
                    <a:p>
                      <a:r>
                        <a:rPr lang="en-GB" sz="800" dirty="0"/>
                        <a:t>Level 4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129.</a:t>
                      </a:r>
                    </a:p>
                  </a:txBody>
                  <a:tcPr/>
                </a:tc>
                <a:tc>
                  <a:txBody>
                    <a:bodyPr/>
                    <a:lstStyle/>
                    <a:p>
                      <a:r>
                        <a:rPr lang="en-GB" sz="800" dirty="0"/>
                        <a:t>Level 5 Camera 18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Obj_cam_18_lvl5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19  which is camera zone 18.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EEEFD194-4BAC-3ABE-F865-5DF9E25D5861}"/>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197097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76C82-B08C-BF15-8D74-91DCA6CB073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C492DC7-BA80-8C9E-2165-B9DD8DEE1C9B}"/>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130.</a:t>
                      </a:r>
                    </a:p>
                  </a:txBody>
                  <a:tcPr/>
                </a:tc>
                <a:tc>
                  <a:txBody>
                    <a:bodyPr/>
                    <a:lstStyle/>
                    <a:p>
                      <a:r>
                        <a:rPr lang="en-GB" sz="800" dirty="0"/>
                        <a:t>Level 3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131.</a:t>
                      </a:r>
                    </a:p>
                  </a:txBody>
                  <a:tcPr/>
                </a:tc>
                <a:tc>
                  <a:txBody>
                    <a:bodyPr/>
                    <a:lstStyle/>
                    <a:p>
                      <a:r>
                        <a:rPr lang="en-GB" sz="800" dirty="0"/>
                        <a:t>Level 4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132.</a:t>
                      </a:r>
                    </a:p>
                  </a:txBody>
                  <a:tcPr/>
                </a:tc>
                <a:tc>
                  <a:txBody>
                    <a:bodyPr/>
                    <a:lstStyle/>
                    <a:p>
                      <a:r>
                        <a:rPr lang="en-GB" sz="800" dirty="0"/>
                        <a:t>Level 5 Camera 19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Obj_cam_19_lvl5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20  which is camera zone 19.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42AC0392-1944-C0CC-B2E8-FB4D80E8F822}"/>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2641747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FEFC3-E26B-4D72-FA92-D269E1EA6451}"/>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E75592A8-5F04-4B5A-AE52-E330BA1E62AA}"/>
              </a:ext>
            </a:extLst>
          </p:cNvPr>
          <p:cNvGraphicFramePr>
            <a:graphicFrameLocks noGrp="1"/>
          </p:cNvGraphicFramePr>
          <p:nvPr/>
        </p:nvGraphicFramePr>
        <p:xfrm>
          <a:off x="114301" y="391885"/>
          <a:ext cx="10874827" cy="2939503"/>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133.</a:t>
                      </a:r>
                    </a:p>
                  </a:txBody>
                  <a:tcPr/>
                </a:tc>
                <a:tc>
                  <a:txBody>
                    <a:bodyPr/>
                    <a:lstStyle/>
                    <a:p>
                      <a:r>
                        <a:rPr lang="en-GB" sz="800" dirty="0"/>
                        <a:t>Level 3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3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134.</a:t>
                      </a:r>
                    </a:p>
                  </a:txBody>
                  <a:tcPr/>
                </a:tc>
                <a:tc>
                  <a:txBody>
                    <a:bodyPr/>
                    <a:lstStyle/>
                    <a:p>
                      <a:r>
                        <a:rPr lang="en-GB" sz="800" dirty="0"/>
                        <a:t>Level 4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4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135.</a:t>
                      </a:r>
                    </a:p>
                  </a:txBody>
                  <a:tcPr/>
                </a:tc>
                <a:tc>
                  <a:txBody>
                    <a:bodyPr/>
                    <a:lstStyle/>
                    <a:p>
                      <a:r>
                        <a:rPr lang="en-GB" sz="800" dirty="0"/>
                        <a:t>Level 5 Camera 20 Button trigger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Obj_cam_20_lvl5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mouse left click button is pressed, it will utilize the camera change script for level 5 to change the cameras position to view </a:t>
                      </a:r>
                      <a:r>
                        <a:rPr lang="en-GB" sz="800" dirty="0" err="1"/>
                        <a:t>global.current_zone</a:t>
                      </a:r>
                      <a:r>
                        <a:rPr lang="en-GB" sz="800" dirty="0"/>
                        <a:t>  = 21  which is camera zone 20. It will also play the button click SFX upon clicking  the left mouse button. Also,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bl>
          </a:graphicData>
        </a:graphic>
      </p:graphicFrame>
      <p:sp>
        <p:nvSpPr>
          <p:cNvPr id="2" name="TextBox 1">
            <a:extLst>
              <a:ext uri="{FF2B5EF4-FFF2-40B4-BE49-F238E27FC236}">
                <a16:creationId xmlns:a16="http://schemas.microsoft.com/office/drawing/2014/main" id="{0860658A-0480-C701-A6D8-946598336DC9}"/>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graphicFrame>
        <p:nvGraphicFramePr>
          <p:cNvPr id="3" name="Table 2">
            <a:extLst>
              <a:ext uri="{FF2B5EF4-FFF2-40B4-BE49-F238E27FC236}">
                <a16:creationId xmlns:a16="http://schemas.microsoft.com/office/drawing/2014/main" id="{B5E13AFA-7448-DE5F-AF66-500F4B7BE373}"/>
              </a:ext>
            </a:extLst>
          </p:cNvPr>
          <p:cNvGraphicFramePr>
            <a:graphicFrameLocks noGrp="1"/>
          </p:cNvGraphicFramePr>
          <p:nvPr/>
        </p:nvGraphicFramePr>
        <p:xfrm>
          <a:off x="114301" y="3429000"/>
          <a:ext cx="10874827" cy="325772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3918857">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136.</a:t>
                      </a:r>
                    </a:p>
                  </a:txBody>
                  <a:tcPr/>
                </a:tc>
                <a:tc>
                  <a:txBody>
                    <a:bodyPr/>
                    <a:lstStyle/>
                    <a:p>
                      <a:r>
                        <a:rPr lang="en-GB" sz="800" dirty="0"/>
                        <a:t>Open Camera Level 1</a:t>
                      </a:r>
                    </a:p>
                  </a:txBody>
                  <a:tcPr/>
                </a:tc>
                <a:tc>
                  <a:txBody>
                    <a:bodyPr/>
                    <a:lstStyle/>
                    <a:p>
                      <a:r>
                        <a:rPr lang="en-GB" sz="800" dirty="0"/>
                        <a:t>Rm_level1</a:t>
                      </a:r>
                    </a:p>
                  </a:txBody>
                  <a:tcPr/>
                </a:tc>
                <a:tc>
                  <a:txBody>
                    <a:bodyPr/>
                    <a:lstStyle/>
                    <a:p>
                      <a:r>
                        <a:rPr lang="en-GB" sz="800" dirty="0" err="1"/>
                        <a:t>Obj_open_camera</a:t>
                      </a:r>
                      <a:endParaRPr lang="en-GB" sz="800" dirty="0"/>
                    </a:p>
                  </a:txBody>
                  <a:tcPr/>
                </a:tc>
                <a:tc>
                  <a:txBody>
                    <a:bodyPr/>
                    <a:lstStyle/>
                    <a:p>
                      <a:pPr marL="0" indent="0">
                        <a:buNone/>
                      </a:pPr>
                      <a:r>
                        <a:rPr lang="en-GB" sz="800" dirty="0"/>
                        <a:t>When C Key is pressed the open camera SFX plays and it utilizes level 1 change camera script to change the position of the camera in the room to the Camera Hud zone.</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2</a:t>
                      </a:r>
                    </a:p>
                    <a:p>
                      <a:endParaRPr lang="en-GB" sz="800" dirty="0"/>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2 change camera script to change the position of the camera in the room to the Camera Hud zone, and it sets the camera view size to X = 967 by Y = 684.</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3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r h="470623">
                <a:tc>
                  <a:txBody>
                    <a:bodyPr/>
                    <a:lstStyle/>
                    <a:p>
                      <a:r>
                        <a:rPr lang="en-GB" sz="800" dirty="0"/>
                        <a:t>139.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4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629050625"/>
                  </a:ext>
                </a:extLst>
              </a:tr>
              <a:tr h="470623">
                <a:tc>
                  <a:txBody>
                    <a:bodyPr/>
                    <a:lstStyle/>
                    <a:p>
                      <a:r>
                        <a:rPr lang="en-GB" sz="800" dirty="0"/>
                        <a:t>140.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Open Camera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Obj_open_camera_lvl5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C Key is pressed the open camera SFX plays, it utilizes level 5 change camera script to change the position of the camera in the room to the Camera Hud zone, and it sets the camera view size to X = 967 by Y = 684.</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21679193"/>
                  </a:ext>
                </a:extLst>
              </a:tr>
            </a:tbl>
          </a:graphicData>
        </a:graphic>
      </p:graphicFrame>
    </p:spTree>
    <p:extLst>
      <p:ext uri="{BB962C8B-B14F-4D97-AF65-F5344CB8AC3E}">
        <p14:creationId xmlns:p14="http://schemas.microsoft.com/office/powerpoint/2010/main" val="19547616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97D893A-A824-9898-8220-1A33958F2F15}"/>
              </a:ext>
            </a:extLst>
          </p:cNvPr>
          <p:cNvGraphicFramePr>
            <a:graphicFrameLocks noGrp="1"/>
          </p:cNvGraphicFramePr>
          <p:nvPr/>
        </p:nvGraphicFramePr>
        <p:xfrm>
          <a:off x="106136" y="661131"/>
          <a:ext cx="10874827" cy="3257726"/>
        </p:xfrm>
        <a:graphic>
          <a:graphicData uri="http://schemas.openxmlformats.org/drawingml/2006/table">
            <a:tbl>
              <a:tblPr firstRow="1" bandRow="1">
                <a:tableStyleId>{5C22544A-7EE6-4342-B048-85BDC9FD1C3A}</a:tableStyleId>
              </a:tblPr>
              <a:tblGrid>
                <a:gridCol w="469086">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499804">
                  <a:extLst>
                    <a:ext uri="{9D8B030D-6E8A-4147-A177-3AD203B41FA5}">
                      <a16:colId xmlns:a16="http://schemas.microsoft.com/office/drawing/2014/main" val="132880537"/>
                    </a:ext>
                  </a:extLst>
                </a:gridCol>
                <a:gridCol w="4131129">
                  <a:extLst>
                    <a:ext uri="{9D8B030D-6E8A-4147-A177-3AD203B41FA5}">
                      <a16:colId xmlns:a16="http://schemas.microsoft.com/office/drawing/2014/main" val="786884226"/>
                    </a:ext>
                  </a:extLst>
                </a:gridCol>
                <a:gridCol w="2514599">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136.</a:t>
                      </a:r>
                    </a:p>
                  </a:txBody>
                  <a:tcPr/>
                </a:tc>
                <a:tc>
                  <a:txBody>
                    <a:bodyPr/>
                    <a:lstStyle/>
                    <a:p>
                      <a:r>
                        <a:rPr lang="en-GB" sz="800" dirty="0"/>
                        <a:t>Close Camera Level 1</a:t>
                      </a:r>
                    </a:p>
                  </a:txBody>
                  <a:tcPr/>
                </a:tc>
                <a:tc>
                  <a:txBody>
                    <a:bodyPr/>
                    <a:lstStyle/>
                    <a:p>
                      <a:r>
                        <a:rPr lang="en-GB" sz="800" dirty="0"/>
                        <a:t>Rm_level1</a:t>
                      </a:r>
                    </a:p>
                  </a:txBody>
                  <a:tcPr/>
                </a:tc>
                <a:tc>
                  <a:txBody>
                    <a:bodyPr/>
                    <a:lstStyle/>
                    <a:p>
                      <a:r>
                        <a:rPr lang="en-GB" sz="800" dirty="0" err="1"/>
                        <a:t>Obj_exit_camera</a:t>
                      </a:r>
                      <a:endParaRPr lang="en-GB" sz="800" dirty="0"/>
                    </a:p>
                  </a:txBody>
                  <a:tcPr/>
                </a:tc>
                <a:tc>
                  <a:txBody>
                    <a:bodyPr/>
                    <a:lstStyle/>
                    <a:p>
                      <a:pPr marL="0" indent="0">
                        <a:buNone/>
                      </a:pPr>
                      <a:r>
                        <a:rPr lang="en-GB" sz="800" dirty="0"/>
                        <a:t>When V Key is pressed the closed camera SFX plays </a:t>
                      </a:r>
                      <a:r>
                        <a:rPr lang="en-GB" sz="800" b="0" dirty="0"/>
                        <a:t>then it triggers alarm [0] </a:t>
                      </a:r>
                      <a:r>
                        <a:rPr lang="en-GB" sz="800" b="1" dirty="0"/>
                        <a:t>(for delayed return) </a:t>
                      </a:r>
                      <a:r>
                        <a:rPr lang="en-GB" sz="800" dirty="0"/>
                        <a:t>which utilizes level 1 change camera script to change the position of the camera in the room back to the main office.</a:t>
                      </a:r>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2</a:t>
                      </a:r>
                    </a:p>
                    <a:p>
                      <a:endParaRPr lang="en-GB" sz="800" dirty="0"/>
                    </a:p>
                  </a:txBody>
                  <a:tcPr/>
                </a:tc>
                <a:tc>
                  <a:txBody>
                    <a:bodyPr/>
                    <a:lstStyle/>
                    <a:p>
                      <a:r>
                        <a:rPr lang="en-GB" sz="800" dirty="0"/>
                        <a:t>Rm_level2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 </a:t>
                      </a:r>
                      <a:r>
                        <a:rPr lang="en-GB" sz="800" dirty="0"/>
                        <a:t>, which utilizes level 2 change camera script to change the position of the camera in the room back to the main office, and it sets the camera view size to X = 400 by Y = 225.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1562323603"/>
                  </a:ext>
                </a:extLst>
              </a:tr>
              <a:tr h="470623">
                <a:tc>
                  <a:txBody>
                    <a:bodyPr/>
                    <a:lstStyle/>
                    <a:p>
                      <a:r>
                        <a:rPr lang="en-GB" sz="800" dirty="0"/>
                        <a:t>138.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3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32488199"/>
                  </a:ext>
                </a:extLst>
              </a:tr>
              <a:tr h="470623">
                <a:tc>
                  <a:txBody>
                    <a:bodyPr/>
                    <a:lstStyle/>
                    <a:p>
                      <a:r>
                        <a:rPr lang="en-GB" sz="800" dirty="0"/>
                        <a:t>139.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4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629050625"/>
                  </a:ext>
                </a:extLst>
              </a:tr>
              <a:tr h="470623">
                <a:tc>
                  <a:txBody>
                    <a:bodyPr/>
                    <a:lstStyle/>
                    <a:p>
                      <a:r>
                        <a:rPr lang="en-GB" sz="800" dirty="0"/>
                        <a:t>140.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Close Camera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Obj_exit_camera_lvl5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V Key is pressed the closed camera SFX plays </a:t>
                      </a:r>
                      <a:r>
                        <a:rPr lang="en-GB" sz="800" b="0" dirty="0"/>
                        <a:t>then it triggers alarm [0] </a:t>
                      </a:r>
                      <a:r>
                        <a:rPr lang="en-GB" sz="800" b="1" dirty="0"/>
                        <a:t>(for delayed return)</a:t>
                      </a:r>
                      <a:r>
                        <a:rPr lang="en-GB" sz="800" dirty="0"/>
                        <a:t>, which utilizes level 5 change camera script to change the position of the camera in the room back to the main office, and it sets the camera view size to X = 400 by Y = 225.</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3521679193"/>
                  </a:ext>
                </a:extLst>
              </a:tr>
            </a:tbl>
          </a:graphicData>
        </a:graphic>
      </p:graphicFrame>
      <p:sp>
        <p:nvSpPr>
          <p:cNvPr id="5" name="TextBox 4">
            <a:extLst>
              <a:ext uri="{FF2B5EF4-FFF2-40B4-BE49-F238E27FC236}">
                <a16:creationId xmlns:a16="http://schemas.microsoft.com/office/drawing/2014/main" id="{57AC9656-7EA1-B4EA-F9F3-8EAEE96C39F7}"/>
              </a:ext>
            </a:extLst>
          </p:cNvPr>
          <p:cNvSpPr txBox="1"/>
          <p:nvPr/>
        </p:nvSpPr>
        <p:spPr>
          <a:xfrm>
            <a:off x="0" y="22553"/>
            <a:ext cx="1810111" cy="369332"/>
          </a:xfrm>
          <a:prstGeom prst="rect">
            <a:avLst/>
          </a:prstGeom>
          <a:noFill/>
        </p:spPr>
        <p:txBody>
          <a:bodyPr wrap="none" rtlCol="0">
            <a:spAutoFit/>
          </a:bodyPr>
          <a:lstStyle/>
          <a:p>
            <a:r>
              <a:rPr lang="en-GB" dirty="0"/>
              <a:t>Camera Buttons</a:t>
            </a:r>
          </a:p>
        </p:txBody>
      </p:sp>
    </p:spTree>
    <p:extLst>
      <p:ext uri="{BB962C8B-B14F-4D97-AF65-F5344CB8AC3E}">
        <p14:creationId xmlns:p14="http://schemas.microsoft.com/office/powerpoint/2010/main" val="6475733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9B935-011B-742D-4858-7E214A8DC59A}"/>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5CA25A9-B62D-6ADD-D3C9-4D097BE69029}"/>
              </a:ext>
            </a:extLst>
          </p:cNvPr>
          <p:cNvGraphicFramePr>
            <a:graphicFrameLocks noGrp="1"/>
          </p:cNvGraphicFramePr>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141.</a:t>
                      </a:r>
                    </a:p>
                  </a:txBody>
                  <a:tcPr/>
                </a:tc>
                <a:tc>
                  <a:txBody>
                    <a:bodyPr/>
                    <a:lstStyle/>
                    <a:p>
                      <a:r>
                        <a:rPr lang="en-GB" sz="800" dirty="0"/>
                        <a:t>Move to Left Door Up-close zone level 1</a:t>
                      </a:r>
                    </a:p>
                  </a:txBody>
                  <a:tcPr/>
                </a:tc>
                <a:tc>
                  <a:txBody>
                    <a:bodyPr/>
                    <a:lstStyle/>
                    <a:p>
                      <a:r>
                        <a:rPr lang="en-GB" sz="800" dirty="0"/>
                        <a:t>Rm_level1</a:t>
                      </a:r>
                    </a:p>
                  </a:txBody>
                  <a:tcPr/>
                </a:tc>
                <a:tc>
                  <a:txBody>
                    <a:bodyPr/>
                    <a:lstStyle/>
                    <a:p>
                      <a:r>
                        <a:rPr lang="en-GB" sz="800" dirty="0" err="1"/>
                        <a:t>Obj_move_button_left_door</a:t>
                      </a:r>
                      <a:endParaRPr lang="en-GB" sz="800" dirty="0"/>
                    </a:p>
                  </a:txBody>
                  <a:tcPr/>
                </a:tc>
                <a:tc>
                  <a:txBody>
                    <a:bodyPr/>
                    <a:lstStyle/>
                    <a:p>
                      <a:r>
                        <a:rPr lang="en-GB" sz="800" dirty="0"/>
                        <a:t>When the player left clicks on the left door move button in the main office, just like the camera buttons, it utilizes the level 1 camera change script to change the camera view to left door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2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143.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3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4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145.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Left Door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Obj_move_button_left_door_lvl5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left door move button in the main office, just like the camera buttons, it utilizes the level 5 camera change script to change the camera view to left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B6FA3FCF-1FD7-5E98-9D4E-911E7A0E2EA9}"/>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1949894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37C52-ABA7-F340-FEA5-6CA103D4AFB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4BEA82F-5B9B-A5A9-93EE-6C6A6BCAAB14}"/>
              </a:ext>
            </a:extLst>
          </p:cNvPr>
          <p:cNvGraphicFramePr>
            <a:graphicFrameLocks noGrp="1"/>
          </p:cNvGraphicFramePr>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146.</a:t>
                      </a:r>
                    </a:p>
                  </a:txBody>
                  <a:tcPr/>
                </a:tc>
                <a:tc>
                  <a:txBody>
                    <a:bodyPr/>
                    <a:lstStyle/>
                    <a:p>
                      <a:r>
                        <a:rPr lang="en-GB" sz="800" dirty="0"/>
                        <a:t>Move to Right Door Up-close zone level 1</a:t>
                      </a:r>
                    </a:p>
                  </a:txBody>
                  <a:tcPr/>
                </a:tc>
                <a:tc>
                  <a:txBody>
                    <a:bodyPr/>
                    <a:lstStyle/>
                    <a:p>
                      <a:r>
                        <a:rPr lang="en-GB" sz="800" dirty="0"/>
                        <a:t>Rm_level1</a:t>
                      </a:r>
                    </a:p>
                  </a:txBody>
                  <a:tcPr/>
                </a:tc>
                <a:tc>
                  <a:txBody>
                    <a:bodyPr/>
                    <a:lstStyle/>
                    <a:p>
                      <a:r>
                        <a:rPr lang="en-GB" sz="800" dirty="0" err="1"/>
                        <a:t>Obj_move_button_right_door</a:t>
                      </a:r>
                      <a:endParaRPr lang="en-GB" sz="800" dirty="0"/>
                    </a:p>
                  </a:txBody>
                  <a:tcPr/>
                </a:tc>
                <a:tc>
                  <a:txBody>
                    <a:bodyPr/>
                    <a:lstStyle/>
                    <a:p>
                      <a:r>
                        <a:rPr lang="en-GB" sz="800" dirty="0"/>
                        <a:t>When the player left clicks on the right door move button in the main office, just like the camera buttons, it utilizes the level 1 camera change script to change the camera view to right door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147.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2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148.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3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149.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4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Right Door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Obj_move_button_right_door_lvl5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right door move button in the main office, just like the camera buttons, it utilizes the level 5 camera change script to change the camera view to right door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D853FF79-D447-1A7C-6417-4FE27A788F60}"/>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33918666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FEDE5-DB3E-7924-F314-B76A8BD3FD8E}"/>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32979DB-12A8-AE8D-6D3C-D67BEC161570}"/>
              </a:ext>
            </a:extLst>
          </p:cNvPr>
          <p:cNvGraphicFramePr>
            <a:graphicFrameLocks noGrp="1"/>
          </p:cNvGraphicFramePr>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151.</a:t>
                      </a:r>
                    </a:p>
                  </a:txBody>
                  <a:tcPr/>
                </a:tc>
                <a:tc>
                  <a:txBody>
                    <a:bodyPr/>
                    <a:lstStyle/>
                    <a:p>
                      <a:r>
                        <a:rPr lang="en-GB" sz="800" dirty="0"/>
                        <a:t>Move to back vent Up-close zone level 1</a:t>
                      </a:r>
                    </a:p>
                  </a:txBody>
                  <a:tcPr/>
                </a:tc>
                <a:tc>
                  <a:txBody>
                    <a:bodyPr/>
                    <a:lstStyle/>
                    <a:p>
                      <a:r>
                        <a:rPr lang="en-GB" sz="800" dirty="0"/>
                        <a:t>Rm_level1</a:t>
                      </a:r>
                    </a:p>
                  </a:txBody>
                  <a:tcPr/>
                </a:tc>
                <a:tc>
                  <a:txBody>
                    <a:bodyPr/>
                    <a:lstStyle/>
                    <a:p>
                      <a:r>
                        <a:rPr lang="en-GB" sz="800" dirty="0" err="1"/>
                        <a:t>Obj_move_button_back_vent</a:t>
                      </a:r>
                      <a:endParaRPr lang="en-GB" sz="800" dirty="0"/>
                    </a:p>
                  </a:txBody>
                  <a:tcPr/>
                </a:tc>
                <a:tc>
                  <a:txBody>
                    <a:bodyPr/>
                    <a:lstStyle/>
                    <a:p>
                      <a:r>
                        <a:rPr lang="en-GB" sz="800" dirty="0"/>
                        <a:t>When the player left clicks on the back vent move button in the main office, just like the camera buttons, it utilizes the level 1 camera change script to change the camera view to back vent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152.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2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153.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3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154.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4 camera change script to change the camera view to back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back vent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Obj_move_button_back_vent_lvl5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back vent move button in the main office, just like the camera buttons, it utilizes the level 5 camera change script to change the camera view to back vent up-close zone.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B4E64A02-05D0-0315-A8AA-42B69E91660A}"/>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5958937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F7363-EA7D-FE98-67F5-CB70C36C7B6C}"/>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25C245C-A724-C1AA-803A-8094FA7A99AD}"/>
              </a:ext>
            </a:extLst>
          </p:cNvPr>
          <p:cNvGraphicFramePr>
            <a:graphicFrameLocks noGrp="1"/>
          </p:cNvGraphicFramePr>
          <p:nvPr/>
        </p:nvGraphicFramePr>
        <p:xfrm>
          <a:off x="114301" y="391885"/>
          <a:ext cx="11204571" cy="3262265"/>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3665764">
                  <a:extLst>
                    <a:ext uri="{9D8B030D-6E8A-4147-A177-3AD203B41FA5}">
                      <a16:colId xmlns:a16="http://schemas.microsoft.com/office/drawing/2014/main" val="786884226"/>
                    </a:ext>
                  </a:extLst>
                </a:gridCol>
                <a:gridCol w="2726871">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5162">
                <a:tc>
                  <a:txBody>
                    <a:bodyPr/>
                    <a:lstStyle/>
                    <a:p>
                      <a:r>
                        <a:rPr lang="en-GB" sz="800" dirty="0"/>
                        <a:t>156.</a:t>
                      </a:r>
                    </a:p>
                  </a:txBody>
                  <a:tcPr/>
                </a:tc>
                <a:tc>
                  <a:txBody>
                    <a:bodyPr/>
                    <a:lstStyle/>
                    <a:p>
                      <a:r>
                        <a:rPr lang="en-GB" sz="800" dirty="0"/>
                        <a:t>Move to front vent Up-close zone level 1</a:t>
                      </a:r>
                    </a:p>
                  </a:txBody>
                  <a:tcPr/>
                </a:tc>
                <a:tc>
                  <a:txBody>
                    <a:bodyPr/>
                    <a:lstStyle/>
                    <a:p>
                      <a:r>
                        <a:rPr lang="en-GB" sz="800" dirty="0"/>
                        <a:t>Rm_level1</a:t>
                      </a:r>
                    </a:p>
                  </a:txBody>
                  <a:tcPr/>
                </a:tc>
                <a:tc>
                  <a:txBody>
                    <a:bodyPr/>
                    <a:lstStyle/>
                    <a:p>
                      <a:r>
                        <a:rPr lang="en-GB" sz="800" dirty="0" err="1"/>
                        <a:t>Obj_move_button_front_vent</a:t>
                      </a:r>
                      <a:endParaRPr lang="en-GB" sz="800" dirty="0"/>
                    </a:p>
                  </a:txBody>
                  <a:tcPr/>
                </a:tc>
                <a:tc>
                  <a:txBody>
                    <a:bodyPr/>
                    <a:lstStyle/>
                    <a:p>
                      <a:r>
                        <a:rPr lang="en-GB" sz="800" dirty="0"/>
                        <a:t>When the player left clicks on the front vent move button in the main office, just like the camera buttons, it utilizes the level 1 camera change script to change the camera view to front vent up-close zone.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157.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2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158.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3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4 camera change script to change the camera view to front vent up-close zone.</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160.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Move to front vent Up-close zone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Obj_move_button_front_vent_lvl5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front vent move button in the main office, just like the camera buttons, it utilizes the level 5 camera change script to change the camera view front vent  up-close zone.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 </a:t>
                      </a:r>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8C6B8F30-1B35-2C4A-2102-BC44804A14BF}"/>
              </a:ext>
            </a:extLst>
          </p:cNvPr>
          <p:cNvSpPr txBox="1"/>
          <p:nvPr/>
        </p:nvSpPr>
        <p:spPr>
          <a:xfrm>
            <a:off x="0" y="22553"/>
            <a:ext cx="3103222" cy="369332"/>
          </a:xfrm>
          <a:prstGeom prst="rect">
            <a:avLst/>
          </a:prstGeom>
          <a:noFill/>
        </p:spPr>
        <p:txBody>
          <a:bodyPr wrap="none" rtlCol="0">
            <a:spAutoFit/>
          </a:bodyPr>
          <a:lstStyle/>
          <a:p>
            <a:r>
              <a:rPr lang="en-GB" dirty="0"/>
              <a:t>Door/vent Movement Buttons</a:t>
            </a:r>
          </a:p>
        </p:txBody>
      </p:sp>
    </p:spTree>
    <p:extLst>
      <p:ext uri="{BB962C8B-B14F-4D97-AF65-F5344CB8AC3E}">
        <p14:creationId xmlns:p14="http://schemas.microsoft.com/office/powerpoint/2010/main" val="20549702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5386-2590-BEE8-0F8A-765BCCFC8F9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1542D0-1945-6D31-4E77-097076CA360C}"/>
              </a:ext>
            </a:extLst>
          </p:cNvPr>
          <p:cNvGraphicFramePr>
            <a:graphicFrameLocks noGrp="1"/>
          </p:cNvGraphicFramePr>
          <p:nvPr>
            <p:extLst>
              <p:ext uri="{D42A27DB-BD31-4B8C-83A1-F6EECF244321}">
                <p14:modId xmlns:p14="http://schemas.microsoft.com/office/powerpoint/2010/main" val="3158500400"/>
              </p:ext>
            </p:extLst>
          </p:nvPr>
        </p:nvGraphicFramePr>
        <p:xfrm>
          <a:off x="114301" y="391885"/>
          <a:ext cx="11204571" cy="5682703"/>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a:t>Test Number</a:t>
                      </a:r>
                      <a:endParaRPr lang="en-GB" sz="800" dirty="0"/>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a:t>161.</a:t>
                      </a:r>
                      <a:endParaRPr lang="en-GB" sz="800" dirty="0"/>
                    </a:p>
                  </a:txBody>
                  <a:tcPr/>
                </a:tc>
                <a:tc>
                  <a:txBody>
                    <a:bodyPr/>
                    <a:lstStyle/>
                    <a:p>
                      <a:r>
                        <a:rPr lang="en-GB" sz="800" dirty="0"/>
                        <a:t>Left Door open/close states level 1</a:t>
                      </a:r>
                    </a:p>
                  </a:txBody>
                  <a:tcPr/>
                </a:tc>
                <a:tc>
                  <a:txBody>
                    <a:bodyPr/>
                    <a:lstStyle/>
                    <a:p>
                      <a:r>
                        <a:rPr lang="en-GB" sz="800" dirty="0"/>
                        <a:t>Rm_level1</a:t>
                      </a:r>
                    </a:p>
                  </a:txBody>
                  <a:tcPr/>
                </a:tc>
                <a:tc>
                  <a:txBody>
                    <a:bodyPr/>
                    <a:lstStyle/>
                    <a:p>
                      <a:r>
                        <a:rPr lang="en-GB" sz="800" dirty="0" err="1"/>
                        <a:t>obj_left_door_button</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for both the up-close view and the main view left doors. When it knows what state, the doors are currently in, it will change the left doors object sprite and set the left doors global state to open/close which the oxygen/door/vent controller uses to decrease/increase the oxygen levels.</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a:t>162.</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for both the up-close view and the main view left doors.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a:t>163.</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for both the up-close view and the main view left doors.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a:t>164.</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for both the up-close view and the main view left doors. When it knows what state, the doors are currently in, it will change the left doors object sprite and set the left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a:t>165.</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Left Door open/close states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obj_left_door_button_lvl5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left door from the oxygen/door/vent controller to determine if the door requires to be In an open or closed sprite state. Essentially it checks the instance for the open or closed state of the left door in the office to then know if its closing or opening the left door for both the up-close view and the main view left doors. When it knows what state, the doors are currently in, it will change the left doors object sprite and set the left doors global state to open/close which the oxygen/door/vent controller uses to decrease/increase the oxygen levels.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A25A857A-1BFD-BF3A-190D-37417BFC9C0D}"/>
              </a:ext>
            </a:extLst>
          </p:cNvPr>
          <p:cNvSpPr txBox="1"/>
          <p:nvPr/>
        </p:nvSpPr>
        <p:spPr>
          <a:xfrm>
            <a:off x="0" y="22553"/>
            <a:ext cx="3255122" cy="369332"/>
          </a:xfrm>
          <a:prstGeom prst="rect">
            <a:avLst/>
          </a:prstGeom>
          <a:noFill/>
        </p:spPr>
        <p:txBody>
          <a:bodyPr wrap="none" rtlCol="0">
            <a:spAutoFit/>
          </a:bodyPr>
          <a:lstStyle/>
          <a:p>
            <a:r>
              <a:rPr lang="en-GB" dirty="0"/>
              <a:t>Door/vent Open/Close Buttons</a:t>
            </a:r>
          </a:p>
        </p:txBody>
      </p:sp>
      <p:sp>
        <p:nvSpPr>
          <p:cNvPr id="5" name="TextBox 4">
            <a:extLst>
              <a:ext uri="{FF2B5EF4-FFF2-40B4-BE49-F238E27FC236}">
                <a16:creationId xmlns:a16="http://schemas.microsoft.com/office/drawing/2014/main" id="{2DA626B4-2428-10AF-DEF1-90129926B6D4}"/>
              </a:ext>
            </a:extLst>
          </p:cNvPr>
          <p:cNvSpPr txBox="1"/>
          <p:nvPr/>
        </p:nvSpPr>
        <p:spPr>
          <a:xfrm>
            <a:off x="3255122" y="0"/>
            <a:ext cx="8936877"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b="1" dirty="0"/>
              <a:t>Note: Both the up-close and main view l doors are in sync meaning that when I say left or right]] door, I mean both left doors in the room.</a:t>
            </a:r>
          </a:p>
        </p:txBody>
      </p:sp>
    </p:spTree>
    <p:extLst>
      <p:ext uri="{BB962C8B-B14F-4D97-AF65-F5344CB8AC3E}">
        <p14:creationId xmlns:p14="http://schemas.microsoft.com/office/powerpoint/2010/main" val="40122199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969F5-FFA2-BF0D-46FE-A802901E228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87D1F28-B162-B065-FE05-0D60CFF22040}"/>
              </a:ext>
            </a:extLst>
          </p:cNvPr>
          <p:cNvGraphicFramePr>
            <a:graphicFrameLocks noGrp="1"/>
          </p:cNvGraphicFramePr>
          <p:nvPr>
            <p:extLst>
              <p:ext uri="{D42A27DB-BD31-4B8C-83A1-F6EECF244321}">
                <p14:modId xmlns:p14="http://schemas.microsoft.com/office/powerpoint/2010/main" val="3673214047"/>
              </p:ext>
            </p:extLst>
          </p:nvPr>
        </p:nvGraphicFramePr>
        <p:xfrm>
          <a:off x="114301" y="391885"/>
          <a:ext cx="11204571" cy="5682703"/>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a:t>Test Number</a:t>
                      </a:r>
                      <a:endParaRPr lang="en-GB" sz="800" dirty="0"/>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166.</a:t>
                      </a:r>
                    </a:p>
                  </a:txBody>
                  <a:tcPr/>
                </a:tc>
                <a:tc>
                  <a:txBody>
                    <a:bodyPr/>
                    <a:lstStyle/>
                    <a:p>
                      <a:r>
                        <a:rPr lang="en-GB" sz="800" dirty="0"/>
                        <a:t>Right Door open/close states level 1</a:t>
                      </a:r>
                    </a:p>
                  </a:txBody>
                  <a:tcPr/>
                </a:tc>
                <a:tc>
                  <a:txBody>
                    <a:bodyPr/>
                    <a:lstStyle/>
                    <a:p>
                      <a:r>
                        <a:rPr lang="en-GB" sz="800" dirty="0"/>
                        <a:t>Rm_level1</a:t>
                      </a:r>
                    </a:p>
                  </a:txBody>
                  <a:tcPr/>
                </a:tc>
                <a:tc>
                  <a:txBody>
                    <a:bodyPr/>
                    <a:lstStyle/>
                    <a:p>
                      <a:r>
                        <a:rPr lang="en-GB" sz="800" dirty="0" err="1"/>
                        <a:t>obj_right_door_button</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right door from the oxygen/door/vent controller to determine if the door requires to be In an open or closed sprite state. Essentially it checks the instance for the open or closed state of the right door in the office to then know if its closing or opening the right door for both the up-close view and the main view right doors. When it knows what state, the doors are currently in, it will change the right doors object sprite and set the right doors global state to open/close which the oxygen/door/vent controller uses to decrease/increase the oxygen levels.</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167.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Right Door open/close states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obj_right_door_button_lvl2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right door from the oxygen/door/vent controller to determine if the door requires to be In an open or closed sprite state. Essentially it checks the instance for the open or closed state of the right door in the office to then know if its closing or opening the right door for both the up-close view and the main view right doors. When it knows what state, the doors are currently in, it will change the right doors object sprite and set the right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168.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Right Door open/close states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obj_right_door_button_lvl3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right door from the oxygen/door/vent controller to determine if the door requires to be In an open or closed sprite state. Essentially it checks the instance for the open or closed state of the right door in the office to then know if its closing or opening the right door for both the up-close view and the main view right doors. When it knows what state, the doors are currently in, it will change the right doors object sprite and set the right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Right Door open/close states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obj_right_door_button_lvl4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right door from the oxygen/door/vent controller to determine if the door requires to be In an open or closed sprite state. Essentially it checks the instance for the open or closed state of the right door in the office to then know if its closing or opening the right door for both the up-close view and the main view right doors. When it knows what state, the doors are currently in, it will change the right doors object sprite and set the right doors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170.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Right Door open/close states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obj_right_door_button_lvl5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right door from the oxygen/door/vent controller to determine if the door requires to be In an open or closed sprite state. Essentially it checks the instance for the open or closed state of the right door in the office to then know if its closing or opening the right door for both the up-close view and the main view right doors. When it knows what state, the doors are currently in, it will change the right doors object sprite and set the right doors global state to open/close which the oxygen/door/vent controller uses to decrease/increase the oxygen levels.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D2D57E76-71E3-BC4D-7C35-7335EC98F7B3}"/>
              </a:ext>
            </a:extLst>
          </p:cNvPr>
          <p:cNvSpPr txBox="1"/>
          <p:nvPr/>
        </p:nvSpPr>
        <p:spPr>
          <a:xfrm>
            <a:off x="0" y="22553"/>
            <a:ext cx="3255122" cy="369332"/>
          </a:xfrm>
          <a:prstGeom prst="rect">
            <a:avLst/>
          </a:prstGeom>
          <a:noFill/>
        </p:spPr>
        <p:txBody>
          <a:bodyPr wrap="none" rtlCol="0">
            <a:spAutoFit/>
          </a:bodyPr>
          <a:lstStyle/>
          <a:p>
            <a:r>
              <a:rPr lang="en-GB" dirty="0"/>
              <a:t>Door/vent Open/Close Buttons</a:t>
            </a:r>
          </a:p>
        </p:txBody>
      </p:sp>
      <p:sp>
        <p:nvSpPr>
          <p:cNvPr id="5" name="TextBox 4">
            <a:extLst>
              <a:ext uri="{FF2B5EF4-FFF2-40B4-BE49-F238E27FC236}">
                <a16:creationId xmlns:a16="http://schemas.microsoft.com/office/drawing/2014/main" id="{2F84063D-D413-3675-69B1-32B3C085CCCD}"/>
              </a:ext>
            </a:extLst>
          </p:cNvPr>
          <p:cNvSpPr txBox="1"/>
          <p:nvPr/>
        </p:nvSpPr>
        <p:spPr>
          <a:xfrm>
            <a:off x="3255122" y="0"/>
            <a:ext cx="8936877" cy="2616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b="1" dirty="0"/>
              <a:t>Note: Both the up-close and main view l doors are in sync meaning that when I say left or right]] door, I mean both left doors in the room.</a:t>
            </a:r>
          </a:p>
        </p:txBody>
      </p:sp>
    </p:spTree>
    <p:extLst>
      <p:ext uri="{BB962C8B-B14F-4D97-AF65-F5344CB8AC3E}">
        <p14:creationId xmlns:p14="http://schemas.microsoft.com/office/powerpoint/2010/main" val="2795542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3537B-16B0-40A8-70C5-333DE4717D7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999D9CC-7738-A7CF-878F-33656F889703}"/>
              </a:ext>
            </a:extLst>
          </p:cNvPr>
          <p:cNvGraphicFramePr>
            <a:graphicFrameLocks noGrp="1"/>
          </p:cNvGraphicFramePr>
          <p:nvPr>
            <p:extLst>
              <p:ext uri="{D42A27DB-BD31-4B8C-83A1-F6EECF244321}">
                <p14:modId xmlns:p14="http://schemas.microsoft.com/office/powerpoint/2010/main" val="681108370"/>
              </p:ext>
            </p:extLst>
          </p:nvPr>
        </p:nvGraphicFramePr>
        <p:xfrm>
          <a:off x="114301" y="391885"/>
          <a:ext cx="11204571" cy="5682703"/>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a:t>Test Number</a:t>
                      </a:r>
                      <a:endParaRPr lang="en-GB" sz="800" dirty="0"/>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171.</a:t>
                      </a:r>
                    </a:p>
                  </a:txBody>
                  <a:tcPr/>
                </a:tc>
                <a:tc>
                  <a:txBody>
                    <a:bodyPr/>
                    <a:lstStyle/>
                    <a:p>
                      <a:r>
                        <a:rPr lang="en-GB" sz="800" dirty="0"/>
                        <a:t>Front Vent open/close states level 1</a:t>
                      </a:r>
                    </a:p>
                  </a:txBody>
                  <a:tcPr/>
                </a:tc>
                <a:tc>
                  <a:txBody>
                    <a:bodyPr/>
                    <a:lstStyle/>
                    <a:p>
                      <a:r>
                        <a:rPr lang="en-GB" sz="800" dirty="0"/>
                        <a:t>Rm_level1</a:t>
                      </a:r>
                    </a:p>
                  </a:txBody>
                  <a:tcPr/>
                </a:tc>
                <a:tc>
                  <a:txBody>
                    <a:bodyPr/>
                    <a:lstStyle/>
                    <a:p>
                      <a:r>
                        <a:rPr lang="en-GB" sz="800" dirty="0" err="1"/>
                        <a:t>obj_front_vent_button</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Front Vent from the oxygen/door/vent controller to determine if the vent requires to be In an open or closed sprite state. Essentially it checks the instance for the open or closed state of the Front Vent  in the office to then know if its closing or opening the Front Vent  for both the up-close view and the main view Front Vents. When it knows what state, the vents are currently in, it will change the front vents object sprite and set the front vents global state to open/close which the oxygen/door/vent controller uses to decrease/increase the oxygen levels.</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172.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Front Vent open/close states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obj_front_vent_button_lvl2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Front Vent from the oxygen/door/vent controller to determine if the vent requires to be In an open or closed sprite state. Essentially it checks the instance for the open or closed state of the Front Vent  in the office to then know if its closing or opening the Front Vent  for both the up-close view and the main view Front Vents. When it knows what state, the vents are currently in, it will change the front vents object sprite and set the front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173.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Front Vent open/close states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obj_front_vent_button_lvl3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Front Vent from the oxygen/door/vent controller to determine if the vent requires to be In an open or closed sprite state. Essentially it checks the instance for the open or closed state of the Front Vent  in the office to then know if its closing or opening the Front Vent  for both the up-close view and the main view Front Vents. When it knows what state, the vents are currently in, it will change the front vents object sprite and set the front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Front Vent open/close states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obj_front_vent_button_lvl4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Front Vent from the oxygen/door/vent controller to determine if the vent requires to be In an open or closed sprite state. Essentially it checks the instance for the open or closed state of the Front Vent  in the office to then know if its closing or opening the Front Vent  for both the up-close view and the main view Front Vents. When it knows what state, the vents are currently in, it will change the front vents object sprite and set the front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175.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Front Vent open/close states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obj_front_vent_button_lvl5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Front Vent from the oxygen/door/vent controller to determine if the vent requires to be In an open or closed sprite state. Essentially it checks the instance for the open or closed state of the Front Vent  in the office to then know if its closing or opening the Front Vent  for both the up-close view and the main view Front Vents. When it knows what state, the vents are currently in, it will change the front vents object sprite and set the front vents global state to open/close which the oxygen/door/vent controller uses to decrease/increase the oxygen levels.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5E803DC0-248C-F031-6F0D-68BA267E0A67}"/>
              </a:ext>
            </a:extLst>
          </p:cNvPr>
          <p:cNvSpPr txBox="1"/>
          <p:nvPr/>
        </p:nvSpPr>
        <p:spPr>
          <a:xfrm>
            <a:off x="0" y="22553"/>
            <a:ext cx="3255122" cy="369332"/>
          </a:xfrm>
          <a:prstGeom prst="rect">
            <a:avLst/>
          </a:prstGeom>
          <a:noFill/>
        </p:spPr>
        <p:txBody>
          <a:bodyPr wrap="none" rtlCol="0">
            <a:spAutoFit/>
          </a:bodyPr>
          <a:lstStyle/>
          <a:p>
            <a:r>
              <a:rPr lang="en-GB" dirty="0"/>
              <a:t>Door/vent Open/Close Buttons</a:t>
            </a:r>
          </a:p>
        </p:txBody>
      </p:sp>
      <p:sp>
        <p:nvSpPr>
          <p:cNvPr id="5" name="TextBox 4">
            <a:extLst>
              <a:ext uri="{FF2B5EF4-FFF2-40B4-BE49-F238E27FC236}">
                <a16:creationId xmlns:a16="http://schemas.microsoft.com/office/drawing/2014/main" id="{9ADB39F6-8981-E252-EBE0-4474F790F2DB}"/>
              </a:ext>
            </a:extLst>
          </p:cNvPr>
          <p:cNvSpPr txBox="1"/>
          <p:nvPr/>
        </p:nvSpPr>
        <p:spPr>
          <a:xfrm>
            <a:off x="3255122" y="0"/>
            <a:ext cx="8936877" cy="43088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b="1" dirty="0"/>
              <a:t>Note: Both the up-close and main view vents are in sync meaning that when I say front or back vents, I mean both front/back vents in the room.</a:t>
            </a:r>
          </a:p>
        </p:txBody>
      </p:sp>
    </p:spTree>
    <p:extLst>
      <p:ext uri="{BB962C8B-B14F-4D97-AF65-F5344CB8AC3E}">
        <p14:creationId xmlns:p14="http://schemas.microsoft.com/office/powerpoint/2010/main" val="34558020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20105-EE7F-D252-9E0F-A9B60ABCA6B8}"/>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F2A2820-7325-9ADC-8454-CC31E704CB33}"/>
              </a:ext>
            </a:extLst>
          </p:cNvPr>
          <p:cNvGraphicFramePr>
            <a:graphicFrameLocks noGrp="1"/>
          </p:cNvGraphicFramePr>
          <p:nvPr>
            <p:extLst>
              <p:ext uri="{D42A27DB-BD31-4B8C-83A1-F6EECF244321}">
                <p14:modId xmlns:p14="http://schemas.microsoft.com/office/powerpoint/2010/main" val="4092607965"/>
              </p:ext>
            </p:extLst>
          </p:nvPr>
        </p:nvGraphicFramePr>
        <p:xfrm>
          <a:off x="114301" y="391885"/>
          <a:ext cx="11204571" cy="5682703"/>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a:t>Test Number</a:t>
                      </a:r>
                      <a:endParaRPr lang="en-GB" sz="800" dirty="0"/>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176.</a:t>
                      </a:r>
                    </a:p>
                  </a:txBody>
                  <a:tcPr/>
                </a:tc>
                <a:tc>
                  <a:txBody>
                    <a:bodyPr/>
                    <a:lstStyle/>
                    <a:p>
                      <a:r>
                        <a:rPr lang="en-GB" sz="800" dirty="0"/>
                        <a:t>Back Vent open/close states level 1</a:t>
                      </a:r>
                    </a:p>
                  </a:txBody>
                  <a:tcPr/>
                </a:tc>
                <a:tc>
                  <a:txBody>
                    <a:bodyPr/>
                    <a:lstStyle/>
                    <a:p>
                      <a:r>
                        <a:rPr lang="en-GB" sz="800" dirty="0"/>
                        <a:t>Rm_level1</a:t>
                      </a:r>
                    </a:p>
                  </a:txBody>
                  <a:tcPr/>
                </a:tc>
                <a:tc>
                  <a:txBody>
                    <a:bodyPr/>
                    <a:lstStyle/>
                    <a:p>
                      <a:r>
                        <a:rPr lang="en-GB" sz="800" dirty="0" err="1"/>
                        <a:t>obj_back_vent_button</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back Vent from the oxygen/door/vent controller to determine if the vent requires to be In an open or closed sprite state. Essentially it checks the instance for the open or closed state of the back Vent  in the office to then know if its closing or opening the back Vent  for both the up-close view and the main view back Vents. When it knows what state, the vents are currently in, it will change the back vents object sprite and set the back vents global state to open/close which the oxygen/door/vent controller uses to decrease/increase the oxygen levels.</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177.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Back Vent open/close states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obj_back_vent_button_lvl2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back Vent from the oxygen/door/vent controller to determine if the vent requires to be In an open or closed sprite state. Essentially it checks the instance for the open or closed state of the back Vent  in the office to then know if its closing or opening the back Vent  for both the up-close view and the main view back Vents. When it knows what state, the vents are currently in, it will change the back vents object sprite and set the back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178.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Back Vent open/close states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obj_back_vent_button_lvl3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back Vent from the oxygen/door/vent controller to determine if the vent requires to be In an open or closed sprite state. Essentially it checks the instance for the open or closed state of the back Vent  in the office to then know if its closing or opening the back Vent  for both the up-close view and the main view back Vents. When it knows what state, the vents are currently in, it will change the back vents object sprite and set the back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470623">
                <a:tc>
                  <a:txBody>
                    <a:bodyPr/>
                    <a:lstStyle/>
                    <a:p>
                      <a:r>
                        <a:rPr lang="en-GB" sz="800" dirty="0"/>
                        <a:t>179.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Back Vent open/close states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obj_back_vent_button_lvl4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back Vent from the oxygen/door/vent controller to determine if the vent requires to be In an open or closed sprite state. Essentially it checks the instance for the open or closed state of the back Vent  in the office to then know if its closing or opening the back Vent  for both the up-close view and the main view back Vents. When it knows what state, the vents are currently in, it will change the back vents object sprite and set the back vents global state to open/close which the oxygen/door/vent controller uses to decrease/increase the oxygen levels.</a:t>
                      </a:r>
                    </a:p>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r h="470623">
                <a:tc>
                  <a:txBody>
                    <a:bodyPr/>
                    <a:lstStyle/>
                    <a:p>
                      <a:r>
                        <a:rPr lang="en-GB" sz="800" dirty="0"/>
                        <a:t>180.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Back Vent open/close states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obj_back_vent_button_lvl5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the player left clicks on the button, the button uses the global variable states for the back Vent from the oxygen/door/vent controller to determine if the vent requires to be In an open or closed sprite state. Essentially it checks the instance for the open or closed state of the back Vent  in the office to then know if its closing or opening the back Vent  for both the up-close view and the main view back Vents. When it knows what state, the vents are currently in, it will change the back vents object sprite and set the back vents global state to open/close which the oxygen/door/vent controller uses to decrease/increase the oxygen levels.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983487539"/>
                  </a:ext>
                </a:extLst>
              </a:tr>
            </a:tbl>
          </a:graphicData>
        </a:graphic>
      </p:graphicFrame>
      <p:sp>
        <p:nvSpPr>
          <p:cNvPr id="2" name="TextBox 1">
            <a:extLst>
              <a:ext uri="{FF2B5EF4-FFF2-40B4-BE49-F238E27FC236}">
                <a16:creationId xmlns:a16="http://schemas.microsoft.com/office/drawing/2014/main" id="{878E0A35-38D8-CB93-CA9C-CC890C8F9C98}"/>
              </a:ext>
            </a:extLst>
          </p:cNvPr>
          <p:cNvSpPr txBox="1"/>
          <p:nvPr/>
        </p:nvSpPr>
        <p:spPr>
          <a:xfrm>
            <a:off x="0" y="22553"/>
            <a:ext cx="3255122" cy="369332"/>
          </a:xfrm>
          <a:prstGeom prst="rect">
            <a:avLst/>
          </a:prstGeom>
          <a:noFill/>
        </p:spPr>
        <p:txBody>
          <a:bodyPr wrap="none" rtlCol="0">
            <a:spAutoFit/>
          </a:bodyPr>
          <a:lstStyle/>
          <a:p>
            <a:r>
              <a:rPr lang="en-GB" dirty="0"/>
              <a:t>Door/vent Open/Close Buttons</a:t>
            </a:r>
          </a:p>
        </p:txBody>
      </p:sp>
      <p:sp>
        <p:nvSpPr>
          <p:cNvPr id="3" name="TextBox 2">
            <a:extLst>
              <a:ext uri="{FF2B5EF4-FFF2-40B4-BE49-F238E27FC236}">
                <a16:creationId xmlns:a16="http://schemas.microsoft.com/office/drawing/2014/main" id="{5BED3D71-F390-71D4-F19D-17483D2CC06E}"/>
              </a:ext>
            </a:extLst>
          </p:cNvPr>
          <p:cNvSpPr txBox="1"/>
          <p:nvPr/>
        </p:nvSpPr>
        <p:spPr>
          <a:xfrm>
            <a:off x="3255122" y="0"/>
            <a:ext cx="8936877" cy="43088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b="1" dirty="0"/>
              <a:t>Note: Both the up-close and main view vents are in sync meaning that when I say front or back vents, I mean both front/back vents in the room.</a:t>
            </a:r>
          </a:p>
        </p:txBody>
      </p:sp>
    </p:spTree>
    <p:extLst>
      <p:ext uri="{BB962C8B-B14F-4D97-AF65-F5344CB8AC3E}">
        <p14:creationId xmlns:p14="http://schemas.microsoft.com/office/powerpoint/2010/main" val="26704968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FDCC4-8951-07F1-2096-742CA7CC5FCE}"/>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351796F-5522-29DE-26F6-A6D17F3FD64B}"/>
              </a:ext>
            </a:extLst>
          </p:cNvPr>
          <p:cNvGraphicFramePr>
            <a:graphicFrameLocks noGrp="1"/>
          </p:cNvGraphicFramePr>
          <p:nvPr>
            <p:extLst>
              <p:ext uri="{D42A27DB-BD31-4B8C-83A1-F6EECF244321}">
                <p14:modId xmlns:p14="http://schemas.microsoft.com/office/powerpoint/2010/main" val="3477634471"/>
              </p:ext>
            </p:extLst>
          </p:nvPr>
        </p:nvGraphicFramePr>
        <p:xfrm>
          <a:off x="114301" y="391885"/>
          <a:ext cx="11204571" cy="2344231"/>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181.</a:t>
                      </a:r>
                    </a:p>
                  </a:txBody>
                  <a:tcPr/>
                </a:tc>
                <a:tc>
                  <a:txBody>
                    <a:bodyPr/>
                    <a:lstStyle/>
                    <a:p>
                      <a:r>
                        <a:rPr lang="en-GB" sz="800" dirty="0"/>
                        <a:t>Level 1 </a:t>
                      </a:r>
                      <a:r>
                        <a:rPr lang="en-GB" sz="800" dirty="0" err="1"/>
                        <a:t>Gwiber</a:t>
                      </a:r>
                      <a:r>
                        <a:rPr lang="en-GB" sz="800" dirty="0"/>
                        <a:t> Jump-scare</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182.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2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183.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3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0">
                <a:tc>
                  <a:txBody>
                    <a:bodyPr/>
                    <a:lstStyle/>
                    <a:p>
                      <a:r>
                        <a:rPr lang="en-GB" sz="800" dirty="0"/>
                        <a:t>184.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5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bl>
          </a:graphicData>
        </a:graphic>
      </p:graphicFrame>
      <p:sp>
        <p:nvSpPr>
          <p:cNvPr id="2" name="TextBox 1">
            <a:extLst>
              <a:ext uri="{FF2B5EF4-FFF2-40B4-BE49-F238E27FC236}">
                <a16:creationId xmlns:a16="http://schemas.microsoft.com/office/drawing/2014/main" id="{4F012120-7B7D-924A-BD3E-059394353114}"/>
              </a:ext>
            </a:extLst>
          </p:cNvPr>
          <p:cNvSpPr txBox="1"/>
          <p:nvPr/>
        </p:nvSpPr>
        <p:spPr>
          <a:xfrm>
            <a:off x="0" y="22553"/>
            <a:ext cx="3332964" cy="369332"/>
          </a:xfrm>
          <a:prstGeom prst="rect">
            <a:avLst/>
          </a:prstGeom>
          <a:noFill/>
        </p:spPr>
        <p:txBody>
          <a:bodyPr wrap="none" rtlCol="0">
            <a:spAutoFit/>
          </a:bodyPr>
          <a:lstStyle/>
          <a:p>
            <a:r>
              <a:rPr lang="en-GB" dirty="0"/>
              <a:t>Level 1,2,3,5 </a:t>
            </a:r>
            <a:r>
              <a:rPr lang="en-GB" dirty="0" err="1"/>
              <a:t>Gwiber</a:t>
            </a:r>
            <a:r>
              <a:rPr lang="en-GB" dirty="0"/>
              <a:t> </a:t>
            </a:r>
            <a:r>
              <a:rPr lang="en-GB" dirty="0" err="1"/>
              <a:t>Jumpscare</a:t>
            </a:r>
            <a:endParaRPr lang="en-GB" dirty="0"/>
          </a:p>
        </p:txBody>
      </p:sp>
    </p:spTree>
    <p:extLst>
      <p:ext uri="{BB962C8B-B14F-4D97-AF65-F5344CB8AC3E}">
        <p14:creationId xmlns:p14="http://schemas.microsoft.com/office/powerpoint/2010/main" val="4046331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915D8-5034-3EDB-DD7F-FE569056F2A4}"/>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890A455-385A-4078-393B-CF27710BBE20}"/>
              </a:ext>
            </a:extLst>
          </p:cNvPr>
          <p:cNvGraphicFramePr>
            <a:graphicFrameLocks noGrp="1"/>
          </p:cNvGraphicFramePr>
          <p:nvPr>
            <p:extLst>
              <p:ext uri="{D42A27DB-BD31-4B8C-83A1-F6EECF244321}">
                <p14:modId xmlns:p14="http://schemas.microsoft.com/office/powerpoint/2010/main" val="1806403934"/>
              </p:ext>
            </p:extLst>
          </p:nvPr>
        </p:nvGraphicFramePr>
        <p:xfrm>
          <a:off x="114301" y="391885"/>
          <a:ext cx="11204571" cy="2344231"/>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181.</a:t>
                      </a:r>
                    </a:p>
                  </a:txBody>
                  <a:tcPr/>
                </a:tc>
                <a:tc>
                  <a:txBody>
                    <a:bodyPr/>
                    <a:lstStyle/>
                    <a:p>
                      <a:r>
                        <a:rPr lang="en-GB" sz="800" dirty="0"/>
                        <a:t>Level 1 K9 Jump-scare</a:t>
                      </a:r>
                    </a:p>
                  </a:txBody>
                  <a:tcPr/>
                </a:tc>
                <a:tc>
                  <a:txBody>
                    <a:bodyPr/>
                    <a:lstStyle/>
                    <a:p>
                      <a:r>
                        <a:rPr lang="en-GB" sz="800" dirty="0"/>
                        <a:t>Rm_level1</a:t>
                      </a:r>
                    </a:p>
                  </a:txBody>
                  <a:tcPr/>
                </a:tc>
                <a:tc>
                  <a:txBody>
                    <a:bodyPr/>
                    <a:lstStyle/>
                    <a:p>
                      <a:r>
                        <a:rPr lang="en-GB" sz="800" dirty="0"/>
                        <a:t>Obj_amcd_K9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182.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2 K9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183.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3 K9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0">
                <a:tc>
                  <a:txBody>
                    <a:bodyPr/>
                    <a:lstStyle/>
                    <a:p>
                      <a:r>
                        <a:rPr lang="en-GB" sz="800" dirty="0"/>
                        <a:t>184.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5 K9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t>
                      </a:r>
                      <a:r>
                        <a:rPr lang="en-GB" sz="800"/>
                        <a:t>amcd_K9_</a:t>
                      </a:r>
                      <a:r>
                        <a:rPr lang="en-GB" sz="800" dirty="0"/>
                        <a:t>lvl5</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bl>
          </a:graphicData>
        </a:graphic>
      </p:graphicFrame>
      <p:sp>
        <p:nvSpPr>
          <p:cNvPr id="2" name="TextBox 1">
            <a:extLst>
              <a:ext uri="{FF2B5EF4-FFF2-40B4-BE49-F238E27FC236}">
                <a16:creationId xmlns:a16="http://schemas.microsoft.com/office/drawing/2014/main" id="{40A6145E-AB49-AC7C-5F67-AF57F7C57408}"/>
              </a:ext>
            </a:extLst>
          </p:cNvPr>
          <p:cNvSpPr txBox="1"/>
          <p:nvPr/>
        </p:nvSpPr>
        <p:spPr>
          <a:xfrm>
            <a:off x="0" y="22553"/>
            <a:ext cx="3332964" cy="369332"/>
          </a:xfrm>
          <a:prstGeom prst="rect">
            <a:avLst/>
          </a:prstGeom>
          <a:noFill/>
        </p:spPr>
        <p:txBody>
          <a:bodyPr wrap="none" rtlCol="0">
            <a:spAutoFit/>
          </a:bodyPr>
          <a:lstStyle/>
          <a:p>
            <a:r>
              <a:rPr lang="en-GB" dirty="0"/>
              <a:t>Level 1,2,3,5 </a:t>
            </a:r>
            <a:r>
              <a:rPr lang="en-GB" dirty="0" err="1"/>
              <a:t>Gwiber</a:t>
            </a:r>
            <a:r>
              <a:rPr lang="en-GB" dirty="0"/>
              <a:t> </a:t>
            </a:r>
            <a:r>
              <a:rPr lang="en-GB" dirty="0" err="1"/>
              <a:t>Jumpscare</a:t>
            </a:r>
            <a:endParaRPr lang="en-GB" dirty="0"/>
          </a:p>
        </p:txBody>
      </p:sp>
    </p:spTree>
    <p:extLst>
      <p:ext uri="{BB962C8B-B14F-4D97-AF65-F5344CB8AC3E}">
        <p14:creationId xmlns:p14="http://schemas.microsoft.com/office/powerpoint/2010/main" val="35526251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B2B6-B1AB-D99C-0D98-1D4F397DDCC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F0C7B34-6443-A9C9-D4A9-17962F0EB530}"/>
              </a:ext>
            </a:extLst>
          </p:cNvPr>
          <p:cNvGraphicFramePr>
            <a:graphicFrameLocks noGrp="1"/>
          </p:cNvGraphicFramePr>
          <p:nvPr/>
        </p:nvGraphicFramePr>
        <p:xfrm>
          <a:off x="114301" y="391885"/>
          <a:ext cx="11204571" cy="2344231"/>
        </p:xfrm>
        <a:graphic>
          <a:graphicData uri="http://schemas.openxmlformats.org/drawingml/2006/table">
            <a:tbl>
              <a:tblPr firstRow="1" bandRow="1">
                <a:tableStyleId>{5C22544A-7EE6-4342-B048-85BDC9FD1C3A}</a:tableStyleId>
              </a:tblPr>
              <a:tblGrid>
                <a:gridCol w="798830">
                  <a:extLst>
                    <a:ext uri="{9D8B030D-6E8A-4147-A177-3AD203B41FA5}">
                      <a16:colId xmlns:a16="http://schemas.microsoft.com/office/drawing/2014/main" val="2041145262"/>
                    </a:ext>
                  </a:extLst>
                </a:gridCol>
                <a:gridCol w="1647254">
                  <a:extLst>
                    <a:ext uri="{9D8B030D-6E8A-4147-A177-3AD203B41FA5}">
                      <a16:colId xmlns:a16="http://schemas.microsoft.com/office/drawing/2014/main" val="3102287305"/>
                    </a:ext>
                  </a:extLst>
                </a:gridCol>
                <a:gridCol w="612955">
                  <a:extLst>
                    <a:ext uri="{9D8B030D-6E8A-4147-A177-3AD203B41FA5}">
                      <a16:colId xmlns:a16="http://schemas.microsoft.com/office/drawing/2014/main" val="4080696647"/>
                    </a:ext>
                  </a:extLst>
                </a:gridCol>
                <a:gridCol w="1752897">
                  <a:extLst>
                    <a:ext uri="{9D8B030D-6E8A-4147-A177-3AD203B41FA5}">
                      <a16:colId xmlns:a16="http://schemas.microsoft.com/office/drawing/2014/main" val="132880537"/>
                    </a:ext>
                  </a:extLst>
                </a:gridCol>
                <a:gridCol w="4519688">
                  <a:extLst>
                    <a:ext uri="{9D8B030D-6E8A-4147-A177-3AD203B41FA5}">
                      <a16:colId xmlns:a16="http://schemas.microsoft.com/office/drawing/2014/main" val="786884226"/>
                    </a:ext>
                  </a:extLst>
                </a:gridCol>
                <a:gridCol w="1872947">
                  <a:extLst>
                    <a:ext uri="{9D8B030D-6E8A-4147-A177-3AD203B41FA5}">
                      <a16:colId xmlns:a16="http://schemas.microsoft.com/office/drawing/2014/main" val="3328467923"/>
                    </a:ext>
                  </a:extLst>
                </a:gridCol>
              </a:tblGrid>
              <a:tr h="470623">
                <a:tc>
                  <a:txBody>
                    <a:bodyPr/>
                    <a:lstStyle/>
                    <a:p>
                      <a:r>
                        <a:rPr lang="en-GB" sz="800" dirty="0"/>
                        <a:t>Test Number</a:t>
                      </a:r>
                    </a:p>
                  </a:txBody>
                  <a:tcPr/>
                </a:tc>
                <a:tc>
                  <a:txBody>
                    <a:bodyPr/>
                    <a:lstStyle/>
                    <a:p>
                      <a:r>
                        <a:rPr lang="en-GB" sz="800"/>
                        <a:t>Test Type</a:t>
                      </a:r>
                      <a:endParaRPr lang="en-GB" sz="800" dirty="0"/>
                    </a:p>
                  </a:txBody>
                  <a:tcPr/>
                </a:tc>
                <a:tc>
                  <a:txBody>
                    <a:bodyPr/>
                    <a:lstStyle/>
                    <a:p>
                      <a:r>
                        <a:rPr lang="en-GB" sz="800"/>
                        <a:t>Room</a:t>
                      </a:r>
                      <a:endParaRPr lang="en-GB" sz="800" dirty="0"/>
                    </a:p>
                  </a:txBody>
                  <a:tcPr/>
                </a:tc>
                <a:tc>
                  <a:txBody>
                    <a:bodyPr/>
                    <a:lstStyle/>
                    <a:p>
                      <a:r>
                        <a:rPr lang="en-GB" sz="800"/>
                        <a:t>Objects Involved</a:t>
                      </a:r>
                      <a:endParaRPr lang="en-GB" sz="800" dirty="0"/>
                    </a:p>
                  </a:txBody>
                  <a:tcPr/>
                </a:tc>
                <a:tc>
                  <a:txBody>
                    <a:bodyPr/>
                    <a:lstStyle/>
                    <a:p>
                      <a:r>
                        <a:rPr lang="en-GB" sz="800"/>
                        <a:t>Expected Outcome</a:t>
                      </a:r>
                      <a:endParaRPr lang="en-GB" sz="800" dirty="0"/>
                    </a:p>
                  </a:txBody>
                  <a:tcPr/>
                </a:tc>
                <a:tc>
                  <a:txBody>
                    <a:bodyPr/>
                    <a:lstStyle/>
                    <a:p>
                      <a:r>
                        <a:rPr lang="en-GB" sz="800"/>
                        <a:t>Actual Outcome</a:t>
                      </a:r>
                      <a:endParaRPr lang="en-GB" sz="800" dirty="0"/>
                    </a:p>
                  </a:txBody>
                  <a:tcPr/>
                </a:tc>
                <a:extLst>
                  <a:ext uri="{0D108BD9-81ED-4DB2-BD59-A6C34878D82A}">
                    <a16:rowId xmlns:a16="http://schemas.microsoft.com/office/drawing/2014/main" val="1296324342"/>
                  </a:ext>
                </a:extLst>
              </a:tr>
              <a:tr h="475162">
                <a:tc>
                  <a:txBody>
                    <a:bodyPr/>
                    <a:lstStyle/>
                    <a:p>
                      <a:r>
                        <a:rPr lang="en-GB" sz="800" dirty="0"/>
                        <a:t>181.</a:t>
                      </a:r>
                    </a:p>
                  </a:txBody>
                  <a:tcPr/>
                </a:tc>
                <a:tc>
                  <a:txBody>
                    <a:bodyPr/>
                    <a:lstStyle/>
                    <a:p>
                      <a:r>
                        <a:rPr lang="en-GB" sz="800" dirty="0"/>
                        <a:t>Level 1 </a:t>
                      </a:r>
                      <a:r>
                        <a:rPr lang="en-GB" sz="800" dirty="0" err="1"/>
                        <a:t>Gwiber</a:t>
                      </a:r>
                      <a:r>
                        <a:rPr lang="en-GB" sz="800" dirty="0"/>
                        <a:t> Jump-scare</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182.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2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4163288784"/>
                  </a:ext>
                </a:extLst>
              </a:tr>
              <a:tr h="470623">
                <a:tc>
                  <a:txBody>
                    <a:bodyPr/>
                    <a:lstStyle/>
                    <a:p>
                      <a:r>
                        <a:rPr lang="en-GB" sz="800" dirty="0"/>
                        <a:t>183.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3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2370588301"/>
                  </a:ext>
                </a:extLst>
              </a:tr>
              <a:tr h="0">
                <a:tc>
                  <a:txBody>
                    <a:bodyPr/>
                    <a:lstStyle/>
                    <a:p>
                      <a:r>
                        <a:rPr lang="en-GB" sz="800" dirty="0"/>
                        <a:t>184.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Level 5 </a:t>
                      </a:r>
                      <a:r>
                        <a:rPr lang="en-GB" sz="800" dirty="0" err="1"/>
                        <a:t>Gwiber</a:t>
                      </a:r>
                      <a:r>
                        <a:rPr lang="en-GB" sz="800" dirty="0"/>
                        <a:t> Jump-scare</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indent="0">
                        <a:buNone/>
                      </a:pPr>
                      <a:endParaRPr lang="en-GB" sz="800" dirty="0"/>
                    </a:p>
                  </a:txBody>
                  <a:tcPr/>
                </a:tc>
                <a:tc>
                  <a:txBody>
                    <a:bodyPr/>
                    <a:lstStyle/>
                    <a:p>
                      <a:pPr marL="0" indent="0">
                        <a:buNone/>
                      </a:pPr>
                      <a:endParaRPr lang="en-GB" sz="800" dirty="0"/>
                    </a:p>
                  </a:txBody>
                  <a:tcPr/>
                </a:tc>
                <a:extLst>
                  <a:ext uri="{0D108BD9-81ED-4DB2-BD59-A6C34878D82A}">
                    <a16:rowId xmlns:a16="http://schemas.microsoft.com/office/drawing/2014/main" val="931270710"/>
                  </a:ext>
                </a:extLst>
              </a:tr>
            </a:tbl>
          </a:graphicData>
        </a:graphic>
      </p:graphicFrame>
      <p:sp>
        <p:nvSpPr>
          <p:cNvPr id="2" name="TextBox 1">
            <a:extLst>
              <a:ext uri="{FF2B5EF4-FFF2-40B4-BE49-F238E27FC236}">
                <a16:creationId xmlns:a16="http://schemas.microsoft.com/office/drawing/2014/main" id="{1FC0086C-1CA6-97C3-0AD3-9758F6FB3716}"/>
              </a:ext>
            </a:extLst>
          </p:cNvPr>
          <p:cNvSpPr txBox="1"/>
          <p:nvPr/>
        </p:nvSpPr>
        <p:spPr>
          <a:xfrm>
            <a:off x="0" y="22553"/>
            <a:ext cx="3332964" cy="369332"/>
          </a:xfrm>
          <a:prstGeom prst="rect">
            <a:avLst/>
          </a:prstGeom>
          <a:noFill/>
        </p:spPr>
        <p:txBody>
          <a:bodyPr wrap="none" rtlCol="0">
            <a:spAutoFit/>
          </a:bodyPr>
          <a:lstStyle/>
          <a:p>
            <a:r>
              <a:rPr lang="en-GB" dirty="0"/>
              <a:t>Level 1,2,3,5 </a:t>
            </a:r>
            <a:r>
              <a:rPr lang="en-GB" dirty="0" err="1"/>
              <a:t>Gwiber</a:t>
            </a:r>
            <a:r>
              <a:rPr lang="en-GB" dirty="0"/>
              <a:t> </a:t>
            </a:r>
            <a:r>
              <a:rPr lang="en-GB" dirty="0" err="1"/>
              <a:t>Jumpscare</a:t>
            </a:r>
            <a:endParaRPr lang="en-GB" dirty="0"/>
          </a:p>
        </p:txBody>
      </p:sp>
    </p:spTree>
    <p:extLst>
      <p:ext uri="{BB962C8B-B14F-4D97-AF65-F5344CB8AC3E}">
        <p14:creationId xmlns:p14="http://schemas.microsoft.com/office/powerpoint/2010/main" val="2722602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58988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483</TotalTime>
  <Words>19055</Words>
  <Application>Microsoft Office PowerPoint</Application>
  <PresentationFormat>Widescreen</PresentationFormat>
  <Paragraphs>1325</Paragraphs>
  <Slides>43</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Aptos</vt:lpstr>
      <vt:lpstr>Aptos Display</vt:lpstr>
      <vt:lpstr>Arial</vt:lpstr>
      <vt:lpstr>Arial Narrow</vt:lpstr>
      <vt:lpstr>Office Theme</vt:lpstr>
      <vt:lpstr>The Next Slides are the tests made for Build V.1.0 of Critical Failure  Testing  Each test will be mentioned in each levels video.  The videos will be added at the end of the table slides.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ieuan Jarvis</cp:lastModifiedBy>
  <cp:revision>6</cp:revision>
  <dcterms:created xsi:type="dcterms:W3CDTF">2026-02-28T18:05:40Z</dcterms:created>
  <dcterms:modified xsi:type="dcterms:W3CDTF">2026-03-01T21:47:41Z</dcterms:modified>
</cp:coreProperties>
</file>