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9" r:id="rId2"/>
    <p:sldId id="300" r:id="rId3"/>
    <p:sldId id="301" r:id="rId4"/>
    <p:sldId id="302" r:id="rId5"/>
    <p:sldId id="303" r:id="rId6"/>
    <p:sldId id="304" r:id="rId7"/>
    <p:sldId id="305" r:id="rId8"/>
    <p:sldId id="306" r:id="rId9"/>
    <p:sldId id="307" r:id="rId10"/>
    <p:sldId id="308"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CF787-7B67-8E43-9351-E9DBED277AC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F15E0C7E-E9D9-2CB4-FC90-D69602E0FF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4F6C4A3-F50E-678F-55FC-62FB7CB2CA44}"/>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5" name="Footer Placeholder 4">
            <a:extLst>
              <a:ext uri="{FF2B5EF4-FFF2-40B4-BE49-F238E27FC236}">
                <a16:creationId xmlns:a16="http://schemas.microsoft.com/office/drawing/2014/main" id="{C44C9616-6C71-05C2-005E-0906C51355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6FE277B-C638-0E8F-717F-6AAE82EAD055}"/>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2415929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CF53A-B5A8-5FF7-7D11-E2D3B401A14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0424E37-4AC6-2775-336E-83FD879CCDC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41E19A8-01DA-523C-9D82-14515194CDCB}"/>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5" name="Footer Placeholder 4">
            <a:extLst>
              <a:ext uri="{FF2B5EF4-FFF2-40B4-BE49-F238E27FC236}">
                <a16:creationId xmlns:a16="http://schemas.microsoft.com/office/drawing/2014/main" id="{23B10D46-929A-9BC1-33AD-266CE7CD2CF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1AE64F-70F6-91CF-D013-249BC8913525}"/>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2253040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BDF81-62A3-9544-5940-17CE5CBB7EE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55472D4B-36CF-3486-2B5B-FA8B18DD26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87F6FEB-8F7F-E118-1F7C-BA18D20F3A3C}"/>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5" name="Footer Placeholder 4">
            <a:extLst>
              <a:ext uri="{FF2B5EF4-FFF2-40B4-BE49-F238E27FC236}">
                <a16:creationId xmlns:a16="http://schemas.microsoft.com/office/drawing/2014/main" id="{91EAC979-2395-8FA9-303E-91098EDD9E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4E4DD0-FF73-8C62-0442-8F50CBD04577}"/>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706457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122F-9B1A-4646-E241-BB680D6B95E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CE2344C-7C9F-60E9-83D9-528AD45519E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46D1CFCB-D3FF-7687-E88F-E96F180E35B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9683A036-F6B5-2CEB-1145-F56009F10CBA}"/>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6" name="Footer Placeholder 5">
            <a:extLst>
              <a:ext uri="{FF2B5EF4-FFF2-40B4-BE49-F238E27FC236}">
                <a16:creationId xmlns:a16="http://schemas.microsoft.com/office/drawing/2014/main" id="{0865E309-3F8B-3EB8-5053-8CAC83536CE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1C2396D-8B61-A532-D6B1-4E8AADCB644C}"/>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1080338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B519-BA85-2EBF-F51B-6E55F696B9A8}"/>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9A396F9-A51B-546E-7E72-9234DD016E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3296313-2923-6D5F-4A3E-EA16FE92F17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FA6FCAC-43BA-04D2-D7BF-CB0C95C63A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7A32218-2069-1ED5-3C45-7ABF03562C4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63C7DD3-FC8F-BC38-2F3C-9F2274B45DCE}"/>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8" name="Footer Placeholder 7">
            <a:extLst>
              <a:ext uri="{FF2B5EF4-FFF2-40B4-BE49-F238E27FC236}">
                <a16:creationId xmlns:a16="http://schemas.microsoft.com/office/drawing/2014/main" id="{9E19B3BB-4C3C-5060-573A-8935A32AECE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3725D63-E124-AD3F-9D70-0EB7DB81E2BA}"/>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3689451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8F6D8-0147-1E65-716A-0715EA118622}"/>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51B88828-4527-B607-EF84-926ECE322D3B}"/>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4" name="Footer Placeholder 3">
            <a:extLst>
              <a:ext uri="{FF2B5EF4-FFF2-40B4-BE49-F238E27FC236}">
                <a16:creationId xmlns:a16="http://schemas.microsoft.com/office/drawing/2014/main" id="{9F8A9B7D-0C35-CD59-B335-6965D80684A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E97D009-23A5-6AF9-F588-A6CA03564C83}"/>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498601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5FF6A5-6108-16B1-E38B-7029F803967F}"/>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3" name="Footer Placeholder 2">
            <a:extLst>
              <a:ext uri="{FF2B5EF4-FFF2-40B4-BE49-F238E27FC236}">
                <a16:creationId xmlns:a16="http://schemas.microsoft.com/office/drawing/2014/main" id="{E1AA1FD1-9013-25EB-A828-6C4D71FF855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3CEC2FF-FFCC-7CCA-64DE-A3BFCE496D3E}"/>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1837903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23B6A-4E78-8825-8990-8128490AC71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68262AB0-65A1-BBC6-7A62-9BB809D35B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8BD358B-6F81-8259-6ED8-C5CE47E6D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114E64D-2E9E-CCE9-82D1-43264D56818F}"/>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6" name="Footer Placeholder 5">
            <a:extLst>
              <a:ext uri="{FF2B5EF4-FFF2-40B4-BE49-F238E27FC236}">
                <a16:creationId xmlns:a16="http://schemas.microsoft.com/office/drawing/2014/main" id="{6315FC1B-BF3B-BE9C-77EC-67EE13B296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561D142-006B-5C9B-1B63-A39E1CA22B43}"/>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53306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FB8ED-F165-8A0C-C064-D48A8FA21C7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EC9185BD-6164-1B50-BCE2-47BA5364BE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F14BBF7-AA92-CAE3-4DE3-2979DD65E8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3809DB-D444-A8B1-5F68-EA20761D28C1}"/>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6" name="Footer Placeholder 5">
            <a:extLst>
              <a:ext uri="{FF2B5EF4-FFF2-40B4-BE49-F238E27FC236}">
                <a16:creationId xmlns:a16="http://schemas.microsoft.com/office/drawing/2014/main" id="{B60740EA-AD8B-D95D-4741-F51B1CCCDEC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33FF3A-7E2B-BCC8-1872-0A65B1BBF014}"/>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4249671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77FE2-A32C-66CE-BEF6-1D3F668F4E1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8596EE0-2B59-F14A-B62D-2F933E9BB8B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C6ACA6C-9732-D545-7B1F-E77060CFEBFB}"/>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5" name="Footer Placeholder 4">
            <a:extLst>
              <a:ext uri="{FF2B5EF4-FFF2-40B4-BE49-F238E27FC236}">
                <a16:creationId xmlns:a16="http://schemas.microsoft.com/office/drawing/2014/main" id="{147E23D8-8982-F0F5-6B01-6F4679383F9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28750BE-5C62-5715-7587-C1CFF94D75DB}"/>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2216314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EC314C-A065-F6E3-F439-3237F44696FD}"/>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E1661A7C-7D38-01A3-F6F4-E6317BB6032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89CDC09-50FB-470F-3913-77CBAAE33609}"/>
              </a:ext>
            </a:extLst>
          </p:cNvPr>
          <p:cNvSpPr>
            <a:spLocks noGrp="1"/>
          </p:cNvSpPr>
          <p:nvPr>
            <p:ph type="dt" sz="half" idx="10"/>
          </p:nvPr>
        </p:nvSpPr>
        <p:spPr/>
        <p:txBody>
          <a:bodyPr/>
          <a:lstStyle/>
          <a:p>
            <a:fld id="{568B7E97-625A-4BCC-B496-5CABD61294FA}" type="datetimeFigureOut">
              <a:rPr lang="en-GB" smtClean="0"/>
              <a:t>28/02/2026</a:t>
            </a:fld>
            <a:endParaRPr lang="en-GB"/>
          </a:p>
        </p:txBody>
      </p:sp>
      <p:sp>
        <p:nvSpPr>
          <p:cNvPr id="5" name="Footer Placeholder 4">
            <a:extLst>
              <a:ext uri="{FF2B5EF4-FFF2-40B4-BE49-F238E27FC236}">
                <a16:creationId xmlns:a16="http://schemas.microsoft.com/office/drawing/2014/main" id="{04353F82-40DC-CB5C-F741-6431F76F20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E840F4-EA65-285A-53D3-65F96464E486}"/>
              </a:ext>
            </a:extLst>
          </p:cNvPr>
          <p:cNvSpPr>
            <a:spLocks noGrp="1"/>
          </p:cNvSpPr>
          <p:nvPr>
            <p:ph type="sldNum" sz="quarter" idx="12"/>
          </p:nvPr>
        </p:nvSpPr>
        <p:spPr/>
        <p:txBody>
          <a:bodyPr/>
          <a:lstStyle/>
          <a:p>
            <a:fld id="{F74CCF26-C483-4D0E-80C9-EC21F5F669E8}" type="slidenum">
              <a:rPr lang="en-GB" smtClean="0"/>
              <a:t>‹#›</a:t>
            </a:fld>
            <a:endParaRPr lang="en-GB"/>
          </a:p>
        </p:txBody>
      </p:sp>
    </p:spTree>
    <p:extLst>
      <p:ext uri="{BB962C8B-B14F-4D97-AF65-F5344CB8AC3E}">
        <p14:creationId xmlns:p14="http://schemas.microsoft.com/office/powerpoint/2010/main" val="961174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D7BA85-DEAC-5D49-6658-B9E813D691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2FFDC6BE-1998-98BD-CD72-D0F7767FC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8A0AFA3-D7F7-29F7-D64C-9B00B2AB34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8B7E97-625A-4BCC-B496-5CABD61294FA}" type="datetimeFigureOut">
              <a:rPr lang="en-GB" smtClean="0"/>
              <a:t>28/02/2026</a:t>
            </a:fld>
            <a:endParaRPr lang="en-GB"/>
          </a:p>
        </p:txBody>
      </p:sp>
      <p:sp>
        <p:nvSpPr>
          <p:cNvPr id="5" name="Footer Placeholder 4">
            <a:extLst>
              <a:ext uri="{FF2B5EF4-FFF2-40B4-BE49-F238E27FC236}">
                <a16:creationId xmlns:a16="http://schemas.microsoft.com/office/drawing/2014/main" id="{BED278AF-5FD5-D266-5766-AD2756E7E9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A84630E-BDAF-9D1A-69A6-87414EB8E9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4CCF26-C483-4D0E-80C9-EC21F5F669E8}" type="slidenum">
              <a:rPr lang="en-GB" smtClean="0"/>
              <a:t>‹#›</a:t>
            </a:fld>
            <a:endParaRPr lang="en-GB"/>
          </a:p>
        </p:txBody>
      </p:sp>
    </p:spTree>
    <p:extLst>
      <p:ext uri="{BB962C8B-B14F-4D97-AF65-F5344CB8AC3E}">
        <p14:creationId xmlns:p14="http://schemas.microsoft.com/office/powerpoint/2010/main" val="1353622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68EF3-E610-32D5-33E5-8C4A934B8F0C}"/>
              </a:ext>
            </a:extLst>
          </p:cNvPr>
          <p:cNvSpPr>
            <a:spLocks noGrp="1"/>
          </p:cNvSpPr>
          <p:nvPr>
            <p:ph type="title"/>
          </p:nvPr>
        </p:nvSpPr>
        <p:spPr>
          <a:xfrm>
            <a:off x="838200" y="1916339"/>
            <a:ext cx="10515600" cy="1325563"/>
          </a:xfrm>
        </p:spPr>
        <p:txBody>
          <a:bodyPr>
            <a:normAutofit fontScale="90000"/>
          </a:bodyPr>
          <a:lstStyle/>
          <a:p>
            <a:pPr algn="ctr"/>
            <a:r>
              <a:rPr lang="en-GB" dirty="0"/>
              <a:t>The Next Slides are the tests made for Build</a:t>
            </a:r>
            <a:br>
              <a:rPr lang="en-GB" dirty="0"/>
            </a:br>
            <a:r>
              <a:rPr lang="en-GB" dirty="0"/>
              <a:t>V.1.0 of</a:t>
            </a:r>
            <a:br>
              <a:rPr lang="en-GB" dirty="0"/>
            </a:br>
            <a:r>
              <a:rPr lang="en-GB" dirty="0"/>
              <a:t>Critical Failure</a:t>
            </a:r>
            <a:br>
              <a:rPr lang="en-GB" dirty="0"/>
            </a:br>
            <a:br>
              <a:rPr lang="en-GB" dirty="0"/>
            </a:br>
            <a:r>
              <a:rPr lang="en-GB" dirty="0"/>
              <a:t>Testing</a:t>
            </a:r>
            <a:br>
              <a:rPr lang="en-GB" dirty="0"/>
            </a:br>
            <a:br>
              <a:rPr lang="en-GB" dirty="0"/>
            </a:br>
            <a:r>
              <a:rPr lang="en-GB" dirty="0"/>
              <a:t>Each test will be mentioned in each levels video. </a:t>
            </a:r>
            <a:br>
              <a:rPr lang="en-GB" dirty="0"/>
            </a:br>
            <a:r>
              <a:rPr lang="en-GB" dirty="0"/>
              <a:t>The videos will be added at the end of the table slides.</a:t>
            </a:r>
            <a:br>
              <a:rPr lang="en-GB" dirty="0"/>
            </a:br>
            <a:r>
              <a:rPr lang="en-GB" dirty="0"/>
              <a:t>of this PowerPoint, showing the mechanic being tested.</a:t>
            </a:r>
          </a:p>
        </p:txBody>
      </p:sp>
      <p:sp>
        <p:nvSpPr>
          <p:cNvPr id="4" name="TextBox 3">
            <a:extLst>
              <a:ext uri="{FF2B5EF4-FFF2-40B4-BE49-F238E27FC236}">
                <a16:creationId xmlns:a16="http://schemas.microsoft.com/office/drawing/2014/main" id="{0BAA3E30-BFBB-8003-BB5B-D1D448CDCBBE}"/>
              </a:ext>
            </a:extLst>
          </p:cNvPr>
          <p:cNvSpPr txBox="1"/>
          <p:nvPr/>
        </p:nvSpPr>
        <p:spPr>
          <a:xfrm>
            <a:off x="0" y="6211669"/>
            <a:ext cx="10793186" cy="646331"/>
          </a:xfrm>
          <a:prstGeom prst="rect">
            <a:avLst/>
          </a:prstGeom>
          <a:noFill/>
        </p:spPr>
        <p:txBody>
          <a:bodyPr wrap="square">
            <a:spAutoFit/>
          </a:bodyPr>
          <a:lstStyle/>
          <a:p>
            <a:r>
              <a:rPr lang="en-GB" sz="1800" b="1" dirty="0">
                <a:latin typeface="Arial Narrow" panose="020B0606020202030204" pitchFamily="34" charset="0"/>
              </a:rPr>
              <a:t>Note: Each Level has different versions of the zones: Cam_zone_lvl1, Cam_zone_lvl2 etc. Level versions of the enemies and othe</a:t>
            </a:r>
            <a:r>
              <a:rPr lang="en-GB" b="1" dirty="0">
                <a:latin typeface="Arial Narrow" panose="020B0606020202030204" pitchFamily="34" charset="0"/>
              </a:rPr>
              <a:t>r objects follow the </a:t>
            </a:r>
            <a:r>
              <a:rPr lang="en-GB" b="1" dirty="0" err="1">
                <a:latin typeface="Arial Narrow" panose="020B0606020202030204" pitchFamily="34" charset="0"/>
              </a:rPr>
              <a:t>Cam_zone</a:t>
            </a:r>
            <a:r>
              <a:rPr lang="en-GB" b="1" dirty="0">
                <a:latin typeface="Arial Narrow" panose="020B0606020202030204" pitchFamily="34" charset="0"/>
              </a:rPr>
              <a:t> matching the level they are not from other levels.</a:t>
            </a:r>
            <a:endParaRPr lang="en-GB" sz="1800" b="1" dirty="0">
              <a:latin typeface="Arial Narrow" panose="020B0606020202030204" pitchFamily="34" charset="0"/>
            </a:endParaRPr>
          </a:p>
        </p:txBody>
      </p:sp>
    </p:spTree>
    <p:extLst>
      <p:ext uri="{BB962C8B-B14F-4D97-AF65-F5344CB8AC3E}">
        <p14:creationId xmlns:p14="http://schemas.microsoft.com/office/powerpoint/2010/main" val="1774552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nvGraphicFramePr>
        <p:xfrm>
          <a:off x="38100" y="391885"/>
          <a:ext cx="12115800" cy="6218272"/>
        </p:xfrm>
        <a:graphic>
          <a:graphicData uri="http://schemas.openxmlformats.org/drawingml/2006/table">
            <a:tbl>
              <a:tblPr firstRow="1" bandRow="1">
                <a:tableStyleId>{5C22544A-7EE6-4342-B048-85BDC9FD1C3A}</a:tableStyleId>
              </a:tblPr>
              <a:tblGrid>
                <a:gridCol w="800101">
                  <a:extLst>
                    <a:ext uri="{9D8B030D-6E8A-4147-A177-3AD203B41FA5}">
                      <a16:colId xmlns:a16="http://schemas.microsoft.com/office/drawing/2014/main" val="2041145262"/>
                    </a:ext>
                  </a:extLst>
                </a:gridCol>
                <a:gridCol w="2587189">
                  <a:extLst>
                    <a:ext uri="{9D8B030D-6E8A-4147-A177-3AD203B41FA5}">
                      <a16:colId xmlns:a16="http://schemas.microsoft.com/office/drawing/2014/main" val="3102287305"/>
                    </a:ext>
                  </a:extLst>
                </a:gridCol>
                <a:gridCol w="814089">
                  <a:extLst>
                    <a:ext uri="{9D8B030D-6E8A-4147-A177-3AD203B41FA5}">
                      <a16:colId xmlns:a16="http://schemas.microsoft.com/office/drawing/2014/main" val="4080696647"/>
                    </a:ext>
                  </a:extLst>
                </a:gridCol>
                <a:gridCol w="1350336">
                  <a:extLst>
                    <a:ext uri="{9D8B030D-6E8A-4147-A177-3AD203B41FA5}">
                      <a16:colId xmlns:a16="http://schemas.microsoft.com/office/drawing/2014/main" val="132880537"/>
                    </a:ext>
                  </a:extLst>
                </a:gridCol>
                <a:gridCol w="4248695">
                  <a:extLst>
                    <a:ext uri="{9D8B030D-6E8A-4147-A177-3AD203B41FA5}">
                      <a16:colId xmlns:a16="http://schemas.microsoft.com/office/drawing/2014/main" val="786884226"/>
                    </a:ext>
                  </a:extLst>
                </a:gridCol>
                <a:gridCol w="2315390">
                  <a:extLst>
                    <a:ext uri="{9D8B030D-6E8A-4147-A177-3AD203B41FA5}">
                      <a16:colId xmlns:a16="http://schemas.microsoft.com/office/drawing/2014/main" val="259252547"/>
                    </a:ext>
                  </a:extLst>
                </a:gridCol>
              </a:tblGrid>
              <a:tr h="353746">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0">
                <a:tc>
                  <a:txBody>
                    <a:bodyPr/>
                    <a:lstStyle/>
                    <a:p>
                      <a:r>
                        <a:rPr lang="en-GB" sz="800" dirty="0"/>
                        <a:t>1.</a:t>
                      </a:r>
                    </a:p>
                  </a:txBody>
                  <a:tcPr/>
                </a:tc>
                <a:tc>
                  <a:txBody>
                    <a:bodyPr/>
                    <a:lstStyle/>
                    <a:p>
                      <a:r>
                        <a:rPr lang="en-GB" sz="800" dirty="0" err="1"/>
                        <a:t>Gwiber</a:t>
                      </a:r>
                      <a:r>
                        <a:rPr lang="en-GB" sz="800" dirty="0"/>
                        <a:t> level 1 Enemy Movement Test</a:t>
                      </a:r>
                    </a:p>
                  </a:txBody>
                  <a:tcPr/>
                </a:tc>
                <a:tc>
                  <a:txBody>
                    <a:bodyPr/>
                    <a:lstStyle/>
                    <a:p>
                      <a:r>
                        <a:rPr lang="en-GB" sz="800" dirty="0"/>
                        <a:t>Rm_level1</a:t>
                      </a:r>
                    </a:p>
                  </a:txBody>
                  <a:tcPr/>
                </a:tc>
                <a:tc>
                  <a:txBody>
                    <a:bodyPr/>
                    <a:lstStyle/>
                    <a:p>
                      <a:r>
                        <a:rPr lang="en-GB" sz="800" dirty="0" err="1"/>
                        <a:t>Obj_amcd_gwiber</a:t>
                      </a:r>
                      <a:endParaRPr lang="en-GB" sz="800" dirty="0"/>
                    </a:p>
                  </a:txBody>
                  <a:tcPr/>
                </a:tc>
                <a:tc>
                  <a:txBody>
                    <a:bodyPr/>
                    <a:lstStyle/>
                    <a:p>
                      <a:r>
                        <a:rPr lang="en-GB" sz="800" dirty="0" err="1"/>
                        <a:t>Gwiber</a:t>
                      </a:r>
                      <a:r>
                        <a:rPr lang="en-GB" sz="800" dirty="0"/>
                        <a:t> starts in camera zone 4 then makes his way towards the left door which is camera zone 2. His movement chances are 50/50 to go forwards or backwards. He can only access Camera Zones 4,3,2,1,5. if door is in a closed state and </a:t>
                      </a:r>
                      <a:r>
                        <a:rPr lang="en-GB" sz="800" dirty="0" err="1"/>
                        <a:t>Gwiber</a:t>
                      </a:r>
                      <a:r>
                        <a:rPr lang="en-GB" sz="800" dirty="0"/>
                        <a:t> is in Camera zone 2, then he moves away from the door to Camera Zone 1 or 3. </a:t>
                      </a:r>
                      <a:r>
                        <a:rPr lang="en-GB" sz="800" dirty="0" err="1"/>
                        <a:t>Gwiber</a:t>
                      </a:r>
                      <a:r>
                        <a:rPr lang="en-GB" sz="800" dirty="0"/>
                        <a:t> moves as a normal speed. When watched his movement is delayed slightly</a:t>
                      </a:r>
                    </a:p>
                  </a:txBody>
                  <a:tcPr/>
                </a:tc>
                <a:tc>
                  <a:txBody>
                    <a:bodyPr/>
                    <a:lstStyle/>
                    <a:p>
                      <a:endParaRPr lang="en-GB" sz="800" dirty="0"/>
                    </a:p>
                  </a:txBody>
                  <a:tcPr/>
                </a:tc>
                <a:extLst>
                  <a:ext uri="{0D108BD9-81ED-4DB2-BD59-A6C34878D82A}">
                    <a16:rowId xmlns:a16="http://schemas.microsoft.com/office/drawing/2014/main" val="1068541384"/>
                  </a:ext>
                </a:extLst>
              </a:tr>
              <a:tr h="585303">
                <a:tc>
                  <a:txBody>
                    <a:bodyPr/>
                    <a:lstStyle/>
                    <a:p>
                      <a:r>
                        <a:rPr lang="en-GB" sz="8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2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r>
                        <a:rPr lang="en-GB" sz="800" dirty="0"/>
                        <a:t>Obj_amcd_gwiber_lvl2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starts in camera zone 4 then makes his way towards the left door which is camera zone 2. His movement chances are 50/50 to go forwards or backwards. He can only access Camera Zones 4,3,2,1,5. if door is in a closed state and </a:t>
                      </a:r>
                      <a:r>
                        <a:rPr lang="en-GB" sz="800" dirty="0" err="1"/>
                        <a:t>Gwiber</a:t>
                      </a:r>
                      <a:r>
                        <a:rPr lang="en-GB" sz="800" dirty="0"/>
                        <a:t> is in Camera zone 2, then he moves away from the door to Camera Zone 1 or 3. </a:t>
                      </a:r>
                      <a:r>
                        <a:rPr lang="en-GB" sz="800" dirty="0" err="1"/>
                        <a:t>Gwiber</a:t>
                      </a:r>
                      <a:r>
                        <a:rPr lang="en-GB" sz="800" dirty="0"/>
                        <a:t> moves as a normal speed. When watched his movement is delayed slightly</a:t>
                      </a:r>
                    </a:p>
                    <a:p>
                      <a:endParaRPr lang="en-GB" sz="800" dirty="0"/>
                    </a:p>
                  </a:txBody>
                  <a:tcPr/>
                </a:tc>
                <a:tc>
                  <a:txBody>
                    <a:bodyPr/>
                    <a:lstStyle/>
                    <a:p>
                      <a:endParaRPr lang="en-GB" sz="800" dirty="0"/>
                    </a:p>
                  </a:txBody>
                  <a:tcPr/>
                </a:tc>
                <a:extLst>
                  <a:ext uri="{0D108BD9-81ED-4DB2-BD59-A6C34878D82A}">
                    <a16:rowId xmlns:a16="http://schemas.microsoft.com/office/drawing/2014/main" val="2215379278"/>
                  </a:ext>
                </a:extLst>
              </a:tr>
              <a:tr h="585303">
                <a:tc>
                  <a:txBody>
                    <a:bodyPr/>
                    <a:lstStyle/>
                    <a:p>
                      <a:r>
                        <a:rPr lang="en-GB" sz="8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3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r>
                        <a:rPr lang="en-GB" sz="800" dirty="0"/>
                        <a:t>Obj_amcd_gwiber_lvl3</a:t>
                      </a:r>
                    </a:p>
                  </a:txBody>
                  <a:tcPr/>
                </a:tc>
                <a:tc>
                  <a:txBody>
                    <a:bodyPr/>
                    <a:lstStyle/>
                    <a:p>
                      <a:r>
                        <a:rPr lang="en-GB" sz="800" dirty="0"/>
                        <a:t>In Level 3 </a:t>
                      </a:r>
                      <a:r>
                        <a:rPr lang="en-GB" sz="800" dirty="0" err="1"/>
                        <a:t>Gwiber</a:t>
                      </a:r>
                      <a:r>
                        <a:rPr lang="en-GB" sz="800" dirty="0"/>
                        <a:t> starts in Camera Zone 17 then makes his way to Camera Zone 2. His code is like the two previous versions of him with the addition of zones 17,13,16 and 12 at his disposal. he moves from Camera Zone. Moves as normal speed.</a:t>
                      </a:r>
                    </a:p>
                  </a:txBody>
                  <a:tcPr/>
                </a:tc>
                <a:tc>
                  <a:txBody>
                    <a:bodyPr/>
                    <a:lstStyle/>
                    <a:p>
                      <a:endParaRPr lang="en-GB" sz="800" dirty="0"/>
                    </a:p>
                  </a:txBody>
                  <a:tcPr/>
                </a:tc>
                <a:extLst>
                  <a:ext uri="{0D108BD9-81ED-4DB2-BD59-A6C34878D82A}">
                    <a16:rowId xmlns:a16="http://schemas.microsoft.com/office/drawing/2014/main" val="4058717911"/>
                  </a:ext>
                </a:extLst>
              </a:tr>
              <a:tr h="585303">
                <a:tc>
                  <a:txBody>
                    <a:bodyPr/>
                    <a:lstStyle/>
                    <a:p>
                      <a:r>
                        <a:rPr lang="en-GB" sz="8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5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r>
                        <a:rPr lang="en-GB" sz="800" dirty="0"/>
                        <a:t>Obj_amcd_gwiber_lvl5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In Level 5 </a:t>
                      </a:r>
                      <a:r>
                        <a:rPr lang="en-GB" sz="800" dirty="0" err="1"/>
                        <a:t>Gwiber</a:t>
                      </a:r>
                      <a:r>
                        <a:rPr lang="en-GB" sz="800" dirty="0"/>
                        <a:t> starts in Camera Zone 17 then makes his way to Camera Zone 2. His code is like the two previous versions of him with the addition of zones 17,13,16 and 12 at his disposal. he moves from Camera Zone. Moves as normal speed.</a:t>
                      </a:r>
                    </a:p>
                    <a:p>
                      <a:endParaRPr lang="en-GB" sz="800" dirty="0"/>
                    </a:p>
                  </a:txBody>
                  <a:tcPr/>
                </a:tc>
                <a:tc>
                  <a:txBody>
                    <a:bodyPr/>
                    <a:lstStyle/>
                    <a:p>
                      <a:endParaRPr lang="en-GB" sz="800" dirty="0"/>
                    </a:p>
                  </a:txBody>
                  <a:tcPr/>
                </a:tc>
                <a:extLst>
                  <a:ext uri="{0D108BD9-81ED-4DB2-BD59-A6C34878D82A}">
                    <a16:rowId xmlns:a16="http://schemas.microsoft.com/office/drawing/2014/main" val="3720550943"/>
                  </a:ext>
                </a:extLst>
              </a:tr>
              <a:tr h="585303">
                <a:tc>
                  <a:txBody>
                    <a:bodyPr/>
                    <a:lstStyle/>
                    <a:p>
                      <a:r>
                        <a:rPr lang="en-GB" sz="8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1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Rm_level1</a:t>
                      </a:r>
                    </a:p>
                    <a:p>
                      <a:endParaRPr lang="en-GB" sz="800" dirty="0"/>
                    </a:p>
                  </a:txBody>
                  <a:tcPr/>
                </a:tc>
                <a:tc>
                  <a:txBody>
                    <a:bodyPr/>
                    <a:lstStyle/>
                    <a:p>
                      <a:r>
                        <a:rPr lang="en-GB" sz="800" dirty="0"/>
                        <a:t>Obj_amcd_k9</a:t>
                      </a:r>
                    </a:p>
                  </a:txBody>
                  <a:tcPr/>
                </a:tc>
                <a:tc>
                  <a:txBody>
                    <a:bodyPr/>
                    <a:lstStyle/>
                    <a:p>
                      <a:r>
                        <a:rPr lang="en-GB" sz="800" dirty="0"/>
                        <a:t>K9 starts in Camera Zone 5 and has a 50/50 chance of either going to Camera zone 1(Right) or Camera zone 6(Left). K9 mattering on which side he kicks off from will then make his way to the office. If he’s in Camera Zone 2 and the left door is closed he will reset back to zone 5 and repeat the process. Same goes for Camera zone 7 for the right door. K9 is the second fastest AMCD. K9 can access Camera Zones 5,1,6,7,2. when watched his movement is delayed</a:t>
                      </a:r>
                      <a:endParaRPr lang="en-GB" sz="800" baseline="30000" dirty="0"/>
                    </a:p>
                  </a:txBody>
                  <a:tcPr/>
                </a:tc>
                <a:tc>
                  <a:txBody>
                    <a:bodyPr/>
                    <a:lstStyle/>
                    <a:p>
                      <a:endParaRPr lang="en-GB" sz="800" dirty="0"/>
                    </a:p>
                  </a:txBody>
                  <a:tcPr/>
                </a:tc>
                <a:extLst>
                  <a:ext uri="{0D108BD9-81ED-4DB2-BD59-A6C34878D82A}">
                    <a16:rowId xmlns:a16="http://schemas.microsoft.com/office/drawing/2014/main" val="1242589453"/>
                  </a:ext>
                </a:extLst>
              </a:tr>
              <a:tr h="585303">
                <a:tc>
                  <a:txBody>
                    <a:bodyPr/>
                    <a:lstStyle/>
                    <a:p>
                      <a:r>
                        <a:rPr lang="en-GB" sz="8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2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r>
                        <a:rPr lang="en-GB" sz="800" dirty="0"/>
                        <a:t>Obj_amcd_k9_lvl2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starts in Camera Zone 5 and has a 50/50 chance of either going to Camera zone 1(Right) or Camera zone 6(Left). K9 mattering on which side he kicks off from will then make his way to the office. If he’s in Camera Zone 2 and the left door is closed he will reset back to zone 5 and repeat the process. Same goes for Camera zone 7 for the right door. K9 is the second fastest AMCD. K9 can access Camera Zones 5,1,6,7,2. when watched his movement is delayed</a:t>
                      </a:r>
                      <a:endParaRPr lang="en-GB" sz="800" baseline="30000" dirty="0"/>
                    </a:p>
                    <a:p>
                      <a:endParaRPr lang="en-GB" sz="800" dirty="0"/>
                    </a:p>
                  </a:txBody>
                  <a:tcPr/>
                </a:tc>
                <a:tc>
                  <a:txBody>
                    <a:bodyPr/>
                    <a:lstStyle/>
                    <a:p>
                      <a:endParaRPr lang="en-GB" sz="800" dirty="0"/>
                    </a:p>
                  </a:txBody>
                  <a:tcPr/>
                </a:tc>
                <a:extLst>
                  <a:ext uri="{0D108BD9-81ED-4DB2-BD59-A6C34878D82A}">
                    <a16:rowId xmlns:a16="http://schemas.microsoft.com/office/drawing/2014/main" val="4283415003"/>
                  </a:ext>
                </a:extLst>
              </a:tr>
              <a:tr h="585303">
                <a:tc>
                  <a:txBody>
                    <a:bodyPr/>
                    <a:lstStyle/>
                    <a:p>
                      <a:r>
                        <a:rPr lang="en-GB" sz="8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3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r>
                        <a:rPr lang="en-GB" sz="800" dirty="0"/>
                        <a:t>Obj_amcd_k9_lvl3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starts in Camera Zone 5 and has a 50/50 chance of either going to Camera zone 1(Right) or Camera zone 6(Left). K9 mattering on which side he kicks off from will then make his way to the office. If he’s in Camera Zone 2 and the left door is closed he will reset back to zone 5 and repeat the process. Same goes for Camera zone 7 for the right door. K9 is the second fastest AMCD. K9 can access Camera Zones 5,1,6,7,2. when watched his movement is delayed</a:t>
                      </a:r>
                      <a:endParaRPr lang="en-GB" sz="800" baseline="30000" dirty="0"/>
                    </a:p>
                    <a:p>
                      <a:endParaRPr lang="en-GB" sz="800" dirty="0"/>
                    </a:p>
                  </a:txBody>
                  <a:tcPr/>
                </a:tc>
                <a:tc>
                  <a:txBody>
                    <a:bodyPr/>
                    <a:lstStyle/>
                    <a:p>
                      <a:endParaRPr lang="en-GB" sz="800" dirty="0"/>
                    </a:p>
                  </a:txBody>
                  <a:tcPr/>
                </a:tc>
                <a:extLst>
                  <a:ext uri="{0D108BD9-81ED-4DB2-BD59-A6C34878D82A}">
                    <a16:rowId xmlns:a16="http://schemas.microsoft.com/office/drawing/2014/main" val="266603248"/>
                  </a:ext>
                </a:extLst>
              </a:tr>
              <a:tr h="585303">
                <a:tc>
                  <a:txBody>
                    <a:bodyPr/>
                    <a:lstStyle/>
                    <a:p>
                      <a:r>
                        <a:rPr lang="en-GB" sz="800"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5 Enemy Movement Test</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r>
                        <a:rPr lang="en-GB" sz="800" dirty="0"/>
                        <a:t>Obj_amcd_k9_lvl5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starts in Camera Zone 5 and has a 50/50 chance of either going to Camera zone 1(Right) or Camera zone 6(Left). K9 mattering on which side he kicks off from will then make his way to the office. If he’s in Camera Zone 2 and the left door is closed he will reset back to zone 5 and repeat the process. Same goes for Camera zone 7 for the right door. K9 is the second fastest AMCD. K9 can access Camera Zones 5,1,6,7,2. when watched his movement is delayed</a:t>
                      </a:r>
                      <a:endParaRPr lang="en-GB" sz="800" baseline="30000" dirty="0"/>
                    </a:p>
                    <a:p>
                      <a:endParaRPr lang="en-GB" sz="800" dirty="0"/>
                    </a:p>
                  </a:txBody>
                  <a:tcPr/>
                </a:tc>
                <a:tc>
                  <a:txBody>
                    <a:bodyPr/>
                    <a:lstStyle/>
                    <a:p>
                      <a:endParaRPr lang="en-GB" sz="800" dirty="0"/>
                    </a:p>
                  </a:txBody>
                  <a:tcPr/>
                </a:tc>
                <a:extLst>
                  <a:ext uri="{0D108BD9-81ED-4DB2-BD59-A6C34878D82A}">
                    <a16:rowId xmlns:a16="http://schemas.microsoft.com/office/drawing/2014/main" val="3698927783"/>
                  </a:ext>
                </a:extLst>
              </a:tr>
            </a:tbl>
          </a:graphicData>
        </a:graphic>
      </p:graphicFrame>
      <p:sp>
        <p:nvSpPr>
          <p:cNvPr id="2" name="TextBox 1">
            <a:extLst>
              <a:ext uri="{FF2B5EF4-FFF2-40B4-BE49-F238E27FC236}">
                <a16:creationId xmlns:a16="http://schemas.microsoft.com/office/drawing/2014/main" id="{F9129CF1-E1CC-4A65-2531-AC82C7C0D75D}"/>
              </a:ext>
            </a:extLst>
          </p:cNvPr>
          <p:cNvSpPr txBox="1"/>
          <p:nvPr/>
        </p:nvSpPr>
        <p:spPr>
          <a:xfrm>
            <a:off x="0" y="22553"/>
            <a:ext cx="1601592" cy="369332"/>
          </a:xfrm>
          <a:prstGeom prst="rect">
            <a:avLst/>
          </a:prstGeom>
          <a:noFill/>
        </p:spPr>
        <p:txBody>
          <a:bodyPr wrap="none" rtlCol="0">
            <a:spAutoFit/>
          </a:bodyPr>
          <a:lstStyle/>
          <a:p>
            <a:r>
              <a:rPr lang="en-GB" dirty="0"/>
              <a:t>Enemy Testing</a:t>
            </a:r>
          </a:p>
        </p:txBody>
      </p:sp>
    </p:spTree>
    <p:extLst>
      <p:ext uri="{BB962C8B-B14F-4D97-AF65-F5344CB8AC3E}">
        <p14:creationId xmlns:p14="http://schemas.microsoft.com/office/powerpoint/2010/main" val="246887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nvGraphicFramePr>
        <p:xfrm>
          <a:off x="0" y="391886"/>
          <a:ext cx="12034157" cy="5842405"/>
        </p:xfrm>
        <a:graphic>
          <a:graphicData uri="http://schemas.openxmlformats.org/drawingml/2006/table">
            <a:tbl>
              <a:tblPr firstRow="1" bandRow="1">
                <a:tableStyleId>{5C22544A-7EE6-4342-B048-85BDC9FD1C3A}</a:tableStyleId>
              </a:tblPr>
              <a:tblGrid>
                <a:gridCol w="702129">
                  <a:extLst>
                    <a:ext uri="{9D8B030D-6E8A-4147-A177-3AD203B41FA5}">
                      <a16:colId xmlns:a16="http://schemas.microsoft.com/office/drawing/2014/main" val="2041145262"/>
                    </a:ext>
                  </a:extLst>
                </a:gridCol>
                <a:gridCol w="2536104">
                  <a:extLst>
                    <a:ext uri="{9D8B030D-6E8A-4147-A177-3AD203B41FA5}">
                      <a16:colId xmlns:a16="http://schemas.microsoft.com/office/drawing/2014/main" val="3102287305"/>
                    </a:ext>
                  </a:extLst>
                </a:gridCol>
                <a:gridCol w="846982">
                  <a:extLst>
                    <a:ext uri="{9D8B030D-6E8A-4147-A177-3AD203B41FA5}">
                      <a16:colId xmlns:a16="http://schemas.microsoft.com/office/drawing/2014/main" val="4080696647"/>
                    </a:ext>
                  </a:extLst>
                </a:gridCol>
                <a:gridCol w="1517600">
                  <a:extLst>
                    <a:ext uri="{9D8B030D-6E8A-4147-A177-3AD203B41FA5}">
                      <a16:colId xmlns:a16="http://schemas.microsoft.com/office/drawing/2014/main" val="132880537"/>
                    </a:ext>
                  </a:extLst>
                </a:gridCol>
                <a:gridCol w="5329164">
                  <a:extLst>
                    <a:ext uri="{9D8B030D-6E8A-4147-A177-3AD203B41FA5}">
                      <a16:colId xmlns:a16="http://schemas.microsoft.com/office/drawing/2014/main" val="786884226"/>
                    </a:ext>
                  </a:extLst>
                </a:gridCol>
                <a:gridCol w="1102178">
                  <a:extLst>
                    <a:ext uri="{9D8B030D-6E8A-4147-A177-3AD203B41FA5}">
                      <a16:colId xmlns:a16="http://schemas.microsoft.com/office/drawing/2014/main" val="259252547"/>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851991">
                <a:tc>
                  <a:txBody>
                    <a:bodyPr/>
                    <a:lstStyle/>
                    <a:p>
                      <a:r>
                        <a:rPr lang="en-GB" sz="800" dirty="0"/>
                        <a:t>9.</a:t>
                      </a:r>
                    </a:p>
                  </a:txBody>
                  <a:tcPr/>
                </a:tc>
                <a:tc>
                  <a:txBody>
                    <a:bodyPr/>
                    <a:lstStyle/>
                    <a:p>
                      <a:r>
                        <a:rPr lang="en-GB" sz="800" dirty="0"/>
                        <a:t>Bulker Level 2 Enemy Movement Test</a:t>
                      </a:r>
                    </a:p>
                  </a:txBody>
                  <a:tcPr/>
                </a:tc>
                <a:tc>
                  <a:txBody>
                    <a:bodyPr/>
                    <a:lstStyle/>
                    <a:p>
                      <a:r>
                        <a:rPr lang="en-GB" sz="800" dirty="0"/>
                        <a:t>Rm_level2</a:t>
                      </a:r>
                    </a:p>
                  </a:txBody>
                  <a:tcPr/>
                </a:tc>
                <a:tc>
                  <a:txBody>
                    <a:bodyPr/>
                    <a:lstStyle/>
                    <a:p>
                      <a:r>
                        <a:rPr lang="en-GB" sz="800" dirty="0"/>
                        <a:t>Obj_amcd_bulker_level2</a:t>
                      </a:r>
                    </a:p>
                  </a:txBody>
                  <a:tcPr/>
                </a:tc>
                <a:tc>
                  <a:txBody>
                    <a:bodyPr/>
                    <a:lstStyle/>
                    <a:p>
                      <a:r>
                        <a:rPr lang="en-GB" sz="800" dirty="0"/>
                        <a:t>Bulker starts in Camera Zone 11 then makes his way towards the office. He can access zones 20,11,10,9,8,7.  Bulker is the slowest. If he is being watched, he can be forced to move backwards, and his movement is decreased drastically. He can only attack from the right side of the office and if your door is closed, he will remain there for a very long time before moving away. Camera Zone 20 is an optional room he can retreat to from 7, that also acts as a pressure point for the player to look out for.</a:t>
                      </a:r>
                    </a:p>
                  </a:txBody>
                  <a:tcPr/>
                </a:tc>
                <a:tc>
                  <a:txBody>
                    <a:bodyPr/>
                    <a:lstStyle/>
                    <a:p>
                      <a:endParaRPr lang="en-GB" sz="800" dirty="0"/>
                    </a:p>
                  </a:txBody>
                  <a:tcPr/>
                </a:tc>
                <a:extLst>
                  <a:ext uri="{0D108BD9-81ED-4DB2-BD59-A6C34878D82A}">
                    <a16:rowId xmlns:a16="http://schemas.microsoft.com/office/drawing/2014/main" val="1068541384"/>
                  </a:ext>
                </a:extLst>
              </a:tr>
              <a:tr h="597898">
                <a:tc>
                  <a:txBody>
                    <a:bodyPr/>
                    <a:lstStyle/>
                    <a:p>
                      <a:r>
                        <a:rPr lang="en-GB" sz="800" dirty="0"/>
                        <a:t>10.</a:t>
                      </a:r>
                    </a:p>
                  </a:txBody>
                  <a:tcPr/>
                </a:tc>
                <a:tc>
                  <a:txBody>
                    <a:bodyPr/>
                    <a:lstStyle/>
                    <a:p>
                      <a:r>
                        <a:rPr lang="en-GB" sz="800" dirty="0"/>
                        <a:t>Bulker Level 3 Enemy Movement Test</a:t>
                      </a:r>
                    </a:p>
                  </a:txBody>
                  <a:tcPr/>
                </a:tc>
                <a:tc>
                  <a:txBody>
                    <a:bodyPr/>
                    <a:lstStyle/>
                    <a:p>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Obj_amcd_bulker_level3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starts in Camera Zone 11 then makes his way towards the office. He can access zones 20,11,10,9,8,7,18,19.  Bulker is the slowest. If he is being watched, he can be forced to move backwards, and his movement is decreased drastically. He can only attack from the right side of the office and if your door is closed, he will remain there for a very long time before moving away. Camera Zone 20 is an optional room he can retreat to from 7, that also acts as a pressure point for the player to look out for. Also, on start he can choose between starting in zone 11 or 19.</a:t>
                      </a:r>
                    </a:p>
                    <a:p>
                      <a:endParaRPr lang="en-GB" sz="800" dirty="0"/>
                    </a:p>
                  </a:txBody>
                  <a:tcPr/>
                </a:tc>
                <a:tc>
                  <a:txBody>
                    <a:bodyPr/>
                    <a:lstStyle/>
                    <a:p>
                      <a:endParaRPr lang="en-GB" sz="800" dirty="0"/>
                    </a:p>
                  </a:txBody>
                  <a:tcPr/>
                </a:tc>
                <a:extLst>
                  <a:ext uri="{0D108BD9-81ED-4DB2-BD59-A6C34878D82A}">
                    <a16:rowId xmlns:a16="http://schemas.microsoft.com/office/drawing/2014/main" val="2215379278"/>
                  </a:ext>
                </a:extLst>
              </a:tr>
              <a:tr h="648831">
                <a:tc>
                  <a:txBody>
                    <a:bodyPr/>
                    <a:lstStyle/>
                    <a:p>
                      <a:r>
                        <a:rPr lang="en-GB" sz="800" dirty="0"/>
                        <a:t>11.</a:t>
                      </a:r>
                    </a:p>
                  </a:txBody>
                  <a:tcPr/>
                </a:tc>
                <a:tc>
                  <a:txBody>
                    <a:bodyPr/>
                    <a:lstStyle/>
                    <a:p>
                      <a:r>
                        <a:rPr lang="en-GB" sz="800" dirty="0"/>
                        <a:t>Bulker Level 5 Enemy  Movement Test</a:t>
                      </a:r>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Obj_amcd_bulker_level5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starts in Camera Zone 11 then makes his way towards the office. He can access zones 20,11,10,9,8,7,18,19.  Bulker is the slowest. If he is being watched, he can be forced to move backwards and his movement is decreased drastically. He can only attack from the right side of the office and if your door is closed, he will remain there for a very long time before moving away. Camera Zone 20 is an optional room he can retreat to from 7, that also acts as a pressure point for the player to look out for. Also, on start he can choose between starting in zone 11 or 19.</a:t>
                      </a:r>
                    </a:p>
                    <a:p>
                      <a:endParaRPr lang="en-GB" sz="800" dirty="0"/>
                    </a:p>
                  </a:txBody>
                  <a:tcPr/>
                </a:tc>
                <a:tc>
                  <a:txBody>
                    <a:bodyPr/>
                    <a:lstStyle/>
                    <a:p>
                      <a:endParaRPr lang="en-GB" sz="800" dirty="0"/>
                    </a:p>
                  </a:txBody>
                  <a:tcPr/>
                </a:tc>
                <a:extLst>
                  <a:ext uri="{0D108BD9-81ED-4DB2-BD59-A6C34878D82A}">
                    <a16:rowId xmlns:a16="http://schemas.microsoft.com/office/drawing/2014/main" val="4058717911"/>
                  </a:ext>
                </a:extLst>
              </a:tr>
              <a:tr h="585107">
                <a:tc>
                  <a:txBody>
                    <a:bodyPr/>
                    <a:lstStyle/>
                    <a:p>
                      <a:r>
                        <a:rPr lang="en-GB" sz="800" dirty="0"/>
                        <a:t>12.</a:t>
                      </a:r>
                    </a:p>
                  </a:txBody>
                  <a:tcPr/>
                </a:tc>
                <a:tc>
                  <a:txBody>
                    <a:bodyPr/>
                    <a:lstStyle/>
                    <a:p>
                      <a:r>
                        <a:rPr lang="en-GB" sz="800" dirty="0" err="1"/>
                        <a:t>Arach</a:t>
                      </a:r>
                      <a:r>
                        <a:rPr lang="en-GB" sz="800" dirty="0"/>
                        <a:t> Level 4 Enemy Movement Test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Obj_amcd_arach_level4</a:t>
                      </a:r>
                    </a:p>
                    <a:p>
                      <a:endParaRPr lang="en-GB" sz="800" dirty="0"/>
                    </a:p>
                  </a:txBody>
                  <a:tcPr/>
                </a:tc>
                <a:tc>
                  <a:txBody>
                    <a:bodyPr/>
                    <a:lstStyle/>
                    <a:p>
                      <a:r>
                        <a:rPr lang="en-GB" sz="800" dirty="0" err="1"/>
                        <a:t>Arach</a:t>
                      </a:r>
                      <a:r>
                        <a:rPr lang="en-GB" sz="800" dirty="0"/>
                        <a:t> starts in Camera Zone 5. </a:t>
                      </a:r>
                      <a:r>
                        <a:rPr lang="en-GB" sz="800" dirty="0" err="1"/>
                        <a:t>Arach</a:t>
                      </a:r>
                      <a:r>
                        <a:rPr lang="en-GB" sz="800" dirty="0"/>
                        <a:t> works by changing between camera zone 5 and 8 (front vent and back vent) to then move into zone 0. If the front vent is closed as </a:t>
                      </a:r>
                      <a:r>
                        <a:rPr lang="en-GB" sz="800" dirty="0" err="1"/>
                        <a:t>Arach</a:t>
                      </a:r>
                      <a:r>
                        <a:rPr lang="en-GB" sz="800" dirty="0"/>
                        <a:t> is in Camera Zone 5, he cannot attack, same works for Camera zone 8. If he fails an attack, he rolls a 50/50 on whether he stays in 5 or moves to 8. Arach also plays his vent crawl sound when is attack timer starts, giving the player a small window to react to Arach. Arach plays the </a:t>
                      </a:r>
                      <a:r>
                        <a:rPr lang="en-GB" sz="800" dirty="0" err="1"/>
                        <a:t>the</a:t>
                      </a:r>
                      <a:r>
                        <a:rPr lang="en-GB" sz="800" dirty="0"/>
                        <a:t> same sound but form different audio directions based on if he’s attack from the front vent or back vent.</a:t>
                      </a:r>
                    </a:p>
                  </a:txBody>
                  <a:tcPr/>
                </a:tc>
                <a:tc>
                  <a:txBody>
                    <a:bodyPr/>
                    <a:lstStyle/>
                    <a:p>
                      <a:endParaRPr lang="en-GB" sz="800" dirty="0"/>
                    </a:p>
                  </a:txBody>
                  <a:tcPr/>
                </a:tc>
                <a:extLst>
                  <a:ext uri="{0D108BD9-81ED-4DB2-BD59-A6C34878D82A}">
                    <a16:rowId xmlns:a16="http://schemas.microsoft.com/office/drawing/2014/main" val="3720550943"/>
                  </a:ext>
                </a:extLst>
              </a:tr>
              <a:tr h="648831">
                <a:tc>
                  <a:txBody>
                    <a:bodyPr/>
                    <a:lstStyle/>
                    <a:p>
                      <a:r>
                        <a:rPr lang="en-GB" sz="800" dirty="0"/>
                        <a:t>13.</a:t>
                      </a:r>
                    </a:p>
                  </a:txBody>
                  <a:tcPr/>
                </a:tc>
                <a:tc>
                  <a:txBody>
                    <a:bodyPr/>
                    <a:lstStyle/>
                    <a:p>
                      <a:r>
                        <a:rPr lang="en-GB" sz="800" dirty="0" err="1"/>
                        <a:t>Arach</a:t>
                      </a:r>
                      <a:r>
                        <a:rPr lang="en-GB" sz="800" dirty="0"/>
                        <a:t> Level 5 Enemy Movement Test</a:t>
                      </a:r>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Obj_amcd_arach_level5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Arach</a:t>
                      </a:r>
                      <a:r>
                        <a:rPr lang="en-GB" sz="800" dirty="0"/>
                        <a:t> starts in Camera Zone 5. </a:t>
                      </a:r>
                      <a:r>
                        <a:rPr lang="en-GB" sz="800" dirty="0" err="1"/>
                        <a:t>Arach</a:t>
                      </a:r>
                      <a:r>
                        <a:rPr lang="en-GB" sz="800" dirty="0"/>
                        <a:t> works by changing between camera zone 5 and 8 (front vent and back vent) to then move into zone 0. If the front vent is closed as </a:t>
                      </a:r>
                      <a:r>
                        <a:rPr lang="en-GB" sz="800" dirty="0" err="1"/>
                        <a:t>Arach</a:t>
                      </a:r>
                      <a:r>
                        <a:rPr lang="en-GB" sz="800" dirty="0"/>
                        <a:t> is in Camera Zone 5, he cannot attack, same works for Camera zone 8. If he fails an attack, he rolls a 50/50 on whether he stays in 5 or moves to 8. Arach also plays his vent crawl sound when is attack timer starts, giving the player a small window to react to Arach. Arach plays the </a:t>
                      </a:r>
                      <a:r>
                        <a:rPr lang="en-GB" sz="800" dirty="0" err="1"/>
                        <a:t>the</a:t>
                      </a:r>
                      <a:r>
                        <a:rPr lang="en-GB" sz="800" dirty="0"/>
                        <a:t> same sound but form different audio directions based on if he’s attack from the front vent or back vent.</a:t>
                      </a:r>
                    </a:p>
                    <a:p>
                      <a:endParaRPr lang="en-GB" sz="800" dirty="0"/>
                    </a:p>
                  </a:txBody>
                  <a:tcPr/>
                </a:tc>
                <a:tc>
                  <a:txBody>
                    <a:bodyPr/>
                    <a:lstStyle/>
                    <a:p>
                      <a:endParaRPr lang="en-GB" sz="800" dirty="0"/>
                    </a:p>
                  </a:txBody>
                  <a:tcPr/>
                </a:tc>
                <a:extLst>
                  <a:ext uri="{0D108BD9-81ED-4DB2-BD59-A6C34878D82A}">
                    <a16:rowId xmlns:a16="http://schemas.microsoft.com/office/drawing/2014/main" val="1242589453"/>
                  </a:ext>
                </a:extLst>
              </a:tr>
              <a:tr h="648831">
                <a:tc>
                  <a:txBody>
                    <a:bodyPr/>
                    <a:lstStyle/>
                    <a:p>
                      <a:r>
                        <a:rPr lang="en-GB" sz="800" dirty="0"/>
                        <a:t>14.</a:t>
                      </a:r>
                    </a:p>
                  </a:txBody>
                  <a:tcPr/>
                </a:tc>
                <a:tc>
                  <a:txBody>
                    <a:bodyPr/>
                    <a:lstStyle/>
                    <a:p>
                      <a:r>
                        <a:rPr lang="en-GB" sz="800" dirty="0"/>
                        <a:t>Prototype Level 4 Enemy  Movement Test</a:t>
                      </a:r>
                    </a:p>
                  </a:txBody>
                  <a:tcPr/>
                </a:tc>
                <a:tc>
                  <a:txBody>
                    <a:bodyPr/>
                    <a:lstStyle/>
                    <a:p>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Obj_amcd_prototype_level4</a:t>
                      </a:r>
                    </a:p>
                    <a:p>
                      <a:endParaRPr lang="en-GB" sz="800" dirty="0"/>
                    </a:p>
                  </a:txBody>
                  <a:tcPr/>
                </a:tc>
                <a:tc>
                  <a:txBody>
                    <a:bodyPr/>
                    <a:lstStyle/>
                    <a:p>
                      <a:r>
                        <a:rPr lang="en-GB" sz="800" dirty="0"/>
                        <a:t>Prototype is a full deck, a combination of every enemies, behaviours. When he’s at the door, he stays for a long time, he’s silent like </a:t>
                      </a:r>
                      <a:r>
                        <a:rPr lang="en-GB" sz="800" dirty="0" err="1"/>
                        <a:t>Gwiber</a:t>
                      </a:r>
                      <a:r>
                        <a:rPr lang="en-GB" sz="800" dirty="0"/>
                        <a:t> and his main behaviour which is related to K9. Prototype can move from any Camera zone. When he leaves the door, he chooses what camera zone he wants to go to between 1,20 (all of them besides the zone he’s currently in). This makes him unpredictable.</a:t>
                      </a:r>
                    </a:p>
                  </a:txBody>
                  <a:tcPr/>
                </a:tc>
                <a:tc>
                  <a:txBody>
                    <a:bodyPr/>
                    <a:lstStyle/>
                    <a:p>
                      <a:endParaRPr lang="en-GB" sz="800" dirty="0"/>
                    </a:p>
                  </a:txBody>
                  <a:tcPr/>
                </a:tc>
                <a:extLst>
                  <a:ext uri="{0D108BD9-81ED-4DB2-BD59-A6C34878D82A}">
                    <a16:rowId xmlns:a16="http://schemas.microsoft.com/office/drawing/2014/main" val="4283415003"/>
                  </a:ext>
                </a:extLst>
              </a:tr>
              <a:tr h="648831">
                <a:tc>
                  <a:txBody>
                    <a:bodyPr/>
                    <a:lstStyle/>
                    <a:p>
                      <a:r>
                        <a:rPr lang="en-GB" sz="800" dirty="0"/>
                        <a:t>15.</a:t>
                      </a:r>
                    </a:p>
                  </a:txBody>
                  <a:tcPr/>
                </a:tc>
                <a:tc>
                  <a:txBody>
                    <a:bodyPr/>
                    <a:lstStyle/>
                    <a:p>
                      <a:r>
                        <a:rPr lang="en-GB" sz="800" dirty="0"/>
                        <a:t>Prototype Level 5 Enemy Movement Test</a:t>
                      </a:r>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Prototype is a full deck, a combination of every enemies, behaviours. When he’s at the door, he stays for a long time, he’s silent like </a:t>
                      </a:r>
                      <a:r>
                        <a:rPr lang="en-GB" sz="800" dirty="0" err="1"/>
                        <a:t>Gwiber</a:t>
                      </a:r>
                      <a:r>
                        <a:rPr lang="en-GB" sz="800" dirty="0"/>
                        <a:t> and his main behaviour which is related to K9. Prototype can move from any Camera zone. When he leaves the door, he chooses what camera zone he wants to go to between 1,20 (all of them besides the zone he’s currently in). This makes him unpredictable.</a:t>
                      </a:r>
                    </a:p>
                    <a:p>
                      <a:endParaRPr lang="en-GB" sz="800" dirty="0"/>
                    </a:p>
                  </a:txBody>
                  <a:tcPr/>
                </a:tc>
                <a:tc>
                  <a:txBody>
                    <a:bodyPr/>
                    <a:lstStyle/>
                    <a:p>
                      <a:endParaRPr lang="en-GB" sz="800" dirty="0"/>
                    </a:p>
                  </a:txBody>
                  <a:tcPr/>
                </a:tc>
                <a:extLst>
                  <a:ext uri="{0D108BD9-81ED-4DB2-BD59-A6C34878D82A}">
                    <a16:rowId xmlns:a16="http://schemas.microsoft.com/office/drawing/2014/main" val="266603248"/>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1601592" cy="369332"/>
          </a:xfrm>
          <a:prstGeom prst="rect">
            <a:avLst/>
          </a:prstGeom>
          <a:noFill/>
        </p:spPr>
        <p:txBody>
          <a:bodyPr wrap="none" rtlCol="0">
            <a:spAutoFit/>
          </a:bodyPr>
          <a:lstStyle/>
          <a:p>
            <a:r>
              <a:rPr lang="en-GB" dirty="0"/>
              <a:t>Enemy Testing</a:t>
            </a:r>
          </a:p>
        </p:txBody>
      </p:sp>
    </p:spTree>
    <p:extLst>
      <p:ext uri="{BB962C8B-B14F-4D97-AF65-F5344CB8AC3E}">
        <p14:creationId xmlns:p14="http://schemas.microsoft.com/office/powerpoint/2010/main" val="838271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nvGraphicFramePr>
        <p:xfrm>
          <a:off x="0" y="391886"/>
          <a:ext cx="12034157" cy="5749774"/>
        </p:xfrm>
        <a:graphic>
          <a:graphicData uri="http://schemas.openxmlformats.org/drawingml/2006/table">
            <a:tbl>
              <a:tblPr firstRow="1" bandRow="1">
                <a:tableStyleId>{5C22544A-7EE6-4342-B048-85BDC9FD1C3A}</a:tableStyleId>
              </a:tblPr>
              <a:tblGrid>
                <a:gridCol w="702129">
                  <a:extLst>
                    <a:ext uri="{9D8B030D-6E8A-4147-A177-3AD203B41FA5}">
                      <a16:colId xmlns:a16="http://schemas.microsoft.com/office/drawing/2014/main" val="2041145262"/>
                    </a:ext>
                  </a:extLst>
                </a:gridCol>
                <a:gridCol w="2465614">
                  <a:extLst>
                    <a:ext uri="{9D8B030D-6E8A-4147-A177-3AD203B41FA5}">
                      <a16:colId xmlns:a16="http://schemas.microsoft.com/office/drawing/2014/main" val="3102287305"/>
                    </a:ext>
                  </a:extLst>
                </a:gridCol>
                <a:gridCol w="917472">
                  <a:extLst>
                    <a:ext uri="{9D8B030D-6E8A-4147-A177-3AD203B41FA5}">
                      <a16:colId xmlns:a16="http://schemas.microsoft.com/office/drawing/2014/main" val="4080696647"/>
                    </a:ext>
                  </a:extLst>
                </a:gridCol>
                <a:gridCol w="1517600">
                  <a:extLst>
                    <a:ext uri="{9D8B030D-6E8A-4147-A177-3AD203B41FA5}">
                      <a16:colId xmlns:a16="http://schemas.microsoft.com/office/drawing/2014/main" val="132880537"/>
                    </a:ext>
                  </a:extLst>
                </a:gridCol>
                <a:gridCol w="4120849">
                  <a:extLst>
                    <a:ext uri="{9D8B030D-6E8A-4147-A177-3AD203B41FA5}">
                      <a16:colId xmlns:a16="http://schemas.microsoft.com/office/drawing/2014/main" val="786884226"/>
                    </a:ext>
                  </a:extLst>
                </a:gridCol>
                <a:gridCol w="2310493">
                  <a:extLst>
                    <a:ext uri="{9D8B030D-6E8A-4147-A177-3AD203B41FA5}">
                      <a16:colId xmlns:a16="http://schemas.microsoft.com/office/drawing/2014/main" val="259252547"/>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851991">
                <a:tc>
                  <a:txBody>
                    <a:bodyPr/>
                    <a:lstStyle/>
                    <a:p>
                      <a:r>
                        <a:rPr lang="en-GB" sz="800" dirty="0"/>
                        <a:t>16.</a:t>
                      </a:r>
                    </a:p>
                  </a:txBody>
                  <a:tcPr/>
                </a:tc>
                <a:tc>
                  <a:txBody>
                    <a:bodyPr/>
                    <a:lstStyle/>
                    <a:p>
                      <a:r>
                        <a:rPr lang="en-GB" sz="800" dirty="0" err="1"/>
                        <a:t>Gwiber</a:t>
                      </a:r>
                      <a:r>
                        <a:rPr lang="en-GB" sz="800" dirty="0"/>
                        <a:t> Level 1 watched</a:t>
                      </a:r>
                    </a:p>
                  </a:txBody>
                  <a:tcPr/>
                </a:tc>
                <a:tc>
                  <a:txBody>
                    <a:bodyPr/>
                    <a:lstStyle/>
                    <a:p>
                      <a:r>
                        <a:rPr lang="en-GB" sz="800" dirty="0"/>
                        <a:t>Rm_level1</a:t>
                      </a:r>
                    </a:p>
                  </a:txBody>
                  <a:tcPr/>
                </a:tc>
                <a:tc>
                  <a:txBody>
                    <a:bodyPr/>
                    <a:lstStyle/>
                    <a:p>
                      <a:r>
                        <a:rPr lang="en-GB" sz="800" dirty="0" err="1"/>
                        <a:t>Obj_amcd_gwiber</a:t>
                      </a:r>
                      <a:endParaRPr lang="en-GB" sz="800" dirty="0"/>
                    </a:p>
                  </a:txBody>
                  <a:tcPr/>
                </a:tc>
                <a:tc>
                  <a:txBody>
                    <a:bodyPr/>
                    <a:lstStyle/>
                    <a:p>
                      <a:r>
                        <a:rPr lang="en-GB" sz="800" dirty="0"/>
                        <a:t>When player is viewing the same zone as </a:t>
                      </a:r>
                      <a:r>
                        <a:rPr lang="en-GB" sz="800" dirty="0" err="1"/>
                        <a:t>Gwiber</a:t>
                      </a:r>
                      <a:r>
                        <a:rPr lang="en-GB" sz="800" dirty="0"/>
                        <a:t>, </a:t>
                      </a:r>
                      <a:r>
                        <a:rPr lang="en-GB" sz="800" dirty="0" err="1"/>
                        <a:t>Gwibers</a:t>
                      </a:r>
                      <a:r>
                        <a:rPr lang="en-GB" sz="800" dirty="0"/>
                        <a:t> movement timer slows down. To be more specific his normal movement timer is -5 per frame, however when he is being watched it decreases to -1 per-frame.</a:t>
                      </a:r>
                    </a:p>
                  </a:txBody>
                  <a:tcPr/>
                </a:tc>
                <a:tc>
                  <a:txBody>
                    <a:bodyPr/>
                    <a:lstStyle/>
                    <a:p>
                      <a:endParaRPr lang="en-GB" sz="800" dirty="0"/>
                    </a:p>
                  </a:txBody>
                  <a:tcPr/>
                </a:tc>
                <a:extLst>
                  <a:ext uri="{0D108BD9-81ED-4DB2-BD59-A6C34878D82A}">
                    <a16:rowId xmlns:a16="http://schemas.microsoft.com/office/drawing/2014/main" val="1068541384"/>
                  </a:ext>
                </a:extLst>
              </a:tr>
              <a:tr h="597898">
                <a:tc>
                  <a:txBody>
                    <a:bodyPr/>
                    <a:lstStyle/>
                    <a:p>
                      <a:r>
                        <a:rPr lang="en-GB" sz="800" dirty="0"/>
                        <a:t>17.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2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r>
                        <a:rPr lang="en-GB" sz="800" dirty="0"/>
                        <a:t>Obj_amcd_gwiber_lvl2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a:t>
                      </a:r>
                      <a:r>
                        <a:rPr lang="en-GB" sz="800" dirty="0" err="1"/>
                        <a:t>Gwiber</a:t>
                      </a:r>
                      <a:r>
                        <a:rPr lang="en-GB" sz="800" dirty="0"/>
                        <a:t>, </a:t>
                      </a:r>
                      <a:r>
                        <a:rPr lang="en-GB" sz="800" dirty="0" err="1"/>
                        <a:t>Gwibers</a:t>
                      </a:r>
                      <a:r>
                        <a:rPr lang="en-GB" sz="800" dirty="0"/>
                        <a:t>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2215379278"/>
                  </a:ext>
                </a:extLst>
              </a:tr>
              <a:tr h="648831">
                <a:tc>
                  <a:txBody>
                    <a:bodyPr/>
                    <a:lstStyle/>
                    <a:p>
                      <a:r>
                        <a:rPr lang="en-GB" sz="800" dirty="0"/>
                        <a:t>18.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3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a:t>
                      </a:r>
                      <a:r>
                        <a:rPr lang="en-GB" sz="800" dirty="0" err="1"/>
                        <a:t>Gwiber</a:t>
                      </a:r>
                      <a:r>
                        <a:rPr lang="en-GB" sz="800" dirty="0"/>
                        <a:t>, </a:t>
                      </a:r>
                      <a:r>
                        <a:rPr lang="en-GB" sz="800" dirty="0" err="1"/>
                        <a:t>Gwibers</a:t>
                      </a:r>
                      <a:r>
                        <a:rPr lang="en-GB" sz="800" dirty="0"/>
                        <a:t>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4058717911"/>
                  </a:ext>
                </a:extLst>
              </a:tr>
              <a:tr h="585107">
                <a:tc>
                  <a:txBody>
                    <a:bodyPr/>
                    <a:lstStyle/>
                    <a:p>
                      <a:r>
                        <a:rPr lang="en-GB" sz="800" dirty="0"/>
                        <a:t>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Level 5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a:t>
                      </a:r>
                      <a:r>
                        <a:rPr lang="en-GB" sz="800" dirty="0" err="1"/>
                        <a:t>Gwiber</a:t>
                      </a:r>
                      <a:r>
                        <a:rPr lang="en-GB" sz="800" dirty="0"/>
                        <a:t>, </a:t>
                      </a:r>
                      <a:r>
                        <a:rPr lang="en-GB" sz="800" dirty="0" err="1"/>
                        <a:t>Gwibers</a:t>
                      </a:r>
                      <a:r>
                        <a:rPr lang="en-GB" sz="800" dirty="0"/>
                        <a:t>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3720550943"/>
                  </a:ext>
                </a:extLst>
              </a:tr>
              <a:tr h="648831">
                <a:tc>
                  <a:txBody>
                    <a:bodyPr/>
                    <a:lstStyle/>
                    <a:p>
                      <a:r>
                        <a:rPr lang="en-GB" sz="800" dirty="0"/>
                        <a:t>20.</a:t>
                      </a:r>
                    </a:p>
                  </a:txBody>
                  <a:tcPr/>
                </a:tc>
                <a:tc>
                  <a:txBody>
                    <a:bodyPr/>
                    <a:lstStyle/>
                    <a:p>
                      <a:r>
                        <a:rPr lang="en-GB" sz="800" dirty="0"/>
                        <a:t>K9 level 1 watched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K9, K9 ‘s movement timer slows down. To be more specific his normal movement timer is -2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1242589453"/>
                  </a:ext>
                </a:extLst>
              </a:tr>
              <a:tr h="648831">
                <a:tc>
                  <a:txBody>
                    <a:bodyPr/>
                    <a:lstStyle/>
                    <a:p>
                      <a:r>
                        <a:rPr lang="en-GB" sz="800" dirty="0"/>
                        <a:t>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2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K9, K9 ‘s movement timer slows down. To be more specific his normal movement timer is -2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4283415003"/>
                  </a:ext>
                </a:extLst>
              </a:tr>
              <a:tr h="648831">
                <a:tc>
                  <a:txBody>
                    <a:bodyPr/>
                    <a:lstStyle/>
                    <a:p>
                      <a:r>
                        <a:rPr lang="en-GB" sz="800" dirty="0"/>
                        <a:t>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3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K9, K9 ‘s movement timer slows down. To be more specific his normal movement timer is -2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266603248"/>
                  </a:ext>
                </a:extLst>
              </a:tr>
              <a:tr h="648831">
                <a:tc>
                  <a:txBody>
                    <a:bodyPr/>
                    <a:lstStyle/>
                    <a:p>
                      <a:r>
                        <a:rPr lang="en-GB" sz="800" dirty="0"/>
                        <a:t>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level 5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K9, K9 ‘s movement timer slows down. To be more specific his normal movement timer is -2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2541011158"/>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1648080" cy="369332"/>
          </a:xfrm>
          <a:prstGeom prst="rect">
            <a:avLst/>
          </a:prstGeom>
          <a:noFill/>
        </p:spPr>
        <p:txBody>
          <a:bodyPr wrap="none" rtlCol="0">
            <a:spAutoFit/>
          </a:bodyPr>
          <a:lstStyle/>
          <a:p>
            <a:r>
              <a:rPr lang="en-GB" dirty="0"/>
              <a:t>Enemy Testing</a:t>
            </a:r>
          </a:p>
        </p:txBody>
      </p:sp>
    </p:spTree>
    <p:extLst>
      <p:ext uri="{BB962C8B-B14F-4D97-AF65-F5344CB8AC3E}">
        <p14:creationId xmlns:p14="http://schemas.microsoft.com/office/powerpoint/2010/main" val="3802303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nvGraphicFramePr>
        <p:xfrm>
          <a:off x="0" y="391886"/>
          <a:ext cx="12034157" cy="5749774"/>
        </p:xfrm>
        <a:graphic>
          <a:graphicData uri="http://schemas.openxmlformats.org/drawingml/2006/table">
            <a:tbl>
              <a:tblPr firstRow="1" bandRow="1">
                <a:tableStyleId>{5C22544A-7EE6-4342-B048-85BDC9FD1C3A}</a:tableStyleId>
              </a:tblPr>
              <a:tblGrid>
                <a:gridCol w="702129">
                  <a:extLst>
                    <a:ext uri="{9D8B030D-6E8A-4147-A177-3AD203B41FA5}">
                      <a16:colId xmlns:a16="http://schemas.microsoft.com/office/drawing/2014/main" val="2041145262"/>
                    </a:ext>
                  </a:extLst>
                </a:gridCol>
                <a:gridCol w="2465614">
                  <a:extLst>
                    <a:ext uri="{9D8B030D-6E8A-4147-A177-3AD203B41FA5}">
                      <a16:colId xmlns:a16="http://schemas.microsoft.com/office/drawing/2014/main" val="3102287305"/>
                    </a:ext>
                  </a:extLst>
                </a:gridCol>
                <a:gridCol w="917472">
                  <a:extLst>
                    <a:ext uri="{9D8B030D-6E8A-4147-A177-3AD203B41FA5}">
                      <a16:colId xmlns:a16="http://schemas.microsoft.com/office/drawing/2014/main" val="4080696647"/>
                    </a:ext>
                  </a:extLst>
                </a:gridCol>
                <a:gridCol w="1517600">
                  <a:extLst>
                    <a:ext uri="{9D8B030D-6E8A-4147-A177-3AD203B41FA5}">
                      <a16:colId xmlns:a16="http://schemas.microsoft.com/office/drawing/2014/main" val="132880537"/>
                    </a:ext>
                  </a:extLst>
                </a:gridCol>
                <a:gridCol w="4120849">
                  <a:extLst>
                    <a:ext uri="{9D8B030D-6E8A-4147-A177-3AD203B41FA5}">
                      <a16:colId xmlns:a16="http://schemas.microsoft.com/office/drawing/2014/main" val="786884226"/>
                    </a:ext>
                  </a:extLst>
                </a:gridCol>
                <a:gridCol w="2310493">
                  <a:extLst>
                    <a:ext uri="{9D8B030D-6E8A-4147-A177-3AD203B41FA5}">
                      <a16:colId xmlns:a16="http://schemas.microsoft.com/office/drawing/2014/main" val="259252547"/>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851991">
                <a:tc>
                  <a:txBody>
                    <a:bodyPr/>
                    <a:lstStyle/>
                    <a:p>
                      <a:r>
                        <a:rPr lang="en-GB" sz="800" dirty="0"/>
                        <a:t>24.</a:t>
                      </a:r>
                    </a:p>
                  </a:txBody>
                  <a:tcPr/>
                </a:tc>
                <a:tc>
                  <a:txBody>
                    <a:bodyPr/>
                    <a:lstStyle/>
                    <a:p>
                      <a:r>
                        <a:rPr lang="en-GB" sz="800" dirty="0"/>
                        <a:t>Bulker Level 1 watched</a:t>
                      </a:r>
                    </a:p>
                  </a:txBody>
                  <a:tcPr/>
                </a:tc>
                <a:tc>
                  <a:txBody>
                    <a:bodyPr/>
                    <a:lstStyle/>
                    <a:p>
                      <a:r>
                        <a:rPr lang="en-GB" sz="800" dirty="0"/>
                        <a:t>Rm_level1</a:t>
                      </a:r>
                    </a:p>
                  </a:txBody>
                  <a:tcPr/>
                </a:tc>
                <a:tc>
                  <a:txBody>
                    <a:bodyPr/>
                    <a:lstStyle/>
                    <a:p>
                      <a:r>
                        <a:rPr lang="en-GB" sz="800" dirty="0" err="1"/>
                        <a:t>Obj_amcd_gwiber</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1068541384"/>
                  </a:ext>
                </a:extLst>
              </a:tr>
              <a:tr h="597898">
                <a:tc>
                  <a:txBody>
                    <a:bodyPr/>
                    <a:lstStyle/>
                    <a:p>
                      <a:r>
                        <a:rPr lang="en-GB" sz="800" dirty="0"/>
                        <a:t>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Level 2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r>
                        <a:rPr lang="en-GB" sz="800" dirty="0"/>
                        <a:t>Obj_amcd_gwiber_lvl2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2215379278"/>
                  </a:ext>
                </a:extLst>
              </a:tr>
              <a:tr h="648831">
                <a:tc>
                  <a:txBody>
                    <a:bodyPr/>
                    <a:lstStyle/>
                    <a:p>
                      <a:r>
                        <a:rPr lang="en-GB" sz="800" dirty="0"/>
                        <a:t>26.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Level 3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4058717911"/>
                  </a:ext>
                </a:extLst>
              </a:tr>
              <a:tr h="585107">
                <a:tc>
                  <a:txBody>
                    <a:bodyPr/>
                    <a:lstStyle/>
                    <a:p>
                      <a:r>
                        <a:rPr lang="en-GB" sz="800" dirty="0"/>
                        <a:t>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Level 5 watched</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-5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3720550943"/>
                  </a:ext>
                </a:extLst>
              </a:tr>
              <a:tr h="648831">
                <a:tc>
                  <a:txBody>
                    <a:bodyPr/>
                    <a:lstStyle/>
                    <a:p>
                      <a:r>
                        <a:rPr lang="en-GB" sz="800" dirty="0"/>
                        <a:t>28.</a:t>
                      </a:r>
                    </a:p>
                  </a:txBody>
                  <a:tcPr/>
                </a:tc>
                <a:tc>
                  <a:txBody>
                    <a:bodyPr/>
                    <a:lstStyle/>
                    <a:p>
                      <a:r>
                        <a:rPr lang="en-GB" sz="800" dirty="0"/>
                        <a:t>Prototype level 4 watched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Prototype, Prototype‘s movement timer slows down. To be more specific his normal movement timer is -3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1242589453"/>
                  </a:ext>
                </a:extLst>
              </a:tr>
              <a:tr h="648831">
                <a:tc>
                  <a:txBody>
                    <a:bodyPr/>
                    <a:lstStyle/>
                    <a:p>
                      <a:r>
                        <a:rPr lang="en-GB" sz="800" dirty="0"/>
                        <a:t>29.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Prototype level 5 watched</a:t>
                      </a:r>
                    </a:p>
                    <a:p>
                      <a:endParaRPr lang="en-GB" sz="800" dirty="0"/>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player is viewing the same zone as Bulker, Bulker‘s movement timer slows down. To be more specific his normal movement timer is -3 per frame, however when he is being watched it decreases to -1 per-frame.</a:t>
                      </a:r>
                    </a:p>
                    <a:p>
                      <a:endParaRPr lang="en-GB" sz="800" dirty="0"/>
                    </a:p>
                  </a:txBody>
                  <a:tcPr/>
                </a:tc>
                <a:tc>
                  <a:txBody>
                    <a:bodyPr/>
                    <a:lstStyle/>
                    <a:p>
                      <a:endParaRPr lang="en-GB" sz="800" dirty="0"/>
                    </a:p>
                  </a:txBody>
                  <a:tcPr/>
                </a:tc>
                <a:extLst>
                  <a:ext uri="{0D108BD9-81ED-4DB2-BD59-A6C34878D82A}">
                    <a16:rowId xmlns:a16="http://schemas.microsoft.com/office/drawing/2014/main" val="4283415003"/>
                  </a:ext>
                </a:extLst>
              </a:tr>
              <a:tr h="648831">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extLst>
                  <a:ext uri="{0D108BD9-81ED-4DB2-BD59-A6C34878D82A}">
                    <a16:rowId xmlns:a16="http://schemas.microsoft.com/office/drawing/2014/main" val="266603248"/>
                  </a:ext>
                </a:extLst>
              </a:tr>
              <a:tr h="648831">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tc>
                  <a:txBody>
                    <a:bodyPr/>
                    <a:lstStyle/>
                    <a:p>
                      <a:endParaRPr lang="en-GB" sz="800" dirty="0"/>
                    </a:p>
                  </a:txBody>
                  <a:tcPr/>
                </a:tc>
                <a:extLst>
                  <a:ext uri="{0D108BD9-81ED-4DB2-BD59-A6C34878D82A}">
                    <a16:rowId xmlns:a16="http://schemas.microsoft.com/office/drawing/2014/main" val="2541011158"/>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1648080" cy="369332"/>
          </a:xfrm>
          <a:prstGeom prst="rect">
            <a:avLst/>
          </a:prstGeom>
          <a:noFill/>
        </p:spPr>
        <p:txBody>
          <a:bodyPr wrap="none" rtlCol="0">
            <a:spAutoFit/>
          </a:bodyPr>
          <a:lstStyle/>
          <a:p>
            <a:r>
              <a:rPr lang="en-GB" dirty="0"/>
              <a:t>Enemy Testing</a:t>
            </a:r>
          </a:p>
        </p:txBody>
      </p:sp>
    </p:spTree>
    <p:extLst>
      <p:ext uri="{BB962C8B-B14F-4D97-AF65-F5344CB8AC3E}">
        <p14:creationId xmlns:p14="http://schemas.microsoft.com/office/powerpoint/2010/main" val="3693812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nvGraphicFramePr>
        <p:xfrm>
          <a:off x="0" y="391886"/>
          <a:ext cx="12034157" cy="6026734"/>
        </p:xfrm>
        <a:graphic>
          <a:graphicData uri="http://schemas.openxmlformats.org/drawingml/2006/table">
            <a:tbl>
              <a:tblPr firstRow="1" bandRow="1">
                <a:tableStyleId>{5C22544A-7EE6-4342-B048-85BDC9FD1C3A}</a:tableStyleId>
              </a:tblPr>
              <a:tblGrid>
                <a:gridCol w="702129">
                  <a:extLst>
                    <a:ext uri="{9D8B030D-6E8A-4147-A177-3AD203B41FA5}">
                      <a16:colId xmlns:a16="http://schemas.microsoft.com/office/drawing/2014/main" val="2041145262"/>
                    </a:ext>
                  </a:extLst>
                </a:gridCol>
                <a:gridCol w="1428750">
                  <a:extLst>
                    <a:ext uri="{9D8B030D-6E8A-4147-A177-3AD203B41FA5}">
                      <a16:colId xmlns:a16="http://schemas.microsoft.com/office/drawing/2014/main" val="3102287305"/>
                    </a:ext>
                  </a:extLst>
                </a:gridCol>
                <a:gridCol w="677635">
                  <a:extLst>
                    <a:ext uri="{9D8B030D-6E8A-4147-A177-3AD203B41FA5}">
                      <a16:colId xmlns:a16="http://schemas.microsoft.com/office/drawing/2014/main" val="4080696647"/>
                    </a:ext>
                  </a:extLst>
                </a:gridCol>
                <a:gridCol w="1306286">
                  <a:extLst>
                    <a:ext uri="{9D8B030D-6E8A-4147-A177-3AD203B41FA5}">
                      <a16:colId xmlns:a16="http://schemas.microsoft.com/office/drawing/2014/main" val="132880537"/>
                    </a:ext>
                  </a:extLst>
                </a:gridCol>
                <a:gridCol w="7143750">
                  <a:extLst>
                    <a:ext uri="{9D8B030D-6E8A-4147-A177-3AD203B41FA5}">
                      <a16:colId xmlns:a16="http://schemas.microsoft.com/office/drawing/2014/main" val="786884226"/>
                    </a:ext>
                  </a:extLst>
                </a:gridCol>
                <a:gridCol w="775607">
                  <a:extLst>
                    <a:ext uri="{9D8B030D-6E8A-4147-A177-3AD203B41FA5}">
                      <a16:colId xmlns:a16="http://schemas.microsoft.com/office/drawing/2014/main" val="259252547"/>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648831">
                <a:tc>
                  <a:txBody>
                    <a:bodyPr/>
                    <a:lstStyle/>
                    <a:p>
                      <a:r>
                        <a:rPr lang="en-GB" sz="800" dirty="0"/>
                        <a:t>30.</a:t>
                      </a:r>
                    </a:p>
                  </a:txBody>
                  <a:tcPr/>
                </a:tc>
                <a:tc>
                  <a:txBody>
                    <a:bodyPr/>
                    <a:lstStyle/>
                    <a:p>
                      <a:r>
                        <a:rPr lang="en-GB" sz="800" dirty="0" err="1"/>
                        <a:t>Gwiber</a:t>
                      </a:r>
                      <a:r>
                        <a:rPr lang="en-GB" sz="800" dirty="0"/>
                        <a:t> zone change level 1</a:t>
                      </a:r>
                    </a:p>
                  </a:txBody>
                  <a:tcPr/>
                </a:tc>
                <a:tc>
                  <a:txBody>
                    <a:bodyPr/>
                    <a:lstStyle/>
                    <a:p>
                      <a:r>
                        <a:rPr lang="en-GB" sz="800" dirty="0"/>
                        <a:t>Rm_level1</a:t>
                      </a:r>
                    </a:p>
                  </a:txBody>
                  <a:tcPr/>
                </a:tc>
                <a:tc>
                  <a:txBody>
                    <a:bodyPr/>
                    <a:lstStyle/>
                    <a:p>
                      <a:r>
                        <a:rPr lang="en-GB" sz="800" dirty="0" err="1"/>
                        <a:t>Obj_amcd_gwiber</a:t>
                      </a:r>
                      <a:endParaRPr lang="en-GB" sz="800" dirty="0"/>
                    </a:p>
                  </a:txBody>
                  <a:tcPr/>
                </a:tc>
                <a:tc>
                  <a:txBody>
                    <a:bodyPr/>
                    <a:lstStyle/>
                    <a:p>
                      <a:r>
                        <a:rPr lang="en-GB" sz="800" dirty="0"/>
                        <a:t>When </a:t>
                      </a:r>
                      <a:r>
                        <a:rPr lang="en-GB" sz="800" dirty="0" err="1"/>
                        <a:t>Gwiber</a:t>
                      </a:r>
                      <a:r>
                        <a:rPr lang="en-GB" sz="800" dirty="0"/>
                        <a:t>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a:t>
                      </a:r>
                      <a:r>
                        <a:rPr lang="en-GB" sz="800" dirty="0" err="1"/>
                        <a:t>Gwiber</a:t>
                      </a:r>
                      <a:r>
                        <a:rPr lang="en-GB" sz="800" dirty="0"/>
                        <a:t> is moving to, then the zone </a:t>
                      </a:r>
                      <a:r>
                        <a:rPr lang="en-GB" sz="800" dirty="0" err="1"/>
                        <a:t>gwiber</a:t>
                      </a:r>
                      <a:r>
                        <a:rPr lang="en-GB" sz="800" dirty="0"/>
                        <a:t> is moving to, will change its object to display the zone with both </a:t>
                      </a:r>
                      <a:r>
                        <a:rPr lang="en-GB" sz="800" dirty="0" err="1"/>
                        <a:t>Gwiber</a:t>
                      </a:r>
                      <a:r>
                        <a:rPr lang="en-GB" sz="800" dirty="0"/>
                        <a:t> and K9. If </a:t>
                      </a:r>
                      <a:r>
                        <a:rPr lang="en-GB" sz="800" dirty="0" err="1"/>
                        <a:t>Gwiber</a:t>
                      </a:r>
                      <a:r>
                        <a:rPr lang="en-GB" sz="800" dirty="0"/>
                        <a:t> moves to a zone, then the previous zone he was in, will return to normal, or if K9 was in the same zone, it will only display the K9 zone after </a:t>
                      </a:r>
                      <a:r>
                        <a:rPr lang="en-GB" sz="800" dirty="0" err="1"/>
                        <a:t>Gwiber</a:t>
                      </a:r>
                      <a:r>
                        <a:rPr lang="en-GB" sz="800" dirty="0"/>
                        <a:t> leaves it. If </a:t>
                      </a:r>
                      <a:r>
                        <a:rPr lang="en-GB" sz="800" dirty="0" err="1"/>
                        <a:t>Gwiber</a:t>
                      </a:r>
                      <a:r>
                        <a:rPr lang="en-GB" sz="800" dirty="0"/>
                        <a:t> moves to a zone that K9 is not in, the zone he moves to displays </a:t>
                      </a:r>
                      <a:r>
                        <a:rPr lang="en-GB" sz="800" dirty="0" err="1"/>
                        <a:t>Gwiber</a:t>
                      </a:r>
                      <a:r>
                        <a:rPr lang="en-GB" sz="800" dirty="0"/>
                        <a:t> only.</a:t>
                      </a:r>
                    </a:p>
                  </a:txBody>
                  <a:tcPr/>
                </a:tc>
                <a:tc>
                  <a:txBody>
                    <a:bodyPr/>
                    <a:lstStyle/>
                    <a:p>
                      <a:endParaRPr lang="en-GB" sz="800" dirty="0"/>
                    </a:p>
                  </a:txBody>
                  <a:tcPr/>
                </a:tc>
                <a:extLst>
                  <a:ext uri="{0D108BD9-81ED-4DB2-BD59-A6C34878D82A}">
                    <a16:rowId xmlns:a16="http://schemas.microsoft.com/office/drawing/2014/main" val="2541011158"/>
                  </a:ext>
                </a:extLst>
              </a:tr>
              <a:tr h="548322">
                <a:tc>
                  <a:txBody>
                    <a:bodyPr/>
                    <a:lstStyle/>
                    <a:p>
                      <a:r>
                        <a:rPr lang="en-GB" sz="800" dirty="0"/>
                        <a:t>31.</a:t>
                      </a:r>
                    </a:p>
                  </a:txBody>
                  <a:tcPr/>
                </a:tc>
                <a:tc>
                  <a:txBody>
                    <a:bodyPr/>
                    <a:lstStyle/>
                    <a:p>
                      <a:r>
                        <a:rPr lang="en-GB" sz="800" dirty="0" err="1"/>
                        <a:t>Gwiber</a:t>
                      </a:r>
                      <a:r>
                        <a:rPr lang="en-GB" sz="800" dirty="0"/>
                        <a:t> zone change level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a:t>
                      </a:r>
                      <a:r>
                        <a:rPr lang="en-GB" sz="800" dirty="0" err="1"/>
                        <a:t>Gwiber</a:t>
                      </a:r>
                      <a:r>
                        <a:rPr lang="en-GB" sz="800" dirty="0"/>
                        <a:t>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a:t>
                      </a:r>
                      <a:r>
                        <a:rPr lang="en-GB" sz="800" dirty="0" err="1"/>
                        <a:t>Gwiber</a:t>
                      </a:r>
                      <a:r>
                        <a:rPr lang="en-GB" sz="800" dirty="0"/>
                        <a:t> is moving to, then the zone </a:t>
                      </a:r>
                      <a:r>
                        <a:rPr lang="en-GB" sz="800" dirty="0" err="1"/>
                        <a:t>gwiber</a:t>
                      </a:r>
                      <a:r>
                        <a:rPr lang="en-GB" sz="800" dirty="0"/>
                        <a:t> is moving to, will change its object to display the zone with both </a:t>
                      </a:r>
                      <a:r>
                        <a:rPr lang="en-GB" sz="800" dirty="0" err="1"/>
                        <a:t>Gwiber</a:t>
                      </a:r>
                      <a:r>
                        <a:rPr lang="en-GB" sz="800" dirty="0"/>
                        <a:t> and K9. If </a:t>
                      </a:r>
                      <a:r>
                        <a:rPr lang="en-GB" sz="800" dirty="0" err="1"/>
                        <a:t>Gwiber</a:t>
                      </a:r>
                      <a:r>
                        <a:rPr lang="en-GB" sz="800" dirty="0"/>
                        <a:t> moves to a zone, then the previous zone he was in, will return to normal, or if K9 was in the same zone, it will only display the K9 zone after </a:t>
                      </a:r>
                      <a:r>
                        <a:rPr lang="en-GB" sz="800" dirty="0" err="1"/>
                        <a:t>Gwiber</a:t>
                      </a:r>
                      <a:r>
                        <a:rPr lang="en-GB" sz="800" dirty="0"/>
                        <a:t> leaves it. If </a:t>
                      </a:r>
                      <a:r>
                        <a:rPr lang="en-GB" sz="800" dirty="0" err="1"/>
                        <a:t>Gwiber</a:t>
                      </a:r>
                      <a:r>
                        <a:rPr lang="en-GB" sz="800" dirty="0"/>
                        <a:t> moves to a zone that K9 is not in, the zone he moves to displays </a:t>
                      </a:r>
                      <a:r>
                        <a:rPr lang="en-GB" sz="800" dirty="0" err="1"/>
                        <a:t>Gwiber</a:t>
                      </a:r>
                      <a:r>
                        <a:rPr lang="en-GB" sz="800" dirty="0"/>
                        <a:t> only.</a:t>
                      </a:r>
                    </a:p>
                    <a:p>
                      <a:endParaRPr lang="en-GB" sz="800" dirty="0"/>
                    </a:p>
                  </a:txBody>
                  <a:tcPr/>
                </a:tc>
                <a:tc>
                  <a:txBody>
                    <a:bodyPr/>
                    <a:lstStyle/>
                    <a:p>
                      <a:endParaRPr lang="en-GB" sz="800" dirty="0"/>
                    </a:p>
                  </a:txBody>
                  <a:tcPr/>
                </a:tc>
                <a:extLst>
                  <a:ext uri="{0D108BD9-81ED-4DB2-BD59-A6C34878D82A}">
                    <a16:rowId xmlns:a16="http://schemas.microsoft.com/office/drawing/2014/main" val="4133394058"/>
                  </a:ext>
                </a:extLst>
              </a:tr>
              <a:tr h="648831">
                <a:tc>
                  <a:txBody>
                    <a:bodyPr/>
                    <a:lstStyle/>
                    <a:p>
                      <a:r>
                        <a:rPr lang="en-GB" sz="800" dirty="0"/>
                        <a:t>32.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zone change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a:t>
                      </a:r>
                      <a:r>
                        <a:rPr lang="en-GB" sz="800" dirty="0" err="1"/>
                        <a:t>Gwiber</a:t>
                      </a:r>
                      <a:r>
                        <a:rPr lang="en-GB" sz="800" dirty="0"/>
                        <a:t>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a:t>
                      </a:r>
                      <a:r>
                        <a:rPr lang="en-GB" sz="800" dirty="0" err="1"/>
                        <a:t>Gwiber</a:t>
                      </a:r>
                      <a:r>
                        <a:rPr lang="en-GB" sz="800" dirty="0"/>
                        <a:t> is moving to, then the zone </a:t>
                      </a:r>
                      <a:r>
                        <a:rPr lang="en-GB" sz="800" dirty="0" err="1"/>
                        <a:t>gwiber</a:t>
                      </a:r>
                      <a:r>
                        <a:rPr lang="en-GB" sz="800" dirty="0"/>
                        <a:t> is moving to, will change its object to display the zone with both </a:t>
                      </a:r>
                      <a:r>
                        <a:rPr lang="en-GB" sz="800" dirty="0" err="1"/>
                        <a:t>Gwiber</a:t>
                      </a:r>
                      <a:r>
                        <a:rPr lang="en-GB" sz="800" dirty="0"/>
                        <a:t> and K9. If </a:t>
                      </a:r>
                      <a:r>
                        <a:rPr lang="en-GB" sz="800" dirty="0" err="1"/>
                        <a:t>Gwiber</a:t>
                      </a:r>
                      <a:r>
                        <a:rPr lang="en-GB" sz="800" dirty="0"/>
                        <a:t> moves to a zone, then the previous zone he was in, will return to normal, or if K9 was in the same zone, it will only display the K9 zone after </a:t>
                      </a:r>
                      <a:r>
                        <a:rPr lang="en-GB" sz="800" dirty="0" err="1"/>
                        <a:t>Gwiber</a:t>
                      </a:r>
                      <a:r>
                        <a:rPr lang="en-GB" sz="800" dirty="0"/>
                        <a:t> leaves it. If </a:t>
                      </a:r>
                      <a:r>
                        <a:rPr lang="en-GB" sz="800" dirty="0" err="1"/>
                        <a:t>Gwiber</a:t>
                      </a:r>
                      <a:r>
                        <a:rPr lang="en-GB" sz="800" dirty="0"/>
                        <a:t> moves to a zone that K9 is not in, the zone he moves to displays </a:t>
                      </a:r>
                      <a:r>
                        <a:rPr lang="en-GB" sz="800" dirty="0" err="1"/>
                        <a:t>Gwiber</a:t>
                      </a:r>
                      <a:r>
                        <a:rPr lang="en-GB" sz="800" dirty="0"/>
                        <a:t> only.</a:t>
                      </a:r>
                    </a:p>
                    <a:p>
                      <a:endParaRPr lang="en-GB" sz="800" dirty="0"/>
                    </a:p>
                  </a:txBody>
                  <a:tcPr/>
                </a:tc>
                <a:tc>
                  <a:txBody>
                    <a:bodyPr/>
                    <a:lstStyle/>
                    <a:p>
                      <a:endParaRPr lang="en-GB" sz="800" dirty="0"/>
                    </a:p>
                  </a:txBody>
                  <a:tcPr/>
                </a:tc>
                <a:extLst>
                  <a:ext uri="{0D108BD9-81ED-4DB2-BD59-A6C34878D82A}">
                    <a16:rowId xmlns:a16="http://schemas.microsoft.com/office/drawing/2014/main" val="3113226149"/>
                  </a:ext>
                </a:extLst>
              </a:tr>
              <a:tr h="685312">
                <a:tc>
                  <a:txBody>
                    <a:bodyPr/>
                    <a:lstStyle/>
                    <a:p>
                      <a:r>
                        <a:rPr lang="en-GB" sz="800" dirty="0"/>
                        <a:t>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err="1"/>
                        <a:t>Gwiber</a:t>
                      </a:r>
                      <a:r>
                        <a:rPr lang="en-GB" sz="800" dirty="0"/>
                        <a:t> zone change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Obj_amcd_gwiber_lvl5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a:t>
                      </a:r>
                      <a:r>
                        <a:rPr lang="en-GB" sz="800" dirty="0" err="1"/>
                        <a:t>Gwiber</a:t>
                      </a:r>
                      <a:r>
                        <a:rPr lang="en-GB" sz="800" dirty="0"/>
                        <a:t>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a:t>
                      </a:r>
                      <a:r>
                        <a:rPr lang="en-GB" sz="800" dirty="0" err="1"/>
                        <a:t>Gwiber</a:t>
                      </a:r>
                      <a:r>
                        <a:rPr lang="en-GB" sz="800" dirty="0"/>
                        <a:t> is moving to, then the zone </a:t>
                      </a:r>
                      <a:r>
                        <a:rPr lang="en-GB" sz="800" dirty="0" err="1"/>
                        <a:t>gwiber</a:t>
                      </a:r>
                      <a:r>
                        <a:rPr lang="en-GB" sz="800" dirty="0"/>
                        <a:t> is moving to, will change its object to display the zone with both </a:t>
                      </a:r>
                      <a:r>
                        <a:rPr lang="en-GB" sz="800" dirty="0" err="1"/>
                        <a:t>Gwiber</a:t>
                      </a:r>
                      <a:r>
                        <a:rPr lang="en-GB" sz="800" dirty="0"/>
                        <a:t> and K9. If </a:t>
                      </a:r>
                      <a:r>
                        <a:rPr lang="en-GB" sz="800" dirty="0" err="1"/>
                        <a:t>Gwiber</a:t>
                      </a:r>
                      <a:r>
                        <a:rPr lang="en-GB" sz="800" dirty="0"/>
                        <a:t> moves to a zone, then the previous zone he was in, will return to normal, or if K9 was in the same zone, it will only display the K9 zone after </a:t>
                      </a:r>
                      <a:r>
                        <a:rPr lang="en-GB" sz="800" dirty="0" err="1"/>
                        <a:t>Gwiber</a:t>
                      </a:r>
                      <a:r>
                        <a:rPr lang="en-GB" sz="800" dirty="0"/>
                        <a:t> leaves it. If </a:t>
                      </a:r>
                      <a:r>
                        <a:rPr lang="en-GB" sz="800" dirty="0" err="1"/>
                        <a:t>Gwiber</a:t>
                      </a:r>
                      <a:r>
                        <a:rPr lang="en-GB" sz="800" dirty="0"/>
                        <a:t> moves to a zone that K9 is not in, the zone he moves to displays </a:t>
                      </a:r>
                      <a:r>
                        <a:rPr lang="en-GB" sz="800" dirty="0" err="1"/>
                        <a:t>Gwiber</a:t>
                      </a:r>
                      <a:r>
                        <a:rPr lang="en-GB" sz="800" dirty="0"/>
                        <a:t> only.</a:t>
                      </a:r>
                    </a:p>
                    <a:p>
                      <a:endParaRPr lang="en-GB" sz="800" dirty="0"/>
                    </a:p>
                  </a:txBody>
                  <a:tcPr/>
                </a:tc>
                <a:tc>
                  <a:txBody>
                    <a:bodyPr/>
                    <a:lstStyle/>
                    <a:p>
                      <a:endParaRPr lang="en-GB" sz="800" dirty="0"/>
                    </a:p>
                  </a:txBody>
                  <a:tcPr/>
                </a:tc>
                <a:extLst>
                  <a:ext uri="{0D108BD9-81ED-4DB2-BD59-A6C34878D82A}">
                    <a16:rowId xmlns:a16="http://schemas.microsoft.com/office/drawing/2014/main" val="156842521"/>
                  </a:ext>
                </a:extLst>
              </a:tr>
              <a:tr h="648831">
                <a:tc>
                  <a:txBody>
                    <a:bodyPr/>
                    <a:lstStyle/>
                    <a:p>
                      <a:r>
                        <a:rPr lang="en-GB" sz="800" dirty="0"/>
                        <a:t>34.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zone change level 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K9 moves between zones, he checks to see if any other </a:t>
                      </a:r>
                      <a:r>
                        <a:rPr lang="en-GB" sz="800" dirty="0" err="1"/>
                        <a:t>amcd</a:t>
                      </a:r>
                      <a:r>
                        <a:rPr lang="en-GB" sz="800" dirty="0"/>
                        <a:t> is in the zone he’s moving to. If there is an </a:t>
                      </a:r>
                      <a:r>
                        <a:rPr lang="en-GB" sz="800" dirty="0" err="1"/>
                        <a:t>amcd</a:t>
                      </a:r>
                      <a:r>
                        <a:rPr lang="en-GB" sz="800" dirty="0"/>
                        <a:t> like </a:t>
                      </a:r>
                      <a:r>
                        <a:rPr lang="en-GB" sz="800" dirty="0" err="1"/>
                        <a:t>Gwiber</a:t>
                      </a:r>
                      <a:r>
                        <a:rPr lang="en-GB" sz="800" dirty="0"/>
                        <a:t> in the same zone K9 is moving to, then the zone K9 is moving to, will change its object to display the zone with both K9 and </a:t>
                      </a:r>
                      <a:r>
                        <a:rPr lang="en-GB" sz="800" dirty="0" err="1"/>
                        <a:t>Gwiber</a:t>
                      </a:r>
                      <a:r>
                        <a:rPr lang="en-GB" sz="800" dirty="0"/>
                        <a:t>. If K9 moves to a zone, then the previous zone he was in, will return to normal, or if </a:t>
                      </a:r>
                      <a:r>
                        <a:rPr lang="en-GB" sz="800" dirty="0" err="1"/>
                        <a:t>Gwiber</a:t>
                      </a:r>
                      <a:r>
                        <a:rPr lang="en-GB" sz="800" dirty="0"/>
                        <a:t> was in the same zone, it will only display the </a:t>
                      </a:r>
                      <a:r>
                        <a:rPr lang="en-GB" sz="800" dirty="0" err="1"/>
                        <a:t>Gwiber</a:t>
                      </a:r>
                      <a:r>
                        <a:rPr lang="en-GB" sz="800" dirty="0"/>
                        <a:t> zone after K9 leaves it. If K9 moves to a zone that </a:t>
                      </a:r>
                      <a:r>
                        <a:rPr lang="en-GB" sz="800" dirty="0" err="1"/>
                        <a:t>Gwiber</a:t>
                      </a:r>
                      <a:r>
                        <a:rPr lang="en-GB" sz="800" dirty="0"/>
                        <a:t>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3341429027"/>
                  </a:ext>
                </a:extLst>
              </a:tr>
              <a:tr h="648831">
                <a:tc>
                  <a:txBody>
                    <a:bodyPr/>
                    <a:lstStyle/>
                    <a:p>
                      <a:r>
                        <a:rPr lang="en-GB" sz="800" dirty="0"/>
                        <a:t>35.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zone change level 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K9 moves between zones, he checks to see if any other </a:t>
                      </a:r>
                      <a:r>
                        <a:rPr lang="en-GB" sz="800" dirty="0" err="1"/>
                        <a:t>amcd</a:t>
                      </a:r>
                      <a:r>
                        <a:rPr lang="en-GB" sz="800" dirty="0"/>
                        <a:t> is in the zone he’s moving to. If there is an </a:t>
                      </a:r>
                      <a:r>
                        <a:rPr lang="en-GB" sz="800" dirty="0" err="1"/>
                        <a:t>amcd</a:t>
                      </a:r>
                      <a:r>
                        <a:rPr lang="en-GB" sz="800" dirty="0"/>
                        <a:t> like </a:t>
                      </a:r>
                      <a:r>
                        <a:rPr lang="en-GB" sz="800" dirty="0" err="1"/>
                        <a:t>Gwiber</a:t>
                      </a:r>
                      <a:r>
                        <a:rPr lang="en-GB" sz="800" dirty="0"/>
                        <a:t> in the same zone K9 is moving to, then the zone K9 is moving to, will change its object to display the zone with both K9 and </a:t>
                      </a:r>
                      <a:r>
                        <a:rPr lang="en-GB" sz="800" dirty="0" err="1"/>
                        <a:t>Gwiber</a:t>
                      </a:r>
                      <a:r>
                        <a:rPr lang="en-GB" sz="800" dirty="0"/>
                        <a:t>. If K9 moves to a zone, then the previous zone he was in, will return to normal, or if </a:t>
                      </a:r>
                      <a:r>
                        <a:rPr lang="en-GB" sz="800" dirty="0" err="1"/>
                        <a:t>Gwiber</a:t>
                      </a:r>
                      <a:r>
                        <a:rPr lang="en-GB" sz="800" dirty="0"/>
                        <a:t> was in the same zone, it will only display the </a:t>
                      </a:r>
                      <a:r>
                        <a:rPr lang="en-GB" sz="800" dirty="0" err="1"/>
                        <a:t>Gwiber</a:t>
                      </a:r>
                      <a:r>
                        <a:rPr lang="en-GB" sz="800" dirty="0"/>
                        <a:t> zone after K9 leaves it. If K9 moves to a zone that </a:t>
                      </a:r>
                      <a:r>
                        <a:rPr lang="en-GB" sz="800" dirty="0" err="1"/>
                        <a:t>Gwiber</a:t>
                      </a:r>
                      <a:r>
                        <a:rPr lang="en-GB" sz="800" dirty="0"/>
                        <a:t>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2830951609"/>
                  </a:ext>
                </a:extLst>
              </a:tr>
              <a:tr h="648831">
                <a:tc>
                  <a:txBody>
                    <a:bodyPr/>
                    <a:lstStyle/>
                    <a:p>
                      <a:r>
                        <a:rPr lang="en-GB" sz="800" dirty="0"/>
                        <a:t>36.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zone change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K9 moves between zones, he checks to see if any other </a:t>
                      </a:r>
                      <a:r>
                        <a:rPr lang="en-GB" sz="800" dirty="0" err="1"/>
                        <a:t>amcd</a:t>
                      </a:r>
                      <a:r>
                        <a:rPr lang="en-GB" sz="800" dirty="0"/>
                        <a:t> is in the zone he’s moving to. If there is an </a:t>
                      </a:r>
                      <a:r>
                        <a:rPr lang="en-GB" sz="800" dirty="0" err="1"/>
                        <a:t>amcd</a:t>
                      </a:r>
                      <a:r>
                        <a:rPr lang="en-GB" sz="800" dirty="0"/>
                        <a:t> like </a:t>
                      </a:r>
                      <a:r>
                        <a:rPr lang="en-GB" sz="800" dirty="0" err="1"/>
                        <a:t>Gwiber</a:t>
                      </a:r>
                      <a:r>
                        <a:rPr lang="en-GB" sz="800" dirty="0"/>
                        <a:t> in the same zone K9 is moving to, then the zone K9 is moving to, will change its object to display the zone with both K9 and </a:t>
                      </a:r>
                      <a:r>
                        <a:rPr lang="en-GB" sz="800" dirty="0" err="1"/>
                        <a:t>Gwiber</a:t>
                      </a:r>
                      <a:r>
                        <a:rPr lang="en-GB" sz="800" dirty="0"/>
                        <a:t>. If K9 moves to a zone, then the previous zone he was in, will return to normal, or if </a:t>
                      </a:r>
                      <a:r>
                        <a:rPr lang="en-GB" sz="800" dirty="0" err="1"/>
                        <a:t>Gwiber</a:t>
                      </a:r>
                      <a:r>
                        <a:rPr lang="en-GB" sz="800" dirty="0"/>
                        <a:t> was in the same zone, it will only display the </a:t>
                      </a:r>
                      <a:r>
                        <a:rPr lang="en-GB" sz="800" dirty="0" err="1"/>
                        <a:t>Gwiber</a:t>
                      </a:r>
                      <a:r>
                        <a:rPr lang="en-GB" sz="800" dirty="0"/>
                        <a:t> zone after K9 leaves it. If K9 moves to a zone that </a:t>
                      </a:r>
                      <a:r>
                        <a:rPr lang="en-GB" sz="800" dirty="0" err="1"/>
                        <a:t>Gwiber</a:t>
                      </a:r>
                      <a:r>
                        <a:rPr lang="en-GB" sz="800" dirty="0"/>
                        <a:t>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2951929266"/>
                  </a:ext>
                </a:extLst>
              </a:tr>
              <a:tr h="648831">
                <a:tc>
                  <a:txBody>
                    <a:bodyPr/>
                    <a:lstStyle/>
                    <a:p>
                      <a:r>
                        <a:rPr lang="en-GB" sz="800" dirty="0"/>
                        <a:t>37.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K9 zone change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Obj_amcd_k9_lvl5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K9 moves between zones, he checks to see if any other </a:t>
                      </a:r>
                      <a:r>
                        <a:rPr lang="en-GB" sz="800" dirty="0" err="1"/>
                        <a:t>amcd</a:t>
                      </a:r>
                      <a:r>
                        <a:rPr lang="en-GB" sz="800" dirty="0"/>
                        <a:t> is in the zone he’s moving to. If there is an </a:t>
                      </a:r>
                      <a:r>
                        <a:rPr lang="en-GB" sz="800" dirty="0" err="1"/>
                        <a:t>amcd</a:t>
                      </a:r>
                      <a:r>
                        <a:rPr lang="en-GB" sz="800" dirty="0"/>
                        <a:t> like </a:t>
                      </a:r>
                      <a:r>
                        <a:rPr lang="en-GB" sz="800" dirty="0" err="1"/>
                        <a:t>Gwiber</a:t>
                      </a:r>
                      <a:r>
                        <a:rPr lang="en-GB" sz="800" dirty="0"/>
                        <a:t> in the same zone K9 is moving to, then the zone K9 is moving to, will change its object to display the zone with both K9 and </a:t>
                      </a:r>
                      <a:r>
                        <a:rPr lang="en-GB" sz="800" dirty="0" err="1"/>
                        <a:t>Gwiber</a:t>
                      </a:r>
                      <a:r>
                        <a:rPr lang="en-GB" sz="800" dirty="0"/>
                        <a:t>. If K9 moves to a zone, then the previous zone he was in, will return to normal, or if </a:t>
                      </a:r>
                      <a:r>
                        <a:rPr lang="en-GB" sz="800" dirty="0" err="1"/>
                        <a:t>Gwiber</a:t>
                      </a:r>
                      <a:r>
                        <a:rPr lang="en-GB" sz="800" dirty="0"/>
                        <a:t> was in the same zone, it will only display the </a:t>
                      </a:r>
                      <a:r>
                        <a:rPr lang="en-GB" sz="800" dirty="0" err="1"/>
                        <a:t>Gwiber</a:t>
                      </a:r>
                      <a:r>
                        <a:rPr lang="en-GB" sz="800" dirty="0"/>
                        <a:t> zone after K9 leaves it. If K9 moves to a zone that </a:t>
                      </a:r>
                      <a:r>
                        <a:rPr lang="en-GB" sz="800" dirty="0" err="1"/>
                        <a:t>Gwiber</a:t>
                      </a:r>
                      <a:r>
                        <a:rPr lang="en-GB" sz="800" dirty="0"/>
                        <a:t>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222639438"/>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2957669" cy="369332"/>
          </a:xfrm>
          <a:prstGeom prst="rect">
            <a:avLst/>
          </a:prstGeom>
          <a:noFill/>
        </p:spPr>
        <p:txBody>
          <a:bodyPr wrap="none" rtlCol="0">
            <a:spAutoFit/>
          </a:bodyPr>
          <a:lstStyle/>
          <a:p>
            <a:r>
              <a:rPr lang="en-GB" dirty="0"/>
              <a:t>Enemy Zone Change Testing</a:t>
            </a:r>
          </a:p>
        </p:txBody>
      </p:sp>
    </p:spTree>
    <p:extLst>
      <p:ext uri="{BB962C8B-B14F-4D97-AF65-F5344CB8AC3E}">
        <p14:creationId xmlns:p14="http://schemas.microsoft.com/office/powerpoint/2010/main" val="1004391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923B-5999-0B23-540A-58EEAFCD4A8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A6647C-FBCD-3264-D6DE-89DA6D95A238}"/>
              </a:ext>
            </a:extLst>
          </p:cNvPr>
          <p:cNvGraphicFramePr>
            <a:graphicFrameLocks noGrp="1"/>
          </p:cNvGraphicFramePr>
          <p:nvPr/>
        </p:nvGraphicFramePr>
        <p:xfrm>
          <a:off x="0" y="391886"/>
          <a:ext cx="10940142" cy="6048463"/>
        </p:xfrm>
        <a:graphic>
          <a:graphicData uri="http://schemas.openxmlformats.org/drawingml/2006/table">
            <a:tbl>
              <a:tblPr firstRow="1" bandRow="1">
                <a:tableStyleId>{5C22544A-7EE6-4342-B048-85BDC9FD1C3A}</a:tableStyleId>
              </a:tblPr>
              <a:tblGrid>
                <a:gridCol w="471903">
                  <a:extLst>
                    <a:ext uri="{9D8B030D-6E8A-4147-A177-3AD203B41FA5}">
                      <a16:colId xmlns:a16="http://schemas.microsoft.com/office/drawing/2014/main" val="2041145262"/>
                    </a:ext>
                  </a:extLst>
                </a:gridCol>
                <a:gridCol w="1657147">
                  <a:extLst>
                    <a:ext uri="{9D8B030D-6E8A-4147-A177-3AD203B41FA5}">
                      <a16:colId xmlns:a16="http://schemas.microsoft.com/office/drawing/2014/main" val="3102287305"/>
                    </a:ext>
                  </a:extLst>
                </a:gridCol>
                <a:gridCol w="616636">
                  <a:extLst>
                    <a:ext uri="{9D8B030D-6E8A-4147-A177-3AD203B41FA5}">
                      <a16:colId xmlns:a16="http://schemas.microsoft.com/office/drawing/2014/main" val="4080696647"/>
                    </a:ext>
                  </a:extLst>
                </a:gridCol>
                <a:gridCol w="1019984">
                  <a:extLst>
                    <a:ext uri="{9D8B030D-6E8A-4147-A177-3AD203B41FA5}">
                      <a16:colId xmlns:a16="http://schemas.microsoft.com/office/drawing/2014/main" val="132880537"/>
                    </a:ext>
                  </a:extLst>
                </a:gridCol>
                <a:gridCol w="3587236">
                  <a:extLst>
                    <a:ext uri="{9D8B030D-6E8A-4147-A177-3AD203B41FA5}">
                      <a16:colId xmlns:a16="http://schemas.microsoft.com/office/drawing/2014/main" val="786884226"/>
                    </a:ext>
                  </a:extLst>
                </a:gridCol>
                <a:gridCol w="3587236">
                  <a:extLst>
                    <a:ext uri="{9D8B030D-6E8A-4147-A177-3AD203B41FA5}">
                      <a16:colId xmlns:a16="http://schemas.microsoft.com/office/drawing/2014/main" val="3813578648"/>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648831">
                <a:tc>
                  <a:txBody>
                    <a:bodyPr/>
                    <a:lstStyle/>
                    <a:p>
                      <a:r>
                        <a:rPr lang="en-GB" sz="800" dirty="0"/>
                        <a:t>38.</a:t>
                      </a:r>
                    </a:p>
                  </a:txBody>
                  <a:tcPr/>
                </a:tc>
                <a:tc>
                  <a:txBody>
                    <a:bodyPr/>
                    <a:lstStyle/>
                    <a:p>
                      <a:r>
                        <a:rPr lang="en-GB" sz="800" dirty="0"/>
                        <a:t> Bulker zone change level 2</a:t>
                      </a:r>
                    </a:p>
                  </a:txBody>
                  <a:tcPr/>
                </a:tc>
                <a:tc>
                  <a:txBody>
                    <a:bodyPr/>
                    <a:lstStyle/>
                    <a:p>
                      <a:r>
                        <a:rPr lang="en-GB" sz="800" dirty="0"/>
                        <a:t>Rm_level2</a:t>
                      </a:r>
                    </a:p>
                  </a:txBody>
                  <a:tcPr/>
                </a:tc>
                <a:tc>
                  <a:txBody>
                    <a:bodyPr/>
                    <a:lstStyle/>
                    <a:p>
                      <a:r>
                        <a:rPr lang="en-GB" sz="800" dirty="0"/>
                        <a:t>Obj_amcd_bulker_lvl2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Bulker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Bulker is moving to, then the zone Bulker is moving to, will change its object to display the zone with both Bulker and K9. If Bulker moves to a zone, then the previous zone he was in, will return to normal, or if K9 was in the same zone, it will only display the K9 zone after Bulker leaves it. If Bulker moves to a zone that K9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2541011158"/>
                  </a:ext>
                </a:extLst>
              </a:tr>
              <a:tr h="648831">
                <a:tc>
                  <a:txBody>
                    <a:bodyPr/>
                    <a:lstStyle/>
                    <a:p>
                      <a:r>
                        <a:rPr lang="en-GB" sz="800" dirty="0"/>
                        <a:t>39.</a:t>
                      </a:r>
                    </a:p>
                  </a:txBody>
                  <a:tcPr/>
                </a:tc>
                <a:tc>
                  <a:txBody>
                    <a:bodyPr/>
                    <a:lstStyle/>
                    <a:p>
                      <a:r>
                        <a:rPr lang="en-GB" sz="800" dirty="0"/>
                        <a:t>Bulker zone change level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Obj_amcd_bulker_lvl3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Bulker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Bulker is moving to, then the zone Bulker is moving to, will change its object to display the zone with both Bulker and K9. If Bulker moves to a zone, then the previous zone he was in, will return to normal, or if K9 was in the same zone, it will only display the K9 zone after Bulker leaves it. If Bulker moves to a zone that K9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4133394058"/>
                  </a:ext>
                </a:extLst>
              </a:tr>
              <a:tr h="648831">
                <a:tc>
                  <a:txBody>
                    <a:bodyPr/>
                    <a:lstStyle/>
                    <a:p>
                      <a:r>
                        <a:rPr lang="en-GB" sz="800" dirty="0"/>
                        <a:t>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Bulker zone change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Obj_amcd_bulker_lvl5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Bulker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Bulker is moving to, then the zone Bulker is moving to, will change its object to display the zone with both Bulker and K9. If Bulker moves to a zone, then the previous zone he was in, will return to normal, or if K9 was in the same zone, it will only display the K9 zone after Bulker leaves it. If Bulker moves to a zone that K9 is not in, the zone he moves to displays K9 only.</a:t>
                      </a:r>
                    </a:p>
                    <a:p>
                      <a:endParaRPr lang="en-GB" sz="800" dirty="0"/>
                    </a:p>
                  </a:txBody>
                  <a:tcPr/>
                </a:tc>
                <a:tc>
                  <a:txBody>
                    <a:bodyPr/>
                    <a:lstStyle/>
                    <a:p>
                      <a:endParaRPr lang="en-GB" sz="800" dirty="0"/>
                    </a:p>
                  </a:txBody>
                  <a:tcPr/>
                </a:tc>
                <a:extLst>
                  <a:ext uri="{0D108BD9-81ED-4DB2-BD59-A6C34878D82A}">
                    <a16:rowId xmlns:a16="http://schemas.microsoft.com/office/drawing/2014/main" val="3113226149"/>
                  </a:ext>
                </a:extLst>
              </a:tr>
              <a:tr h="685312">
                <a:tc>
                  <a:txBody>
                    <a:bodyPr/>
                    <a:lstStyle/>
                    <a:p>
                      <a:r>
                        <a:rPr lang="en-GB" sz="800" dirty="0"/>
                        <a:t>41.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Prototype zone change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Obj_amcd_prototype_lvl4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Prototype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Prototype is moving to, then the zone Prototype is moving to, will change its object to display the zone with both Prototype and K9. If Prototype moves to a zone, then the previous zone he was in, will return to normal, or if K9 was in the same zone, it will only display the K9 zone after Prototype leaves it. If Prototype moves to a zone that K9 is not in, the zone he moves to displays K9 only. He also does this for </a:t>
                      </a:r>
                      <a:r>
                        <a:rPr lang="en-GB" sz="800" dirty="0" err="1"/>
                        <a:t>Gwiber</a:t>
                      </a:r>
                      <a:r>
                        <a:rPr lang="en-GB" sz="800" dirty="0"/>
                        <a:t> and Bulker.</a:t>
                      </a:r>
                    </a:p>
                    <a:p>
                      <a:endParaRPr lang="en-GB" sz="800" dirty="0"/>
                    </a:p>
                  </a:txBody>
                  <a:tcPr/>
                </a:tc>
                <a:tc>
                  <a:txBody>
                    <a:bodyPr/>
                    <a:lstStyle/>
                    <a:p>
                      <a:endParaRPr lang="en-GB" sz="800" dirty="0"/>
                    </a:p>
                  </a:txBody>
                  <a:tcPr/>
                </a:tc>
                <a:extLst>
                  <a:ext uri="{0D108BD9-81ED-4DB2-BD59-A6C34878D82A}">
                    <a16:rowId xmlns:a16="http://schemas.microsoft.com/office/drawing/2014/main" val="156842521"/>
                  </a:ext>
                </a:extLst>
              </a:tr>
              <a:tr h="734786">
                <a:tc>
                  <a:txBody>
                    <a:bodyPr/>
                    <a:lstStyle/>
                    <a:p>
                      <a:r>
                        <a:rPr lang="en-GB" sz="800" dirty="0"/>
                        <a:t>42.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Prototype zone change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Obj_amcd_prototype_lvl5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Prototype moves between zones, he checks to see if any other </a:t>
                      </a:r>
                      <a:r>
                        <a:rPr lang="en-GB" sz="800" dirty="0" err="1"/>
                        <a:t>amcd</a:t>
                      </a:r>
                      <a:r>
                        <a:rPr lang="en-GB" sz="800" dirty="0"/>
                        <a:t> is in the zone he’s moving to. If there is an </a:t>
                      </a:r>
                      <a:r>
                        <a:rPr lang="en-GB" sz="800" dirty="0" err="1"/>
                        <a:t>amcd</a:t>
                      </a:r>
                      <a:r>
                        <a:rPr lang="en-GB" sz="800" dirty="0"/>
                        <a:t> like K9 in the same zone Prototype is moving to, then the zone Prototype is moving to, will change its object to display the zone with both Prototype and K9. If Prototype moves to a zone, then the previous zone he was in, will return to normal, or if K9 was in the same zone, it will only display the K9 zone after Prototype leaves it. If Prototype moves to a zone that K9 is not in, the zone he moves to displays K9 only. He also does this for </a:t>
                      </a:r>
                      <a:r>
                        <a:rPr lang="en-GB" sz="800" dirty="0" err="1"/>
                        <a:t>Gwiber</a:t>
                      </a:r>
                      <a:r>
                        <a:rPr lang="en-GB" sz="800" dirty="0"/>
                        <a:t> and Bulker.</a:t>
                      </a:r>
                    </a:p>
                    <a:p>
                      <a:endParaRPr lang="en-GB" sz="800" dirty="0"/>
                    </a:p>
                  </a:txBody>
                  <a:tcPr/>
                </a:tc>
                <a:tc>
                  <a:txBody>
                    <a:bodyPr/>
                    <a:lstStyle/>
                    <a:p>
                      <a:endParaRPr lang="en-GB" sz="800" dirty="0"/>
                    </a:p>
                  </a:txBody>
                  <a:tcPr/>
                </a:tc>
                <a:extLst>
                  <a:ext uri="{0D108BD9-81ED-4DB2-BD59-A6C34878D82A}">
                    <a16:rowId xmlns:a16="http://schemas.microsoft.com/office/drawing/2014/main" val="3341429027"/>
                  </a:ext>
                </a:extLst>
              </a:tr>
            </a:tbl>
          </a:graphicData>
        </a:graphic>
      </p:graphicFrame>
      <p:sp>
        <p:nvSpPr>
          <p:cNvPr id="2" name="TextBox 1">
            <a:extLst>
              <a:ext uri="{FF2B5EF4-FFF2-40B4-BE49-F238E27FC236}">
                <a16:creationId xmlns:a16="http://schemas.microsoft.com/office/drawing/2014/main" id="{5445142E-D420-971B-F107-7C0118BD27EA}"/>
              </a:ext>
            </a:extLst>
          </p:cNvPr>
          <p:cNvSpPr txBox="1"/>
          <p:nvPr/>
        </p:nvSpPr>
        <p:spPr>
          <a:xfrm>
            <a:off x="0" y="22553"/>
            <a:ext cx="2957669" cy="369332"/>
          </a:xfrm>
          <a:prstGeom prst="rect">
            <a:avLst/>
          </a:prstGeom>
          <a:noFill/>
        </p:spPr>
        <p:txBody>
          <a:bodyPr wrap="none" rtlCol="0">
            <a:spAutoFit/>
          </a:bodyPr>
          <a:lstStyle/>
          <a:p>
            <a:r>
              <a:rPr lang="en-GB" dirty="0"/>
              <a:t>Enemy Zone Change Testing</a:t>
            </a:r>
          </a:p>
        </p:txBody>
      </p:sp>
    </p:spTree>
    <p:extLst>
      <p:ext uri="{BB962C8B-B14F-4D97-AF65-F5344CB8AC3E}">
        <p14:creationId xmlns:p14="http://schemas.microsoft.com/office/powerpoint/2010/main" val="2951916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AFED8-8070-9576-7EC6-AE635117491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5D6642C-B464-D525-3EB5-3AAB8B4ACC80}"/>
              </a:ext>
            </a:extLst>
          </p:cNvPr>
          <p:cNvGraphicFramePr>
            <a:graphicFrameLocks noGrp="1"/>
          </p:cNvGraphicFramePr>
          <p:nvPr/>
        </p:nvGraphicFramePr>
        <p:xfrm>
          <a:off x="114300" y="391885"/>
          <a:ext cx="11487150" cy="5987503"/>
        </p:xfrm>
        <a:graphic>
          <a:graphicData uri="http://schemas.openxmlformats.org/drawingml/2006/table">
            <a:tbl>
              <a:tblPr firstRow="1" bandRow="1">
                <a:tableStyleId>{5C22544A-7EE6-4342-B048-85BDC9FD1C3A}</a:tableStyleId>
              </a:tblPr>
              <a:tblGrid>
                <a:gridCol w="495498">
                  <a:extLst>
                    <a:ext uri="{9D8B030D-6E8A-4147-A177-3AD203B41FA5}">
                      <a16:colId xmlns:a16="http://schemas.microsoft.com/office/drawing/2014/main" val="2041145262"/>
                    </a:ext>
                  </a:extLst>
                </a:gridCol>
                <a:gridCol w="1740005">
                  <a:extLst>
                    <a:ext uri="{9D8B030D-6E8A-4147-A177-3AD203B41FA5}">
                      <a16:colId xmlns:a16="http://schemas.microsoft.com/office/drawing/2014/main" val="3102287305"/>
                    </a:ext>
                  </a:extLst>
                </a:gridCol>
                <a:gridCol w="647468">
                  <a:extLst>
                    <a:ext uri="{9D8B030D-6E8A-4147-A177-3AD203B41FA5}">
                      <a16:colId xmlns:a16="http://schemas.microsoft.com/office/drawing/2014/main" val="4080696647"/>
                    </a:ext>
                  </a:extLst>
                </a:gridCol>
                <a:gridCol w="1070983">
                  <a:extLst>
                    <a:ext uri="{9D8B030D-6E8A-4147-A177-3AD203B41FA5}">
                      <a16:colId xmlns:a16="http://schemas.microsoft.com/office/drawing/2014/main" val="132880537"/>
                    </a:ext>
                  </a:extLst>
                </a:gridCol>
                <a:gridCol w="5002267">
                  <a:extLst>
                    <a:ext uri="{9D8B030D-6E8A-4147-A177-3AD203B41FA5}">
                      <a16:colId xmlns:a16="http://schemas.microsoft.com/office/drawing/2014/main" val="786884226"/>
                    </a:ext>
                  </a:extLst>
                </a:gridCol>
                <a:gridCol w="2530929">
                  <a:extLst>
                    <a:ext uri="{9D8B030D-6E8A-4147-A177-3AD203B41FA5}">
                      <a16:colId xmlns:a16="http://schemas.microsoft.com/office/drawing/2014/main" val="642979864"/>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43.</a:t>
                      </a:r>
                    </a:p>
                  </a:txBody>
                  <a:tcPr/>
                </a:tc>
                <a:tc>
                  <a:txBody>
                    <a:bodyPr/>
                    <a:lstStyle/>
                    <a:p>
                      <a:r>
                        <a:rPr lang="en-GB" sz="800" dirty="0"/>
                        <a:t>Oxygen Door/vent controller</a:t>
                      </a:r>
                    </a:p>
                  </a:txBody>
                  <a:tcPr/>
                </a:tc>
                <a:tc>
                  <a:txBody>
                    <a:bodyPr/>
                    <a:lstStyle/>
                    <a:p>
                      <a:r>
                        <a:rPr lang="en-GB" sz="800" dirty="0"/>
                        <a:t>Rm_level1 - 5</a:t>
                      </a:r>
                    </a:p>
                  </a:txBody>
                  <a:tcPr/>
                </a:tc>
                <a:tc>
                  <a:txBody>
                    <a:bodyPr/>
                    <a:lstStyle/>
                    <a:p>
                      <a:r>
                        <a:rPr lang="en-GB" sz="800" dirty="0" err="1"/>
                        <a:t>obj_oxygen_door_controller</a:t>
                      </a:r>
                      <a:endParaRPr lang="en-GB" sz="800" dirty="0"/>
                    </a:p>
                  </a:txBody>
                  <a:tcPr/>
                </a:tc>
                <a:tc>
                  <a:txBody>
                    <a:bodyPr/>
                    <a:lstStyle/>
                    <a:p>
                      <a:r>
                        <a:rPr lang="en-GB" sz="800" dirty="0"/>
                        <a:t>The Oxygen controller is very unique so discussing its function may take a bit, so I will break down its function into its key functions. </a:t>
                      </a:r>
                    </a:p>
                    <a:p>
                      <a:endParaRPr lang="en-GB" sz="800" dirty="0"/>
                    </a:p>
                    <a:p>
                      <a:r>
                        <a:rPr lang="en-GB" sz="800" dirty="0"/>
                        <a:t>The oxygen controller has 5 primary functions</a:t>
                      </a:r>
                    </a:p>
                    <a:p>
                      <a:endParaRPr lang="en-GB" sz="800" dirty="0"/>
                    </a:p>
                    <a:p>
                      <a:pPr marL="228600" indent="-228600">
                        <a:buAutoNum type="arabicPeriod"/>
                      </a:pPr>
                      <a:r>
                        <a:rPr lang="en-GB" sz="800" dirty="0"/>
                        <a:t>Sync Doors and Vents together</a:t>
                      </a:r>
                    </a:p>
                    <a:p>
                      <a:pPr marL="228600" indent="-228600">
                        <a:buAutoNum type="arabicPeriod"/>
                      </a:pPr>
                      <a:endParaRPr lang="en-GB" sz="800" dirty="0"/>
                    </a:p>
                    <a:p>
                      <a:pPr marL="228600" indent="-228600">
                        <a:buAutoNum type="arabicPeriod"/>
                      </a:pPr>
                      <a:r>
                        <a:rPr lang="en-GB" sz="800" dirty="0"/>
                        <a:t>Decrease Oxygen faster when more vents/doors are closed and increase it when less or none are closed (the oxygens speed is determined by the number of doors open and closed</a:t>
                      </a:r>
                    </a:p>
                    <a:p>
                      <a:pPr marL="228600" indent="-228600">
                        <a:buAutoNum type="arabicPeriod"/>
                      </a:pPr>
                      <a:endParaRPr lang="en-GB" sz="800" dirty="0"/>
                    </a:p>
                    <a:p>
                      <a:pPr marL="228600" indent="-228600">
                        <a:buAutoNum type="arabicPeriod"/>
                      </a:pPr>
                      <a:r>
                        <a:rPr lang="en-GB" sz="800" dirty="0"/>
                        <a:t>Acknowledge when oxygen = 0, and decrease HP</a:t>
                      </a:r>
                    </a:p>
                    <a:p>
                      <a:pPr marL="228600" indent="-228600">
                        <a:buAutoNum type="arabicPeriod"/>
                      </a:pPr>
                      <a:endParaRPr lang="en-GB" sz="800" dirty="0"/>
                    </a:p>
                    <a:p>
                      <a:pPr marL="228600" indent="-228600">
                        <a:buAutoNum type="arabicPeriod"/>
                      </a:pPr>
                      <a:r>
                        <a:rPr lang="en-GB" sz="800" dirty="0"/>
                        <a:t>If HP = 0, </a:t>
                      </a:r>
                      <a:r>
                        <a:rPr lang="en-GB" sz="800" dirty="0" err="1"/>
                        <a:t>global.dead</a:t>
                      </a:r>
                      <a:r>
                        <a:rPr lang="en-GB" sz="800" dirty="0"/>
                        <a:t> = true</a:t>
                      </a:r>
                    </a:p>
                    <a:p>
                      <a:pPr marL="228600" indent="-228600">
                        <a:buAutoNum type="arabicPeriod"/>
                      </a:pPr>
                      <a:endParaRPr lang="en-GB" sz="800" dirty="0"/>
                    </a:p>
                    <a:p>
                      <a:pPr marL="228600" indent="-228600">
                        <a:buAutoNum type="arabicPeriod"/>
                      </a:pPr>
                      <a:r>
                        <a:rPr lang="en-GB" sz="800" dirty="0"/>
                        <a:t>Change the doors/vents sprites and objects based on whether the doors/vents are in an open or closed state.</a:t>
                      </a:r>
                    </a:p>
                  </a:txBody>
                  <a:tcPr/>
                </a:tc>
                <a:tc>
                  <a:txBody>
                    <a:bodyPr/>
                    <a:lstStyle/>
                    <a:p>
                      <a:pPr marL="228600" indent="-228600">
                        <a:buAutoNum type="arabicPeriod"/>
                      </a:pPr>
                      <a:endParaRPr lang="en-GB" sz="800" dirty="0"/>
                    </a:p>
                  </a:txBody>
                  <a:tcPr/>
                </a:tc>
                <a:extLst>
                  <a:ext uri="{0D108BD9-81ED-4DB2-BD59-A6C34878D82A}">
                    <a16:rowId xmlns:a16="http://schemas.microsoft.com/office/drawing/2014/main" val="289599235"/>
                  </a:ext>
                </a:extLst>
              </a:tr>
              <a:tr h="470623">
                <a:tc>
                  <a:txBody>
                    <a:bodyPr/>
                    <a:lstStyle/>
                    <a:p>
                      <a:r>
                        <a:rPr lang="en-GB" sz="800" dirty="0"/>
                        <a:t>44.</a:t>
                      </a:r>
                    </a:p>
                  </a:txBody>
                  <a:tcPr/>
                </a:tc>
                <a:tc>
                  <a:txBody>
                    <a:bodyPr/>
                    <a:lstStyle/>
                    <a:p>
                      <a:r>
                        <a:rPr lang="en-GB" sz="800" dirty="0"/>
                        <a:t>Camera controller level 1</a:t>
                      </a:r>
                    </a:p>
                  </a:txBody>
                  <a:tcPr/>
                </a:tc>
                <a:tc>
                  <a:txBody>
                    <a:bodyPr/>
                    <a:lstStyle/>
                    <a:p>
                      <a:r>
                        <a:rPr lang="en-GB" sz="800" dirty="0"/>
                        <a:t>Rm_level1</a:t>
                      </a:r>
                    </a:p>
                  </a:txBody>
                  <a:tcPr/>
                </a:tc>
                <a:tc>
                  <a:txBody>
                    <a:bodyPr/>
                    <a:lstStyle/>
                    <a:p>
                      <a:r>
                        <a:rPr lang="en-GB" sz="800" dirty="0"/>
                        <a:t>obj_camera_controller_lvl1</a:t>
                      </a:r>
                    </a:p>
                  </a:txBody>
                  <a:tcPr/>
                </a:tc>
                <a:tc>
                  <a:txBody>
                    <a:bodyPr/>
                    <a:lstStyle/>
                    <a:p>
                      <a:pPr marL="0" indent="0">
                        <a:buNone/>
                      </a:pPr>
                      <a:r>
                        <a:rPr lang="en-GB" sz="800" dirty="0"/>
                        <a:t>The camera controller is to change the player view to what ever button the player presses, utilizing a script to identify what zone to look at. In addition, the controller itself in its create code contains all the co-ordinates of every zone in level 1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pPr marL="0" indent="0">
                        <a:buNone/>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Camera controller level 2</a:t>
                      </a:r>
                    </a:p>
                    <a:p>
                      <a:endParaRPr lang="en-GB" sz="800" dirty="0"/>
                    </a:p>
                  </a:txBody>
                  <a:tcPr/>
                </a:tc>
                <a:tc>
                  <a:txBody>
                    <a:bodyPr/>
                    <a:lstStyle/>
                    <a:p>
                      <a:r>
                        <a:rPr lang="en-GB" sz="800" dirty="0"/>
                        <a:t>Rm_level2</a:t>
                      </a:r>
                    </a:p>
                  </a:txBody>
                  <a:tcPr/>
                </a:tc>
                <a:tc>
                  <a:txBody>
                    <a:bodyPr/>
                    <a:lstStyle/>
                    <a:p>
                      <a:r>
                        <a:rPr lang="en-GB" sz="800" dirty="0"/>
                        <a:t>Obj_camera_controller_lvl2</a:t>
                      </a:r>
                    </a:p>
                  </a:txBody>
                  <a:tcPr/>
                </a:tc>
                <a:tc>
                  <a:txBody>
                    <a:bodyPr/>
                    <a:lstStyle/>
                    <a:p>
                      <a:pPr marL="0" indent="0">
                        <a:buNone/>
                      </a:pPr>
                      <a:r>
                        <a:rPr lang="en-GB" sz="800" dirty="0"/>
                        <a:t>The camera controller is to change the player view to a specific zone within the room. Utilizing a script to identify what zone to look at. In addition, the controller itself in its create code contains all the co-ordinates of every zone in level 2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bl>
          </a:graphicData>
        </a:graphic>
      </p:graphicFrame>
      <p:sp>
        <p:nvSpPr>
          <p:cNvPr id="2" name="TextBox 1">
            <a:extLst>
              <a:ext uri="{FF2B5EF4-FFF2-40B4-BE49-F238E27FC236}">
                <a16:creationId xmlns:a16="http://schemas.microsoft.com/office/drawing/2014/main" id="{D6904CAE-3462-802B-2A36-A942CF4E9F87}"/>
              </a:ext>
            </a:extLst>
          </p:cNvPr>
          <p:cNvSpPr txBox="1"/>
          <p:nvPr/>
        </p:nvSpPr>
        <p:spPr>
          <a:xfrm>
            <a:off x="0" y="22553"/>
            <a:ext cx="1301382" cy="369332"/>
          </a:xfrm>
          <a:prstGeom prst="rect">
            <a:avLst/>
          </a:prstGeom>
          <a:noFill/>
        </p:spPr>
        <p:txBody>
          <a:bodyPr wrap="none" rtlCol="0">
            <a:spAutoFit/>
          </a:bodyPr>
          <a:lstStyle/>
          <a:p>
            <a:r>
              <a:rPr lang="en-GB" dirty="0"/>
              <a:t>Controllers</a:t>
            </a:r>
          </a:p>
        </p:txBody>
      </p:sp>
    </p:spTree>
    <p:extLst>
      <p:ext uri="{BB962C8B-B14F-4D97-AF65-F5344CB8AC3E}">
        <p14:creationId xmlns:p14="http://schemas.microsoft.com/office/powerpoint/2010/main" val="2595600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6EFD9-5657-72F8-5C69-FD38EBC53D4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769D7B3-5A5E-19FE-FCF9-91E8CFBD8B16}"/>
              </a:ext>
            </a:extLst>
          </p:cNvPr>
          <p:cNvGraphicFramePr>
            <a:graphicFrameLocks noGrp="1"/>
          </p:cNvGraphicFramePr>
          <p:nvPr/>
        </p:nvGraphicFramePr>
        <p:xfrm>
          <a:off x="114301" y="391885"/>
          <a:ext cx="10874827" cy="63532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46.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Camera controller level 3</a:t>
                      </a:r>
                    </a:p>
                    <a:p>
                      <a:endParaRPr lang="en-GB" sz="800" dirty="0"/>
                    </a:p>
                  </a:txBody>
                  <a:tcPr/>
                </a:tc>
                <a:tc>
                  <a:txBody>
                    <a:bodyPr/>
                    <a:lstStyle/>
                    <a:p>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obj_camera_controller_lvl3</a:t>
                      </a:r>
                    </a:p>
                    <a:p>
                      <a:endParaRPr lang="en-GB" sz="800" dirty="0"/>
                    </a:p>
                  </a:txBody>
                  <a:tcPr/>
                </a:tc>
                <a:tc>
                  <a:txBody>
                    <a:bodyPr/>
                    <a:lstStyle/>
                    <a:p>
                      <a:pPr marL="0" indent="0">
                        <a:buNone/>
                      </a:pPr>
                      <a:r>
                        <a:rPr lang="en-GB" sz="800" dirty="0"/>
                        <a:t>The camera controller is to change the player view to what ever button the player presses, utilizing a script to identify what zone to look at. In addition, the controller itself in its create code contains all the co-ordinates of every zone in level 3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endParaRPr lang="en-GB" sz="800" dirty="0"/>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47.</a:t>
                      </a:r>
                    </a:p>
                  </a:txBody>
                  <a:tcPr/>
                </a:tc>
                <a:tc>
                  <a:txBody>
                    <a:bodyPr/>
                    <a:lstStyle/>
                    <a:p>
                      <a:r>
                        <a:rPr lang="en-GB" sz="800" dirty="0"/>
                        <a:t>Camera controller level 4</a:t>
                      </a:r>
                    </a:p>
                  </a:txBody>
                  <a:tcPr/>
                </a:tc>
                <a:tc>
                  <a:txBody>
                    <a:bodyPr/>
                    <a:lstStyle/>
                    <a:p>
                      <a:r>
                        <a:rPr lang="en-GB" sz="800" dirty="0"/>
                        <a:t>Rm_level4</a:t>
                      </a:r>
                    </a:p>
                  </a:txBody>
                  <a:tcPr/>
                </a:tc>
                <a:tc>
                  <a:txBody>
                    <a:bodyPr/>
                    <a:lstStyle/>
                    <a:p>
                      <a:r>
                        <a:rPr lang="en-GB" sz="800" dirty="0"/>
                        <a:t>obj_camera_controller_lvl4</a:t>
                      </a:r>
                    </a:p>
                  </a:txBody>
                  <a:tcPr/>
                </a:tc>
                <a:tc>
                  <a:txBody>
                    <a:bodyPr/>
                    <a:lstStyle/>
                    <a:p>
                      <a:pPr marL="0" indent="0">
                        <a:buNone/>
                      </a:pPr>
                      <a:r>
                        <a:rPr lang="en-GB" sz="800" dirty="0"/>
                        <a:t>The camera controller is to change the player view to what ever button the player presses, utilizing a script to identify what zone to look at. In addition, the controller itself in its create code contains all the co-ordinates of every zone in level 4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pPr marL="0" indent="0">
                        <a:buNone/>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48.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Camera controller level 5</a:t>
                      </a:r>
                    </a:p>
                    <a:p>
                      <a:endParaRPr lang="en-GB" sz="800" dirty="0"/>
                    </a:p>
                  </a:txBody>
                  <a:tcPr/>
                </a:tc>
                <a:tc>
                  <a:txBody>
                    <a:bodyPr/>
                    <a:lstStyle/>
                    <a:p>
                      <a:r>
                        <a:rPr lang="en-GB" sz="800" dirty="0"/>
                        <a:t>Rm_level5</a:t>
                      </a:r>
                    </a:p>
                  </a:txBody>
                  <a:tcPr/>
                </a:tc>
                <a:tc>
                  <a:txBody>
                    <a:bodyPr/>
                    <a:lstStyle/>
                    <a:p>
                      <a:r>
                        <a:rPr lang="en-GB" sz="800" dirty="0"/>
                        <a:t>Obj_camera_controller_lvl5</a:t>
                      </a:r>
                    </a:p>
                  </a:txBody>
                  <a:tcPr/>
                </a:tc>
                <a:tc>
                  <a:txBody>
                    <a:bodyPr/>
                    <a:lstStyle/>
                    <a:p>
                      <a:pPr marL="0" indent="0">
                        <a:buNone/>
                      </a:pPr>
                      <a:r>
                        <a:rPr lang="en-GB" sz="800" dirty="0"/>
                        <a:t>The camera controller is to change the player view to a specific zone within the room. Utilizing a script to identify what zone to look at. In addition, the controller itself in its create code contains all the co-ordinates of every zone in level 5 which is then globally labelled using </a:t>
                      </a:r>
                      <a:r>
                        <a:rPr lang="en-GB" sz="800" dirty="0" err="1"/>
                        <a:t>global.current_zone</a:t>
                      </a:r>
                      <a:r>
                        <a:rPr lang="en-GB" sz="800" dirty="0"/>
                        <a:t> as an identifier, and the number zone is named using scripts to make it easier to know what zone is what.</a:t>
                      </a:r>
                    </a:p>
                    <a:p>
                      <a:pPr marL="0" indent="0">
                        <a:buNone/>
                      </a:pPr>
                      <a:endParaRPr lang="en-GB" sz="800" dirty="0"/>
                    </a:p>
                    <a:p>
                      <a:pPr marL="0" indent="0">
                        <a:buNone/>
                      </a:pPr>
                      <a:r>
                        <a:rPr lang="en-GB" sz="800" dirty="0"/>
                        <a:t>If the player clicks a camera button, it triggers the </a:t>
                      </a:r>
                      <a:r>
                        <a:rPr lang="en-GB" sz="800" dirty="0" err="1"/>
                        <a:t>scr_camera_change</a:t>
                      </a:r>
                      <a:r>
                        <a:rPr lang="en-GB" sz="800" dirty="0"/>
                        <a:t> and moves the game's view port to whatever zone is triggered by the button.</a:t>
                      </a:r>
                    </a:p>
                    <a:p>
                      <a:pPr marL="0" indent="0">
                        <a:buNone/>
                      </a:pPr>
                      <a:endParaRPr lang="en-GB" sz="800" dirty="0"/>
                    </a:p>
                    <a:p>
                      <a:pPr marL="0" indent="0">
                        <a:buNone/>
                      </a:pPr>
                      <a:r>
                        <a:rPr lang="en-GB" sz="800" dirty="0"/>
                        <a:t>The controller also enables the camera-based button objects to use the </a:t>
                      </a:r>
                      <a:r>
                        <a:rPr lang="en-GB" sz="800" dirty="0" err="1"/>
                        <a:t>scr_camera_change</a:t>
                      </a:r>
                      <a:r>
                        <a:rPr lang="en-GB" sz="800" dirty="0"/>
                        <a:t> script.</a:t>
                      </a:r>
                    </a:p>
                    <a:p>
                      <a:pPr marL="0" indent="0">
                        <a:buNone/>
                      </a:pPr>
                      <a:endParaRPr lang="en-GB" sz="800" dirty="0"/>
                    </a:p>
                    <a:p>
                      <a:pPr marL="0" indent="0">
                        <a:buNone/>
                      </a:pPr>
                      <a:r>
                        <a:rPr lang="en-GB" sz="800" dirty="0"/>
                        <a:t>Lastly, at game start the controller sets the camera’s size and position to the office zone (</a:t>
                      </a:r>
                      <a:r>
                        <a:rPr lang="en-GB" sz="800" dirty="0" err="1"/>
                        <a:t>global.current_zone</a:t>
                      </a:r>
                      <a:r>
                        <a:rPr lang="en-GB" sz="800" dirty="0"/>
                        <a:t> = 0)</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bl>
          </a:graphicData>
        </a:graphic>
      </p:graphicFrame>
      <p:sp>
        <p:nvSpPr>
          <p:cNvPr id="2" name="TextBox 1">
            <a:extLst>
              <a:ext uri="{FF2B5EF4-FFF2-40B4-BE49-F238E27FC236}">
                <a16:creationId xmlns:a16="http://schemas.microsoft.com/office/drawing/2014/main" id="{75F9E048-6337-9132-4E48-07400039BC98}"/>
              </a:ext>
            </a:extLst>
          </p:cNvPr>
          <p:cNvSpPr txBox="1"/>
          <p:nvPr/>
        </p:nvSpPr>
        <p:spPr>
          <a:xfrm>
            <a:off x="0" y="22553"/>
            <a:ext cx="1301382" cy="369332"/>
          </a:xfrm>
          <a:prstGeom prst="rect">
            <a:avLst/>
          </a:prstGeom>
          <a:noFill/>
        </p:spPr>
        <p:txBody>
          <a:bodyPr wrap="none" rtlCol="0">
            <a:spAutoFit/>
          </a:bodyPr>
          <a:lstStyle/>
          <a:p>
            <a:r>
              <a:rPr lang="en-GB" dirty="0"/>
              <a:t>Controllers</a:t>
            </a:r>
          </a:p>
        </p:txBody>
      </p:sp>
    </p:spTree>
    <p:extLst>
      <p:ext uri="{BB962C8B-B14F-4D97-AF65-F5344CB8AC3E}">
        <p14:creationId xmlns:p14="http://schemas.microsoft.com/office/powerpoint/2010/main" val="2304606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623B9-484F-0887-686E-D8BB72489BF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4ADAA5F-494B-0AB9-AA89-C443F5417DB4}"/>
              </a:ext>
            </a:extLst>
          </p:cNvPr>
          <p:cNvGraphicFramePr>
            <a:graphicFrameLocks noGrp="1"/>
          </p:cNvGraphicFramePr>
          <p:nvPr/>
        </p:nvGraphicFramePr>
        <p:xfrm>
          <a:off x="114301" y="391885"/>
          <a:ext cx="10874827" cy="4598846"/>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49.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Sound controller level 1</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obj_sound_controller_lvl1</a:t>
                      </a:r>
                    </a:p>
                    <a:p>
                      <a:endParaRPr lang="en-GB" sz="800" dirty="0"/>
                    </a:p>
                  </a:txBody>
                  <a:tcPr/>
                </a:tc>
                <a:tc>
                  <a:txBody>
                    <a:bodyPr/>
                    <a:lstStyle/>
                    <a:p>
                      <a:r>
                        <a:rPr lang="en-GB" sz="800" dirty="0"/>
                        <a:t>The sound controller plays the sounds based off in game conditions. If an enemy is in Cam 2, play left hallway sound. If an enemy is in Cam 7, play right hallway sound. Next is the ambience, the sound controller plays the ambience sound on loop throughout the level. Lastly, every time K9 moves to a different zone he plays his footstep SFX. </a:t>
                      </a:r>
                      <a:r>
                        <a:rPr lang="en-GB" sz="800" b="1" dirty="0"/>
                        <a:t>NOTE: (They are still using place-holder sounds), </a:t>
                      </a:r>
                      <a:r>
                        <a:rPr lang="en-GB" sz="800" dirty="0"/>
                        <a:t>in addition </a:t>
                      </a:r>
                      <a:r>
                        <a:rPr lang="en-GB" sz="800" dirty="0" err="1"/>
                        <a:t>Gwibers</a:t>
                      </a:r>
                      <a:r>
                        <a:rPr lang="en-GB" sz="800" dirty="0"/>
                        <a:t> footsteps haven’t been done.</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50.</a:t>
                      </a:r>
                    </a:p>
                  </a:txBody>
                  <a:tcPr/>
                </a:tc>
                <a:tc>
                  <a:txBody>
                    <a:bodyPr/>
                    <a:lstStyle/>
                    <a:p>
                      <a:r>
                        <a:rPr lang="en-GB" sz="800" dirty="0"/>
                        <a:t>Sound controller level 2</a:t>
                      </a:r>
                    </a:p>
                  </a:txBody>
                  <a:tcPr/>
                </a:tc>
                <a:tc>
                  <a:txBody>
                    <a:bodyPr/>
                    <a:lstStyle/>
                    <a:p>
                      <a:r>
                        <a:rPr lang="en-GB" sz="800" dirty="0"/>
                        <a:t>Rm_level2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The sound controller plays the sounds based off in game conditions. If an enemy is in Cam 2, play left hallway sound. If an enemy is in Cam 7, play right hallway sound. Next is the ambience, the sound controller plays the ambience sound on loop throughout the level. Lastly, every time K9 moves to a different zone he plays his footstep SFX. </a:t>
                      </a:r>
                      <a:r>
                        <a:rPr lang="en-GB" sz="800" b="1" dirty="0"/>
                        <a:t>NOTE: (They are still using place-holder sounds), </a:t>
                      </a:r>
                      <a:r>
                        <a:rPr lang="en-GB" sz="800" dirty="0"/>
                        <a:t>in addition </a:t>
                      </a:r>
                      <a:r>
                        <a:rPr lang="en-GB" sz="800" dirty="0" err="1"/>
                        <a:t>Gwibers</a:t>
                      </a:r>
                      <a:r>
                        <a:rPr lang="en-GB" sz="800" dirty="0"/>
                        <a:t> footsteps haven’t been done.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51.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Sound controller level 3</a:t>
                      </a:r>
                    </a:p>
                    <a:p>
                      <a:endParaRPr lang="en-GB" sz="800" dirty="0"/>
                    </a:p>
                  </a:txBody>
                  <a:tcPr/>
                </a:tc>
                <a:tc>
                  <a:txBody>
                    <a:bodyPr/>
                    <a:lstStyle/>
                    <a:p>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The sound controller plays the sounds based off in game conditions. If an enemy is in Cam 2, play left hallway sound. If an enemy is in Cam 7, play right hallway sound. Next is the ambience, the sound controller plays the ambience sound on loop throughout the level. Lastly, every time K9 moves to a different zone he plays his footstep SFX. </a:t>
                      </a:r>
                      <a:r>
                        <a:rPr lang="en-GB" sz="800" b="1" dirty="0"/>
                        <a:t>NOTE: (They are still using place-holder sounds), </a:t>
                      </a:r>
                      <a:r>
                        <a:rPr lang="en-GB" sz="800" dirty="0"/>
                        <a:t>in addition </a:t>
                      </a:r>
                      <a:r>
                        <a:rPr lang="en-GB" sz="800" dirty="0" err="1"/>
                        <a:t>Gwibers</a:t>
                      </a:r>
                      <a:r>
                        <a:rPr lang="en-GB" sz="800" dirty="0"/>
                        <a:t> footsteps haven’t been done.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52.</a:t>
                      </a:r>
                    </a:p>
                  </a:txBody>
                  <a:tcPr/>
                </a:tc>
                <a:tc>
                  <a:txBody>
                    <a:bodyPr/>
                    <a:lstStyle/>
                    <a:p>
                      <a:r>
                        <a:rPr lang="en-GB" sz="800" dirty="0"/>
                        <a:t>Sound controller level 4</a:t>
                      </a:r>
                    </a:p>
                  </a:txBody>
                  <a:tcPr/>
                </a:tc>
                <a:tc>
                  <a:txBody>
                    <a:bodyPr/>
                    <a:lstStyle/>
                    <a:p>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The sound controller for level 4 hasn’t been made yet, due to the fact that prototype doesn’t have sound and Arach already has his own sound playing in his code.</a:t>
                      </a:r>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53.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Sound controller level 5</a:t>
                      </a:r>
                    </a:p>
                    <a:p>
                      <a:endParaRPr lang="en-GB" sz="800" dirty="0"/>
                    </a:p>
                  </a:txBody>
                  <a:tcPr/>
                </a:tc>
                <a:tc>
                  <a:txBody>
                    <a:bodyPr/>
                    <a:lstStyle/>
                    <a:p>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obj_sound_controller_lvl5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The sound controller plays the sounds based off in game conditions. If an enemy is in Cam 2, play left hallway sound. If an enemy is in Cam 7, play right hallway sound. Next is the ambience, the sound controller plays the ambience sound on loop throughout the level. Lastly, every time K9 moves to a different zone he plays his footstep SFX. </a:t>
                      </a:r>
                      <a:r>
                        <a:rPr lang="en-GB" sz="800" b="1" dirty="0"/>
                        <a:t>NOTE: (They are still using place-holder sounds), </a:t>
                      </a:r>
                      <a:r>
                        <a:rPr lang="en-GB" sz="800" dirty="0"/>
                        <a:t>in addition </a:t>
                      </a:r>
                      <a:r>
                        <a:rPr lang="en-GB" sz="800" dirty="0" err="1"/>
                        <a:t>Gwibers</a:t>
                      </a:r>
                      <a:r>
                        <a:rPr lang="en-GB" sz="800" dirty="0"/>
                        <a:t> footsteps haven’t been done.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AA77FAAA-C496-9910-E97D-F48489976CBF}"/>
              </a:ext>
            </a:extLst>
          </p:cNvPr>
          <p:cNvSpPr txBox="1"/>
          <p:nvPr/>
        </p:nvSpPr>
        <p:spPr>
          <a:xfrm>
            <a:off x="0" y="22553"/>
            <a:ext cx="1301382" cy="369332"/>
          </a:xfrm>
          <a:prstGeom prst="rect">
            <a:avLst/>
          </a:prstGeom>
          <a:noFill/>
        </p:spPr>
        <p:txBody>
          <a:bodyPr wrap="none" rtlCol="0">
            <a:spAutoFit/>
          </a:bodyPr>
          <a:lstStyle/>
          <a:p>
            <a:r>
              <a:rPr lang="en-GB" dirty="0"/>
              <a:t>Controllers</a:t>
            </a:r>
          </a:p>
        </p:txBody>
      </p:sp>
    </p:spTree>
    <p:extLst>
      <p:ext uri="{BB962C8B-B14F-4D97-AF65-F5344CB8AC3E}">
        <p14:creationId xmlns:p14="http://schemas.microsoft.com/office/powerpoint/2010/main" val="1894987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2C8A-F106-3B79-337F-5A852C0206B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E36A9E4-F376-75A9-D380-54CF8EE89CBE}"/>
              </a:ext>
            </a:extLst>
          </p:cNvPr>
          <p:cNvGraphicFramePr>
            <a:graphicFrameLocks noGrp="1"/>
          </p:cNvGraphicFramePr>
          <p:nvPr/>
        </p:nvGraphicFramePr>
        <p:xfrm>
          <a:off x="114301" y="391885"/>
          <a:ext cx="10874827" cy="42196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54.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Level 1 Camera 1 Button trigger</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a:t>
                      </a:r>
                    </a:p>
                    <a:p>
                      <a:endParaRPr lang="en-GB" sz="800" dirty="0"/>
                    </a:p>
                  </a:txBody>
                  <a:tcPr/>
                </a:tc>
                <a:tc>
                  <a:txBody>
                    <a:bodyPr/>
                    <a:lstStyle/>
                    <a:p>
                      <a:r>
                        <a:rPr lang="en-GB" sz="800" dirty="0"/>
                        <a:t>When the mouse left click button is pressed, it will utilize the camera change script for level 1 to change the cameras position to view </a:t>
                      </a:r>
                      <a:r>
                        <a:rPr lang="en-GB" sz="800" dirty="0" err="1"/>
                        <a:t>global.current_zone</a:t>
                      </a:r>
                      <a:r>
                        <a:rPr lang="en-GB" sz="800" dirty="0"/>
                        <a:t>  = 2  which is camera zone 1. It will also play the button click SFX upon clicking  the left mouse button.</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55.</a:t>
                      </a:r>
                    </a:p>
                  </a:txBody>
                  <a:tcPr/>
                </a:tc>
                <a:tc>
                  <a:txBody>
                    <a:bodyPr/>
                    <a:lstStyle/>
                    <a:p>
                      <a:r>
                        <a:rPr lang="en-GB" sz="800" dirty="0"/>
                        <a:t>Level 2 Camera 1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2  which is camera zone 1. It will also play the button click SFX upon clicking  the left mouse button. Also, it sets the camera view size to X = 400 by Y = 225.</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56.</a:t>
                      </a:r>
                    </a:p>
                  </a:txBody>
                  <a:tcPr/>
                </a:tc>
                <a:tc>
                  <a:txBody>
                    <a:bodyPr/>
                    <a:lstStyle/>
                    <a:p>
                      <a:r>
                        <a:rPr lang="en-GB" sz="800" dirty="0"/>
                        <a:t>Level 3 Camera 1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2  which is camera zone 1.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57.</a:t>
                      </a:r>
                    </a:p>
                  </a:txBody>
                  <a:tcPr/>
                </a:tc>
                <a:tc>
                  <a:txBody>
                    <a:bodyPr/>
                    <a:lstStyle/>
                    <a:p>
                      <a:r>
                        <a:rPr lang="en-GB" sz="800" dirty="0"/>
                        <a:t>Level 4 Camera 1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2  which is camera zone 1.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58.</a:t>
                      </a:r>
                    </a:p>
                  </a:txBody>
                  <a:tcPr/>
                </a:tc>
                <a:tc>
                  <a:txBody>
                    <a:bodyPr/>
                    <a:lstStyle/>
                    <a:p>
                      <a:r>
                        <a:rPr lang="en-GB" sz="800" dirty="0"/>
                        <a:t>Level 5 Camera 1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2  which is camera zone 1.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FE6391BD-9AC9-1E04-9A9A-A2815C0E1C83}"/>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087505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58D93-F99C-FC6B-4344-D56270FC9CF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6C0B635-90CC-88F1-548B-7FDEC90928B2}"/>
              </a:ext>
            </a:extLst>
          </p:cNvPr>
          <p:cNvGraphicFramePr>
            <a:graphicFrameLocks noGrp="1"/>
          </p:cNvGraphicFramePr>
          <p:nvPr/>
        </p:nvGraphicFramePr>
        <p:xfrm>
          <a:off x="114301" y="391885"/>
          <a:ext cx="10874827" cy="434158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59.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Level 1 Camera 2 Button trigger</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Obj_cam_2</a:t>
                      </a:r>
                    </a:p>
                    <a:p>
                      <a:endParaRPr lang="en-GB" sz="800" dirty="0"/>
                    </a:p>
                  </a:txBody>
                  <a:tcPr/>
                </a:tc>
                <a:tc>
                  <a:txBody>
                    <a:bodyPr/>
                    <a:lstStyle/>
                    <a:p>
                      <a:r>
                        <a:rPr lang="en-GB" sz="800" dirty="0"/>
                        <a:t>When the mouse left click button is pressed, it will utilize the camera change script for level 1 to change the cameras position to view </a:t>
                      </a:r>
                      <a:r>
                        <a:rPr lang="en-GB" sz="800" dirty="0" err="1"/>
                        <a:t>global.current_zone</a:t>
                      </a:r>
                      <a:r>
                        <a:rPr lang="en-GB" sz="800" dirty="0"/>
                        <a:t>  = 3  which is camera zone 2. It will also play the button click SFX upon clicking  the left mouse button.</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60.</a:t>
                      </a:r>
                    </a:p>
                  </a:txBody>
                  <a:tcPr/>
                </a:tc>
                <a:tc>
                  <a:txBody>
                    <a:bodyPr/>
                    <a:lstStyle/>
                    <a:p>
                      <a:r>
                        <a:rPr lang="en-GB" sz="800" dirty="0"/>
                        <a:t>Level 2 Camera 2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Obj_cam_2_lvl2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3  which is camera zone 2.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61.</a:t>
                      </a:r>
                    </a:p>
                  </a:txBody>
                  <a:tcPr/>
                </a:tc>
                <a:tc>
                  <a:txBody>
                    <a:bodyPr/>
                    <a:lstStyle/>
                    <a:p>
                      <a:r>
                        <a:rPr lang="en-GB" sz="800" dirty="0"/>
                        <a:t>Level 3 Camera 2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Obj_cam_2_lvl3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3  which is camera zone 2.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62.</a:t>
                      </a:r>
                    </a:p>
                  </a:txBody>
                  <a:tcPr/>
                </a:tc>
                <a:tc>
                  <a:txBody>
                    <a:bodyPr/>
                    <a:lstStyle/>
                    <a:p>
                      <a:r>
                        <a:rPr lang="en-GB" sz="800" dirty="0"/>
                        <a:t>Level 4 Camera 2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Obj_cam_2_lvl4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3  which is camera zone 2.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63.</a:t>
                      </a:r>
                    </a:p>
                  </a:txBody>
                  <a:tcPr/>
                </a:tc>
                <a:tc>
                  <a:txBody>
                    <a:bodyPr/>
                    <a:lstStyle/>
                    <a:p>
                      <a:r>
                        <a:rPr lang="en-GB" sz="800" dirty="0"/>
                        <a:t>Level 5 Camera 2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Obj_cam_2_lvl5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3  which is camera zone 2.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B1F2BB4E-2D60-2EBE-FE04-FCBC6395F8A5}"/>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821351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08E55-890D-ED74-BDA8-7BEBDF0B266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01D46EA-3DD9-624B-4704-AD54586A8FDC}"/>
              </a:ext>
            </a:extLst>
          </p:cNvPr>
          <p:cNvGraphicFramePr>
            <a:graphicFrameLocks noGrp="1"/>
          </p:cNvGraphicFramePr>
          <p:nvPr/>
        </p:nvGraphicFramePr>
        <p:xfrm>
          <a:off x="114301" y="391885"/>
          <a:ext cx="10874827" cy="434158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64.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Level 1 Camera 3 Button trigger</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Obj_cam_3</a:t>
                      </a:r>
                    </a:p>
                    <a:p>
                      <a:endParaRPr lang="en-GB" sz="800" dirty="0"/>
                    </a:p>
                  </a:txBody>
                  <a:tcPr/>
                </a:tc>
                <a:tc>
                  <a:txBody>
                    <a:bodyPr/>
                    <a:lstStyle/>
                    <a:p>
                      <a:r>
                        <a:rPr lang="en-GB" sz="800" dirty="0"/>
                        <a:t>When the mouse left click button is pressed, it will utilize the camera change script for level 1 to change the cameras position to view </a:t>
                      </a:r>
                      <a:r>
                        <a:rPr lang="en-GB" sz="800" dirty="0" err="1"/>
                        <a:t>global.current_zone</a:t>
                      </a:r>
                      <a:r>
                        <a:rPr lang="en-GB" sz="800" dirty="0"/>
                        <a:t>  = 4  which is camera zone 3. It will also play the button click SFX upon clicking  the left mouse button.</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65.</a:t>
                      </a:r>
                    </a:p>
                  </a:txBody>
                  <a:tcPr/>
                </a:tc>
                <a:tc>
                  <a:txBody>
                    <a:bodyPr/>
                    <a:lstStyle/>
                    <a:p>
                      <a:r>
                        <a:rPr lang="en-GB" sz="800" dirty="0"/>
                        <a:t>Level 2 Camera 3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Obj_cam_3_lvl2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4  which is camera zone 3.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66.</a:t>
                      </a:r>
                    </a:p>
                  </a:txBody>
                  <a:tcPr/>
                </a:tc>
                <a:tc>
                  <a:txBody>
                    <a:bodyPr/>
                    <a:lstStyle/>
                    <a:p>
                      <a:r>
                        <a:rPr lang="en-GB" sz="800" dirty="0"/>
                        <a:t>Level 3 Camera 3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Obj_cam_3_lvl3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4  which is camera zone 3.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67.</a:t>
                      </a:r>
                    </a:p>
                  </a:txBody>
                  <a:tcPr/>
                </a:tc>
                <a:tc>
                  <a:txBody>
                    <a:bodyPr/>
                    <a:lstStyle/>
                    <a:p>
                      <a:r>
                        <a:rPr lang="en-GB" sz="800" dirty="0"/>
                        <a:t>Level 4 Camera 3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Obj_cam_3_lvl4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4  which is camera zone 3.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68.</a:t>
                      </a:r>
                    </a:p>
                  </a:txBody>
                  <a:tcPr/>
                </a:tc>
                <a:tc>
                  <a:txBody>
                    <a:bodyPr/>
                    <a:lstStyle/>
                    <a:p>
                      <a:r>
                        <a:rPr lang="en-GB" sz="800" dirty="0"/>
                        <a:t>Level 5 Camera 3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Obj_cam_3_lvl5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4  which is camera zone 3.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67BA3D89-FDD3-FB3B-80F8-638E74D01F64}"/>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867753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94D43-BA9C-62D7-9C7C-5E1B3BE9540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E8C87FE-23E7-1CBB-50D9-2ACAC4D0A216}"/>
              </a:ext>
            </a:extLst>
          </p:cNvPr>
          <p:cNvGraphicFramePr>
            <a:graphicFrameLocks noGrp="1"/>
          </p:cNvGraphicFramePr>
          <p:nvPr/>
        </p:nvGraphicFramePr>
        <p:xfrm>
          <a:off x="114301" y="391885"/>
          <a:ext cx="10874827" cy="434158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69.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Level 1 Camera 4 Button trigger</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Obj_cam_4</a:t>
                      </a:r>
                    </a:p>
                    <a:p>
                      <a:endParaRPr lang="en-GB" sz="800" dirty="0"/>
                    </a:p>
                  </a:txBody>
                  <a:tcPr/>
                </a:tc>
                <a:tc>
                  <a:txBody>
                    <a:bodyPr/>
                    <a:lstStyle/>
                    <a:p>
                      <a:r>
                        <a:rPr lang="en-GB" sz="800" dirty="0"/>
                        <a:t>When the mouse left click button is pressed, it will utilize the camera change script for level 1 to change the cameras position to view </a:t>
                      </a:r>
                      <a:r>
                        <a:rPr lang="en-GB" sz="800" dirty="0" err="1"/>
                        <a:t>global.current_zone</a:t>
                      </a:r>
                      <a:r>
                        <a:rPr lang="en-GB" sz="800" dirty="0"/>
                        <a:t>  = 5  which is camera zone 4. It will also play the button click SFX upon clicking  the left mouse button.</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70.</a:t>
                      </a:r>
                    </a:p>
                  </a:txBody>
                  <a:tcPr/>
                </a:tc>
                <a:tc>
                  <a:txBody>
                    <a:bodyPr/>
                    <a:lstStyle/>
                    <a:p>
                      <a:r>
                        <a:rPr lang="en-GB" sz="800" dirty="0"/>
                        <a:t>Level 2 Camera 4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Obj_cam_4_lvl2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5  which is camera zone 4.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71.</a:t>
                      </a:r>
                    </a:p>
                  </a:txBody>
                  <a:tcPr/>
                </a:tc>
                <a:tc>
                  <a:txBody>
                    <a:bodyPr/>
                    <a:lstStyle/>
                    <a:p>
                      <a:r>
                        <a:rPr lang="en-GB" sz="800" dirty="0"/>
                        <a:t>Level 3 Camera 4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Obj_cam_4_lvl3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5  which is camera zone 4.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72.</a:t>
                      </a:r>
                    </a:p>
                  </a:txBody>
                  <a:tcPr/>
                </a:tc>
                <a:tc>
                  <a:txBody>
                    <a:bodyPr/>
                    <a:lstStyle/>
                    <a:p>
                      <a:r>
                        <a:rPr lang="en-GB" sz="800" dirty="0"/>
                        <a:t>Level 4 Camera 4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Obj_cam_4_lvl4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5  which is camera zone 4.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73.</a:t>
                      </a:r>
                    </a:p>
                  </a:txBody>
                  <a:tcPr/>
                </a:tc>
                <a:tc>
                  <a:txBody>
                    <a:bodyPr/>
                    <a:lstStyle/>
                    <a:p>
                      <a:r>
                        <a:rPr lang="en-GB" sz="800" dirty="0"/>
                        <a:t>Level 5 Camera 4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Obj_cam_4_lvl5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5  which is camera zone 4.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8FE1C7E6-07C7-9E93-5F46-9F42373FEE2A}"/>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3624281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66AE4-90DA-9DA9-9558-2D9FC656C12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7E80575-0300-EB6A-9DEE-5B2C7937A95A}"/>
              </a:ext>
            </a:extLst>
          </p:cNvPr>
          <p:cNvGraphicFramePr>
            <a:graphicFrameLocks noGrp="1"/>
          </p:cNvGraphicFramePr>
          <p:nvPr/>
        </p:nvGraphicFramePr>
        <p:xfrm>
          <a:off x="114301" y="391885"/>
          <a:ext cx="10874827" cy="434158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74.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Level 1 Camera 5 Button trigger</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Obj_cam_5</a:t>
                      </a:r>
                    </a:p>
                    <a:p>
                      <a:endParaRPr lang="en-GB" sz="800" dirty="0"/>
                    </a:p>
                  </a:txBody>
                  <a:tcPr/>
                </a:tc>
                <a:tc>
                  <a:txBody>
                    <a:bodyPr/>
                    <a:lstStyle/>
                    <a:p>
                      <a:r>
                        <a:rPr lang="en-GB" sz="800" dirty="0"/>
                        <a:t>When the mouse left click button is pressed, it will utilize the camera change script for level 1 to change the cameras position to view </a:t>
                      </a:r>
                      <a:r>
                        <a:rPr lang="en-GB" sz="800" dirty="0" err="1"/>
                        <a:t>global.current_zone</a:t>
                      </a:r>
                      <a:r>
                        <a:rPr lang="en-GB" sz="800" dirty="0"/>
                        <a:t>  = 6  which is camera zone 5. It will also play the button click SFX upon clicking  the left mouse button.</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75.</a:t>
                      </a:r>
                    </a:p>
                  </a:txBody>
                  <a:tcPr/>
                </a:tc>
                <a:tc>
                  <a:txBody>
                    <a:bodyPr/>
                    <a:lstStyle/>
                    <a:p>
                      <a:r>
                        <a:rPr lang="en-GB" sz="800" dirty="0"/>
                        <a:t>Level 2 Camera 5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Obj_cam_5_lvl2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6  which is camera zone 5.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76.</a:t>
                      </a:r>
                    </a:p>
                  </a:txBody>
                  <a:tcPr/>
                </a:tc>
                <a:tc>
                  <a:txBody>
                    <a:bodyPr/>
                    <a:lstStyle/>
                    <a:p>
                      <a:r>
                        <a:rPr lang="en-GB" sz="800" dirty="0"/>
                        <a:t>Level 3 Camera 5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Obj_cam_5_lvl3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6  which is camera zone 5.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77.</a:t>
                      </a:r>
                    </a:p>
                  </a:txBody>
                  <a:tcPr/>
                </a:tc>
                <a:tc>
                  <a:txBody>
                    <a:bodyPr/>
                    <a:lstStyle/>
                    <a:p>
                      <a:r>
                        <a:rPr lang="en-GB" sz="800" dirty="0"/>
                        <a:t>Level 4 Camera 5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Obj_cam_5_lvl4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6  which is camera zone 5.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78.</a:t>
                      </a:r>
                    </a:p>
                  </a:txBody>
                  <a:tcPr/>
                </a:tc>
                <a:tc>
                  <a:txBody>
                    <a:bodyPr/>
                    <a:lstStyle/>
                    <a:p>
                      <a:r>
                        <a:rPr lang="en-GB" sz="800" dirty="0"/>
                        <a:t>Level 5 Camera 5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Obj_cam_5_lvl5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6  which is camera zone 5.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D35DEA05-3702-0E0C-377A-18029DBB0DB5}"/>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299798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E98E9-F349-58AC-5654-696B1BE915C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D525263-CC97-BE46-C400-5CDE4580D22C}"/>
              </a:ext>
            </a:extLst>
          </p:cNvPr>
          <p:cNvGraphicFramePr>
            <a:graphicFrameLocks noGrp="1"/>
          </p:cNvGraphicFramePr>
          <p:nvPr/>
        </p:nvGraphicFramePr>
        <p:xfrm>
          <a:off x="114301" y="391885"/>
          <a:ext cx="10874827" cy="434158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79.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Level 1 Camera 6 Button trigger</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Obj_cam_6</a:t>
                      </a:r>
                    </a:p>
                    <a:p>
                      <a:endParaRPr lang="en-GB" sz="800" dirty="0"/>
                    </a:p>
                  </a:txBody>
                  <a:tcPr/>
                </a:tc>
                <a:tc>
                  <a:txBody>
                    <a:bodyPr/>
                    <a:lstStyle/>
                    <a:p>
                      <a:r>
                        <a:rPr lang="en-GB" sz="800" dirty="0"/>
                        <a:t>When the mouse left click button is pressed, it will utilize the camera change script for level 1 to change the cameras position to view </a:t>
                      </a:r>
                      <a:r>
                        <a:rPr lang="en-GB" sz="800" dirty="0" err="1"/>
                        <a:t>global.current_zone</a:t>
                      </a:r>
                      <a:r>
                        <a:rPr lang="en-GB" sz="800" dirty="0"/>
                        <a:t>  = 7  which is camera zone 6. It will also play the button click SFX upon clicking  the left mouse button.</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80.</a:t>
                      </a:r>
                    </a:p>
                  </a:txBody>
                  <a:tcPr/>
                </a:tc>
                <a:tc>
                  <a:txBody>
                    <a:bodyPr/>
                    <a:lstStyle/>
                    <a:p>
                      <a:r>
                        <a:rPr lang="en-GB" sz="800" dirty="0"/>
                        <a:t>Level 2 Camera 6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Obj_cam_6_lvl2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7  which is camera zone 6.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81.</a:t>
                      </a:r>
                    </a:p>
                  </a:txBody>
                  <a:tcPr/>
                </a:tc>
                <a:tc>
                  <a:txBody>
                    <a:bodyPr/>
                    <a:lstStyle/>
                    <a:p>
                      <a:r>
                        <a:rPr lang="en-GB" sz="800" dirty="0"/>
                        <a:t>Level 3 Camera 6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Obj_cam_6_lvl3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7  which is camera zone 6.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82.</a:t>
                      </a:r>
                    </a:p>
                  </a:txBody>
                  <a:tcPr/>
                </a:tc>
                <a:tc>
                  <a:txBody>
                    <a:bodyPr/>
                    <a:lstStyle/>
                    <a:p>
                      <a:r>
                        <a:rPr lang="en-GB" sz="800" dirty="0"/>
                        <a:t>Level 4 Camera 6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Obj_cam_6_lvl4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7  which is camera zone 6.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83.</a:t>
                      </a:r>
                    </a:p>
                  </a:txBody>
                  <a:tcPr/>
                </a:tc>
                <a:tc>
                  <a:txBody>
                    <a:bodyPr/>
                    <a:lstStyle/>
                    <a:p>
                      <a:r>
                        <a:rPr lang="en-GB" sz="800" dirty="0"/>
                        <a:t>Level 5 Camera 6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Obj_cam_6_lvl5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7  which is camera zone 6.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1D5397F7-8898-130C-229A-8C463AE83E58}"/>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41859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ADFF7-AB0A-F9AF-8284-54E53A604FF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BD4BC2-08CC-1C79-A44F-E12621C47937}"/>
              </a:ext>
            </a:extLst>
          </p:cNvPr>
          <p:cNvGraphicFramePr>
            <a:graphicFrameLocks noGrp="1"/>
          </p:cNvGraphicFramePr>
          <p:nvPr/>
        </p:nvGraphicFramePr>
        <p:xfrm>
          <a:off x="114301" y="391885"/>
          <a:ext cx="10874827" cy="434158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84.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Level 1 Camera 7 Button trigger</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Obj_cam_7</a:t>
                      </a:r>
                    </a:p>
                    <a:p>
                      <a:endParaRPr lang="en-GB" sz="800" dirty="0"/>
                    </a:p>
                  </a:txBody>
                  <a:tcPr/>
                </a:tc>
                <a:tc>
                  <a:txBody>
                    <a:bodyPr/>
                    <a:lstStyle/>
                    <a:p>
                      <a:r>
                        <a:rPr lang="en-GB" sz="800" dirty="0"/>
                        <a:t>When the mouse left click button is pressed, it will utilize the camera change script for level 1 to change the cameras position to view </a:t>
                      </a:r>
                      <a:r>
                        <a:rPr lang="en-GB" sz="800" dirty="0" err="1"/>
                        <a:t>global.current_zone</a:t>
                      </a:r>
                      <a:r>
                        <a:rPr lang="en-GB" sz="800" dirty="0"/>
                        <a:t>  = 8  which is camera zone 7. It will also play the button click SFX upon clicking  the left mouse button.</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85.</a:t>
                      </a:r>
                    </a:p>
                  </a:txBody>
                  <a:tcPr/>
                </a:tc>
                <a:tc>
                  <a:txBody>
                    <a:bodyPr/>
                    <a:lstStyle/>
                    <a:p>
                      <a:r>
                        <a:rPr lang="en-GB" sz="800" dirty="0"/>
                        <a:t>Level 2 Camera 7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Obj_cam_7_lvl2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8  which is camera zone 7.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86.</a:t>
                      </a:r>
                    </a:p>
                  </a:txBody>
                  <a:tcPr/>
                </a:tc>
                <a:tc>
                  <a:txBody>
                    <a:bodyPr/>
                    <a:lstStyle/>
                    <a:p>
                      <a:r>
                        <a:rPr lang="en-GB" sz="800" dirty="0"/>
                        <a:t>Level 3 Camera 7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Obj_cam_7_lvl3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8  which is camera zone 7.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87.</a:t>
                      </a:r>
                    </a:p>
                  </a:txBody>
                  <a:tcPr/>
                </a:tc>
                <a:tc>
                  <a:txBody>
                    <a:bodyPr/>
                    <a:lstStyle/>
                    <a:p>
                      <a:r>
                        <a:rPr lang="en-GB" sz="800" dirty="0"/>
                        <a:t>Level 4 Camera 7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Obj_cam_7_lvl4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8  which is camera zone 7.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88.</a:t>
                      </a:r>
                    </a:p>
                  </a:txBody>
                  <a:tcPr/>
                </a:tc>
                <a:tc>
                  <a:txBody>
                    <a:bodyPr/>
                    <a:lstStyle/>
                    <a:p>
                      <a:r>
                        <a:rPr lang="en-GB" sz="800" dirty="0"/>
                        <a:t>Level 5 Camera 7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Obj_cam_7_lvl5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8  which is camera zone 7.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75FBECCC-A55D-7F37-EBE7-80BEE1830AFA}"/>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244807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99668-4BE5-1DF4-FCF6-C2712F40831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E435255-4932-942D-93E9-EAC48DEBB32D}"/>
              </a:ext>
            </a:extLst>
          </p:cNvPr>
          <p:cNvGraphicFramePr>
            <a:graphicFrameLocks noGrp="1"/>
          </p:cNvGraphicFramePr>
          <p:nvPr/>
        </p:nvGraphicFramePr>
        <p:xfrm>
          <a:off x="114301" y="391885"/>
          <a:ext cx="10874827" cy="434158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89.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Level 1 Camera 8 Button trigger</a:t>
                      </a:r>
                    </a:p>
                  </a:txBody>
                  <a:tcPr/>
                </a:tc>
                <a:tc>
                  <a:txBody>
                    <a:bodyPr/>
                    <a:lstStyle/>
                    <a:p>
                      <a:r>
                        <a:rPr lang="en-GB" sz="800" dirty="0"/>
                        <a:t>Rm_level1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Obj_cam_8</a:t>
                      </a:r>
                    </a:p>
                    <a:p>
                      <a:endParaRPr lang="en-GB" sz="800" dirty="0"/>
                    </a:p>
                  </a:txBody>
                  <a:tcPr/>
                </a:tc>
                <a:tc>
                  <a:txBody>
                    <a:bodyPr/>
                    <a:lstStyle/>
                    <a:p>
                      <a:r>
                        <a:rPr lang="en-GB" sz="800" dirty="0"/>
                        <a:t>When the mouse left click button is pressed, it will utilize the camera change script for level 1 to change the cameras position to view </a:t>
                      </a:r>
                      <a:r>
                        <a:rPr lang="en-GB" sz="800" dirty="0" err="1"/>
                        <a:t>global.current_zone</a:t>
                      </a:r>
                      <a:r>
                        <a:rPr lang="en-GB" sz="800" dirty="0"/>
                        <a:t>  = 9  which is camera zone 8. It will also play the button click SFX upon clicking  the left mouse button.</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90.</a:t>
                      </a:r>
                    </a:p>
                  </a:txBody>
                  <a:tcPr/>
                </a:tc>
                <a:tc>
                  <a:txBody>
                    <a:bodyPr/>
                    <a:lstStyle/>
                    <a:p>
                      <a:r>
                        <a:rPr lang="en-GB" sz="800" dirty="0"/>
                        <a:t>Level 2 Camera 8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Obj_cam_8_lvl2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9  which is camera zone 8.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91.</a:t>
                      </a:r>
                    </a:p>
                  </a:txBody>
                  <a:tcPr/>
                </a:tc>
                <a:tc>
                  <a:txBody>
                    <a:bodyPr/>
                    <a:lstStyle/>
                    <a:p>
                      <a:r>
                        <a:rPr lang="en-GB" sz="800" dirty="0"/>
                        <a:t>Level 3 Camera 8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Obj_cam_8_lvl3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9  which is camera zone 8.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92.</a:t>
                      </a:r>
                    </a:p>
                  </a:txBody>
                  <a:tcPr/>
                </a:tc>
                <a:tc>
                  <a:txBody>
                    <a:bodyPr/>
                    <a:lstStyle/>
                    <a:p>
                      <a:r>
                        <a:rPr lang="en-GB" sz="800" dirty="0"/>
                        <a:t>Level 4 Camera 8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Obj_cam_8_lvl4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9  which is camera zone 8.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93.</a:t>
                      </a:r>
                    </a:p>
                  </a:txBody>
                  <a:tcPr/>
                </a:tc>
                <a:tc>
                  <a:txBody>
                    <a:bodyPr/>
                    <a:lstStyle/>
                    <a:p>
                      <a:r>
                        <a:rPr lang="en-GB" sz="800" dirty="0"/>
                        <a:t>Level 5 Camera 8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Obj_cam_8_lvl5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9  which is camera zone 8.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A6B157ED-0515-2BB2-B272-92EE12D9F47A}"/>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439713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C01A6-3CE8-D984-4664-5F1F51F22AC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D18892-1FE8-269A-D8DF-4F250168A2E1}"/>
              </a:ext>
            </a:extLst>
          </p:cNvPr>
          <p:cNvGraphicFramePr>
            <a:graphicFrameLocks noGrp="1"/>
          </p:cNvGraphicFramePr>
          <p:nvPr/>
        </p:nvGraphicFramePr>
        <p:xfrm>
          <a:off x="114301" y="391885"/>
          <a:ext cx="10874827" cy="37624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94.</a:t>
                      </a:r>
                    </a:p>
                  </a:txBody>
                  <a:tcPr/>
                </a:tc>
                <a:tc>
                  <a:txBody>
                    <a:bodyPr/>
                    <a:lstStyle/>
                    <a:p>
                      <a:r>
                        <a:rPr lang="en-GB" sz="800" dirty="0"/>
                        <a:t>Level 2 Camera 9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Obj_cam_9_lvl2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10  which is camera zone 9.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95.</a:t>
                      </a:r>
                    </a:p>
                  </a:txBody>
                  <a:tcPr/>
                </a:tc>
                <a:tc>
                  <a:txBody>
                    <a:bodyPr/>
                    <a:lstStyle/>
                    <a:p>
                      <a:r>
                        <a:rPr lang="en-GB" sz="800" dirty="0"/>
                        <a:t>Level 3 Camera 9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Obj_cam_9_lvl3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10  which is camera zone 9.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96.</a:t>
                      </a:r>
                    </a:p>
                  </a:txBody>
                  <a:tcPr/>
                </a:tc>
                <a:tc>
                  <a:txBody>
                    <a:bodyPr/>
                    <a:lstStyle/>
                    <a:p>
                      <a:r>
                        <a:rPr lang="en-GB" sz="800" dirty="0"/>
                        <a:t>Level 4 Camera 9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Obj_cam_9_lvl4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10  which is camera zone 9.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97.</a:t>
                      </a:r>
                    </a:p>
                  </a:txBody>
                  <a:tcPr/>
                </a:tc>
                <a:tc>
                  <a:txBody>
                    <a:bodyPr/>
                    <a:lstStyle/>
                    <a:p>
                      <a:r>
                        <a:rPr lang="en-GB" sz="800" dirty="0"/>
                        <a:t>Level 5 Camera 9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Obj_cam_9_lvl5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10  which is camera zone 9.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28CCEBDE-8BA9-5310-49FA-DD3C14908574}"/>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3900985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B0FC9-97A1-4E49-8BD7-029236CEBB5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F46893D-8234-E3AA-53F3-78D0C66A369F}"/>
              </a:ext>
            </a:extLst>
          </p:cNvPr>
          <p:cNvGraphicFramePr>
            <a:graphicFrameLocks noGrp="1"/>
          </p:cNvGraphicFramePr>
          <p:nvPr/>
        </p:nvGraphicFramePr>
        <p:xfrm>
          <a:off x="114301" y="391885"/>
          <a:ext cx="10874827" cy="37624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98.</a:t>
                      </a:r>
                    </a:p>
                  </a:txBody>
                  <a:tcPr/>
                </a:tc>
                <a:tc>
                  <a:txBody>
                    <a:bodyPr/>
                    <a:lstStyle/>
                    <a:p>
                      <a:r>
                        <a:rPr lang="en-GB" sz="800" dirty="0"/>
                        <a:t>Level 2 Camera 10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Obj_cam_10_lvl2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11  which is camera zone 10.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99.</a:t>
                      </a:r>
                    </a:p>
                  </a:txBody>
                  <a:tcPr/>
                </a:tc>
                <a:tc>
                  <a:txBody>
                    <a:bodyPr/>
                    <a:lstStyle/>
                    <a:p>
                      <a:r>
                        <a:rPr lang="en-GB" sz="800" dirty="0"/>
                        <a:t>Level 3 Camera 10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Obj_cam_10_lvl3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11  which is camera zone 10.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100.</a:t>
                      </a:r>
                    </a:p>
                  </a:txBody>
                  <a:tcPr/>
                </a:tc>
                <a:tc>
                  <a:txBody>
                    <a:bodyPr/>
                    <a:lstStyle/>
                    <a:p>
                      <a:r>
                        <a:rPr lang="en-GB" sz="800" dirty="0"/>
                        <a:t>Level 4 Camera 10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Obj_cam_10_lvl4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11  which is camera zone 10.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101.</a:t>
                      </a:r>
                    </a:p>
                  </a:txBody>
                  <a:tcPr/>
                </a:tc>
                <a:tc>
                  <a:txBody>
                    <a:bodyPr/>
                    <a:lstStyle/>
                    <a:p>
                      <a:r>
                        <a:rPr lang="en-GB" sz="800" dirty="0"/>
                        <a:t>Level 5 Camera 10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Obj_cam_10_lvl5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11  which is camera zone 10.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87BB83A1-D8DB-3D8C-32AB-1BE770F45350}"/>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2441375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45210-7793-5E09-0DD3-DB6BCF8A74E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B92E914-309C-2955-6EE9-AD5D4594CF94}"/>
              </a:ext>
            </a:extLst>
          </p:cNvPr>
          <p:cNvGraphicFramePr>
            <a:graphicFrameLocks noGrp="1"/>
          </p:cNvGraphicFramePr>
          <p:nvPr/>
        </p:nvGraphicFramePr>
        <p:xfrm>
          <a:off x="114301" y="391885"/>
          <a:ext cx="10874827" cy="37624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102.</a:t>
                      </a:r>
                    </a:p>
                  </a:txBody>
                  <a:tcPr/>
                </a:tc>
                <a:tc>
                  <a:txBody>
                    <a:bodyPr/>
                    <a:lstStyle/>
                    <a:p>
                      <a:r>
                        <a:rPr lang="en-GB" sz="800" dirty="0"/>
                        <a:t>Level 2 Camera 11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Obj_cam_11_lvl2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12  which is camera zone 11.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103.</a:t>
                      </a:r>
                    </a:p>
                  </a:txBody>
                  <a:tcPr/>
                </a:tc>
                <a:tc>
                  <a:txBody>
                    <a:bodyPr/>
                    <a:lstStyle/>
                    <a:p>
                      <a:r>
                        <a:rPr lang="en-GB" sz="800" dirty="0"/>
                        <a:t>Level 3 Camera 11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Obj_cam_11_lvl3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12  which is camera zone 11.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104.</a:t>
                      </a:r>
                    </a:p>
                  </a:txBody>
                  <a:tcPr/>
                </a:tc>
                <a:tc>
                  <a:txBody>
                    <a:bodyPr/>
                    <a:lstStyle/>
                    <a:p>
                      <a:r>
                        <a:rPr lang="en-GB" sz="800" dirty="0"/>
                        <a:t>Level 4 Camera 11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Obj_cam_11_lvl4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12  which is camera zone 11.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105.</a:t>
                      </a:r>
                    </a:p>
                  </a:txBody>
                  <a:tcPr/>
                </a:tc>
                <a:tc>
                  <a:txBody>
                    <a:bodyPr/>
                    <a:lstStyle/>
                    <a:p>
                      <a:r>
                        <a:rPr lang="en-GB" sz="800" dirty="0"/>
                        <a:t>Level 5 Camera 11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Obj_cam_11_lvl5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12  which is camera zone 11.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493BF314-0C6B-D610-B3EE-92F7D123FDBE}"/>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3903614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BC0D-FE09-2167-36CE-510862E127A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E4C27CA-D78A-D004-996C-6C26A0BE5F1F}"/>
              </a:ext>
            </a:extLst>
          </p:cNvPr>
          <p:cNvGraphicFramePr>
            <a:graphicFrameLocks noGrp="1"/>
          </p:cNvGraphicFramePr>
          <p:nvPr/>
        </p:nvGraphicFramePr>
        <p:xfrm>
          <a:off x="114301" y="391885"/>
          <a:ext cx="10874827" cy="37624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106.</a:t>
                      </a:r>
                    </a:p>
                  </a:txBody>
                  <a:tcPr/>
                </a:tc>
                <a:tc>
                  <a:txBody>
                    <a:bodyPr/>
                    <a:lstStyle/>
                    <a:p>
                      <a:r>
                        <a:rPr lang="en-GB" sz="800" dirty="0"/>
                        <a:t>Level 2 Camera 12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Obj_cam_12_lvl2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13  which is camera zone 12.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107.</a:t>
                      </a:r>
                    </a:p>
                  </a:txBody>
                  <a:tcPr/>
                </a:tc>
                <a:tc>
                  <a:txBody>
                    <a:bodyPr/>
                    <a:lstStyle/>
                    <a:p>
                      <a:r>
                        <a:rPr lang="en-GB" sz="800" dirty="0"/>
                        <a:t>Level 3 Camera 12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Obj_cam_12_lvl3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13  which is camera zone 12.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108.</a:t>
                      </a:r>
                    </a:p>
                  </a:txBody>
                  <a:tcPr/>
                </a:tc>
                <a:tc>
                  <a:txBody>
                    <a:bodyPr/>
                    <a:lstStyle/>
                    <a:p>
                      <a:r>
                        <a:rPr lang="en-GB" sz="800" dirty="0"/>
                        <a:t>Level 4 Camera 12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Obj_cam_12_lvl4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13  which is camera zone 12.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109.</a:t>
                      </a:r>
                    </a:p>
                  </a:txBody>
                  <a:tcPr/>
                </a:tc>
                <a:tc>
                  <a:txBody>
                    <a:bodyPr/>
                    <a:lstStyle/>
                    <a:p>
                      <a:r>
                        <a:rPr lang="en-GB" sz="800" dirty="0"/>
                        <a:t>Level 5 Camera 12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Obj_cam_12_lvl5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13  which is camera zone 12.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B435EBE8-7991-87B6-95F0-430187D351F4}"/>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61298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22EC8-8E1F-A8E4-2946-0CDC250E517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2DF33C0-D4DE-FDE9-673E-7652378884DB}"/>
              </a:ext>
            </a:extLst>
          </p:cNvPr>
          <p:cNvGraphicFramePr>
            <a:graphicFrameLocks noGrp="1"/>
          </p:cNvGraphicFramePr>
          <p:nvPr/>
        </p:nvGraphicFramePr>
        <p:xfrm>
          <a:off x="114301" y="391885"/>
          <a:ext cx="10874827" cy="37624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110.</a:t>
                      </a:r>
                    </a:p>
                  </a:txBody>
                  <a:tcPr/>
                </a:tc>
                <a:tc>
                  <a:txBody>
                    <a:bodyPr/>
                    <a:lstStyle/>
                    <a:p>
                      <a:r>
                        <a:rPr lang="en-GB" sz="800" dirty="0"/>
                        <a:t>Level 2 Camera 13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Obj_cam_13_lvl2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14  which is camera zone 13.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111.</a:t>
                      </a:r>
                    </a:p>
                  </a:txBody>
                  <a:tcPr/>
                </a:tc>
                <a:tc>
                  <a:txBody>
                    <a:bodyPr/>
                    <a:lstStyle/>
                    <a:p>
                      <a:r>
                        <a:rPr lang="en-GB" sz="800" dirty="0"/>
                        <a:t>Level 3 Camera 13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Obj_cam_13_lvl3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14  which is camera zone 13.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112.</a:t>
                      </a:r>
                    </a:p>
                  </a:txBody>
                  <a:tcPr/>
                </a:tc>
                <a:tc>
                  <a:txBody>
                    <a:bodyPr/>
                    <a:lstStyle/>
                    <a:p>
                      <a:r>
                        <a:rPr lang="en-GB" sz="800" dirty="0"/>
                        <a:t>Level 4 Camera 13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Obj_cam_13_lvl4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14  which is camera zone 13.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113.</a:t>
                      </a:r>
                    </a:p>
                  </a:txBody>
                  <a:tcPr/>
                </a:tc>
                <a:tc>
                  <a:txBody>
                    <a:bodyPr/>
                    <a:lstStyle/>
                    <a:p>
                      <a:r>
                        <a:rPr lang="en-GB" sz="800" dirty="0"/>
                        <a:t>Level 5 Camera 13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Obj_cam_13_lvl5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14  which is camera zone 13.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r>
                        <a:rPr lang="en-GB" sz="800" dirty="0"/>
                        <a:t> </a:t>
                      </a:r>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EE82A7DB-474B-271F-3B20-86F2BCF043EF}"/>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414380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A8FF1-52EE-DB2E-EAFA-F2349BDEC22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1CBC6B7-C8FD-EECF-EF4D-3A264C231DED}"/>
              </a:ext>
            </a:extLst>
          </p:cNvPr>
          <p:cNvGraphicFramePr>
            <a:graphicFrameLocks noGrp="1"/>
          </p:cNvGraphicFramePr>
          <p:nvPr/>
        </p:nvGraphicFramePr>
        <p:xfrm>
          <a:off x="114301" y="391885"/>
          <a:ext cx="10874827" cy="376246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114.</a:t>
                      </a:r>
                    </a:p>
                  </a:txBody>
                  <a:tcPr/>
                </a:tc>
                <a:tc>
                  <a:txBody>
                    <a:bodyPr/>
                    <a:lstStyle/>
                    <a:p>
                      <a:r>
                        <a:rPr lang="en-GB" sz="800" dirty="0"/>
                        <a:t>Level 2 Camera 14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Obj_cam_14_lvl2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2 to change the cameras position to view </a:t>
                      </a:r>
                      <a:r>
                        <a:rPr lang="en-GB" sz="800" dirty="0" err="1"/>
                        <a:t>global.current_zone</a:t>
                      </a:r>
                      <a:r>
                        <a:rPr lang="en-GB" sz="800" dirty="0"/>
                        <a:t>  = 15  which is camera zone 14.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115.</a:t>
                      </a:r>
                    </a:p>
                  </a:txBody>
                  <a:tcPr/>
                </a:tc>
                <a:tc>
                  <a:txBody>
                    <a:bodyPr/>
                    <a:lstStyle/>
                    <a:p>
                      <a:r>
                        <a:rPr lang="en-GB" sz="800" dirty="0"/>
                        <a:t>Level 3 Camera 14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Obj_cam_14_lvl3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15  which is camera zone 14.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r>
                        <a:rPr lang="en-GB" sz="800" dirty="0"/>
                        <a:t> </a:t>
                      </a:r>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116.</a:t>
                      </a:r>
                    </a:p>
                  </a:txBody>
                  <a:tcPr/>
                </a:tc>
                <a:tc>
                  <a:txBody>
                    <a:bodyPr/>
                    <a:lstStyle/>
                    <a:p>
                      <a:r>
                        <a:rPr lang="en-GB" sz="800" dirty="0"/>
                        <a:t>Level 4 Camera 14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Obj_cam_14_lvl4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15  which is camera zone 14.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117.</a:t>
                      </a:r>
                    </a:p>
                  </a:txBody>
                  <a:tcPr/>
                </a:tc>
                <a:tc>
                  <a:txBody>
                    <a:bodyPr/>
                    <a:lstStyle/>
                    <a:p>
                      <a:r>
                        <a:rPr lang="en-GB" sz="800" dirty="0"/>
                        <a:t>Level 5 Camera 14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Obj_cam_14_lvl5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15  which is camera zone 14.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F0AF59DB-C887-67AD-A8DA-ADFA1ED966FB}"/>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994759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6F87F-DA70-01D6-33A7-2B855C34985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63C286C-16EA-9A29-BD01-CFD35098E1B0}"/>
              </a:ext>
            </a:extLst>
          </p:cNvPr>
          <p:cNvGraphicFramePr>
            <a:graphicFrameLocks noGrp="1"/>
          </p:cNvGraphicFramePr>
          <p:nvPr/>
        </p:nvGraphicFramePr>
        <p:xfrm>
          <a:off x="114301" y="391885"/>
          <a:ext cx="10874827" cy="293950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118.</a:t>
                      </a:r>
                    </a:p>
                  </a:txBody>
                  <a:tcPr/>
                </a:tc>
                <a:tc>
                  <a:txBody>
                    <a:bodyPr/>
                    <a:lstStyle/>
                    <a:p>
                      <a:r>
                        <a:rPr lang="en-GB" sz="800" dirty="0"/>
                        <a:t>Level 3 Camera 15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Obj_cam_15_lvl3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16  which is camera zone 15.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119.</a:t>
                      </a:r>
                    </a:p>
                  </a:txBody>
                  <a:tcPr/>
                </a:tc>
                <a:tc>
                  <a:txBody>
                    <a:bodyPr/>
                    <a:lstStyle/>
                    <a:p>
                      <a:r>
                        <a:rPr lang="en-GB" sz="800" dirty="0"/>
                        <a:t>Level 4 Camera 15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Obj_cam_15_lvl4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16  which is camera zone 15.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120.</a:t>
                      </a:r>
                    </a:p>
                  </a:txBody>
                  <a:tcPr/>
                </a:tc>
                <a:tc>
                  <a:txBody>
                    <a:bodyPr/>
                    <a:lstStyle/>
                    <a:p>
                      <a:r>
                        <a:rPr lang="en-GB" sz="800" dirty="0"/>
                        <a:t>Level 5 Camera 15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Obj_cam_15_lvl5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16  which is camera zone 15.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1455CE5D-81E0-131F-751B-11FD2C5F9EBA}"/>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731449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52DB3-89AA-22B0-66C2-E92AB543249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12C6EC1-016D-7EA8-6BF1-D1E02C1E2CAD}"/>
              </a:ext>
            </a:extLst>
          </p:cNvPr>
          <p:cNvGraphicFramePr>
            <a:graphicFrameLocks noGrp="1"/>
          </p:cNvGraphicFramePr>
          <p:nvPr/>
        </p:nvGraphicFramePr>
        <p:xfrm>
          <a:off x="114301" y="391885"/>
          <a:ext cx="10874827" cy="293950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121.</a:t>
                      </a:r>
                    </a:p>
                  </a:txBody>
                  <a:tcPr/>
                </a:tc>
                <a:tc>
                  <a:txBody>
                    <a:bodyPr/>
                    <a:lstStyle/>
                    <a:p>
                      <a:r>
                        <a:rPr lang="en-GB" sz="800" dirty="0"/>
                        <a:t>Level 3 Camera 16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Obj_cam_16_lvl3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17  which is camera zone 16.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122.</a:t>
                      </a:r>
                    </a:p>
                  </a:txBody>
                  <a:tcPr/>
                </a:tc>
                <a:tc>
                  <a:txBody>
                    <a:bodyPr/>
                    <a:lstStyle/>
                    <a:p>
                      <a:r>
                        <a:rPr lang="en-GB" sz="800" dirty="0"/>
                        <a:t>Level 4 Camera 16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Obj_cam_16_lvl4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17  which is camera zone 16.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123.</a:t>
                      </a:r>
                    </a:p>
                  </a:txBody>
                  <a:tcPr/>
                </a:tc>
                <a:tc>
                  <a:txBody>
                    <a:bodyPr/>
                    <a:lstStyle/>
                    <a:p>
                      <a:r>
                        <a:rPr lang="en-GB" sz="800" dirty="0"/>
                        <a:t>Level 5 Camera 16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Obj_cam_16_lvl5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17  which is camera zone 16.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96D91E03-6A84-2A69-6733-5D0CE39AFB68}"/>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25994885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10809-C564-43F8-EF90-2987356222D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2C07393-1C10-64B7-692C-5F3941BE48D5}"/>
              </a:ext>
            </a:extLst>
          </p:cNvPr>
          <p:cNvGraphicFramePr>
            <a:graphicFrameLocks noGrp="1"/>
          </p:cNvGraphicFramePr>
          <p:nvPr/>
        </p:nvGraphicFramePr>
        <p:xfrm>
          <a:off x="114301" y="391885"/>
          <a:ext cx="10874827" cy="293950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124.</a:t>
                      </a:r>
                    </a:p>
                  </a:txBody>
                  <a:tcPr/>
                </a:tc>
                <a:tc>
                  <a:txBody>
                    <a:bodyPr/>
                    <a:lstStyle/>
                    <a:p>
                      <a:r>
                        <a:rPr lang="en-GB" sz="800" dirty="0"/>
                        <a:t>Level 3 Camera 17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Obj_cam_17_lvl3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18  which is camera zone 17.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125.</a:t>
                      </a:r>
                    </a:p>
                  </a:txBody>
                  <a:tcPr/>
                </a:tc>
                <a:tc>
                  <a:txBody>
                    <a:bodyPr/>
                    <a:lstStyle/>
                    <a:p>
                      <a:r>
                        <a:rPr lang="en-GB" sz="800" dirty="0"/>
                        <a:t>Level 4 Camera 17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Obj_cam_17_lvl4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18  which is camera zone 17.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126.</a:t>
                      </a:r>
                    </a:p>
                  </a:txBody>
                  <a:tcPr/>
                </a:tc>
                <a:tc>
                  <a:txBody>
                    <a:bodyPr/>
                    <a:lstStyle/>
                    <a:p>
                      <a:r>
                        <a:rPr lang="en-GB" sz="800" dirty="0"/>
                        <a:t>Level 5 Camera 17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Obj_cam_17_lvl5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18  which is camera zone 17.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82B78C50-155D-67C7-99BF-38BD60A73538}"/>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0362936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38CF4-3584-A5AA-1098-835963201623}"/>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165F9C3-B4D9-BE03-B884-485ADCC68249}"/>
              </a:ext>
            </a:extLst>
          </p:cNvPr>
          <p:cNvGraphicFramePr>
            <a:graphicFrameLocks noGrp="1"/>
          </p:cNvGraphicFramePr>
          <p:nvPr/>
        </p:nvGraphicFramePr>
        <p:xfrm>
          <a:off x="114301" y="391885"/>
          <a:ext cx="10874827" cy="293950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127.</a:t>
                      </a:r>
                    </a:p>
                  </a:txBody>
                  <a:tcPr/>
                </a:tc>
                <a:tc>
                  <a:txBody>
                    <a:bodyPr/>
                    <a:lstStyle/>
                    <a:p>
                      <a:r>
                        <a:rPr lang="en-GB" sz="800" dirty="0"/>
                        <a:t>Level 3 Camera 18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Obj_cam_18_lvl3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19  which is camera zone 18.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128.</a:t>
                      </a:r>
                    </a:p>
                  </a:txBody>
                  <a:tcPr/>
                </a:tc>
                <a:tc>
                  <a:txBody>
                    <a:bodyPr/>
                    <a:lstStyle/>
                    <a:p>
                      <a:r>
                        <a:rPr lang="en-GB" sz="800" dirty="0"/>
                        <a:t>Level 4 Camera 18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Obj_cam_18_lvl4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19  which is camera zone 18.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129.</a:t>
                      </a:r>
                    </a:p>
                  </a:txBody>
                  <a:tcPr/>
                </a:tc>
                <a:tc>
                  <a:txBody>
                    <a:bodyPr/>
                    <a:lstStyle/>
                    <a:p>
                      <a:r>
                        <a:rPr lang="en-GB" sz="800" dirty="0"/>
                        <a:t>Level 5 Camera 18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Obj_cam_18_lvl5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19  which is camera zone 18.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EEEFD194-4BAC-3ABE-F865-5DF9E25D5861}"/>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197097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76C82-B08C-BF15-8D74-91DCA6CB073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C492DC7-BA80-8C9E-2165-B9DD8DEE1C9B}"/>
              </a:ext>
            </a:extLst>
          </p:cNvPr>
          <p:cNvGraphicFramePr>
            <a:graphicFrameLocks noGrp="1"/>
          </p:cNvGraphicFramePr>
          <p:nvPr/>
        </p:nvGraphicFramePr>
        <p:xfrm>
          <a:off x="114301" y="391885"/>
          <a:ext cx="10874827" cy="293950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130.</a:t>
                      </a:r>
                    </a:p>
                  </a:txBody>
                  <a:tcPr/>
                </a:tc>
                <a:tc>
                  <a:txBody>
                    <a:bodyPr/>
                    <a:lstStyle/>
                    <a:p>
                      <a:r>
                        <a:rPr lang="en-GB" sz="800" dirty="0"/>
                        <a:t>Level 3 Camera 19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Obj_cam_19_lvl3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20  which is camera zone 19.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131.</a:t>
                      </a:r>
                    </a:p>
                  </a:txBody>
                  <a:tcPr/>
                </a:tc>
                <a:tc>
                  <a:txBody>
                    <a:bodyPr/>
                    <a:lstStyle/>
                    <a:p>
                      <a:r>
                        <a:rPr lang="en-GB" sz="800" dirty="0"/>
                        <a:t>Level 4 Camera 19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Obj_cam_19_lvl4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20  which is camera zone 19.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132.</a:t>
                      </a:r>
                    </a:p>
                  </a:txBody>
                  <a:tcPr/>
                </a:tc>
                <a:tc>
                  <a:txBody>
                    <a:bodyPr/>
                    <a:lstStyle/>
                    <a:p>
                      <a:r>
                        <a:rPr lang="en-GB" sz="800" dirty="0"/>
                        <a:t>Level 5 Camera 19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Obj_cam_19_lvl5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20  which is camera zone 19.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r>
                        <a:rPr lang="en-GB" sz="800" dirty="0"/>
                        <a:t> </a:t>
                      </a:r>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42AC0392-1944-C0CC-B2E8-FB4D80E8F822}"/>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264174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FEFC3-E26B-4D72-FA92-D269E1EA645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75592A8-5F04-4B5A-AE52-E330BA1E62AA}"/>
              </a:ext>
            </a:extLst>
          </p:cNvPr>
          <p:cNvGraphicFramePr>
            <a:graphicFrameLocks noGrp="1"/>
          </p:cNvGraphicFramePr>
          <p:nvPr/>
        </p:nvGraphicFramePr>
        <p:xfrm>
          <a:off x="114301" y="391885"/>
          <a:ext cx="10874827" cy="2939503"/>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133.</a:t>
                      </a:r>
                    </a:p>
                  </a:txBody>
                  <a:tcPr/>
                </a:tc>
                <a:tc>
                  <a:txBody>
                    <a:bodyPr/>
                    <a:lstStyle/>
                    <a:p>
                      <a:r>
                        <a:rPr lang="en-GB" sz="800" dirty="0"/>
                        <a:t>Level 3 Camera 20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Obj_cam_20_lvl3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3 to change the cameras position to view </a:t>
                      </a:r>
                      <a:r>
                        <a:rPr lang="en-GB" sz="800" dirty="0" err="1"/>
                        <a:t>global.current_zone</a:t>
                      </a:r>
                      <a:r>
                        <a:rPr lang="en-GB" sz="800" dirty="0"/>
                        <a:t>  = 21  which is camera zone 20.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134.</a:t>
                      </a:r>
                    </a:p>
                  </a:txBody>
                  <a:tcPr/>
                </a:tc>
                <a:tc>
                  <a:txBody>
                    <a:bodyPr/>
                    <a:lstStyle/>
                    <a:p>
                      <a:r>
                        <a:rPr lang="en-GB" sz="800" dirty="0"/>
                        <a:t>Level 4 Camera 20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Obj_cam_20_lvl4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4 to change the cameras position to view </a:t>
                      </a:r>
                      <a:r>
                        <a:rPr lang="en-GB" sz="800" dirty="0" err="1"/>
                        <a:t>global.current_zone</a:t>
                      </a:r>
                      <a:r>
                        <a:rPr lang="en-GB" sz="800" dirty="0"/>
                        <a:t>  = 21  which is camera zone 20.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135.</a:t>
                      </a:r>
                    </a:p>
                  </a:txBody>
                  <a:tcPr/>
                </a:tc>
                <a:tc>
                  <a:txBody>
                    <a:bodyPr/>
                    <a:lstStyle/>
                    <a:p>
                      <a:r>
                        <a:rPr lang="en-GB" sz="800" dirty="0"/>
                        <a:t>Level 5 Camera 20 Button trigger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Obj_cam_20_lvl5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mouse left click button is pressed, it will utilize the camera change script for level 5 to change the cameras position to view </a:t>
                      </a:r>
                      <a:r>
                        <a:rPr lang="en-GB" sz="800" dirty="0" err="1"/>
                        <a:t>global.current_zone</a:t>
                      </a:r>
                      <a:r>
                        <a:rPr lang="en-GB" sz="800" dirty="0"/>
                        <a:t>  = 21  which is camera zone 20. It will also play the button click SFX upon clicking  the left mouse button. Also,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bl>
          </a:graphicData>
        </a:graphic>
      </p:graphicFrame>
      <p:sp>
        <p:nvSpPr>
          <p:cNvPr id="2" name="TextBox 1">
            <a:extLst>
              <a:ext uri="{FF2B5EF4-FFF2-40B4-BE49-F238E27FC236}">
                <a16:creationId xmlns:a16="http://schemas.microsoft.com/office/drawing/2014/main" id="{0860658A-0480-C701-A6D8-946598336DC9}"/>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graphicFrame>
        <p:nvGraphicFramePr>
          <p:cNvPr id="3" name="Table 2">
            <a:extLst>
              <a:ext uri="{FF2B5EF4-FFF2-40B4-BE49-F238E27FC236}">
                <a16:creationId xmlns:a16="http://schemas.microsoft.com/office/drawing/2014/main" id="{B5E13AFA-7448-DE5F-AF66-500F4B7BE373}"/>
              </a:ext>
            </a:extLst>
          </p:cNvPr>
          <p:cNvGraphicFramePr>
            <a:graphicFrameLocks noGrp="1"/>
          </p:cNvGraphicFramePr>
          <p:nvPr/>
        </p:nvGraphicFramePr>
        <p:xfrm>
          <a:off x="114301" y="3429000"/>
          <a:ext cx="10874827" cy="3257726"/>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3918857">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136.</a:t>
                      </a:r>
                    </a:p>
                  </a:txBody>
                  <a:tcPr/>
                </a:tc>
                <a:tc>
                  <a:txBody>
                    <a:bodyPr/>
                    <a:lstStyle/>
                    <a:p>
                      <a:r>
                        <a:rPr lang="en-GB" sz="800" dirty="0"/>
                        <a:t>Open Camera Level 1</a:t>
                      </a:r>
                    </a:p>
                  </a:txBody>
                  <a:tcPr/>
                </a:tc>
                <a:tc>
                  <a:txBody>
                    <a:bodyPr/>
                    <a:lstStyle/>
                    <a:p>
                      <a:r>
                        <a:rPr lang="en-GB" sz="800" dirty="0"/>
                        <a:t>Rm_level1</a:t>
                      </a:r>
                    </a:p>
                  </a:txBody>
                  <a:tcPr/>
                </a:tc>
                <a:tc>
                  <a:txBody>
                    <a:bodyPr/>
                    <a:lstStyle/>
                    <a:p>
                      <a:r>
                        <a:rPr lang="en-GB" sz="800" dirty="0" err="1"/>
                        <a:t>Obj_open_camera</a:t>
                      </a:r>
                      <a:endParaRPr lang="en-GB" sz="800" dirty="0"/>
                    </a:p>
                  </a:txBody>
                  <a:tcPr/>
                </a:tc>
                <a:tc>
                  <a:txBody>
                    <a:bodyPr/>
                    <a:lstStyle/>
                    <a:p>
                      <a:pPr marL="0" indent="0">
                        <a:buNone/>
                      </a:pPr>
                      <a:r>
                        <a:rPr lang="en-GB" sz="800" dirty="0"/>
                        <a:t>When C Key is pressed the open camera SFX plays and it utilizes level 1 change camera script to change the position of the camera in the room to the Camera Hud zone.</a:t>
                      </a:r>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137.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Open Camera Level 2</a:t>
                      </a:r>
                    </a:p>
                    <a:p>
                      <a:endParaRPr lang="en-GB" sz="800" dirty="0"/>
                    </a:p>
                  </a:txBody>
                  <a:tcPr/>
                </a:tc>
                <a:tc>
                  <a:txBody>
                    <a:bodyPr/>
                    <a:lstStyle/>
                    <a:p>
                      <a:r>
                        <a:rPr lang="en-GB" sz="800" dirty="0"/>
                        <a:t>Rm_level2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Obj_open_camera_lvl2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C Key is pressed the open camera SFX plays, it utilizes level 2 change camera script to change the position of the camera in the room to the Camera Hud zone, and it sets the camera view size to X = 967 by Y = 684.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138.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Open Camera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Obj_open_camera_lvl3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C Key is pressed the open camera SFX plays, it utilizes level 3 change camera script to change the position of the camera in the room to the Camera Hud zone, and it sets the camera view size to X = 967 by Y = 684.</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r h="470623">
                <a:tc>
                  <a:txBody>
                    <a:bodyPr/>
                    <a:lstStyle/>
                    <a:p>
                      <a:r>
                        <a:rPr lang="en-GB" sz="800" dirty="0"/>
                        <a:t>139.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Open Camera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Obj_open_camera_lvl4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C Key is pressed the open camera SFX plays, it utilizes level 4 change camera script to change the position of the camera in the room to the Camera Hud zone, and it sets the camera view size to X = 967 by Y = 684.</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629050625"/>
                  </a:ext>
                </a:extLst>
              </a:tr>
              <a:tr h="470623">
                <a:tc>
                  <a:txBody>
                    <a:bodyPr/>
                    <a:lstStyle/>
                    <a:p>
                      <a:r>
                        <a:rPr lang="en-GB" sz="800" dirty="0"/>
                        <a:t>140.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Open Camera Level 1</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Obj_open_camera_lvl5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C Key is pressed the open camera SFX plays, it utilizes level 5 change camera script to change the position of the camera in the room to the Camera Hud zone, and it sets the camera view size to X = 967 by Y = 684.</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21679193"/>
                  </a:ext>
                </a:extLst>
              </a:tr>
            </a:tbl>
          </a:graphicData>
        </a:graphic>
      </p:graphicFrame>
    </p:spTree>
    <p:extLst>
      <p:ext uri="{BB962C8B-B14F-4D97-AF65-F5344CB8AC3E}">
        <p14:creationId xmlns:p14="http://schemas.microsoft.com/office/powerpoint/2010/main" val="1954761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97D893A-A824-9898-8220-1A33958F2F15}"/>
              </a:ext>
            </a:extLst>
          </p:cNvPr>
          <p:cNvGraphicFramePr>
            <a:graphicFrameLocks noGrp="1"/>
          </p:cNvGraphicFramePr>
          <p:nvPr/>
        </p:nvGraphicFramePr>
        <p:xfrm>
          <a:off x="106136" y="661131"/>
          <a:ext cx="10874827" cy="3257726"/>
        </p:xfrm>
        <a:graphic>
          <a:graphicData uri="http://schemas.openxmlformats.org/drawingml/2006/table">
            <a:tbl>
              <a:tblPr firstRow="1" bandRow="1">
                <a:tableStyleId>{5C22544A-7EE6-4342-B048-85BDC9FD1C3A}</a:tableStyleId>
              </a:tblPr>
              <a:tblGrid>
                <a:gridCol w="469086">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499804">
                  <a:extLst>
                    <a:ext uri="{9D8B030D-6E8A-4147-A177-3AD203B41FA5}">
                      <a16:colId xmlns:a16="http://schemas.microsoft.com/office/drawing/2014/main" val="132880537"/>
                    </a:ext>
                  </a:extLst>
                </a:gridCol>
                <a:gridCol w="4131129">
                  <a:extLst>
                    <a:ext uri="{9D8B030D-6E8A-4147-A177-3AD203B41FA5}">
                      <a16:colId xmlns:a16="http://schemas.microsoft.com/office/drawing/2014/main" val="786884226"/>
                    </a:ext>
                  </a:extLst>
                </a:gridCol>
                <a:gridCol w="2514599">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0623">
                <a:tc>
                  <a:txBody>
                    <a:bodyPr/>
                    <a:lstStyle/>
                    <a:p>
                      <a:r>
                        <a:rPr lang="en-GB" sz="800" dirty="0"/>
                        <a:t>136.</a:t>
                      </a:r>
                    </a:p>
                  </a:txBody>
                  <a:tcPr/>
                </a:tc>
                <a:tc>
                  <a:txBody>
                    <a:bodyPr/>
                    <a:lstStyle/>
                    <a:p>
                      <a:r>
                        <a:rPr lang="en-GB" sz="800" dirty="0"/>
                        <a:t>Close Camera Level 1</a:t>
                      </a:r>
                    </a:p>
                  </a:txBody>
                  <a:tcPr/>
                </a:tc>
                <a:tc>
                  <a:txBody>
                    <a:bodyPr/>
                    <a:lstStyle/>
                    <a:p>
                      <a:r>
                        <a:rPr lang="en-GB" sz="800" dirty="0"/>
                        <a:t>Rm_level1</a:t>
                      </a:r>
                    </a:p>
                  </a:txBody>
                  <a:tcPr/>
                </a:tc>
                <a:tc>
                  <a:txBody>
                    <a:bodyPr/>
                    <a:lstStyle/>
                    <a:p>
                      <a:r>
                        <a:rPr lang="en-GB" sz="800" dirty="0" err="1"/>
                        <a:t>Obj_exit_camera</a:t>
                      </a:r>
                      <a:endParaRPr lang="en-GB" sz="800" dirty="0"/>
                    </a:p>
                  </a:txBody>
                  <a:tcPr/>
                </a:tc>
                <a:tc>
                  <a:txBody>
                    <a:bodyPr/>
                    <a:lstStyle/>
                    <a:p>
                      <a:pPr marL="0" indent="0">
                        <a:buNone/>
                      </a:pPr>
                      <a:r>
                        <a:rPr lang="en-GB" sz="800" dirty="0"/>
                        <a:t>When V Key is pressed the closed camera SFX plays </a:t>
                      </a:r>
                      <a:r>
                        <a:rPr lang="en-GB" sz="800" b="0" dirty="0"/>
                        <a:t>then it triggers alarm [0] </a:t>
                      </a:r>
                      <a:r>
                        <a:rPr lang="en-GB" sz="800" b="1" dirty="0"/>
                        <a:t>(for delayed return) </a:t>
                      </a:r>
                      <a:r>
                        <a:rPr lang="en-GB" sz="800" dirty="0"/>
                        <a:t>which utilizes level 1 change camera script to change the position of the camera in the room back to the main office.</a:t>
                      </a:r>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137.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Close Camera Level 2</a:t>
                      </a:r>
                    </a:p>
                    <a:p>
                      <a:endParaRPr lang="en-GB" sz="800" dirty="0"/>
                    </a:p>
                  </a:txBody>
                  <a:tcPr/>
                </a:tc>
                <a:tc>
                  <a:txBody>
                    <a:bodyPr/>
                    <a:lstStyle/>
                    <a:p>
                      <a:r>
                        <a:rPr lang="en-GB" sz="800" dirty="0"/>
                        <a:t>Rm_level2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Obj_exit_camera_lvl2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V Key is pressed the closed camera SFX plays </a:t>
                      </a:r>
                      <a:r>
                        <a:rPr lang="en-GB" sz="800" b="0" dirty="0"/>
                        <a:t>then it triggers alarm [0] </a:t>
                      </a:r>
                      <a:r>
                        <a:rPr lang="en-GB" sz="800" b="1" dirty="0"/>
                        <a:t>(for delayed return) </a:t>
                      </a:r>
                      <a:r>
                        <a:rPr lang="en-GB" sz="800" dirty="0"/>
                        <a:t>, which utilizes level 2 change camera script to change the position of the camera in the room back to the main office, and it sets the camera view size to X = 400 by Y = 225.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1562323603"/>
                  </a:ext>
                </a:extLst>
              </a:tr>
              <a:tr h="470623">
                <a:tc>
                  <a:txBody>
                    <a:bodyPr/>
                    <a:lstStyle/>
                    <a:p>
                      <a:r>
                        <a:rPr lang="en-GB" sz="800" dirty="0"/>
                        <a:t>138.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Close Camera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Obj_exit_camera_lvl3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V Key is pressed the closed camera SFX plays </a:t>
                      </a:r>
                      <a:r>
                        <a:rPr lang="en-GB" sz="800" b="0" dirty="0"/>
                        <a:t>then it triggers alarm [0] </a:t>
                      </a:r>
                      <a:r>
                        <a:rPr lang="en-GB" sz="800" b="1" dirty="0"/>
                        <a:t>(for delayed return)</a:t>
                      </a:r>
                      <a:r>
                        <a:rPr lang="en-GB" sz="800" dirty="0"/>
                        <a:t>, which utilizes level 3 change camera script to change the position of the camera in the room back to the main office, and it sets the camera view size to X = 400 by Y = 225.</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32488199"/>
                  </a:ext>
                </a:extLst>
              </a:tr>
              <a:tr h="470623">
                <a:tc>
                  <a:txBody>
                    <a:bodyPr/>
                    <a:lstStyle/>
                    <a:p>
                      <a:r>
                        <a:rPr lang="en-GB" sz="800" dirty="0"/>
                        <a:t>139.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Close Camera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Obj_exit_camera_lvl4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V Key is pressed the closed camera SFX plays </a:t>
                      </a:r>
                      <a:r>
                        <a:rPr lang="en-GB" sz="800" b="0" dirty="0"/>
                        <a:t>then it triggers alarm [0] </a:t>
                      </a:r>
                      <a:r>
                        <a:rPr lang="en-GB" sz="800" b="1" dirty="0"/>
                        <a:t>(for delayed return)</a:t>
                      </a:r>
                      <a:r>
                        <a:rPr lang="en-GB" sz="800" dirty="0"/>
                        <a:t>, which utilizes level 4 change camera script to change the position of the camera in the room back to the main office, and it sets the camera view size to X = 400 by Y = 225.</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629050625"/>
                  </a:ext>
                </a:extLst>
              </a:tr>
              <a:tr h="470623">
                <a:tc>
                  <a:txBody>
                    <a:bodyPr/>
                    <a:lstStyle/>
                    <a:p>
                      <a:r>
                        <a:rPr lang="en-GB" sz="800" dirty="0"/>
                        <a:t>140.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Close Camera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Obj_exit_camera_lvl5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V Key is pressed the closed camera SFX plays </a:t>
                      </a:r>
                      <a:r>
                        <a:rPr lang="en-GB" sz="800" b="0" dirty="0"/>
                        <a:t>then it triggers alarm [0] </a:t>
                      </a:r>
                      <a:r>
                        <a:rPr lang="en-GB" sz="800" b="1" dirty="0"/>
                        <a:t>(for delayed return)</a:t>
                      </a:r>
                      <a:r>
                        <a:rPr lang="en-GB" sz="800" dirty="0"/>
                        <a:t>, which utilizes level 5 change camera script to change the position of the camera in the room back to the main office, and it sets the camera view size to X = 400 by Y = 225.</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3521679193"/>
                  </a:ext>
                </a:extLst>
              </a:tr>
            </a:tbl>
          </a:graphicData>
        </a:graphic>
      </p:graphicFrame>
      <p:sp>
        <p:nvSpPr>
          <p:cNvPr id="5" name="TextBox 4">
            <a:extLst>
              <a:ext uri="{FF2B5EF4-FFF2-40B4-BE49-F238E27FC236}">
                <a16:creationId xmlns:a16="http://schemas.microsoft.com/office/drawing/2014/main" id="{57AC9656-7EA1-B4EA-F9F3-8EAEE96C39F7}"/>
              </a:ext>
            </a:extLst>
          </p:cNvPr>
          <p:cNvSpPr txBox="1"/>
          <p:nvPr/>
        </p:nvSpPr>
        <p:spPr>
          <a:xfrm>
            <a:off x="0" y="22553"/>
            <a:ext cx="1810111" cy="369332"/>
          </a:xfrm>
          <a:prstGeom prst="rect">
            <a:avLst/>
          </a:prstGeom>
          <a:noFill/>
        </p:spPr>
        <p:txBody>
          <a:bodyPr wrap="none" rtlCol="0">
            <a:spAutoFit/>
          </a:bodyPr>
          <a:lstStyle/>
          <a:p>
            <a:r>
              <a:rPr lang="en-GB" dirty="0"/>
              <a:t>Camera Buttons</a:t>
            </a:r>
          </a:p>
        </p:txBody>
      </p:sp>
    </p:spTree>
    <p:extLst>
      <p:ext uri="{BB962C8B-B14F-4D97-AF65-F5344CB8AC3E}">
        <p14:creationId xmlns:p14="http://schemas.microsoft.com/office/powerpoint/2010/main" val="647573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9B935-011B-742D-4858-7E214A8DC59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5CA25A9-B62D-6ADD-D3C9-4D097BE69029}"/>
              </a:ext>
            </a:extLst>
          </p:cNvPr>
          <p:cNvGraphicFramePr>
            <a:graphicFrameLocks noGrp="1"/>
          </p:cNvGraphicFramePr>
          <p:nvPr/>
        </p:nvGraphicFramePr>
        <p:xfrm>
          <a:off x="114301" y="391885"/>
          <a:ext cx="11204571" cy="3262265"/>
        </p:xfrm>
        <a:graphic>
          <a:graphicData uri="http://schemas.openxmlformats.org/drawingml/2006/table">
            <a:tbl>
              <a:tblPr firstRow="1" bandRow="1">
                <a:tableStyleId>{5C22544A-7EE6-4342-B048-85BDC9FD1C3A}</a:tableStyleId>
              </a:tblPr>
              <a:tblGrid>
                <a:gridCol w="798830">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752897">
                  <a:extLst>
                    <a:ext uri="{9D8B030D-6E8A-4147-A177-3AD203B41FA5}">
                      <a16:colId xmlns:a16="http://schemas.microsoft.com/office/drawing/2014/main" val="132880537"/>
                    </a:ext>
                  </a:extLst>
                </a:gridCol>
                <a:gridCol w="3665764">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5162">
                <a:tc>
                  <a:txBody>
                    <a:bodyPr/>
                    <a:lstStyle/>
                    <a:p>
                      <a:r>
                        <a:rPr lang="en-GB" sz="800" dirty="0"/>
                        <a:t>141.</a:t>
                      </a:r>
                    </a:p>
                  </a:txBody>
                  <a:tcPr/>
                </a:tc>
                <a:tc>
                  <a:txBody>
                    <a:bodyPr/>
                    <a:lstStyle/>
                    <a:p>
                      <a:r>
                        <a:rPr lang="en-GB" sz="800" dirty="0"/>
                        <a:t>Move to Left Door Up-close zone level 1</a:t>
                      </a:r>
                    </a:p>
                  </a:txBody>
                  <a:tcPr/>
                </a:tc>
                <a:tc>
                  <a:txBody>
                    <a:bodyPr/>
                    <a:lstStyle/>
                    <a:p>
                      <a:r>
                        <a:rPr lang="en-GB" sz="800" dirty="0"/>
                        <a:t>Rm_level1</a:t>
                      </a:r>
                    </a:p>
                  </a:txBody>
                  <a:tcPr/>
                </a:tc>
                <a:tc>
                  <a:txBody>
                    <a:bodyPr/>
                    <a:lstStyle/>
                    <a:p>
                      <a:r>
                        <a:rPr lang="en-GB" sz="800" dirty="0" err="1"/>
                        <a:t>Obj_move_button_left_door</a:t>
                      </a:r>
                      <a:endParaRPr lang="en-GB" sz="800" dirty="0"/>
                    </a:p>
                  </a:txBody>
                  <a:tcPr/>
                </a:tc>
                <a:tc>
                  <a:txBody>
                    <a:bodyPr/>
                    <a:lstStyle/>
                    <a:p>
                      <a:r>
                        <a:rPr lang="en-GB" sz="800" dirty="0"/>
                        <a:t>When the player left clicks on the left door move button in the main office, just like the camera buttons, it utilizes the level 1 camera change script to change the camera view to left door up-close zone.</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142.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Left Door Up-close zone level 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Obj_move_button_left_door_lvl2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left door move button in the main office, just like the camera buttons, it utilizes the level 2 camera change script to change the camera view to left door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143.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Left Door Up-close zone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Obj_move_button_left_door_lvl3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left door move button in the main office, just like the camera buttons, it utilizes the level 3 camera change script to change the camera view to left door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144.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Left Door Up-close zone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Obj_move_button_left_door_lvl4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left door move button in the main office, just like the camera buttons, it utilizes the level 4 camera change script to change the camera view to left door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931270710"/>
                  </a:ext>
                </a:extLst>
              </a:tr>
              <a:tr h="470623">
                <a:tc>
                  <a:txBody>
                    <a:bodyPr/>
                    <a:lstStyle/>
                    <a:p>
                      <a:r>
                        <a:rPr lang="en-GB" sz="800" dirty="0"/>
                        <a:t>145.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Left Door Up-close zone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Obj_move_button_left_door_lvl5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left door move button in the main office, just like the camera buttons, it utilizes the level 5 camera change script to change the camera view to left door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983487539"/>
                  </a:ext>
                </a:extLst>
              </a:tr>
            </a:tbl>
          </a:graphicData>
        </a:graphic>
      </p:graphicFrame>
      <p:sp>
        <p:nvSpPr>
          <p:cNvPr id="2" name="TextBox 1">
            <a:extLst>
              <a:ext uri="{FF2B5EF4-FFF2-40B4-BE49-F238E27FC236}">
                <a16:creationId xmlns:a16="http://schemas.microsoft.com/office/drawing/2014/main" id="{B6FA3FCF-1FD7-5E98-9D4E-911E7A0E2EA9}"/>
              </a:ext>
            </a:extLst>
          </p:cNvPr>
          <p:cNvSpPr txBox="1"/>
          <p:nvPr/>
        </p:nvSpPr>
        <p:spPr>
          <a:xfrm>
            <a:off x="0" y="22553"/>
            <a:ext cx="3103222" cy="369332"/>
          </a:xfrm>
          <a:prstGeom prst="rect">
            <a:avLst/>
          </a:prstGeom>
          <a:noFill/>
        </p:spPr>
        <p:txBody>
          <a:bodyPr wrap="none" rtlCol="0">
            <a:spAutoFit/>
          </a:bodyPr>
          <a:lstStyle/>
          <a:p>
            <a:r>
              <a:rPr lang="en-GB" dirty="0"/>
              <a:t>Door/vent Movement Buttons</a:t>
            </a:r>
          </a:p>
        </p:txBody>
      </p:sp>
    </p:spTree>
    <p:extLst>
      <p:ext uri="{BB962C8B-B14F-4D97-AF65-F5344CB8AC3E}">
        <p14:creationId xmlns:p14="http://schemas.microsoft.com/office/powerpoint/2010/main" val="194989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37C52-ABA7-F340-FEA5-6CA103D4AFB8}"/>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4BEA82F-5B9B-A5A9-93EE-6C6A6BCAAB14}"/>
              </a:ext>
            </a:extLst>
          </p:cNvPr>
          <p:cNvGraphicFramePr>
            <a:graphicFrameLocks noGrp="1"/>
          </p:cNvGraphicFramePr>
          <p:nvPr/>
        </p:nvGraphicFramePr>
        <p:xfrm>
          <a:off x="114301" y="391885"/>
          <a:ext cx="11204571" cy="3262265"/>
        </p:xfrm>
        <a:graphic>
          <a:graphicData uri="http://schemas.openxmlformats.org/drawingml/2006/table">
            <a:tbl>
              <a:tblPr firstRow="1" bandRow="1">
                <a:tableStyleId>{5C22544A-7EE6-4342-B048-85BDC9FD1C3A}</a:tableStyleId>
              </a:tblPr>
              <a:tblGrid>
                <a:gridCol w="798830">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752897">
                  <a:extLst>
                    <a:ext uri="{9D8B030D-6E8A-4147-A177-3AD203B41FA5}">
                      <a16:colId xmlns:a16="http://schemas.microsoft.com/office/drawing/2014/main" val="132880537"/>
                    </a:ext>
                  </a:extLst>
                </a:gridCol>
                <a:gridCol w="3665764">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5162">
                <a:tc>
                  <a:txBody>
                    <a:bodyPr/>
                    <a:lstStyle/>
                    <a:p>
                      <a:r>
                        <a:rPr lang="en-GB" sz="800" dirty="0"/>
                        <a:t>146.</a:t>
                      </a:r>
                    </a:p>
                  </a:txBody>
                  <a:tcPr/>
                </a:tc>
                <a:tc>
                  <a:txBody>
                    <a:bodyPr/>
                    <a:lstStyle/>
                    <a:p>
                      <a:r>
                        <a:rPr lang="en-GB" sz="800" dirty="0"/>
                        <a:t>Move to Right Door Up-close zone level 1</a:t>
                      </a:r>
                    </a:p>
                  </a:txBody>
                  <a:tcPr/>
                </a:tc>
                <a:tc>
                  <a:txBody>
                    <a:bodyPr/>
                    <a:lstStyle/>
                    <a:p>
                      <a:r>
                        <a:rPr lang="en-GB" sz="800" dirty="0"/>
                        <a:t>Rm_level1</a:t>
                      </a:r>
                    </a:p>
                  </a:txBody>
                  <a:tcPr/>
                </a:tc>
                <a:tc>
                  <a:txBody>
                    <a:bodyPr/>
                    <a:lstStyle/>
                    <a:p>
                      <a:r>
                        <a:rPr lang="en-GB" sz="800" dirty="0" err="1"/>
                        <a:t>Obj_move_button_right_door</a:t>
                      </a:r>
                      <a:endParaRPr lang="en-GB" sz="800" dirty="0"/>
                    </a:p>
                  </a:txBody>
                  <a:tcPr/>
                </a:tc>
                <a:tc>
                  <a:txBody>
                    <a:bodyPr/>
                    <a:lstStyle/>
                    <a:p>
                      <a:r>
                        <a:rPr lang="en-GB" sz="800" dirty="0"/>
                        <a:t>When the player left clicks on the right door move button in the main office, just like the camera buttons, it utilizes the level 1 camera change script to change the camera view to right door up-close zone.</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147.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Right Door Up-close zone level 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Obj_move_button_right_door_lvl2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right door move button in the main office, just like the camera buttons, it utilizes the level 2 camera change script to change the camera view to right door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148.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Right Door Up-close zone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Obj_move_button_right_door_lvl3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right door move button in the main office, just like the camera buttons, it utilizes the level 3 camera change script to change the camera view to right door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149.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Right Door Up-close zone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Obj_move_button_right_door_lvl4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right door move button in the main office, just like the camera buttons, it utilizes the level 4 camera change script to change the camera view to right door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931270710"/>
                  </a:ext>
                </a:extLst>
              </a:tr>
              <a:tr h="470623">
                <a:tc>
                  <a:txBody>
                    <a:bodyPr/>
                    <a:lstStyle/>
                    <a:p>
                      <a:r>
                        <a:rPr lang="en-GB" sz="800" dirty="0"/>
                        <a:t>150.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Right Door Up-close zone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Obj_move_button_right_door_lvl5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right door move button in the main office, just like the camera buttons, it utilizes the level 5 camera change script to change the camera view to right door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983487539"/>
                  </a:ext>
                </a:extLst>
              </a:tr>
            </a:tbl>
          </a:graphicData>
        </a:graphic>
      </p:graphicFrame>
      <p:sp>
        <p:nvSpPr>
          <p:cNvPr id="2" name="TextBox 1">
            <a:extLst>
              <a:ext uri="{FF2B5EF4-FFF2-40B4-BE49-F238E27FC236}">
                <a16:creationId xmlns:a16="http://schemas.microsoft.com/office/drawing/2014/main" id="{D853FF79-D447-1A7C-6417-4FE27A788F60}"/>
              </a:ext>
            </a:extLst>
          </p:cNvPr>
          <p:cNvSpPr txBox="1"/>
          <p:nvPr/>
        </p:nvSpPr>
        <p:spPr>
          <a:xfrm>
            <a:off x="0" y="22553"/>
            <a:ext cx="3103222" cy="369332"/>
          </a:xfrm>
          <a:prstGeom prst="rect">
            <a:avLst/>
          </a:prstGeom>
          <a:noFill/>
        </p:spPr>
        <p:txBody>
          <a:bodyPr wrap="none" rtlCol="0">
            <a:spAutoFit/>
          </a:bodyPr>
          <a:lstStyle/>
          <a:p>
            <a:r>
              <a:rPr lang="en-GB" dirty="0"/>
              <a:t>Door/vent Movement Buttons</a:t>
            </a:r>
          </a:p>
        </p:txBody>
      </p:sp>
    </p:spTree>
    <p:extLst>
      <p:ext uri="{BB962C8B-B14F-4D97-AF65-F5344CB8AC3E}">
        <p14:creationId xmlns:p14="http://schemas.microsoft.com/office/powerpoint/2010/main" val="33918666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FEDE5-DB3E-7924-F314-B76A8BD3FD8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32979DB-12A8-AE8D-6D3C-D67BEC161570}"/>
              </a:ext>
            </a:extLst>
          </p:cNvPr>
          <p:cNvGraphicFramePr>
            <a:graphicFrameLocks noGrp="1"/>
          </p:cNvGraphicFramePr>
          <p:nvPr/>
        </p:nvGraphicFramePr>
        <p:xfrm>
          <a:off x="114301" y="391885"/>
          <a:ext cx="11204571" cy="3262265"/>
        </p:xfrm>
        <a:graphic>
          <a:graphicData uri="http://schemas.openxmlformats.org/drawingml/2006/table">
            <a:tbl>
              <a:tblPr firstRow="1" bandRow="1">
                <a:tableStyleId>{5C22544A-7EE6-4342-B048-85BDC9FD1C3A}</a:tableStyleId>
              </a:tblPr>
              <a:tblGrid>
                <a:gridCol w="798830">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752897">
                  <a:extLst>
                    <a:ext uri="{9D8B030D-6E8A-4147-A177-3AD203B41FA5}">
                      <a16:colId xmlns:a16="http://schemas.microsoft.com/office/drawing/2014/main" val="132880537"/>
                    </a:ext>
                  </a:extLst>
                </a:gridCol>
                <a:gridCol w="3665764">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5162">
                <a:tc>
                  <a:txBody>
                    <a:bodyPr/>
                    <a:lstStyle/>
                    <a:p>
                      <a:r>
                        <a:rPr lang="en-GB" sz="800" dirty="0"/>
                        <a:t>151.</a:t>
                      </a:r>
                    </a:p>
                  </a:txBody>
                  <a:tcPr/>
                </a:tc>
                <a:tc>
                  <a:txBody>
                    <a:bodyPr/>
                    <a:lstStyle/>
                    <a:p>
                      <a:r>
                        <a:rPr lang="en-GB" sz="800" dirty="0"/>
                        <a:t>Move to back vent Up-close zone level 1</a:t>
                      </a:r>
                    </a:p>
                  </a:txBody>
                  <a:tcPr/>
                </a:tc>
                <a:tc>
                  <a:txBody>
                    <a:bodyPr/>
                    <a:lstStyle/>
                    <a:p>
                      <a:r>
                        <a:rPr lang="en-GB" sz="800" dirty="0"/>
                        <a:t>Rm_level1</a:t>
                      </a:r>
                    </a:p>
                  </a:txBody>
                  <a:tcPr/>
                </a:tc>
                <a:tc>
                  <a:txBody>
                    <a:bodyPr/>
                    <a:lstStyle/>
                    <a:p>
                      <a:r>
                        <a:rPr lang="en-GB" sz="800" dirty="0" err="1"/>
                        <a:t>Obj_move_button_back_vent</a:t>
                      </a:r>
                      <a:endParaRPr lang="en-GB" sz="800" dirty="0"/>
                    </a:p>
                  </a:txBody>
                  <a:tcPr/>
                </a:tc>
                <a:tc>
                  <a:txBody>
                    <a:bodyPr/>
                    <a:lstStyle/>
                    <a:p>
                      <a:r>
                        <a:rPr lang="en-GB" sz="800" dirty="0"/>
                        <a:t>When the player left clicks on the back vent move button in the main office, just like the camera buttons, it utilizes the level 1 camera change script to change the camera view to back vent up-close zone.</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152.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back vent Up-close zone level 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Obj_move_button_back_vent_lvl2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back vent move button in the main office, just like the camera buttons, it utilizes the level 2 camera change script to change the camera view to back vent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153.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back vent Up-close zone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Obj_move_button_back_vent_lvl3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back vent move button in the main office, just like the camera buttons, it utilizes the level 3 camera change script to change the camera view to back vent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154.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back vent Up-close zone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Obj_move_button_back_vent_lvl4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back vent move button in the main office, just like the camera buttons, it utilizes the level 4 camera change script to change the camera view to back vent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931270710"/>
                  </a:ext>
                </a:extLst>
              </a:tr>
              <a:tr h="470623">
                <a:tc>
                  <a:txBody>
                    <a:bodyPr/>
                    <a:lstStyle/>
                    <a:p>
                      <a:r>
                        <a:rPr lang="en-GB" sz="800" dirty="0"/>
                        <a:t>155.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back vent Up-close zone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Obj_move_button_back_vent_lvl5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back vent move button in the main office, just like the camera buttons, it utilizes the level 5 camera change script to change the camera view to back vent up-close zone.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 </a:t>
                      </a:r>
                    </a:p>
                  </a:txBody>
                  <a:tcPr/>
                </a:tc>
                <a:tc>
                  <a:txBody>
                    <a:bodyPr/>
                    <a:lstStyle/>
                    <a:p>
                      <a:pPr marL="0" indent="0">
                        <a:buNone/>
                      </a:pPr>
                      <a:endParaRPr lang="en-GB" sz="800" dirty="0"/>
                    </a:p>
                  </a:txBody>
                  <a:tcPr/>
                </a:tc>
                <a:extLst>
                  <a:ext uri="{0D108BD9-81ED-4DB2-BD59-A6C34878D82A}">
                    <a16:rowId xmlns:a16="http://schemas.microsoft.com/office/drawing/2014/main" val="2983487539"/>
                  </a:ext>
                </a:extLst>
              </a:tr>
            </a:tbl>
          </a:graphicData>
        </a:graphic>
      </p:graphicFrame>
      <p:sp>
        <p:nvSpPr>
          <p:cNvPr id="2" name="TextBox 1">
            <a:extLst>
              <a:ext uri="{FF2B5EF4-FFF2-40B4-BE49-F238E27FC236}">
                <a16:creationId xmlns:a16="http://schemas.microsoft.com/office/drawing/2014/main" id="{B4E64A02-05D0-0315-A8AA-42B69E91660A}"/>
              </a:ext>
            </a:extLst>
          </p:cNvPr>
          <p:cNvSpPr txBox="1"/>
          <p:nvPr/>
        </p:nvSpPr>
        <p:spPr>
          <a:xfrm>
            <a:off x="0" y="22553"/>
            <a:ext cx="3103222" cy="369332"/>
          </a:xfrm>
          <a:prstGeom prst="rect">
            <a:avLst/>
          </a:prstGeom>
          <a:noFill/>
        </p:spPr>
        <p:txBody>
          <a:bodyPr wrap="none" rtlCol="0">
            <a:spAutoFit/>
          </a:bodyPr>
          <a:lstStyle/>
          <a:p>
            <a:r>
              <a:rPr lang="en-GB" dirty="0"/>
              <a:t>Door/vent Movement Buttons</a:t>
            </a:r>
          </a:p>
        </p:txBody>
      </p:sp>
    </p:spTree>
    <p:extLst>
      <p:ext uri="{BB962C8B-B14F-4D97-AF65-F5344CB8AC3E}">
        <p14:creationId xmlns:p14="http://schemas.microsoft.com/office/powerpoint/2010/main" val="5958937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F7363-EA7D-FE98-67F5-CB70C36C7B6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25C245C-A724-C1AA-803A-8094FA7A99AD}"/>
              </a:ext>
            </a:extLst>
          </p:cNvPr>
          <p:cNvGraphicFramePr>
            <a:graphicFrameLocks noGrp="1"/>
          </p:cNvGraphicFramePr>
          <p:nvPr/>
        </p:nvGraphicFramePr>
        <p:xfrm>
          <a:off x="114301" y="391885"/>
          <a:ext cx="11204571" cy="3262265"/>
        </p:xfrm>
        <a:graphic>
          <a:graphicData uri="http://schemas.openxmlformats.org/drawingml/2006/table">
            <a:tbl>
              <a:tblPr firstRow="1" bandRow="1">
                <a:tableStyleId>{5C22544A-7EE6-4342-B048-85BDC9FD1C3A}</a:tableStyleId>
              </a:tblPr>
              <a:tblGrid>
                <a:gridCol w="798830">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752897">
                  <a:extLst>
                    <a:ext uri="{9D8B030D-6E8A-4147-A177-3AD203B41FA5}">
                      <a16:colId xmlns:a16="http://schemas.microsoft.com/office/drawing/2014/main" val="132880537"/>
                    </a:ext>
                  </a:extLst>
                </a:gridCol>
                <a:gridCol w="3665764">
                  <a:extLst>
                    <a:ext uri="{9D8B030D-6E8A-4147-A177-3AD203B41FA5}">
                      <a16:colId xmlns:a16="http://schemas.microsoft.com/office/drawing/2014/main" val="786884226"/>
                    </a:ext>
                  </a:extLst>
                </a:gridCol>
                <a:gridCol w="2726871">
                  <a:extLst>
                    <a:ext uri="{9D8B030D-6E8A-4147-A177-3AD203B41FA5}">
                      <a16:colId xmlns:a16="http://schemas.microsoft.com/office/drawing/2014/main" val="3328467923"/>
                    </a:ext>
                  </a:extLst>
                </a:gridCol>
              </a:tblGrid>
              <a:tr h="470623">
                <a:tc>
                  <a:txBody>
                    <a:bodyPr/>
                    <a:lstStyle/>
                    <a:p>
                      <a:r>
                        <a:rPr lang="en-GB" sz="800" dirty="0"/>
                        <a:t>Test Number</a:t>
                      </a:r>
                    </a:p>
                  </a:txBody>
                  <a:tcPr/>
                </a:tc>
                <a:tc>
                  <a:txBody>
                    <a:bodyPr/>
                    <a:lstStyle/>
                    <a:p>
                      <a:r>
                        <a:rPr lang="en-GB" sz="800" dirty="0"/>
                        <a:t>Test Type</a:t>
                      </a:r>
                    </a:p>
                  </a:txBody>
                  <a:tcPr/>
                </a:tc>
                <a:tc>
                  <a:txBody>
                    <a:bodyPr/>
                    <a:lstStyle/>
                    <a:p>
                      <a:r>
                        <a:rPr lang="en-GB" sz="800" dirty="0"/>
                        <a:t>Room</a:t>
                      </a:r>
                    </a:p>
                  </a:txBody>
                  <a:tcPr/>
                </a:tc>
                <a:tc>
                  <a:txBody>
                    <a:bodyPr/>
                    <a:lstStyle/>
                    <a:p>
                      <a:r>
                        <a:rPr lang="en-GB" sz="800" dirty="0"/>
                        <a:t>Objects Involved</a:t>
                      </a:r>
                    </a:p>
                  </a:txBody>
                  <a:tcPr/>
                </a:tc>
                <a:tc>
                  <a:txBody>
                    <a:bodyPr/>
                    <a:lstStyle/>
                    <a:p>
                      <a:r>
                        <a:rPr lang="en-GB" sz="800" dirty="0"/>
                        <a:t>Expected Outcome</a:t>
                      </a:r>
                    </a:p>
                  </a:txBody>
                  <a:tcPr/>
                </a:tc>
                <a:tc>
                  <a:txBody>
                    <a:bodyPr/>
                    <a:lstStyle/>
                    <a:p>
                      <a:r>
                        <a:rPr lang="en-GB" sz="800" dirty="0"/>
                        <a:t>Actual Outcome</a:t>
                      </a:r>
                    </a:p>
                  </a:txBody>
                  <a:tcPr/>
                </a:tc>
                <a:extLst>
                  <a:ext uri="{0D108BD9-81ED-4DB2-BD59-A6C34878D82A}">
                    <a16:rowId xmlns:a16="http://schemas.microsoft.com/office/drawing/2014/main" val="1296324342"/>
                  </a:ext>
                </a:extLst>
              </a:tr>
              <a:tr h="475162">
                <a:tc>
                  <a:txBody>
                    <a:bodyPr/>
                    <a:lstStyle/>
                    <a:p>
                      <a:r>
                        <a:rPr lang="en-GB" sz="800" dirty="0"/>
                        <a:t>156.</a:t>
                      </a:r>
                    </a:p>
                  </a:txBody>
                  <a:tcPr/>
                </a:tc>
                <a:tc>
                  <a:txBody>
                    <a:bodyPr/>
                    <a:lstStyle/>
                    <a:p>
                      <a:r>
                        <a:rPr lang="en-GB" sz="800" dirty="0"/>
                        <a:t>Move to front vent Up-close zone level 1</a:t>
                      </a:r>
                    </a:p>
                  </a:txBody>
                  <a:tcPr/>
                </a:tc>
                <a:tc>
                  <a:txBody>
                    <a:bodyPr/>
                    <a:lstStyle/>
                    <a:p>
                      <a:r>
                        <a:rPr lang="en-GB" sz="800" dirty="0"/>
                        <a:t>Rm_level1</a:t>
                      </a:r>
                    </a:p>
                  </a:txBody>
                  <a:tcPr/>
                </a:tc>
                <a:tc>
                  <a:txBody>
                    <a:bodyPr/>
                    <a:lstStyle/>
                    <a:p>
                      <a:r>
                        <a:rPr lang="en-GB" sz="800" dirty="0" err="1"/>
                        <a:t>Obj_move_button_front_vent</a:t>
                      </a:r>
                      <a:endParaRPr lang="en-GB" sz="800" dirty="0"/>
                    </a:p>
                  </a:txBody>
                  <a:tcPr/>
                </a:tc>
                <a:tc>
                  <a:txBody>
                    <a:bodyPr/>
                    <a:lstStyle/>
                    <a:p>
                      <a:r>
                        <a:rPr lang="en-GB" sz="800" dirty="0"/>
                        <a:t>When the player left clicks on the front vent move button in the main office, just like the camera buttons, it utilizes the level 1 camera change script to change the camera view to front vent up-close zone.</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dirty="0"/>
                        <a:t>157.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front vent Up-close zone level 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Obj_move_button_front_vent_lvl2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front vent move button in the main office, just like the camera buttons, it utilizes the level 2 camera change script to change the camera view to front vent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dirty="0"/>
                        <a:t>158.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front vent Up-close zone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Obj_move_button_front_vent_lvl3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front vent move button in the main office, just like the camera buttons, it utilizes the level 3 camera change script to change the camera view to front vent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dirty="0"/>
                        <a:t>159.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front vent Up-close zone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Obj_move_button_front_vent_lvl4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front vent move button in the main office, just like the camera buttons, it utilizes the level 4 camera change script to change the camera view to front vent up-close zone.</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931270710"/>
                  </a:ext>
                </a:extLst>
              </a:tr>
              <a:tr h="470623">
                <a:tc>
                  <a:txBody>
                    <a:bodyPr/>
                    <a:lstStyle/>
                    <a:p>
                      <a:r>
                        <a:rPr lang="en-GB" sz="800" dirty="0"/>
                        <a:t>160.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Move to front vent Up-close zone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Obj_move_button_front_vent_lvl5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front vent move button in the main office, just like the camera buttons, it utilizes the level 5 camera change script to change the camera view front vent  up-close zone.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 </a:t>
                      </a:r>
                    </a:p>
                  </a:txBody>
                  <a:tcPr/>
                </a:tc>
                <a:tc>
                  <a:txBody>
                    <a:bodyPr/>
                    <a:lstStyle/>
                    <a:p>
                      <a:pPr marL="0" indent="0">
                        <a:buNone/>
                      </a:pPr>
                      <a:endParaRPr lang="en-GB" sz="800" dirty="0"/>
                    </a:p>
                  </a:txBody>
                  <a:tcPr/>
                </a:tc>
                <a:extLst>
                  <a:ext uri="{0D108BD9-81ED-4DB2-BD59-A6C34878D82A}">
                    <a16:rowId xmlns:a16="http://schemas.microsoft.com/office/drawing/2014/main" val="2983487539"/>
                  </a:ext>
                </a:extLst>
              </a:tr>
            </a:tbl>
          </a:graphicData>
        </a:graphic>
      </p:graphicFrame>
      <p:sp>
        <p:nvSpPr>
          <p:cNvPr id="2" name="TextBox 1">
            <a:extLst>
              <a:ext uri="{FF2B5EF4-FFF2-40B4-BE49-F238E27FC236}">
                <a16:creationId xmlns:a16="http://schemas.microsoft.com/office/drawing/2014/main" id="{8C6B8F30-1B35-2C4A-2102-BC44804A14BF}"/>
              </a:ext>
            </a:extLst>
          </p:cNvPr>
          <p:cNvSpPr txBox="1"/>
          <p:nvPr/>
        </p:nvSpPr>
        <p:spPr>
          <a:xfrm>
            <a:off x="0" y="22553"/>
            <a:ext cx="3103222" cy="369332"/>
          </a:xfrm>
          <a:prstGeom prst="rect">
            <a:avLst/>
          </a:prstGeom>
          <a:noFill/>
        </p:spPr>
        <p:txBody>
          <a:bodyPr wrap="none" rtlCol="0">
            <a:spAutoFit/>
          </a:bodyPr>
          <a:lstStyle/>
          <a:p>
            <a:r>
              <a:rPr lang="en-GB" dirty="0"/>
              <a:t>Door/vent Movement Buttons</a:t>
            </a:r>
          </a:p>
        </p:txBody>
      </p:sp>
    </p:spTree>
    <p:extLst>
      <p:ext uri="{BB962C8B-B14F-4D97-AF65-F5344CB8AC3E}">
        <p14:creationId xmlns:p14="http://schemas.microsoft.com/office/powerpoint/2010/main" val="2054970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D5386-2590-BEE8-0F8A-765BCCFC8F97}"/>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91542D0-1945-6D31-4E77-097076CA360C}"/>
              </a:ext>
            </a:extLst>
          </p:cNvPr>
          <p:cNvGraphicFramePr>
            <a:graphicFrameLocks noGrp="1"/>
          </p:cNvGraphicFramePr>
          <p:nvPr>
            <p:extLst>
              <p:ext uri="{D42A27DB-BD31-4B8C-83A1-F6EECF244321}">
                <p14:modId xmlns:p14="http://schemas.microsoft.com/office/powerpoint/2010/main" val="3158500400"/>
              </p:ext>
            </p:extLst>
          </p:nvPr>
        </p:nvGraphicFramePr>
        <p:xfrm>
          <a:off x="114301" y="391885"/>
          <a:ext cx="11204571" cy="5682703"/>
        </p:xfrm>
        <a:graphic>
          <a:graphicData uri="http://schemas.openxmlformats.org/drawingml/2006/table">
            <a:tbl>
              <a:tblPr firstRow="1" bandRow="1">
                <a:tableStyleId>{5C22544A-7EE6-4342-B048-85BDC9FD1C3A}</a:tableStyleId>
              </a:tblPr>
              <a:tblGrid>
                <a:gridCol w="798830">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752897">
                  <a:extLst>
                    <a:ext uri="{9D8B030D-6E8A-4147-A177-3AD203B41FA5}">
                      <a16:colId xmlns:a16="http://schemas.microsoft.com/office/drawing/2014/main" val="132880537"/>
                    </a:ext>
                  </a:extLst>
                </a:gridCol>
                <a:gridCol w="4519688">
                  <a:extLst>
                    <a:ext uri="{9D8B030D-6E8A-4147-A177-3AD203B41FA5}">
                      <a16:colId xmlns:a16="http://schemas.microsoft.com/office/drawing/2014/main" val="786884226"/>
                    </a:ext>
                  </a:extLst>
                </a:gridCol>
                <a:gridCol w="1872947">
                  <a:extLst>
                    <a:ext uri="{9D8B030D-6E8A-4147-A177-3AD203B41FA5}">
                      <a16:colId xmlns:a16="http://schemas.microsoft.com/office/drawing/2014/main" val="3328467923"/>
                    </a:ext>
                  </a:extLst>
                </a:gridCol>
              </a:tblGrid>
              <a:tr h="470623">
                <a:tc>
                  <a:txBody>
                    <a:bodyPr/>
                    <a:lstStyle/>
                    <a:p>
                      <a:r>
                        <a:rPr lang="en-GB" sz="800"/>
                        <a:t>Test Number</a:t>
                      </a:r>
                      <a:endParaRPr lang="en-GB" sz="800" dirty="0"/>
                    </a:p>
                  </a:txBody>
                  <a:tcPr/>
                </a:tc>
                <a:tc>
                  <a:txBody>
                    <a:bodyPr/>
                    <a:lstStyle/>
                    <a:p>
                      <a:r>
                        <a:rPr lang="en-GB" sz="800"/>
                        <a:t>Test Type</a:t>
                      </a:r>
                      <a:endParaRPr lang="en-GB" sz="800" dirty="0"/>
                    </a:p>
                  </a:txBody>
                  <a:tcPr/>
                </a:tc>
                <a:tc>
                  <a:txBody>
                    <a:bodyPr/>
                    <a:lstStyle/>
                    <a:p>
                      <a:r>
                        <a:rPr lang="en-GB" sz="800"/>
                        <a:t>Room</a:t>
                      </a:r>
                      <a:endParaRPr lang="en-GB" sz="800" dirty="0"/>
                    </a:p>
                  </a:txBody>
                  <a:tcPr/>
                </a:tc>
                <a:tc>
                  <a:txBody>
                    <a:bodyPr/>
                    <a:lstStyle/>
                    <a:p>
                      <a:r>
                        <a:rPr lang="en-GB" sz="800"/>
                        <a:t>Objects Involved</a:t>
                      </a:r>
                      <a:endParaRPr lang="en-GB" sz="800" dirty="0"/>
                    </a:p>
                  </a:txBody>
                  <a:tcPr/>
                </a:tc>
                <a:tc>
                  <a:txBody>
                    <a:bodyPr/>
                    <a:lstStyle/>
                    <a:p>
                      <a:r>
                        <a:rPr lang="en-GB" sz="800"/>
                        <a:t>Expected Outcome</a:t>
                      </a:r>
                      <a:endParaRPr lang="en-GB" sz="800" dirty="0"/>
                    </a:p>
                  </a:txBody>
                  <a:tcPr/>
                </a:tc>
                <a:tc>
                  <a:txBody>
                    <a:bodyPr/>
                    <a:lstStyle/>
                    <a:p>
                      <a:r>
                        <a:rPr lang="en-GB" sz="800"/>
                        <a:t>Actual Outcome</a:t>
                      </a:r>
                      <a:endParaRPr lang="en-GB" sz="800" dirty="0"/>
                    </a:p>
                  </a:txBody>
                  <a:tcPr/>
                </a:tc>
                <a:extLst>
                  <a:ext uri="{0D108BD9-81ED-4DB2-BD59-A6C34878D82A}">
                    <a16:rowId xmlns:a16="http://schemas.microsoft.com/office/drawing/2014/main" val="1296324342"/>
                  </a:ext>
                </a:extLst>
              </a:tr>
              <a:tr h="475162">
                <a:tc>
                  <a:txBody>
                    <a:bodyPr/>
                    <a:lstStyle/>
                    <a:p>
                      <a:r>
                        <a:rPr lang="en-GB" sz="800"/>
                        <a:t>161.</a:t>
                      </a:r>
                      <a:endParaRPr lang="en-GB" sz="800" dirty="0"/>
                    </a:p>
                  </a:txBody>
                  <a:tcPr/>
                </a:tc>
                <a:tc>
                  <a:txBody>
                    <a:bodyPr/>
                    <a:lstStyle/>
                    <a:p>
                      <a:r>
                        <a:rPr lang="en-GB" sz="800" dirty="0"/>
                        <a:t>Left Door open/close states level 1</a:t>
                      </a:r>
                    </a:p>
                  </a:txBody>
                  <a:tcPr/>
                </a:tc>
                <a:tc>
                  <a:txBody>
                    <a:bodyPr/>
                    <a:lstStyle/>
                    <a:p>
                      <a:r>
                        <a:rPr lang="en-GB" sz="800" dirty="0"/>
                        <a:t>Rm_level1</a:t>
                      </a:r>
                    </a:p>
                  </a:txBody>
                  <a:tcPr/>
                </a:tc>
                <a:tc>
                  <a:txBody>
                    <a:bodyPr/>
                    <a:lstStyle/>
                    <a:p>
                      <a:r>
                        <a:rPr lang="en-GB" sz="800" dirty="0" err="1"/>
                        <a:t>obj_left_door_button</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left door from the oxygen/door/vent controller to determine if the door requires to be In an open or closed sprite state. Essentially it checks the instance for the open or closed state of the left door in the office to then know if its closing or opening the left door for both the up-close view and the main view left doors. When it knows what state, the doors are currently in, it will change the left doors object sprite and set the left doors global state to open/close which the oxygen/door/vent controller uses to decrease/increase the oxygen levels.</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a:t>162.</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Left Door open/close states level 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obj_left_door_button_lvl2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left door from the oxygen/door/vent controller to determine if the door requires to be In an open or closed sprite state. Essentially it checks the instance for the open or closed state of the left door in the office to then know if its closing or opening the left door for both the up-close view and the main view left doors. When it knows what state, the doors are currently in, it will change the left doors object sprite and set the left doors global state to open/close which the oxygen/door/vent controller uses to decrease/increase the oxygen levels.</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a:t>163.</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Left Door open/close states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obj_left_door_button_lvl3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left door from the oxygen/door/vent controller to determine if the door requires to be In an open or closed sprite state. Essentially it checks the instance for the open or closed state of the left door in the office to then know if its closing or opening the left door for both the up-close view and the main view left doors. When it knows what state, the doors are currently in, it will change the left doors object sprite and set the left doors global state to open/close which the oxygen/door/vent controller uses to decrease/increase the oxygen levels.</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a:t>164.</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Left Door open/close states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obj_left_door_button_lvl4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left door from the oxygen/door/vent controller to determine if the door requires to be In an open or closed sprite state. Essentially it checks the instance for the open or closed state of the left door in the office to then know if its closing or opening the left door for both the up-close view and the main view left doors. When it knows what state, the doors are currently in, it will change the left doors object sprite and set the left doors global state to open/close which the oxygen/door/vent controller uses to decrease/increase the oxygen levels.</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931270710"/>
                  </a:ext>
                </a:extLst>
              </a:tr>
              <a:tr h="470623">
                <a:tc>
                  <a:txBody>
                    <a:bodyPr/>
                    <a:lstStyle/>
                    <a:p>
                      <a:r>
                        <a:rPr lang="en-GB" sz="800"/>
                        <a:t>165.</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Left Door open/close states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obj_left_door_button_lvl5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left door from the oxygen/door/vent controller to determine if the door requires to be In an open or closed sprite state. Essentially it checks the instance for the open or closed state of the left door in the office to then know if its closing or opening the left door for both the up-close view and the main view left doors. When it knows what state, the doors are currently in, it will change the left doors object sprite and set the left doors global state to open/close which the oxygen/door/vent controller uses to decrease/increase the oxygen levels.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983487539"/>
                  </a:ext>
                </a:extLst>
              </a:tr>
            </a:tbl>
          </a:graphicData>
        </a:graphic>
      </p:graphicFrame>
      <p:sp>
        <p:nvSpPr>
          <p:cNvPr id="2" name="TextBox 1">
            <a:extLst>
              <a:ext uri="{FF2B5EF4-FFF2-40B4-BE49-F238E27FC236}">
                <a16:creationId xmlns:a16="http://schemas.microsoft.com/office/drawing/2014/main" id="{A25A857A-1BFD-BF3A-190D-37417BFC9C0D}"/>
              </a:ext>
            </a:extLst>
          </p:cNvPr>
          <p:cNvSpPr txBox="1"/>
          <p:nvPr/>
        </p:nvSpPr>
        <p:spPr>
          <a:xfrm>
            <a:off x="0" y="22553"/>
            <a:ext cx="3255122" cy="369332"/>
          </a:xfrm>
          <a:prstGeom prst="rect">
            <a:avLst/>
          </a:prstGeom>
          <a:noFill/>
        </p:spPr>
        <p:txBody>
          <a:bodyPr wrap="none" rtlCol="0">
            <a:spAutoFit/>
          </a:bodyPr>
          <a:lstStyle/>
          <a:p>
            <a:r>
              <a:rPr lang="en-GB" dirty="0"/>
              <a:t>Door/vent Open/Close Buttons</a:t>
            </a:r>
          </a:p>
        </p:txBody>
      </p:sp>
      <p:sp>
        <p:nvSpPr>
          <p:cNvPr id="5" name="TextBox 4">
            <a:extLst>
              <a:ext uri="{FF2B5EF4-FFF2-40B4-BE49-F238E27FC236}">
                <a16:creationId xmlns:a16="http://schemas.microsoft.com/office/drawing/2014/main" id="{2DA626B4-2428-10AF-DEF1-90129926B6D4}"/>
              </a:ext>
            </a:extLst>
          </p:cNvPr>
          <p:cNvSpPr txBox="1"/>
          <p:nvPr/>
        </p:nvSpPr>
        <p:spPr>
          <a:xfrm>
            <a:off x="3255122" y="0"/>
            <a:ext cx="8936877"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dirty="0"/>
              <a:t>Note: Both the up-close and main view l doors are in sync meaning that when I say left or right]] door, I mean both left doors in the room.</a:t>
            </a:r>
          </a:p>
        </p:txBody>
      </p:sp>
    </p:spTree>
    <p:extLst>
      <p:ext uri="{BB962C8B-B14F-4D97-AF65-F5344CB8AC3E}">
        <p14:creationId xmlns:p14="http://schemas.microsoft.com/office/powerpoint/2010/main" val="4012219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969F5-FFA2-BF0D-46FE-A802901E228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87D1F28-B162-B065-FE05-0D60CFF22040}"/>
              </a:ext>
            </a:extLst>
          </p:cNvPr>
          <p:cNvGraphicFramePr>
            <a:graphicFrameLocks noGrp="1"/>
          </p:cNvGraphicFramePr>
          <p:nvPr>
            <p:extLst>
              <p:ext uri="{D42A27DB-BD31-4B8C-83A1-F6EECF244321}">
                <p14:modId xmlns:p14="http://schemas.microsoft.com/office/powerpoint/2010/main" val="1002330948"/>
              </p:ext>
            </p:extLst>
          </p:nvPr>
        </p:nvGraphicFramePr>
        <p:xfrm>
          <a:off x="114301" y="391885"/>
          <a:ext cx="11204571" cy="5682703"/>
        </p:xfrm>
        <a:graphic>
          <a:graphicData uri="http://schemas.openxmlformats.org/drawingml/2006/table">
            <a:tbl>
              <a:tblPr firstRow="1" bandRow="1">
                <a:tableStyleId>{5C22544A-7EE6-4342-B048-85BDC9FD1C3A}</a:tableStyleId>
              </a:tblPr>
              <a:tblGrid>
                <a:gridCol w="798830">
                  <a:extLst>
                    <a:ext uri="{9D8B030D-6E8A-4147-A177-3AD203B41FA5}">
                      <a16:colId xmlns:a16="http://schemas.microsoft.com/office/drawing/2014/main" val="2041145262"/>
                    </a:ext>
                  </a:extLst>
                </a:gridCol>
                <a:gridCol w="1647254">
                  <a:extLst>
                    <a:ext uri="{9D8B030D-6E8A-4147-A177-3AD203B41FA5}">
                      <a16:colId xmlns:a16="http://schemas.microsoft.com/office/drawing/2014/main" val="3102287305"/>
                    </a:ext>
                  </a:extLst>
                </a:gridCol>
                <a:gridCol w="612955">
                  <a:extLst>
                    <a:ext uri="{9D8B030D-6E8A-4147-A177-3AD203B41FA5}">
                      <a16:colId xmlns:a16="http://schemas.microsoft.com/office/drawing/2014/main" val="4080696647"/>
                    </a:ext>
                  </a:extLst>
                </a:gridCol>
                <a:gridCol w="1752897">
                  <a:extLst>
                    <a:ext uri="{9D8B030D-6E8A-4147-A177-3AD203B41FA5}">
                      <a16:colId xmlns:a16="http://schemas.microsoft.com/office/drawing/2014/main" val="132880537"/>
                    </a:ext>
                  </a:extLst>
                </a:gridCol>
                <a:gridCol w="4519688">
                  <a:extLst>
                    <a:ext uri="{9D8B030D-6E8A-4147-A177-3AD203B41FA5}">
                      <a16:colId xmlns:a16="http://schemas.microsoft.com/office/drawing/2014/main" val="786884226"/>
                    </a:ext>
                  </a:extLst>
                </a:gridCol>
                <a:gridCol w="1872947">
                  <a:extLst>
                    <a:ext uri="{9D8B030D-6E8A-4147-A177-3AD203B41FA5}">
                      <a16:colId xmlns:a16="http://schemas.microsoft.com/office/drawing/2014/main" val="3328467923"/>
                    </a:ext>
                  </a:extLst>
                </a:gridCol>
              </a:tblGrid>
              <a:tr h="470623">
                <a:tc>
                  <a:txBody>
                    <a:bodyPr/>
                    <a:lstStyle/>
                    <a:p>
                      <a:r>
                        <a:rPr lang="en-GB" sz="800"/>
                        <a:t>Test Number</a:t>
                      </a:r>
                      <a:endParaRPr lang="en-GB" sz="800" dirty="0"/>
                    </a:p>
                  </a:txBody>
                  <a:tcPr/>
                </a:tc>
                <a:tc>
                  <a:txBody>
                    <a:bodyPr/>
                    <a:lstStyle/>
                    <a:p>
                      <a:r>
                        <a:rPr lang="en-GB" sz="800"/>
                        <a:t>Test Type</a:t>
                      </a:r>
                      <a:endParaRPr lang="en-GB" sz="800" dirty="0"/>
                    </a:p>
                  </a:txBody>
                  <a:tcPr/>
                </a:tc>
                <a:tc>
                  <a:txBody>
                    <a:bodyPr/>
                    <a:lstStyle/>
                    <a:p>
                      <a:r>
                        <a:rPr lang="en-GB" sz="800"/>
                        <a:t>Room</a:t>
                      </a:r>
                      <a:endParaRPr lang="en-GB" sz="800" dirty="0"/>
                    </a:p>
                  </a:txBody>
                  <a:tcPr/>
                </a:tc>
                <a:tc>
                  <a:txBody>
                    <a:bodyPr/>
                    <a:lstStyle/>
                    <a:p>
                      <a:r>
                        <a:rPr lang="en-GB" sz="800"/>
                        <a:t>Objects Involved</a:t>
                      </a:r>
                      <a:endParaRPr lang="en-GB" sz="800" dirty="0"/>
                    </a:p>
                  </a:txBody>
                  <a:tcPr/>
                </a:tc>
                <a:tc>
                  <a:txBody>
                    <a:bodyPr/>
                    <a:lstStyle/>
                    <a:p>
                      <a:r>
                        <a:rPr lang="en-GB" sz="800"/>
                        <a:t>Expected Outcome</a:t>
                      </a:r>
                      <a:endParaRPr lang="en-GB" sz="800" dirty="0"/>
                    </a:p>
                  </a:txBody>
                  <a:tcPr/>
                </a:tc>
                <a:tc>
                  <a:txBody>
                    <a:bodyPr/>
                    <a:lstStyle/>
                    <a:p>
                      <a:r>
                        <a:rPr lang="en-GB" sz="800"/>
                        <a:t>Actual Outcome</a:t>
                      </a:r>
                      <a:endParaRPr lang="en-GB" sz="800" dirty="0"/>
                    </a:p>
                  </a:txBody>
                  <a:tcPr/>
                </a:tc>
                <a:extLst>
                  <a:ext uri="{0D108BD9-81ED-4DB2-BD59-A6C34878D82A}">
                    <a16:rowId xmlns:a16="http://schemas.microsoft.com/office/drawing/2014/main" val="1296324342"/>
                  </a:ext>
                </a:extLst>
              </a:tr>
              <a:tr h="475162">
                <a:tc>
                  <a:txBody>
                    <a:bodyPr/>
                    <a:lstStyle/>
                    <a:p>
                      <a:r>
                        <a:rPr lang="en-GB" sz="800"/>
                        <a:t>161.</a:t>
                      </a:r>
                      <a:endParaRPr lang="en-GB" sz="800" dirty="0"/>
                    </a:p>
                  </a:txBody>
                  <a:tcPr/>
                </a:tc>
                <a:tc>
                  <a:txBody>
                    <a:bodyPr/>
                    <a:lstStyle/>
                    <a:p>
                      <a:r>
                        <a:rPr lang="en-GB" sz="800" dirty="0"/>
                        <a:t>Right Door open/close states level 1</a:t>
                      </a:r>
                    </a:p>
                  </a:txBody>
                  <a:tcPr/>
                </a:tc>
                <a:tc>
                  <a:txBody>
                    <a:bodyPr/>
                    <a:lstStyle/>
                    <a:p>
                      <a:r>
                        <a:rPr lang="en-GB" sz="800" dirty="0"/>
                        <a:t>Rm_level1</a:t>
                      </a:r>
                    </a:p>
                  </a:txBody>
                  <a:tcPr/>
                </a:tc>
                <a:tc>
                  <a:txBody>
                    <a:bodyPr/>
                    <a:lstStyle/>
                    <a:p>
                      <a:r>
                        <a:rPr lang="en-GB" sz="800" dirty="0" err="1"/>
                        <a:t>obj_right_door_button</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right door from the oxygen/door/vent controller to determine if the door requires to be In an open or closed sprite state. Essentially it checks the instance for the open or closed state of the right door in the office to then know if its closing or opening the right door for both the up-close view and the main view right doors. When it knows what state, the doors are currently in, it will change the right doors object sprite and set the right doors global state to open/close which the oxygen/door/vent controller uses to decrease/increase the oxygen levels.</a:t>
                      </a:r>
                    </a:p>
                  </a:txBody>
                  <a:tcPr/>
                </a:tc>
                <a:tc>
                  <a:txBody>
                    <a:bodyPr/>
                    <a:lstStyle/>
                    <a:p>
                      <a:endParaRPr lang="en-GB" sz="800" dirty="0"/>
                    </a:p>
                  </a:txBody>
                  <a:tcPr/>
                </a:tc>
                <a:extLst>
                  <a:ext uri="{0D108BD9-81ED-4DB2-BD59-A6C34878D82A}">
                    <a16:rowId xmlns:a16="http://schemas.microsoft.com/office/drawing/2014/main" val="289599235"/>
                  </a:ext>
                </a:extLst>
              </a:tr>
              <a:tr h="470623">
                <a:tc>
                  <a:txBody>
                    <a:bodyPr/>
                    <a:lstStyle/>
                    <a:p>
                      <a:r>
                        <a:rPr lang="en-GB" sz="800"/>
                        <a:t>162.</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Right Door open/close states level 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obj_right_door_button_lvl2</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right door from the oxygen/door/vent controller to determine if the door requires to be In an open or closed sprite state. Essentially it checks the instance for the open or closed state of the right door in the office to then know if its closing or opening the right door for both the up-close view and the main view right doors. When it knows what state, the doors are currently in, it will change the right doors object sprite and set the right doors global state to open/close which the oxygen/door/vent controller uses to decrease/increase the oxygen levels.</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4163288784"/>
                  </a:ext>
                </a:extLst>
              </a:tr>
              <a:tr h="470623">
                <a:tc>
                  <a:txBody>
                    <a:bodyPr/>
                    <a:lstStyle/>
                    <a:p>
                      <a:r>
                        <a:rPr lang="en-GB" sz="800"/>
                        <a:t>163.</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Right Door open/close states level 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obj_right_door_button_lvl3</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right door from the oxygen/door/vent controller to determine if the door requires to be In an open or closed sprite state. Essentially it checks the instance for the open or closed state of the right door in the office to then know if its closing or opening the right door for both the up-close view and the main view right doors. When it knows what state, the doors are currently in, it will change the right doors object sprite and set the right doors global state to open/close which the oxygen/door/vent controller uses to decrease/increase the oxygen levels.</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370588301"/>
                  </a:ext>
                </a:extLst>
              </a:tr>
              <a:tr h="470623">
                <a:tc>
                  <a:txBody>
                    <a:bodyPr/>
                    <a:lstStyle/>
                    <a:p>
                      <a:r>
                        <a:rPr lang="en-GB" sz="800"/>
                        <a:t>164.</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Right Door open/close states level 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obj_right_door_button_lvl4</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right door from the oxygen/door/vent controller to determine if the door requires to be In an open or closed sprite state. Essentially it checks the instance for the open or closed state of the right door in the office to then know if its closing or opening the right door for both the up-close view and the main view right doors. When it knows what state, the doors are currently in, it will change the right doors object sprite and set the right doors global state to open/close which the oxygen/door/vent controller uses to decrease/increase the oxygen levels.</a:t>
                      </a:r>
                    </a:p>
                    <a:p>
                      <a:pPr marL="0" indent="0">
                        <a:buNone/>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931270710"/>
                  </a:ext>
                </a:extLst>
              </a:tr>
              <a:tr h="470623">
                <a:tc>
                  <a:txBody>
                    <a:bodyPr/>
                    <a:lstStyle/>
                    <a:p>
                      <a:r>
                        <a:rPr lang="en-GB" sz="800"/>
                        <a:t>165.</a:t>
                      </a:r>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Right Door open/close states level 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Rm_level5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obj_right_door_button_lvl5</a:t>
                      </a:r>
                    </a:p>
                    <a:p>
                      <a:endParaRPr lang="en-GB"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dirty="0"/>
                        <a:t>When the player left clicks on the button, the button uses the global variable states for the right door from the oxygen/door/vent controller to determine if the door requires to be In an open or closed sprite state. Essentially it checks the instance for the open or closed state of the right door in the office to then know if its closing or opening the right door for both the up-close view and the main view right doors. When it knows what state, the doors are currently in, it will change the right doors object sprite and set the right doors global state to open/close which the oxygen/door/vent controller uses to decrease/increase the oxygen levels.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dirty="0"/>
                    </a:p>
                  </a:txBody>
                  <a:tcPr/>
                </a:tc>
                <a:tc>
                  <a:txBody>
                    <a:bodyPr/>
                    <a:lstStyle/>
                    <a:p>
                      <a:pPr marL="0" indent="0">
                        <a:buNone/>
                      </a:pPr>
                      <a:endParaRPr lang="en-GB" sz="800" dirty="0"/>
                    </a:p>
                  </a:txBody>
                  <a:tcPr/>
                </a:tc>
                <a:extLst>
                  <a:ext uri="{0D108BD9-81ED-4DB2-BD59-A6C34878D82A}">
                    <a16:rowId xmlns:a16="http://schemas.microsoft.com/office/drawing/2014/main" val="2983487539"/>
                  </a:ext>
                </a:extLst>
              </a:tr>
            </a:tbl>
          </a:graphicData>
        </a:graphic>
      </p:graphicFrame>
      <p:sp>
        <p:nvSpPr>
          <p:cNvPr id="2" name="TextBox 1">
            <a:extLst>
              <a:ext uri="{FF2B5EF4-FFF2-40B4-BE49-F238E27FC236}">
                <a16:creationId xmlns:a16="http://schemas.microsoft.com/office/drawing/2014/main" id="{D2D57E76-71E3-BC4D-7C35-7335EC98F7B3}"/>
              </a:ext>
            </a:extLst>
          </p:cNvPr>
          <p:cNvSpPr txBox="1"/>
          <p:nvPr/>
        </p:nvSpPr>
        <p:spPr>
          <a:xfrm>
            <a:off x="0" y="22553"/>
            <a:ext cx="3255122" cy="369332"/>
          </a:xfrm>
          <a:prstGeom prst="rect">
            <a:avLst/>
          </a:prstGeom>
          <a:noFill/>
        </p:spPr>
        <p:txBody>
          <a:bodyPr wrap="none" rtlCol="0">
            <a:spAutoFit/>
          </a:bodyPr>
          <a:lstStyle/>
          <a:p>
            <a:r>
              <a:rPr lang="en-GB" dirty="0"/>
              <a:t>Door/vent Open/Close Buttons</a:t>
            </a:r>
          </a:p>
        </p:txBody>
      </p:sp>
      <p:sp>
        <p:nvSpPr>
          <p:cNvPr id="5" name="TextBox 4">
            <a:extLst>
              <a:ext uri="{FF2B5EF4-FFF2-40B4-BE49-F238E27FC236}">
                <a16:creationId xmlns:a16="http://schemas.microsoft.com/office/drawing/2014/main" id="{2F84063D-D413-3675-69B1-32B3C085CCCD}"/>
              </a:ext>
            </a:extLst>
          </p:cNvPr>
          <p:cNvSpPr txBox="1"/>
          <p:nvPr/>
        </p:nvSpPr>
        <p:spPr>
          <a:xfrm>
            <a:off x="3255122" y="0"/>
            <a:ext cx="8936877"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dirty="0"/>
              <a:t>Note: Both the up-close and main view l doors are in sync meaning that when I say left or right]] door, I mean both left doors in the room.</a:t>
            </a:r>
          </a:p>
        </p:txBody>
      </p:sp>
    </p:spTree>
    <p:extLst>
      <p:ext uri="{BB962C8B-B14F-4D97-AF65-F5344CB8AC3E}">
        <p14:creationId xmlns:p14="http://schemas.microsoft.com/office/powerpoint/2010/main" val="27955428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5898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17173</Words>
  <Application>Microsoft Office PowerPoint</Application>
  <PresentationFormat>Widescreen</PresentationFormat>
  <Paragraphs>1187</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Aptos</vt:lpstr>
      <vt:lpstr>Aptos Display</vt:lpstr>
      <vt:lpstr>Arial</vt:lpstr>
      <vt:lpstr>Arial Narrow</vt:lpstr>
      <vt:lpstr>Office Theme</vt:lpstr>
      <vt:lpstr>The Next Slides are the tests made for Build V.1.0 of Critical Failure  Testing  Each test will be mentioned in each levels video.  The videos will be added at the end of the table slides. of this PowerPoint, showing the mechanic being tested.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ieuan Jarvis</dc:creator>
  <cp:lastModifiedBy>ieuan Jarvis</cp:lastModifiedBy>
  <cp:revision>3</cp:revision>
  <dcterms:created xsi:type="dcterms:W3CDTF">2026-02-28T18:05:40Z</dcterms:created>
  <dcterms:modified xsi:type="dcterms:W3CDTF">2026-02-28T19:22:24Z</dcterms:modified>
</cp:coreProperties>
</file>