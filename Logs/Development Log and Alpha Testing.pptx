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96" r:id="rId34"/>
    <p:sldId id="297" r:id="rId35"/>
    <p:sldId id="257" r:id="rId36"/>
    <p:sldId id="267" r:id="rId37"/>
    <p:sldId id="270" r:id="rId38"/>
    <p:sldId id="272" r:id="rId39"/>
    <p:sldId id="276" r:id="rId40"/>
    <p:sldId id="278" r:id="rId41"/>
    <p:sldId id="284" r:id="rId42"/>
    <p:sldId id="299" r:id="rId43"/>
    <p:sldId id="300" r:id="rId44"/>
    <p:sldId id="301" r:id="rId45"/>
    <p:sldId id="302" r:id="rId46"/>
    <p:sldId id="303" r:id="rId47"/>
    <p:sldId id="304" r:id="rId48"/>
    <p:sldId id="305" r:id="rId49"/>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55"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16/02/2026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16/02/2026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16/02/2026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16/02/2026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16/02/2026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16/02/2026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16/02/2026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16/02/2026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Gwiber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a:t>Gwiber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Gwiber to destroy the next zones instance layer and replace it with the correct one based on if K9 is or isn’t in it. This also works the other way around and if Gwiber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Gwiber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4401205"/>
          </a:xfrm>
          <a:prstGeom prst="rect">
            <a:avLst/>
          </a:prstGeom>
          <a:noFill/>
        </p:spPr>
        <p:txBody>
          <a:bodyPr wrap="square" rtlCol="0">
            <a:spAutoFit/>
          </a:bodyPr>
          <a:lstStyle/>
          <a:p>
            <a:r>
              <a:rPr lang="en-GB" sz="1400" dirty="0"/>
              <a:t>What to Do next session</a:t>
            </a:r>
          </a:p>
          <a:p>
            <a:endParaRPr lang="en-GB" sz="1400" dirty="0"/>
          </a:p>
          <a:p>
            <a:r>
              <a:rPr lang="en-GB" sz="1400" dirty="0"/>
              <a:t>Finish level 1 enemies zone change mechanic</a:t>
            </a:r>
          </a:p>
          <a:p>
            <a:endParaRPr lang="en-GB" sz="1400" dirty="0"/>
          </a:p>
          <a:p>
            <a:r>
              <a:rPr lang="en-GB" sz="1400" dirty="0"/>
              <a:t>Design jump-scares</a:t>
            </a:r>
          </a:p>
          <a:p>
            <a:endParaRPr lang="en-GB" sz="1400" dirty="0"/>
          </a:p>
          <a:p>
            <a:r>
              <a:rPr lang="en-GB" sz="1400" dirty="0"/>
              <a:t>Implement Jump-scares into the game.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52D63-0913-40A3-A082-16F5A498D5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2472B1-828A-C8FC-269C-59E5229378E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10/02/2026</a:t>
            </a:r>
          </a:p>
        </p:txBody>
      </p:sp>
      <p:sp>
        <p:nvSpPr>
          <p:cNvPr id="2" name="TextBox 1">
            <a:extLst>
              <a:ext uri="{FF2B5EF4-FFF2-40B4-BE49-F238E27FC236}">
                <a16:creationId xmlns:a16="http://schemas.microsoft.com/office/drawing/2014/main" id="{34289866-E8F5-AD39-D6C7-2BD8012A7032}"/>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0C64B911-15FF-5BFC-4CB8-1A785568E084}"/>
              </a:ext>
            </a:extLst>
          </p:cNvPr>
          <p:cNvSpPr txBox="1"/>
          <p:nvPr/>
        </p:nvSpPr>
        <p:spPr>
          <a:xfrm>
            <a:off x="0" y="121250"/>
            <a:ext cx="4906736" cy="489364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implemented to Jump-scares to work similarly to how the enemies change zone.</a:t>
            </a:r>
          </a:p>
          <a:p>
            <a:endParaRPr lang="en-GB" sz="1200" dirty="0"/>
          </a:p>
          <a:p>
            <a:r>
              <a:rPr lang="en-GB" sz="1200" dirty="0"/>
              <a:t>How the jump-scares work is that when dead = true the death screen timer begins, counting down to when the player should change to the death screen room. During this time, the jump-scare happens. What the Jump-scare is, is just the enemies forcing the players camera view to go to the jump-scare zone in which the enemies can then change it into their jump-scare. Scaring the Player :).</a:t>
            </a:r>
          </a:p>
          <a:p>
            <a:endParaRPr lang="en-GB" sz="1200" dirty="0"/>
          </a:p>
          <a:p>
            <a:r>
              <a:rPr lang="en-GB" sz="1200" dirty="0"/>
              <a:t>This was done using a newly added zone that only the enemies can interact with. This will be the jump-scare zone. The enemies can change this zone as they please into the version related to the enemy that killed you.</a:t>
            </a:r>
          </a:p>
          <a:p>
            <a:endParaRPr lang="en-GB" sz="1200" dirty="0"/>
          </a:p>
          <a:p>
            <a:r>
              <a:rPr lang="en-GB" sz="1200" dirty="0"/>
              <a:t>I have run into a problem concerning the aftermath of player death. The door and vent controller is persistent meaning that even after dying the doors/vents that are closed, remain that way after death. The issue with the doors/vents is that their code isn’t as simple as making </a:t>
            </a:r>
            <a:r>
              <a:rPr lang="en-GB" sz="1200" dirty="0" err="1"/>
              <a:t>global.door_open</a:t>
            </a:r>
            <a:r>
              <a:rPr lang="en-GB" sz="1200" dirty="0"/>
              <a:t> = true. The doors and vents are synced with each other and require themselves to change sprite as well as know what state they are in for the oxygen count. I’m going to try and find a solution to this.</a:t>
            </a:r>
          </a:p>
          <a:p>
            <a:endParaRPr lang="en-GB" sz="1200" dirty="0"/>
          </a:p>
          <a:p>
            <a:r>
              <a:rPr lang="en-GB" sz="1200" dirty="0"/>
              <a:t>Zone change code didn’t work in the sense that the enemies did change the camera zones sprite but didn’t revert it back to normal.</a:t>
            </a:r>
          </a:p>
        </p:txBody>
      </p:sp>
      <p:sp>
        <p:nvSpPr>
          <p:cNvPr id="12" name="TextBox 11">
            <a:extLst>
              <a:ext uri="{FF2B5EF4-FFF2-40B4-BE49-F238E27FC236}">
                <a16:creationId xmlns:a16="http://schemas.microsoft.com/office/drawing/2014/main" id="{98A250EB-DC51-5D1D-5E2C-D7A3E200CF2F}"/>
              </a:ext>
            </a:extLst>
          </p:cNvPr>
          <p:cNvSpPr txBox="1"/>
          <p:nvPr/>
        </p:nvSpPr>
        <p:spPr>
          <a:xfrm>
            <a:off x="7537550" y="107525"/>
            <a:ext cx="4286175"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Doors and Vents be in an open state after death.</a:t>
            </a:r>
          </a:p>
          <a:p>
            <a:endParaRPr lang="en-GB" sz="1400" dirty="0"/>
          </a:p>
          <a:p>
            <a:r>
              <a:rPr lang="en-GB" sz="1400" dirty="0"/>
              <a:t>Find a solution to the zone change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411057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04C35-6ED1-743F-B9F5-53D7F97EF80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6680A-C841-E60D-9D87-A953C732C8A2}"/>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12/02/2026</a:t>
            </a:r>
          </a:p>
        </p:txBody>
      </p:sp>
      <p:sp>
        <p:nvSpPr>
          <p:cNvPr id="2" name="TextBox 1">
            <a:extLst>
              <a:ext uri="{FF2B5EF4-FFF2-40B4-BE49-F238E27FC236}">
                <a16:creationId xmlns:a16="http://schemas.microsoft.com/office/drawing/2014/main" id="{35D3F74D-E071-E5CB-206F-9CAB5CD06E57}"/>
              </a:ext>
            </a:extLst>
          </p:cNvPr>
          <p:cNvSpPr txBox="1"/>
          <p:nvPr/>
        </p:nvSpPr>
        <p:spPr>
          <a:xfrm>
            <a:off x="5015350" y="542303"/>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V.0.10 and V.0.10.1</a:t>
            </a:r>
          </a:p>
        </p:txBody>
      </p:sp>
      <p:sp>
        <p:nvSpPr>
          <p:cNvPr id="3" name="TextBox 2">
            <a:extLst>
              <a:ext uri="{FF2B5EF4-FFF2-40B4-BE49-F238E27FC236}">
                <a16:creationId xmlns:a16="http://schemas.microsoft.com/office/drawing/2014/main" id="{CA48F9F1-982B-72B8-84E8-53C6CD510847}"/>
              </a:ext>
            </a:extLst>
          </p:cNvPr>
          <p:cNvSpPr txBox="1"/>
          <p:nvPr/>
        </p:nvSpPr>
        <p:spPr>
          <a:xfrm>
            <a:off x="0" y="121250"/>
            <a:ext cx="4906736"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found a solution to the zone change and made sure to test it constantly to ensure full functionality.</a:t>
            </a:r>
          </a:p>
          <a:p>
            <a:endParaRPr lang="en-GB" sz="1200" dirty="0"/>
          </a:p>
          <a:p>
            <a:r>
              <a:rPr lang="en-GB" sz="1200" dirty="0"/>
              <a:t>The Camera zones now do change based on whether an enemy is or isn’t in the zone.</a:t>
            </a:r>
          </a:p>
          <a:p>
            <a:endParaRPr lang="en-GB" sz="1200" dirty="0"/>
          </a:p>
          <a:p>
            <a:r>
              <a:rPr lang="en-GB" sz="1200" dirty="0"/>
              <a:t>This was done by changing and destroying the zones instances every time the enemy is about move.</a:t>
            </a:r>
          </a:p>
          <a:p>
            <a:endParaRPr lang="en-GB" sz="1200" dirty="0"/>
          </a:p>
          <a:p>
            <a:r>
              <a:rPr lang="en-GB" sz="1200" dirty="0"/>
              <a:t>Instead of changing the sprite I decided to change the object instead. This did come with some challenges, mainly because this code is extremely fragile. If I were to name 1 variable wrong, the entire code collapses. To ensure full functionality, I made sure to focus primarily on Level 1 Gwiber before adding the code to level 1 K9 and so on so forth.</a:t>
            </a:r>
          </a:p>
          <a:p>
            <a:endParaRPr lang="en-GB" sz="1200" dirty="0"/>
          </a:p>
          <a:p>
            <a:r>
              <a:rPr lang="en-GB" sz="1200" dirty="0"/>
              <a:t>I’ve added the zone change code into K9 by copying </a:t>
            </a:r>
            <a:r>
              <a:rPr lang="en-GB" sz="1200" dirty="0" err="1"/>
              <a:t>Gwibers</a:t>
            </a:r>
            <a:r>
              <a:rPr lang="en-GB" sz="1200" dirty="0"/>
              <a:t> version. However, I needed to be careful about using the correct naming.</a:t>
            </a:r>
          </a:p>
          <a:p>
            <a:endParaRPr lang="en-GB" sz="1200" dirty="0"/>
          </a:p>
          <a:p>
            <a:r>
              <a:rPr lang="en-GB" sz="1200" dirty="0"/>
              <a:t>Level 1 is now fully playable, and I also made it so that you automatically move onto the next night after finishing the current one. </a:t>
            </a:r>
          </a:p>
          <a:p>
            <a:r>
              <a:rPr lang="en-GB" sz="1200" dirty="0"/>
              <a:t>Level 2 is </a:t>
            </a:r>
            <a:r>
              <a:rPr lang="en-GB" sz="1200"/>
              <a:t>also complete.</a:t>
            </a:r>
            <a:endParaRPr lang="en-GB" sz="1200" dirty="0"/>
          </a:p>
          <a:p>
            <a:endParaRPr lang="en-GB" sz="1200" dirty="0"/>
          </a:p>
          <a:p>
            <a:r>
              <a:rPr lang="en-GB" sz="1200" dirty="0"/>
              <a:t>Also, vent/door open state after death was a very easy fix and it was just the fact that my controller was persistent and only existed in 1 room. After, turning persistent off and placing 1 in each level the vents/doors return to normal since room restarts itself after the player leaves it.</a:t>
            </a:r>
          </a:p>
          <a:p>
            <a:endParaRPr lang="en-GB" sz="1200" dirty="0"/>
          </a:p>
          <a:p>
            <a:r>
              <a:rPr lang="en-GB" sz="1200" dirty="0"/>
              <a:t>I want to mention the steps for the zone change. Step 1, the enemy checks what zone they are leaving, then step to they check what zone they are moving to. This is the core of the code and one I must follow if I wish to have my enemies change zones correctly.</a:t>
            </a:r>
          </a:p>
          <a:p>
            <a:endParaRPr lang="en-GB" sz="1200" dirty="0"/>
          </a:p>
          <a:p>
            <a:r>
              <a:rPr lang="en-GB" sz="1200" dirty="0"/>
              <a:t>I also gave the enemies a room start event that changes their zone as soon as the room begins, this just makes them visible before they move.</a:t>
            </a:r>
          </a:p>
          <a:p>
            <a:endParaRPr lang="en-GB" sz="1200" dirty="0"/>
          </a:p>
          <a:p>
            <a:endParaRPr lang="en-GB" sz="1200" dirty="0"/>
          </a:p>
          <a:p>
            <a:endParaRPr lang="en-GB" sz="1200" dirty="0"/>
          </a:p>
        </p:txBody>
      </p:sp>
      <p:sp>
        <p:nvSpPr>
          <p:cNvPr id="12" name="TextBox 11">
            <a:extLst>
              <a:ext uri="{FF2B5EF4-FFF2-40B4-BE49-F238E27FC236}">
                <a16:creationId xmlns:a16="http://schemas.microsoft.com/office/drawing/2014/main" id="{BA6CF913-F102-27E5-5822-7BF46B018CD8}"/>
              </a:ext>
            </a:extLst>
          </p:cNvPr>
          <p:cNvSpPr txBox="1"/>
          <p:nvPr/>
        </p:nvSpPr>
        <p:spPr>
          <a:xfrm>
            <a:off x="7537550" y="107525"/>
            <a:ext cx="4286175" cy="3323987"/>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computer screen shot of a program code&#10;&#10;AI-generated content may be incorrect.">
            <a:extLst>
              <a:ext uri="{FF2B5EF4-FFF2-40B4-BE49-F238E27FC236}">
                <a16:creationId xmlns:a16="http://schemas.microsoft.com/office/drawing/2014/main" id="{23742B60-2768-1334-B776-CE154C91B9CE}"/>
              </a:ext>
            </a:extLst>
          </p:cNvPr>
          <p:cNvPicPr>
            <a:picLocks noChangeAspect="1"/>
          </p:cNvPicPr>
          <p:nvPr/>
        </p:nvPicPr>
        <p:blipFill>
          <a:blip r:embed="rId2"/>
          <a:stretch>
            <a:fillRect/>
          </a:stretch>
        </p:blipFill>
        <p:spPr>
          <a:xfrm>
            <a:off x="5015350" y="1124614"/>
            <a:ext cx="5946316" cy="3560357"/>
          </a:xfrm>
          <a:prstGeom prst="rect">
            <a:avLst/>
          </a:prstGeom>
        </p:spPr>
      </p:pic>
    </p:spTree>
    <p:extLst>
      <p:ext uri="{BB962C8B-B14F-4D97-AF65-F5344CB8AC3E}">
        <p14:creationId xmlns:p14="http://schemas.microsoft.com/office/powerpoint/2010/main" val="27577908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68EF3-E610-32D5-33E5-8C4A934B8F0C}"/>
              </a:ext>
            </a:extLst>
          </p:cNvPr>
          <p:cNvSpPr>
            <a:spLocks noGrp="1"/>
          </p:cNvSpPr>
          <p:nvPr>
            <p:ph type="title"/>
          </p:nvPr>
        </p:nvSpPr>
        <p:spPr>
          <a:xfrm>
            <a:off x="838200" y="1916339"/>
            <a:ext cx="10515600" cy="1325563"/>
          </a:xfrm>
        </p:spPr>
        <p:txBody>
          <a:bodyPr>
            <a:normAutofit fontScale="90000"/>
          </a:bodyPr>
          <a:lstStyle/>
          <a:p>
            <a:pPr algn="ctr"/>
            <a:r>
              <a:rPr lang="en-GB" dirty="0"/>
              <a:t>The Next Slides are the tests made for Build</a:t>
            </a:r>
            <a:br>
              <a:rPr lang="en-GB" dirty="0"/>
            </a:br>
            <a:r>
              <a:rPr lang="en-GB" dirty="0"/>
              <a:t>V.1.0 of</a:t>
            </a:r>
            <a:br>
              <a:rPr lang="en-GB" dirty="0"/>
            </a:br>
            <a:r>
              <a:rPr lang="en-GB" dirty="0"/>
              <a:t>Critical Failure</a:t>
            </a:r>
            <a:br>
              <a:rPr lang="en-GB" dirty="0"/>
            </a:br>
            <a:br>
              <a:rPr lang="en-GB" dirty="0"/>
            </a:br>
            <a:r>
              <a:rPr lang="en-GB" dirty="0"/>
              <a:t>Testing</a:t>
            </a:r>
            <a:br>
              <a:rPr lang="en-GB" dirty="0"/>
            </a:br>
            <a:br>
              <a:rPr lang="en-GB" dirty="0"/>
            </a:br>
            <a:r>
              <a:rPr lang="en-GB" dirty="0"/>
              <a:t>The each test will have a video to it at the end</a:t>
            </a:r>
            <a:br>
              <a:rPr lang="en-GB" dirty="0"/>
            </a:br>
            <a:r>
              <a:rPr lang="en-GB" dirty="0"/>
              <a:t>of this PowerPoint, showing the mechanic being tested.</a:t>
            </a:r>
          </a:p>
        </p:txBody>
      </p:sp>
      <p:sp>
        <p:nvSpPr>
          <p:cNvPr id="4" name="TextBox 3">
            <a:extLst>
              <a:ext uri="{FF2B5EF4-FFF2-40B4-BE49-F238E27FC236}">
                <a16:creationId xmlns:a16="http://schemas.microsoft.com/office/drawing/2014/main" id="{0BAA3E30-BFBB-8003-BB5B-D1D448CDCBBE}"/>
              </a:ext>
            </a:extLst>
          </p:cNvPr>
          <p:cNvSpPr txBox="1"/>
          <p:nvPr/>
        </p:nvSpPr>
        <p:spPr>
          <a:xfrm>
            <a:off x="0" y="6211669"/>
            <a:ext cx="10793186" cy="646331"/>
          </a:xfrm>
          <a:prstGeom prst="rect">
            <a:avLst/>
          </a:prstGeom>
          <a:noFill/>
        </p:spPr>
        <p:txBody>
          <a:bodyPr wrap="square">
            <a:spAutoFit/>
          </a:bodyPr>
          <a:lstStyle/>
          <a:p>
            <a:r>
              <a:rPr lang="en-GB" sz="1800" b="1" dirty="0">
                <a:latin typeface="Arial Narrow" panose="020B0606020202030204" pitchFamily="34" charset="0"/>
              </a:rPr>
              <a:t>Note: Each Level has different versions of the zones: Cam_zone_lvl1, Cam_zone_lvl2 etc. Level versions of the enemies and othe</a:t>
            </a:r>
            <a:r>
              <a:rPr lang="en-GB" b="1" dirty="0">
                <a:latin typeface="Arial Narrow" panose="020B0606020202030204" pitchFamily="34" charset="0"/>
              </a:rPr>
              <a:t>r objects follow the </a:t>
            </a:r>
            <a:r>
              <a:rPr lang="en-GB" b="1" dirty="0" err="1">
                <a:latin typeface="Arial Narrow" panose="020B0606020202030204" pitchFamily="34" charset="0"/>
              </a:rPr>
              <a:t>Cam_zone</a:t>
            </a:r>
            <a:r>
              <a:rPr lang="en-GB" b="1" dirty="0">
                <a:latin typeface="Arial Narrow" panose="020B0606020202030204" pitchFamily="34" charset="0"/>
              </a:rPr>
              <a:t> matching the level they are in not ones from other levels.</a:t>
            </a:r>
            <a:endParaRPr lang="en-GB" sz="1800" b="1" dirty="0">
              <a:latin typeface="Arial Narrow" panose="020B0606020202030204" pitchFamily="34" charset="0"/>
            </a:endParaRPr>
          </a:p>
        </p:txBody>
      </p:sp>
    </p:spTree>
    <p:extLst>
      <p:ext uri="{BB962C8B-B14F-4D97-AF65-F5344CB8AC3E}">
        <p14:creationId xmlns:p14="http://schemas.microsoft.com/office/powerpoint/2010/main" val="17745523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22315289"/>
              </p:ext>
            </p:extLst>
          </p:nvPr>
        </p:nvGraphicFramePr>
        <p:xfrm>
          <a:off x="38100" y="391885"/>
          <a:ext cx="12115800" cy="6218272"/>
        </p:xfrm>
        <a:graphic>
          <a:graphicData uri="http://schemas.openxmlformats.org/drawingml/2006/table">
            <a:tbl>
              <a:tblPr firstRow="1" bandRow="1">
                <a:tableStyleId>{5C22544A-7EE6-4342-B048-85BDC9FD1C3A}</a:tableStyleId>
              </a:tblPr>
              <a:tblGrid>
                <a:gridCol w="800101">
                  <a:extLst>
                    <a:ext uri="{9D8B030D-6E8A-4147-A177-3AD203B41FA5}">
                      <a16:colId xmlns:a16="http://schemas.microsoft.com/office/drawing/2014/main" val="2041145262"/>
                    </a:ext>
                  </a:extLst>
                </a:gridCol>
                <a:gridCol w="2587189">
                  <a:extLst>
                    <a:ext uri="{9D8B030D-6E8A-4147-A177-3AD203B41FA5}">
                      <a16:colId xmlns:a16="http://schemas.microsoft.com/office/drawing/2014/main" val="3102287305"/>
                    </a:ext>
                  </a:extLst>
                </a:gridCol>
                <a:gridCol w="814089">
                  <a:extLst>
                    <a:ext uri="{9D8B030D-6E8A-4147-A177-3AD203B41FA5}">
                      <a16:colId xmlns:a16="http://schemas.microsoft.com/office/drawing/2014/main" val="4080696647"/>
                    </a:ext>
                  </a:extLst>
                </a:gridCol>
                <a:gridCol w="1350336">
                  <a:extLst>
                    <a:ext uri="{9D8B030D-6E8A-4147-A177-3AD203B41FA5}">
                      <a16:colId xmlns:a16="http://schemas.microsoft.com/office/drawing/2014/main" val="132880537"/>
                    </a:ext>
                  </a:extLst>
                </a:gridCol>
                <a:gridCol w="4248695">
                  <a:extLst>
                    <a:ext uri="{9D8B030D-6E8A-4147-A177-3AD203B41FA5}">
                      <a16:colId xmlns:a16="http://schemas.microsoft.com/office/drawing/2014/main" val="786884226"/>
                    </a:ext>
                  </a:extLst>
                </a:gridCol>
                <a:gridCol w="2315390">
                  <a:extLst>
                    <a:ext uri="{9D8B030D-6E8A-4147-A177-3AD203B41FA5}">
                      <a16:colId xmlns:a16="http://schemas.microsoft.com/office/drawing/2014/main" val="259252547"/>
                    </a:ext>
                  </a:extLst>
                </a:gridCol>
              </a:tblGrid>
              <a:tr h="353746">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0">
                <a:tc>
                  <a:txBody>
                    <a:bodyPr/>
                    <a:lstStyle/>
                    <a:p>
                      <a:r>
                        <a:rPr lang="en-GB" sz="800" dirty="0"/>
                        <a:t>1.</a:t>
                      </a:r>
                    </a:p>
                  </a:txBody>
                  <a:tcPr/>
                </a:tc>
                <a:tc>
                  <a:txBody>
                    <a:bodyPr/>
                    <a:lstStyle/>
                    <a:p>
                      <a:r>
                        <a:rPr lang="en-GB" sz="800" dirty="0" err="1"/>
                        <a:t>Gwiber</a:t>
                      </a:r>
                      <a:r>
                        <a:rPr lang="en-GB" sz="800" dirty="0"/>
                        <a:t> level 1 Enemy Movement Test</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txBody>
                  <a:tcPr/>
                </a:tc>
                <a:tc>
                  <a:txBody>
                    <a:bodyPr/>
                    <a:lstStyle/>
                    <a:p>
                      <a:endParaRPr lang="en-GB" sz="800" dirty="0"/>
                    </a:p>
                  </a:txBody>
                  <a:tcPr/>
                </a:tc>
                <a:extLst>
                  <a:ext uri="{0D108BD9-81ED-4DB2-BD59-A6C34878D82A}">
                    <a16:rowId xmlns:a16="http://schemas.microsoft.com/office/drawing/2014/main" val="1068541384"/>
                  </a:ext>
                </a:extLst>
              </a:tr>
              <a:tr h="585303">
                <a:tc>
                  <a:txBody>
                    <a:bodyPr/>
                    <a:lstStyle/>
                    <a:p>
                      <a:r>
                        <a:rPr lang="en-GB" sz="800"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585303">
                <a:tc>
                  <a:txBody>
                    <a:bodyPr/>
                    <a:lstStyle/>
                    <a:p>
                      <a:r>
                        <a:rPr lang="en-GB" sz="800"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Obj_amcd_gwiber_lvl3</a:t>
                      </a:r>
                    </a:p>
                  </a:txBody>
                  <a:tcPr/>
                </a:tc>
                <a:tc>
                  <a:txBody>
                    <a:bodyPr/>
                    <a:lstStyle/>
                    <a:p>
                      <a:r>
                        <a:rPr lang="en-GB" sz="800" dirty="0"/>
                        <a:t>In Level 3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txBody>
                  <a:tcPr/>
                </a:tc>
                <a:tc>
                  <a:txBody>
                    <a:bodyPr/>
                    <a:lstStyle/>
                    <a:p>
                      <a:endParaRPr lang="en-GB" sz="800" dirty="0"/>
                    </a:p>
                  </a:txBody>
                  <a:tcPr/>
                </a:tc>
                <a:extLst>
                  <a:ext uri="{0D108BD9-81ED-4DB2-BD59-A6C34878D82A}">
                    <a16:rowId xmlns:a16="http://schemas.microsoft.com/office/drawing/2014/main" val="4058717911"/>
                  </a:ext>
                </a:extLst>
              </a:tr>
              <a:tr h="585303">
                <a:tc>
                  <a:txBody>
                    <a:bodyPr/>
                    <a:lstStyle/>
                    <a:p>
                      <a:r>
                        <a:rPr lang="en-GB" sz="800"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In Level 5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585303">
                <a:tc>
                  <a:txBody>
                    <a:bodyPr/>
                    <a:lstStyle/>
                    <a:p>
                      <a:r>
                        <a:rPr lang="en-GB" sz="800" dirty="0"/>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1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r>
                        <a:rPr lang="en-GB" sz="800" dirty="0"/>
                        <a:t>Obj_amcd_k9</a:t>
                      </a:r>
                    </a:p>
                  </a:txBody>
                  <a:tcPr/>
                </a:tc>
                <a:tc>
                  <a:txBody>
                    <a:bodyPr/>
                    <a:lstStyle/>
                    <a:p>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txBody>
                  <a:tcPr/>
                </a:tc>
                <a:tc>
                  <a:txBody>
                    <a:bodyPr/>
                    <a:lstStyle/>
                    <a:p>
                      <a:endParaRPr lang="en-GB" sz="800" dirty="0"/>
                    </a:p>
                  </a:txBody>
                  <a:tcPr/>
                </a:tc>
                <a:extLst>
                  <a:ext uri="{0D108BD9-81ED-4DB2-BD59-A6C34878D82A}">
                    <a16:rowId xmlns:a16="http://schemas.microsoft.com/office/drawing/2014/main" val="1242589453"/>
                  </a:ext>
                </a:extLst>
              </a:tr>
              <a:tr h="585303">
                <a:tc>
                  <a:txBody>
                    <a:bodyPr/>
                    <a:lstStyle/>
                    <a:p>
                      <a:r>
                        <a:rPr lang="en-GB" sz="800" dirty="0"/>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585303">
                <a:tc>
                  <a:txBody>
                    <a:bodyPr/>
                    <a:lstStyle/>
                    <a:p>
                      <a:r>
                        <a:rPr lang="en-GB" sz="800" dirty="0"/>
                        <a:t>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Obj_amcd_k9_lvl3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585303">
                <a:tc>
                  <a:txBody>
                    <a:bodyPr/>
                    <a:lstStyle/>
                    <a:p>
                      <a:r>
                        <a:rPr lang="en-GB" sz="800" dirty="0"/>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r>
                        <a:rPr lang="en-GB" sz="800" dirty="0"/>
                        <a:t>Obj_amcd_k9_lvl5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3698927783"/>
                  </a:ext>
                </a:extLst>
              </a:tr>
            </a:tbl>
          </a:graphicData>
        </a:graphic>
      </p:graphicFrame>
      <p:sp>
        <p:nvSpPr>
          <p:cNvPr id="2" name="TextBox 1">
            <a:extLst>
              <a:ext uri="{FF2B5EF4-FFF2-40B4-BE49-F238E27FC236}">
                <a16:creationId xmlns:a16="http://schemas.microsoft.com/office/drawing/2014/main" id="{F9129CF1-E1CC-4A65-2531-AC82C7C0D75D}"/>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24688705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675186991"/>
              </p:ext>
            </p:extLst>
          </p:nvPr>
        </p:nvGraphicFramePr>
        <p:xfrm>
          <a:off x="0" y="391886"/>
          <a:ext cx="12034157" cy="6266361"/>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536104">
                  <a:extLst>
                    <a:ext uri="{9D8B030D-6E8A-4147-A177-3AD203B41FA5}">
                      <a16:colId xmlns:a16="http://schemas.microsoft.com/office/drawing/2014/main" val="3102287305"/>
                    </a:ext>
                  </a:extLst>
                </a:gridCol>
                <a:gridCol w="84698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9.</a:t>
                      </a:r>
                    </a:p>
                  </a:txBody>
                  <a:tcPr/>
                </a:tc>
                <a:tc>
                  <a:txBody>
                    <a:bodyPr/>
                    <a:lstStyle/>
                    <a:p>
                      <a:r>
                        <a:rPr lang="en-GB" sz="800" dirty="0"/>
                        <a:t>Bulker Level 2 Enemy Movement Test</a:t>
                      </a:r>
                    </a:p>
                  </a:txBody>
                  <a:tcPr/>
                </a:tc>
                <a:tc>
                  <a:txBody>
                    <a:bodyPr/>
                    <a:lstStyle/>
                    <a:p>
                      <a:r>
                        <a:rPr lang="en-GB" sz="800" dirty="0"/>
                        <a:t>Rm_level2</a:t>
                      </a:r>
                    </a:p>
                  </a:txBody>
                  <a:tcPr/>
                </a:tc>
                <a:tc>
                  <a:txBody>
                    <a:bodyPr/>
                    <a:lstStyle/>
                    <a:p>
                      <a:r>
                        <a:rPr lang="en-GB" sz="800" dirty="0"/>
                        <a:t>Obj_amcd_bulker_level2</a:t>
                      </a:r>
                    </a:p>
                  </a:txBody>
                  <a:tcPr/>
                </a:tc>
                <a:tc>
                  <a:txBody>
                    <a:bodyPr/>
                    <a:lstStyle/>
                    <a:p>
                      <a:r>
                        <a:rPr lang="en-GB" sz="800" dirty="0"/>
                        <a:t>Bulker starts in Camera Zone 11 then makes his way towards the office. He can access zones 20,11,10,9,8,7.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10.</a:t>
                      </a:r>
                    </a:p>
                  </a:txBody>
                  <a:tcPr/>
                </a:tc>
                <a:tc>
                  <a:txBody>
                    <a:bodyPr/>
                    <a:lstStyle/>
                    <a:p>
                      <a:r>
                        <a:rPr lang="en-GB" sz="800" dirty="0"/>
                        <a:t>Bulker Level 3 Enemy Movement Test</a:t>
                      </a:r>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11.</a:t>
                      </a:r>
                    </a:p>
                  </a:txBody>
                  <a:tcPr/>
                </a:tc>
                <a:tc>
                  <a:txBody>
                    <a:bodyPr/>
                    <a:lstStyle/>
                    <a:p>
                      <a:r>
                        <a:rPr lang="en-GB" sz="800" dirty="0"/>
                        <a:t>Bulker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12.</a:t>
                      </a:r>
                    </a:p>
                  </a:txBody>
                  <a:tcPr/>
                </a:tc>
                <a:tc>
                  <a:txBody>
                    <a:bodyPr/>
                    <a:lstStyle/>
                    <a:p>
                      <a:r>
                        <a:rPr lang="en-GB" sz="800" dirty="0" err="1"/>
                        <a:t>Arach</a:t>
                      </a:r>
                      <a:r>
                        <a:rPr lang="en-GB" sz="800" dirty="0"/>
                        <a:t> Level 4 Enemy Movement Test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Obj_amcd_arach_level4</a:t>
                      </a:r>
                    </a:p>
                    <a:p>
                      <a:endParaRPr lang="en-GB" sz="800" dirty="0"/>
                    </a:p>
                  </a:txBody>
                  <a:tcPr/>
                </a:tc>
                <a:tc>
                  <a:txBody>
                    <a:bodyPr/>
                    <a:lstStyle/>
                    <a:p>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a:t>
                      </a:r>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13.</a:t>
                      </a:r>
                    </a:p>
                  </a:txBody>
                  <a:tcPr/>
                </a:tc>
                <a:tc>
                  <a:txBody>
                    <a:bodyPr/>
                    <a:lstStyle/>
                    <a:p>
                      <a:r>
                        <a:rPr lang="en-GB" sz="800" dirty="0" err="1"/>
                        <a:t>Arach</a:t>
                      </a:r>
                      <a:r>
                        <a:rPr lang="en-GB" sz="800" dirty="0"/>
                        <a:t>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14.</a:t>
                      </a:r>
                    </a:p>
                  </a:txBody>
                  <a:tcPr/>
                </a:tc>
                <a:tc>
                  <a:txBody>
                    <a:bodyPr/>
                    <a:lstStyle/>
                    <a:p>
                      <a:r>
                        <a:rPr lang="en-GB" sz="800" dirty="0"/>
                        <a:t>Prototype Level 4 Enemy  Movement Test</a:t>
                      </a:r>
                    </a:p>
                  </a:txBody>
                  <a:tcPr/>
                </a:tc>
                <a:tc>
                  <a:txBody>
                    <a:bodyPr/>
                    <a:lstStyle/>
                    <a:p>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Obj_amcd_prototype_level4</a:t>
                      </a:r>
                    </a:p>
                    <a:p>
                      <a:endParaRPr lang="en-GB" sz="800" dirty="0"/>
                    </a:p>
                  </a:txBody>
                  <a:tcPr/>
                </a:tc>
                <a:tc>
                  <a:txBody>
                    <a:bodyPr/>
                    <a:lstStyle/>
                    <a:p>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15.</a:t>
                      </a:r>
                    </a:p>
                  </a:txBody>
                  <a:tcPr/>
                </a:tc>
                <a:tc>
                  <a:txBody>
                    <a:bodyPr/>
                    <a:lstStyle/>
                    <a:p>
                      <a:r>
                        <a:rPr lang="en-GB" sz="800" dirty="0"/>
                        <a:t>Prototype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838271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518163840"/>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16.</a:t>
                      </a:r>
                    </a:p>
                  </a:txBody>
                  <a:tcPr/>
                </a:tc>
                <a:tc>
                  <a:txBody>
                    <a:bodyPr/>
                    <a:lstStyle/>
                    <a:p>
                      <a:r>
                        <a:rPr lang="en-GB" sz="800" dirty="0" err="1"/>
                        <a:t>Gwiber</a:t>
                      </a:r>
                      <a:r>
                        <a:rPr lang="en-GB" sz="800" dirty="0"/>
                        <a:t>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20.</a:t>
                      </a:r>
                    </a:p>
                  </a:txBody>
                  <a:tcPr/>
                </a:tc>
                <a:tc>
                  <a:txBody>
                    <a:bodyPr/>
                    <a:lstStyle/>
                    <a:p>
                      <a:r>
                        <a:rPr lang="en-GB" sz="800" dirty="0"/>
                        <a:t>K9 level 1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22.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r>
                        <a:rPr lang="en-GB" sz="800" dirty="0"/>
                        <a:t>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8023037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948560174"/>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24.</a:t>
                      </a:r>
                    </a:p>
                  </a:txBody>
                  <a:tcPr/>
                </a:tc>
                <a:tc>
                  <a:txBody>
                    <a:bodyPr/>
                    <a:lstStyle/>
                    <a:p>
                      <a:r>
                        <a:rPr lang="en-GB" sz="800" dirty="0"/>
                        <a:t>Bulker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25.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26.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28.</a:t>
                      </a:r>
                    </a:p>
                  </a:txBody>
                  <a:tcPr/>
                </a:tc>
                <a:tc>
                  <a:txBody>
                    <a:bodyPr/>
                    <a:lstStyle/>
                    <a:p>
                      <a:r>
                        <a:rPr lang="en-GB" sz="800" dirty="0"/>
                        <a:t>Prototype level 4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Prototype, Prototype‘s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level 5 watched</a:t>
                      </a:r>
                    </a:p>
                    <a:p>
                      <a:endParaRPr lang="en-GB" sz="800" dirty="0"/>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6938127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4069774066"/>
              </p:ext>
            </p:extLst>
          </p:nvPr>
        </p:nvGraphicFramePr>
        <p:xfrm>
          <a:off x="0" y="391886"/>
          <a:ext cx="12034157" cy="5697752"/>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30.</a:t>
                      </a:r>
                    </a:p>
                  </a:txBody>
                  <a:tcPr/>
                </a:tc>
                <a:tc>
                  <a:txBody>
                    <a:bodyPr/>
                    <a:lstStyle/>
                    <a:p>
                      <a:r>
                        <a:rPr lang="en-GB" sz="800" dirty="0" err="1"/>
                        <a:t>Gwiber</a:t>
                      </a:r>
                      <a:r>
                        <a:rPr lang="en-GB" sz="800" dirty="0"/>
                        <a:t> zone change level 1</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r h="648831">
                <a:tc>
                  <a:txBody>
                    <a:bodyPr/>
                    <a:lstStyle/>
                    <a:p>
                      <a:r>
                        <a:rPr lang="en-GB" sz="800" dirty="0"/>
                        <a:t>31.</a:t>
                      </a:r>
                    </a:p>
                  </a:txBody>
                  <a:tcPr/>
                </a:tc>
                <a:tc>
                  <a:txBody>
                    <a:bodyPr/>
                    <a:lstStyle/>
                    <a:p>
                      <a:r>
                        <a:rPr lang="en-GB" sz="800" dirty="0" err="1"/>
                        <a:t>Gwiber</a:t>
                      </a:r>
                      <a:r>
                        <a:rPr lang="en-GB" sz="800" dirty="0"/>
                        <a:t> zone change level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32.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33.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648831">
                <a:tc>
                  <a:txBody>
                    <a:bodyPr/>
                    <a:lstStyle/>
                    <a:p>
                      <a:r>
                        <a:rPr lang="en-GB" sz="800" dirty="0"/>
                        <a:t>34.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Obj_amcd_gwiber_lvl1</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r h="648831">
                <a:tc>
                  <a:txBody>
                    <a:bodyPr/>
                    <a:lstStyle/>
                    <a:p>
                      <a:r>
                        <a:rPr lang="en-GB" sz="800" dirty="0"/>
                        <a:t>35.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830951609"/>
                  </a:ext>
                </a:extLst>
              </a:tr>
              <a:tr h="648831">
                <a:tc>
                  <a:txBody>
                    <a:bodyPr/>
                    <a:lstStyle/>
                    <a:p>
                      <a:r>
                        <a:rPr lang="en-GB" sz="800" dirty="0"/>
                        <a:t>36.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951929266"/>
                  </a:ext>
                </a:extLst>
              </a:tr>
              <a:tr h="648831">
                <a:tc>
                  <a:txBody>
                    <a:bodyPr/>
                    <a:lstStyle/>
                    <a:p>
                      <a:r>
                        <a:rPr lang="en-GB" sz="800" dirty="0"/>
                        <a:t>37.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2263943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1004391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169553721"/>
              </p:ext>
            </p:extLst>
          </p:nvPr>
        </p:nvGraphicFramePr>
        <p:xfrm>
          <a:off x="0" y="391886"/>
          <a:ext cx="12034157" cy="5783707"/>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38.</a:t>
                      </a:r>
                    </a:p>
                  </a:txBody>
                  <a:tcPr/>
                </a:tc>
                <a:tc>
                  <a:txBody>
                    <a:bodyPr/>
                    <a:lstStyle/>
                    <a:p>
                      <a:r>
                        <a:rPr lang="en-GB" sz="800" dirty="0"/>
                        <a:t> Bulker zone change level 2</a:t>
                      </a:r>
                    </a:p>
                  </a:txBody>
                  <a:tcPr/>
                </a:tc>
                <a:tc>
                  <a:txBody>
                    <a:bodyPr/>
                    <a:lstStyle/>
                    <a:p>
                      <a:r>
                        <a:rPr lang="en-GB" sz="800" dirty="0"/>
                        <a:t>Rm_level2</a:t>
                      </a:r>
                    </a:p>
                  </a:txBody>
                  <a:tcPr/>
                </a:tc>
                <a:tc>
                  <a:txBody>
                    <a:bodyPr/>
                    <a:lstStyle/>
                    <a:p>
                      <a:r>
                        <a:rPr lang="en-GB" sz="800" dirty="0"/>
                        <a:t>Obj_amcd_bulker_lvl2</a:t>
                      </a:r>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r h="648831">
                <a:tc>
                  <a:txBody>
                    <a:bodyPr/>
                    <a:lstStyle/>
                    <a:p>
                      <a:r>
                        <a:rPr lang="en-GB" sz="800" dirty="0"/>
                        <a:t>39.</a:t>
                      </a:r>
                    </a:p>
                  </a:txBody>
                  <a:tcPr/>
                </a:tc>
                <a:tc>
                  <a:txBody>
                    <a:bodyPr/>
                    <a:lstStyle/>
                    <a:p>
                      <a:r>
                        <a:rPr lang="en-GB" sz="800" dirty="0"/>
                        <a:t>Bulker zone change level 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Obj_amcd_bulker_lvl3</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Obj_amcd_bulker_lvl5</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41.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734786">
                <a:tc>
                  <a:txBody>
                    <a:bodyPr/>
                    <a:lstStyle/>
                    <a:p>
                      <a:r>
                        <a:rPr lang="en-GB" sz="800" dirty="0"/>
                        <a:t>42.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r h="648831">
                <a:tc>
                  <a:txBody>
                    <a:bodyPr/>
                    <a:lstStyle/>
                    <a:p>
                      <a:r>
                        <a:rPr lang="en-GB" sz="800" dirty="0"/>
                        <a:t>43.</a:t>
                      </a:r>
                    </a:p>
                  </a:txBody>
                  <a:tcPr/>
                </a:tc>
                <a:tc>
                  <a:txBody>
                    <a:bodyPr/>
                    <a:lstStyle/>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830951609"/>
                  </a:ext>
                </a:extLst>
              </a:tr>
              <a:tr h="648831">
                <a:tc>
                  <a:txBody>
                    <a:bodyPr/>
                    <a:lstStyle/>
                    <a:p>
                      <a:r>
                        <a:rPr lang="en-GB" sz="800" dirty="0"/>
                        <a:t>44.</a:t>
                      </a:r>
                    </a:p>
                  </a:txBody>
                  <a:tcPr/>
                </a:tc>
                <a:tc>
                  <a:txBody>
                    <a:bodyPr/>
                    <a:lstStyle/>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951929266"/>
                  </a:ext>
                </a:extLst>
              </a:tr>
              <a:tr h="648831">
                <a:tc>
                  <a:txBody>
                    <a:bodyPr/>
                    <a:lstStyle/>
                    <a:p>
                      <a:r>
                        <a:rPr lang="en-GB" sz="800" dirty="0"/>
                        <a:t>45.</a:t>
                      </a:r>
                    </a:p>
                  </a:txBody>
                  <a:tcPr/>
                </a:tc>
                <a:tc>
                  <a:txBody>
                    <a:bodyPr/>
                    <a:lstStyle/>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2263943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2951916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4355</TotalTime>
  <Words>13739</Words>
  <Application>Microsoft Office PowerPoint</Application>
  <PresentationFormat>Widescreen</PresentationFormat>
  <Paragraphs>1268</Paragraphs>
  <Slides>48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48</vt:i4>
      </vt:variant>
    </vt:vector>
  </HeadingPairs>
  <TitlesOfParts>
    <vt:vector size="53" baseType="lpstr">
      <vt:lpstr>Aptos</vt:lpstr>
      <vt:lpstr>Aptos Display</vt:lpstr>
      <vt:lpstr>Arial</vt:lpstr>
      <vt:lpstr>Arial Narrow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Next Slides are the tests made for Build V.1.0 of Critical Failure  Testing  The each test will have a video to it at the end of this PowerPoint, showing the mechanic being tested.</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ieuan Jarvis</cp:lastModifiedBy>
  <cp:revision>410</cp:revision>
  <dcterms:created xsi:type="dcterms:W3CDTF">2025-10-10T09:00:53Z</dcterms:created>
  <dcterms:modified xsi:type="dcterms:W3CDTF">2026-02-16T13:41:21Z</dcterms:modified>
</cp:coreProperties>
</file>