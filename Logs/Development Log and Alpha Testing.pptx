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00_68C49C6.xml" ContentType="application/vnd.ms-powerpoint.comments+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8" r:id="rId3"/>
    <p:sldId id="259" r:id="rId4"/>
    <p:sldId id="260" r:id="rId5"/>
    <p:sldId id="261" r:id="rId6"/>
    <p:sldId id="262" r:id="rId7"/>
    <p:sldId id="263" r:id="rId8"/>
    <p:sldId id="257" r:id="rId9"/>
  </p:sldIdLst>
  <p:sldSz cx="12192000" cy="6858000"/>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66DD6F6-1B0B-2351-1B34-242F146A8762}" name="JAR24887099 (Ieuan Jarvis)" initials="JJ" userId="S::jar24887099@stu.gcs.ac.uk::ca6f5ab3-fc5c-42ee-a46c-5f4c8d500c2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3940E55-2AF4-3544-3025-A50D6A750F6B}" v="1069" dt="2025-10-10T09:15:25.501"/>
    <p1510:client id="{B3A2F057-D9CB-BEFB-7B99-58B46FACF419}" v="9" dt="2025-10-10T09:01:16.39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972" autoAdjust="0"/>
    <p:restoredTop sz="94660"/>
  </p:normalViewPr>
  <p:slideViewPr>
    <p:cSldViewPr snapToGrid="0">
      <p:cViewPr varScale="1">
        <p:scale>
          <a:sx n="116" d="100"/>
          <a:sy n="116" d="100"/>
        </p:scale>
        <p:origin x="108"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6"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5" Type="http://schemas.microsoft.com/office/2015/10/relationships/revisionInfo" Target="revisionInfo.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R24887099 (Ieuan Jarvis)" userId="S::jar24887099@stu.gcs.ac.uk::ca6f5ab3-fc5c-42ee-a46c-5f4c8d500c29" providerId="AD" clId="Web-{B3A2F057-D9CB-BEFB-7B99-58B46FACF419}"/>
    <pc:docChg chg="modSld">
      <pc:chgData name="JAR24887099 (Ieuan Jarvis)" userId="S::jar24887099@stu.gcs.ac.uk::ca6f5ab3-fc5c-42ee-a46c-5f4c8d500c29" providerId="AD" clId="Web-{B3A2F057-D9CB-BEFB-7B99-58B46FACF419}" dt="2025-10-10T09:01:16.390" v="6" actId="20577"/>
      <pc:docMkLst>
        <pc:docMk/>
      </pc:docMkLst>
      <pc:sldChg chg="addSp delSp modSp">
        <pc:chgData name="JAR24887099 (Ieuan Jarvis)" userId="S::jar24887099@stu.gcs.ac.uk::ca6f5ab3-fc5c-42ee-a46c-5f4c8d500c29" providerId="AD" clId="Web-{B3A2F057-D9CB-BEFB-7B99-58B46FACF419}" dt="2025-10-10T09:01:16.390" v="6" actId="20577"/>
        <pc:sldMkLst>
          <pc:docMk/>
          <pc:sldMk cId="109857222" sldId="256"/>
        </pc:sldMkLst>
        <pc:spChg chg="del">
          <ac:chgData name="JAR24887099 (Ieuan Jarvis)" userId="S::jar24887099@stu.gcs.ac.uk::ca6f5ab3-fc5c-42ee-a46c-5f4c8d500c29" providerId="AD" clId="Web-{B3A2F057-D9CB-BEFB-7B99-58B46FACF419}" dt="2025-10-10T09:01:06.671" v="1"/>
          <ac:spMkLst>
            <pc:docMk/>
            <pc:sldMk cId="109857222" sldId="256"/>
            <ac:spMk id="2" creationId="{00000000-0000-0000-0000-000000000000}"/>
          </ac:spMkLst>
        </pc:spChg>
        <pc:spChg chg="del">
          <ac:chgData name="JAR24887099 (Ieuan Jarvis)" userId="S::jar24887099@stu.gcs.ac.uk::ca6f5ab3-fc5c-42ee-a46c-5f4c8d500c29" providerId="AD" clId="Web-{B3A2F057-D9CB-BEFB-7B99-58B46FACF419}" dt="2025-10-10T09:01:06.671" v="0"/>
          <ac:spMkLst>
            <pc:docMk/>
            <pc:sldMk cId="109857222" sldId="256"/>
            <ac:spMk id="3" creationId="{00000000-0000-0000-0000-000000000000}"/>
          </ac:spMkLst>
        </pc:spChg>
        <pc:spChg chg="add mod">
          <ac:chgData name="JAR24887099 (Ieuan Jarvis)" userId="S::jar24887099@stu.gcs.ac.uk::ca6f5ab3-fc5c-42ee-a46c-5f4c8d500c29" providerId="AD" clId="Web-{B3A2F057-D9CB-BEFB-7B99-58B46FACF419}" dt="2025-10-10T09:01:16.390" v="6" actId="20577"/>
          <ac:spMkLst>
            <pc:docMk/>
            <pc:sldMk cId="109857222" sldId="256"/>
            <ac:spMk id="4" creationId="{411363CF-6A0B-0B94-74A0-D17285299A62}"/>
          </ac:spMkLst>
        </pc:spChg>
      </pc:sldChg>
    </pc:docChg>
  </pc:docChgLst>
  <pc:docChgLst>
    <pc:chgData name="JAR24887099 (Ieuan Jarvis)" userId="S::jar24887099@stu.gcs.ac.uk::ca6f5ab3-fc5c-42ee-a46c-5f4c8d500c29" providerId="AD" clId="Web-{A3940E55-2AF4-3544-3025-A50D6A750F6B}"/>
    <pc:docChg chg="mod addSld delSld modSld">
      <pc:chgData name="JAR24887099 (Ieuan Jarvis)" userId="S::jar24887099@stu.gcs.ac.uk::ca6f5ab3-fc5c-42ee-a46c-5f4c8d500c29" providerId="AD" clId="Web-{A3940E55-2AF4-3544-3025-A50D6A750F6B}" dt="2025-10-10T09:14:48.936" v="989"/>
      <pc:docMkLst>
        <pc:docMk/>
      </pc:docMkLst>
      <pc:sldChg chg="addSp modSp">
        <pc:chgData name="JAR24887099 (Ieuan Jarvis)" userId="S::jar24887099@stu.gcs.ac.uk::ca6f5ab3-fc5c-42ee-a46c-5f4c8d500c29" providerId="AD" clId="Web-{A3940E55-2AF4-3544-3025-A50D6A750F6B}" dt="2025-10-10T09:05:44.769" v="142" actId="20577"/>
        <pc:sldMkLst>
          <pc:docMk/>
          <pc:sldMk cId="109857222" sldId="256"/>
        </pc:sldMkLst>
        <pc:spChg chg="add mod">
          <ac:chgData name="JAR24887099 (Ieuan Jarvis)" userId="S::jar24887099@stu.gcs.ac.uk::ca6f5ab3-fc5c-42ee-a46c-5f4c8d500c29" providerId="AD" clId="Web-{A3940E55-2AF4-3544-3025-A50D6A750F6B}" dt="2025-10-10T09:05:41.769" v="140" actId="20577"/>
          <ac:spMkLst>
            <pc:docMk/>
            <pc:sldMk cId="109857222" sldId="256"/>
            <ac:spMk id="2" creationId="{AF1B1338-8017-36DE-855E-3547A044D322}"/>
          </ac:spMkLst>
        </pc:spChg>
        <pc:spChg chg="add mod">
          <ac:chgData name="JAR24887099 (Ieuan Jarvis)" userId="S::jar24887099@stu.gcs.ac.uk::ca6f5ab3-fc5c-42ee-a46c-5f4c8d500c29" providerId="AD" clId="Web-{A3940E55-2AF4-3544-3025-A50D6A750F6B}" dt="2025-10-10T09:05:38.909" v="138" actId="20577"/>
          <ac:spMkLst>
            <pc:docMk/>
            <pc:sldMk cId="109857222" sldId="256"/>
            <ac:spMk id="3" creationId="{ABD11597-3654-1961-B5A6-D8586A06F825}"/>
          </ac:spMkLst>
        </pc:spChg>
        <pc:spChg chg="mod">
          <ac:chgData name="JAR24887099 (Ieuan Jarvis)" userId="S::jar24887099@stu.gcs.ac.uk::ca6f5ab3-fc5c-42ee-a46c-5f4c8d500c29" providerId="AD" clId="Web-{A3940E55-2AF4-3544-3025-A50D6A750F6B}" dt="2025-10-10T09:05:44.769" v="142" actId="20577"/>
          <ac:spMkLst>
            <pc:docMk/>
            <pc:sldMk cId="109857222" sldId="256"/>
            <ac:spMk id="4" creationId="{411363CF-6A0B-0B94-74A0-D17285299A62}"/>
          </ac:spMkLst>
        </pc:spChg>
        <pc:spChg chg="add mod">
          <ac:chgData name="JAR24887099 (Ieuan Jarvis)" userId="S::jar24887099@stu.gcs.ac.uk::ca6f5ab3-fc5c-42ee-a46c-5f4c8d500c29" providerId="AD" clId="Web-{A3940E55-2AF4-3544-3025-A50D6A750F6B}" dt="2025-10-10T09:04:00.016" v="75"/>
          <ac:spMkLst>
            <pc:docMk/>
            <pc:sldMk cId="109857222" sldId="256"/>
            <ac:spMk id="5" creationId="{DCA695A0-909F-2E29-C934-FA8D8A2486AB}"/>
          </ac:spMkLst>
        </pc:spChg>
        <pc:spChg chg="add mod">
          <ac:chgData name="JAR24887099 (Ieuan Jarvis)" userId="S::jar24887099@stu.gcs.ac.uk::ca6f5ab3-fc5c-42ee-a46c-5f4c8d500c29" providerId="AD" clId="Web-{A3940E55-2AF4-3544-3025-A50D6A750F6B}" dt="2025-10-10T09:05:32.800" v="137" actId="1076"/>
          <ac:spMkLst>
            <pc:docMk/>
            <pc:sldMk cId="109857222" sldId="256"/>
            <ac:spMk id="6" creationId="{E0A8C236-FDA4-5077-8330-330C0462E935}"/>
          </ac:spMkLst>
        </pc:spChg>
      </pc:sldChg>
      <pc:sldChg chg="addSp delSp modSp new">
        <pc:chgData name="JAR24887099 (Ieuan Jarvis)" userId="S::jar24887099@stu.gcs.ac.uk::ca6f5ab3-fc5c-42ee-a46c-5f4c8d500c29" providerId="AD" clId="Web-{A3940E55-2AF4-3544-3025-A50D6A750F6B}" dt="2025-10-10T09:14:48.936" v="989"/>
        <pc:sldMkLst>
          <pc:docMk/>
          <pc:sldMk cId="701652988" sldId="257"/>
        </pc:sldMkLst>
        <pc:spChg chg="del">
          <ac:chgData name="JAR24887099 (Ieuan Jarvis)" userId="S::jar24887099@stu.gcs.ac.uk::ca6f5ab3-fc5c-42ee-a46c-5f4c8d500c29" providerId="AD" clId="Web-{A3940E55-2AF4-3544-3025-A50D6A750F6B}" dt="2025-10-10T09:08:31.391" v="173"/>
          <ac:spMkLst>
            <pc:docMk/>
            <pc:sldMk cId="701652988" sldId="257"/>
            <ac:spMk id="2" creationId="{0EEC1063-2DF2-D0CD-513B-57D80D7776B4}"/>
          </ac:spMkLst>
        </pc:spChg>
        <pc:spChg chg="del">
          <ac:chgData name="JAR24887099 (Ieuan Jarvis)" userId="S::jar24887099@stu.gcs.ac.uk::ca6f5ab3-fc5c-42ee-a46c-5f4c8d500c29" providerId="AD" clId="Web-{A3940E55-2AF4-3544-3025-A50D6A750F6B}" dt="2025-10-10T09:08:31.391" v="172"/>
          <ac:spMkLst>
            <pc:docMk/>
            <pc:sldMk cId="701652988" sldId="257"/>
            <ac:spMk id="3" creationId="{1B690A7A-A4D2-02CD-5446-FF2B884F7FFB}"/>
          </ac:spMkLst>
        </pc:spChg>
        <pc:graphicFrameChg chg="add mod modGraphic">
          <ac:chgData name="JAR24887099 (Ieuan Jarvis)" userId="S::jar24887099@stu.gcs.ac.uk::ca6f5ab3-fc5c-42ee-a46c-5f4c8d500c29" providerId="AD" clId="Web-{A3940E55-2AF4-3544-3025-A50D6A750F6B}" dt="2025-10-10T09:14:48.936" v="989"/>
          <ac:graphicFrameMkLst>
            <pc:docMk/>
            <pc:sldMk cId="701652988" sldId="257"/>
            <ac:graphicFrameMk id="4" creationId="{CCDCD7CC-FF07-70A3-611E-3D7FC910C776}"/>
          </ac:graphicFrameMkLst>
        </pc:graphicFrameChg>
      </pc:sldChg>
      <pc:sldChg chg="addSp delSp modSp new del">
        <pc:chgData name="JAR24887099 (Ieuan Jarvis)" userId="S::jar24887099@stu.gcs.ac.uk::ca6f5ab3-fc5c-42ee-a46c-5f4c8d500c29" providerId="AD" clId="Web-{A3940E55-2AF4-3544-3025-A50D6A750F6B}" dt="2025-10-10T09:07:07.834" v="170"/>
        <pc:sldMkLst>
          <pc:docMk/>
          <pc:sldMk cId="3088267700" sldId="257"/>
        </pc:sldMkLst>
        <pc:spChg chg="del mod">
          <ac:chgData name="JAR24887099 (Ieuan Jarvis)" userId="S::jar24887099@stu.gcs.ac.uk::ca6f5ab3-fc5c-42ee-a46c-5f4c8d500c29" providerId="AD" clId="Web-{A3940E55-2AF4-3544-3025-A50D6A750F6B}" dt="2025-10-10T09:06:38.677" v="147"/>
          <ac:spMkLst>
            <pc:docMk/>
            <pc:sldMk cId="3088267700" sldId="257"/>
            <ac:spMk id="2" creationId="{DDA1E1D6-71F2-F10E-BDC0-1C33E5FF6D59}"/>
          </ac:spMkLst>
        </pc:spChg>
        <pc:spChg chg="del">
          <ac:chgData name="JAR24887099 (Ieuan Jarvis)" userId="S::jar24887099@stu.gcs.ac.uk::ca6f5ab3-fc5c-42ee-a46c-5f4c8d500c29" providerId="AD" clId="Web-{A3940E55-2AF4-3544-3025-A50D6A750F6B}" dt="2025-10-10T09:06:38.677" v="146"/>
          <ac:spMkLst>
            <pc:docMk/>
            <pc:sldMk cId="3088267700" sldId="257"/>
            <ac:spMk id="3" creationId="{CC1E8614-F299-DCDF-537B-EB1DC3AB50B3}"/>
          </ac:spMkLst>
        </pc:spChg>
        <pc:spChg chg="add del mod">
          <ac:chgData name="JAR24887099 (Ieuan Jarvis)" userId="S::jar24887099@stu.gcs.ac.uk::ca6f5ab3-fc5c-42ee-a46c-5f4c8d500c29" providerId="AD" clId="Web-{A3940E55-2AF4-3544-3025-A50D6A750F6B}" dt="2025-10-10T09:06:41.005" v="148"/>
          <ac:spMkLst>
            <pc:docMk/>
            <pc:sldMk cId="3088267700" sldId="257"/>
            <ac:spMk id="5" creationId="{20E164F1-1C43-5F77-66C7-26177399F608}"/>
          </ac:spMkLst>
        </pc:spChg>
        <pc:graphicFrameChg chg="add del mod modGraphic">
          <ac:chgData name="JAR24887099 (Ieuan Jarvis)" userId="S::jar24887099@stu.gcs.ac.uk::ca6f5ab3-fc5c-42ee-a46c-5f4c8d500c29" providerId="AD" clId="Web-{A3940E55-2AF4-3544-3025-A50D6A750F6B}" dt="2025-10-10T09:07:05.537" v="169"/>
          <ac:graphicFrameMkLst>
            <pc:docMk/>
            <pc:sldMk cId="3088267700" sldId="257"/>
            <ac:graphicFrameMk id="6" creationId="{04FB4B92-84C5-47B6-B143-3E14DC51B47E}"/>
          </ac:graphicFrameMkLst>
        </pc:graphicFrameChg>
      </pc:sldChg>
    </pc:docChg>
  </pc:docChgLst>
</pc:chgInfo>
</file>

<file path=ppt/comments/modernComment_100_68C49C6.xml><?xml version="1.0" encoding="utf-8"?>
<p188:cmLst xmlns:a="http://schemas.openxmlformats.org/drawingml/2006/main" xmlns:r="http://schemas.openxmlformats.org/officeDocument/2006/relationships" xmlns:p188="http://schemas.microsoft.com/office/powerpoint/2018/8/main">
  <p188:cm id="{6DB92719-FE1B-4F64-AAC0-8BCEB8A4943A}" authorId="{566DD6F6-1B0B-2351-1B34-242F146A8762}" created="2025-10-10T09:06:24.583">
    <pc:sldMkLst xmlns:pc="http://schemas.microsoft.com/office/powerpoint/2013/main/command">
      <pc:docMk/>
      <pc:sldMk cId="109857222" sldId="256"/>
    </pc:sldMkLst>
    <p188:txBody>
      <a:bodyPr/>
      <a:lstStyle/>
      <a:p>
        <a:r>
          <a:rPr lang="en-GB"/>
          <a:t>Template Slide</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02/01/2026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02/01/2026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02/01/2026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02/01/2026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02/01/2026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02/01/2026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02/01/2026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02/01/2026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02/01/2026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02/01/2026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02/01/2026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GB"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GB" smtClean="0"/>
              <a:t>02/01/2026</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microsoft.com/office/2018/10/relationships/comments" Target="../comments/modernComment_100_68C49C6.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1363CF-6A0B-0B94-74A0-D17285299A62}"/>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21/11/2025</a:t>
            </a:r>
          </a:p>
        </p:txBody>
      </p:sp>
      <p:sp>
        <p:nvSpPr>
          <p:cNvPr id="2" name="TextBox 1">
            <a:extLst>
              <a:ext uri="{FF2B5EF4-FFF2-40B4-BE49-F238E27FC236}">
                <a16:creationId xmlns:a16="http://schemas.microsoft.com/office/drawing/2014/main" id="{AF1B1338-8017-36DE-855E-3547A044D322}"/>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ABD11597-3654-1961-B5A6-D8586A06F825}"/>
              </a:ext>
            </a:extLst>
          </p:cNvPr>
          <p:cNvSpPr txBox="1"/>
          <p:nvPr/>
        </p:nvSpPr>
        <p:spPr>
          <a:xfrm>
            <a:off x="5648215" y="563289"/>
            <a:ext cx="3926490" cy="59708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600" dirty="0"/>
          </a:p>
          <a:p>
            <a:r>
              <a:rPr lang="en-GB" sz="1600" dirty="0"/>
              <a:t>I have finished outlining the design for the main office room.</a:t>
            </a:r>
          </a:p>
          <a:p>
            <a:endParaRPr lang="en-GB" sz="1600" dirty="0"/>
          </a:p>
          <a:p>
            <a:r>
              <a:rPr lang="en-GB" sz="1600" dirty="0"/>
              <a:t>I have corrected my enemies AMCD-01 to 04 to remove weird white spots left by the fill tool and now they are ready to be used in the game.</a:t>
            </a:r>
          </a:p>
          <a:p>
            <a:endParaRPr lang="en-GB" sz="1600" dirty="0"/>
          </a:p>
          <a:p>
            <a:r>
              <a:rPr lang="en-GB" sz="1600" dirty="0"/>
              <a:t>I have created the design/animation stages for the doors.</a:t>
            </a:r>
          </a:p>
          <a:p>
            <a:endParaRPr lang="en-GB" sz="1600" dirty="0"/>
          </a:p>
          <a:p>
            <a:r>
              <a:rPr lang="en-GB" sz="1600" dirty="0"/>
              <a:t>I have designed the buttons.</a:t>
            </a:r>
          </a:p>
          <a:p>
            <a:endParaRPr lang="en-GB" sz="1600" dirty="0"/>
          </a:p>
          <a:p>
            <a:r>
              <a:rPr lang="en-GB" sz="1600" dirty="0"/>
              <a:t>Lastly, I have begun adding the designs into Gamemaker and going over them, refining them to look cleaner.</a:t>
            </a:r>
          </a:p>
          <a:p>
            <a:endParaRPr lang="en-GB" sz="1600" dirty="0"/>
          </a:p>
          <a:p>
            <a:r>
              <a:rPr lang="en-GB" sz="1600" dirty="0"/>
              <a:t>Note: I made the backgrounds black to show them in a much darker environment, I do have PNG images of them with transparent backgrounds as to make them easier to use In Game Maker.</a:t>
            </a:r>
          </a:p>
        </p:txBody>
      </p:sp>
      <p:sp>
        <p:nvSpPr>
          <p:cNvPr id="6" name="TextBox 5">
            <a:extLst>
              <a:ext uri="{FF2B5EF4-FFF2-40B4-BE49-F238E27FC236}">
                <a16:creationId xmlns:a16="http://schemas.microsoft.com/office/drawing/2014/main" id="{E0A8C236-FDA4-5077-8330-330C0462E935}"/>
              </a:ext>
            </a:extLst>
          </p:cNvPr>
          <p:cNvSpPr txBox="1"/>
          <p:nvPr/>
        </p:nvSpPr>
        <p:spPr>
          <a:xfrm>
            <a:off x="9651124" y="54413"/>
            <a:ext cx="2438400" cy="544764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Study more about the specific GML code needed for enemy AI/Camera system</a:t>
            </a:r>
          </a:p>
          <a:p>
            <a:endParaRPr lang="en-GB" sz="1200" dirty="0"/>
          </a:p>
          <a:p>
            <a:r>
              <a:rPr lang="en-GB" sz="1200" dirty="0"/>
              <a:t>Enemy behaviour is unique between different enemies, as such they will have unique code.</a:t>
            </a:r>
          </a:p>
          <a:p>
            <a:endParaRPr lang="en-GB" sz="1200" dirty="0"/>
          </a:p>
          <a:p>
            <a:r>
              <a:rPr lang="en-GB" sz="1200" dirty="0"/>
              <a:t>Map Out zone's layout inside the main room.</a:t>
            </a:r>
          </a:p>
          <a:p>
            <a:endParaRPr lang="en-GB" sz="1200" dirty="0"/>
          </a:p>
          <a:p>
            <a:r>
              <a:rPr lang="en-GB" sz="1200" dirty="0"/>
              <a:t>Design Menu/Start-Up Screens.</a:t>
            </a:r>
          </a:p>
          <a:p>
            <a:endParaRPr lang="en-GB" sz="1200" dirty="0"/>
          </a:p>
          <a:p>
            <a:r>
              <a:rPr lang="en-GB" sz="1200" dirty="0"/>
              <a:t>Create the rest of the sprites ready for when their designs are ready.</a:t>
            </a:r>
          </a:p>
          <a:p>
            <a:endParaRPr lang="en-GB" sz="1200" dirty="0"/>
          </a:p>
          <a:p>
            <a:r>
              <a:rPr lang="en-GB" sz="1200" dirty="0"/>
              <a:t>Make the zones sprite canvas 1000x500 and give them a bold colour to start so you can begin mapping out the layout.</a:t>
            </a:r>
          </a:p>
          <a:p>
            <a:endParaRPr lang="en-GB" sz="1200" dirty="0"/>
          </a:p>
          <a:p>
            <a:r>
              <a:rPr lang="en-GB" sz="1200" dirty="0"/>
              <a:t>Also, attempt to make the main room as large as possible as to have more flexibility when designing the levels/layouts/zones.</a:t>
            </a:r>
            <a:endParaRPr lang="en-GB" sz="1600" dirty="0"/>
          </a:p>
        </p:txBody>
      </p:sp>
      <p:pic>
        <p:nvPicPr>
          <p:cNvPr id="8" name="Picture 7">
            <a:extLst>
              <a:ext uri="{FF2B5EF4-FFF2-40B4-BE49-F238E27FC236}">
                <a16:creationId xmlns:a16="http://schemas.microsoft.com/office/drawing/2014/main" id="{90DE02DD-7C0E-6907-4524-E440B9972EA2}"/>
              </a:ext>
            </a:extLst>
          </p:cNvPr>
          <p:cNvPicPr>
            <a:picLocks noChangeAspect="1"/>
          </p:cNvPicPr>
          <p:nvPr/>
        </p:nvPicPr>
        <p:blipFill>
          <a:blip r:embed="rId3"/>
          <a:srcRect t="23826"/>
          <a:stretch>
            <a:fillRect/>
          </a:stretch>
        </p:blipFill>
        <p:spPr>
          <a:xfrm>
            <a:off x="0" y="0"/>
            <a:ext cx="2352947" cy="1800970"/>
          </a:xfrm>
          <a:prstGeom prst="rect">
            <a:avLst/>
          </a:prstGeom>
        </p:spPr>
      </p:pic>
      <p:pic>
        <p:nvPicPr>
          <p:cNvPr id="12" name="Picture 11">
            <a:extLst>
              <a:ext uri="{FF2B5EF4-FFF2-40B4-BE49-F238E27FC236}">
                <a16:creationId xmlns:a16="http://schemas.microsoft.com/office/drawing/2014/main" id="{CD3F6F9B-E283-0871-5618-BF2AD8C13C8A}"/>
              </a:ext>
            </a:extLst>
          </p:cNvPr>
          <p:cNvPicPr>
            <a:picLocks noChangeAspect="1"/>
          </p:cNvPicPr>
          <p:nvPr/>
        </p:nvPicPr>
        <p:blipFill>
          <a:blip r:embed="rId4"/>
          <a:stretch>
            <a:fillRect/>
          </a:stretch>
        </p:blipFill>
        <p:spPr>
          <a:xfrm>
            <a:off x="2429366" y="0"/>
            <a:ext cx="2289200" cy="2160799"/>
          </a:xfrm>
          <a:prstGeom prst="rect">
            <a:avLst/>
          </a:prstGeom>
        </p:spPr>
      </p:pic>
      <p:pic>
        <p:nvPicPr>
          <p:cNvPr id="14" name="Picture 13">
            <a:extLst>
              <a:ext uri="{FF2B5EF4-FFF2-40B4-BE49-F238E27FC236}">
                <a16:creationId xmlns:a16="http://schemas.microsoft.com/office/drawing/2014/main" id="{70CA2CA6-EDA2-4A0C-CE49-43EDB705BF03}"/>
              </a:ext>
            </a:extLst>
          </p:cNvPr>
          <p:cNvPicPr>
            <a:picLocks noChangeAspect="1"/>
          </p:cNvPicPr>
          <p:nvPr/>
        </p:nvPicPr>
        <p:blipFill>
          <a:blip r:embed="rId5"/>
          <a:stretch>
            <a:fillRect/>
          </a:stretch>
        </p:blipFill>
        <p:spPr>
          <a:xfrm>
            <a:off x="1738645" y="2210227"/>
            <a:ext cx="3630800" cy="2415388"/>
          </a:xfrm>
          <a:prstGeom prst="rect">
            <a:avLst/>
          </a:prstGeom>
        </p:spPr>
      </p:pic>
      <p:pic>
        <p:nvPicPr>
          <p:cNvPr id="16" name="Picture 15">
            <a:extLst>
              <a:ext uri="{FF2B5EF4-FFF2-40B4-BE49-F238E27FC236}">
                <a16:creationId xmlns:a16="http://schemas.microsoft.com/office/drawing/2014/main" id="{7AED7DA6-F548-9D5E-1F49-049474294DB4}"/>
              </a:ext>
            </a:extLst>
          </p:cNvPr>
          <p:cNvPicPr>
            <a:picLocks noChangeAspect="1"/>
          </p:cNvPicPr>
          <p:nvPr/>
        </p:nvPicPr>
        <p:blipFill>
          <a:blip r:embed="rId6"/>
          <a:srcRect l="10547" r="31860"/>
          <a:stretch>
            <a:fillRect/>
          </a:stretch>
        </p:blipFill>
        <p:spPr>
          <a:xfrm>
            <a:off x="-1" y="2059622"/>
            <a:ext cx="1585600" cy="581106"/>
          </a:xfrm>
          <a:prstGeom prst="rect">
            <a:avLst/>
          </a:prstGeom>
        </p:spPr>
      </p:pic>
      <p:pic>
        <p:nvPicPr>
          <p:cNvPr id="18" name="Picture 17">
            <a:extLst>
              <a:ext uri="{FF2B5EF4-FFF2-40B4-BE49-F238E27FC236}">
                <a16:creationId xmlns:a16="http://schemas.microsoft.com/office/drawing/2014/main" id="{19EB194A-4303-246E-A8F0-35BE6AB86E18}"/>
              </a:ext>
            </a:extLst>
          </p:cNvPr>
          <p:cNvPicPr>
            <a:picLocks noChangeAspect="1"/>
          </p:cNvPicPr>
          <p:nvPr/>
        </p:nvPicPr>
        <p:blipFill>
          <a:blip r:embed="rId7"/>
          <a:srcRect r="17625" b="10853"/>
          <a:stretch>
            <a:fillRect/>
          </a:stretch>
        </p:blipFill>
        <p:spPr>
          <a:xfrm>
            <a:off x="62861" y="2756530"/>
            <a:ext cx="1599365" cy="3700233"/>
          </a:xfrm>
          <a:prstGeom prst="rect">
            <a:avLst/>
          </a:prstGeom>
        </p:spPr>
      </p:pic>
      <p:pic>
        <p:nvPicPr>
          <p:cNvPr id="7" name="Picture 6" descr="A blue rhinoceros with red eyes">
            <a:extLst>
              <a:ext uri="{FF2B5EF4-FFF2-40B4-BE49-F238E27FC236}">
                <a16:creationId xmlns:a16="http://schemas.microsoft.com/office/drawing/2014/main" id="{0F8F764B-4E33-6B63-2454-0E3138EA0DFC}"/>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940996" y="4625615"/>
            <a:ext cx="3348578" cy="2232385"/>
          </a:xfrm>
          <a:prstGeom prst="rect">
            <a:avLst/>
          </a:prstGeom>
        </p:spPr>
      </p:pic>
    </p:spTree>
    <p:extLst>
      <p:ext uri="{BB962C8B-B14F-4D97-AF65-F5344CB8AC3E}">
        <p14:creationId xmlns:p14="http://schemas.microsoft.com/office/powerpoint/2010/main" val="109857222"/>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39EC-F8FE-ADA9-EA59-F1EC36434BD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6BDE55-6263-8575-7C13-EC317449D25F}"/>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6165D850-749B-B97D-752E-BEC348B613E1}"/>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B05434DB-BE74-90C9-E4A8-6FC8304041B7}"/>
              </a:ext>
            </a:extLst>
          </p:cNvPr>
          <p:cNvSpPr txBox="1"/>
          <p:nvPr/>
        </p:nvSpPr>
        <p:spPr>
          <a:xfrm>
            <a:off x="5648215" y="563289"/>
            <a:ext cx="3926490" cy="443198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Colour coded each zone and named them correctly. These are to be used temporarily before the official designs are completed. The grey coloured zones are for the front views of both the vents and the doors.</a:t>
            </a:r>
          </a:p>
          <a:p>
            <a:endParaRPr lang="en-GB" sz="1400" dirty="0"/>
          </a:p>
          <a:p>
            <a:r>
              <a:rPr lang="en-GB" sz="1400" dirty="0"/>
              <a:t>I have also Created a template for the Office.</a:t>
            </a:r>
          </a:p>
          <a:p>
            <a:r>
              <a:rPr lang="en-GB" sz="1400" dirty="0"/>
              <a:t>The Office will have a set size of 3000x1050, and the zones will have a set size of 2000x1050.</a:t>
            </a:r>
          </a:p>
          <a:p>
            <a:endParaRPr lang="en-GB" sz="1400" dirty="0"/>
          </a:p>
          <a:p>
            <a:r>
              <a:rPr lang="en-GB" sz="1400" dirty="0"/>
              <a:t>The Buttons for both the vents and doors are made in Game Maker and will be 200x300px to have more flexibility in designing.</a:t>
            </a:r>
          </a:p>
          <a:p>
            <a:endParaRPr lang="en-GB" sz="1400" dirty="0"/>
          </a:p>
          <a:p>
            <a:r>
              <a:rPr lang="en-GB" sz="1400" dirty="0"/>
              <a:t>The Camera button will start off being 300x100.</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5D546EC8-C3EF-D2D7-4576-CD84485BAD0C}"/>
              </a:ext>
            </a:extLst>
          </p:cNvPr>
          <p:cNvSpPr txBox="1"/>
          <p:nvPr/>
        </p:nvSpPr>
        <p:spPr>
          <a:xfrm>
            <a:off x="9642445" y="54237"/>
            <a:ext cx="2438400" cy="175432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Allocate each zone to a location and name them specific to what contents are in it. For Example, 2 zones will be named obj_left_corridor and obj_left_corridor.</a:t>
            </a:r>
          </a:p>
          <a:p>
            <a:endParaRPr lang="en-GB" sz="1200" dirty="0"/>
          </a:p>
        </p:txBody>
      </p:sp>
      <p:pic>
        <p:nvPicPr>
          <p:cNvPr id="9" name="Picture 8">
            <a:extLst>
              <a:ext uri="{FF2B5EF4-FFF2-40B4-BE49-F238E27FC236}">
                <a16:creationId xmlns:a16="http://schemas.microsoft.com/office/drawing/2014/main" id="{D5DA7A1B-0205-F5E4-D017-A101709C5534}"/>
              </a:ext>
            </a:extLst>
          </p:cNvPr>
          <p:cNvPicPr>
            <a:picLocks noChangeAspect="1"/>
          </p:cNvPicPr>
          <p:nvPr/>
        </p:nvPicPr>
        <p:blipFill>
          <a:blip r:embed="rId2"/>
          <a:stretch>
            <a:fillRect/>
          </a:stretch>
        </p:blipFill>
        <p:spPr>
          <a:xfrm>
            <a:off x="35660" y="54237"/>
            <a:ext cx="2581635" cy="2152950"/>
          </a:xfrm>
          <a:prstGeom prst="rect">
            <a:avLst/>
          </a:prstGeom>
        </p:spPr>
      </p:pic>
      <p:pic>
        <p:nvPicPr>
          <p:cNvPr id="19" name="Picture 18">
            <a:extLst>
              <a:ext uri="{FF2B5EF4-FFF2-40B4-BE49-F238E27FC236}">
                <a16:creationId xmlns:a16="http://schemas.microsoft.com/office/drawing/2014/main" id="{094D053A-FA5D-5E1A-4596-4B1AB3899244}"/>
              </a:ext>
            </a:extLst>
          </p:cNvPr>
          <p:cNvPicPr>
            <a:picLocks noChangeAspect="1"/>
          </p:cNvPicPr>
          <p:nvPr/>
        </p:nvPicPr>
        <p:blipFill>
          <a:blip r:embed="rId3"/>
          <a:stretch>
            <a:fillRect/>
          </a:stretch>
        </p:blipFill>
        <p:spPr>
          <a:xfrm>
            <a:off x="3200014" y="90120"/>
            <a:ext cx="2372056" cy="4239217"/>
          </a:xfrm>
          <a:prstGeom prst="rect">
            <a:avLst/>
          </a:prstGeom>
        </p:spPr>
      </p:pic>
      <p:pic>
        <p:nvPicPr>
          <p:cNvPr id="23" name="Picture 22">
            <a:extLst>
              <a:ext uri="{FF2B5EF4-FFF2-40B4-BE49-F238E27FC236}">
                <a16:creationId xmlns:a16="http://schemas.microsoft.com/office/drawing/2014/main" id="{BA939C8F-A31D-6446-512C-312CE13E262F}"/>
              </a:ext>
            </a:extLst>
          </p:cNvPr>
          <p:cNvPicPr>
            <a:picLocks noChangeAspect="1"/>
          </p:cNvPicPr>
          <p:nvPr/>
        </p:nvPicPr>
        <p:blipFill>
          <a:blip r:embed="rId4"/>
          <a:srcRect r="3135"/>
          <a:stretch>
            <a:fillRect/>
          </a:stretch>
        </p:blipFill>
        <p:spPr>
          <a:xfrm>
            <a:off x="149942" y="2348393"/>
            <a:ext cx="2353069" cy="1495634"/>
          </a:xfrm>
          <a:prstGeom prst="rect">
            <a:avLst/>
          </a:prstGeom>
        </p:spPr>
      </p:pic>
      <p:pic>
        <p:nvPicPr>
          <p:cNvPr id="25" name="Picture 24">
            <a:extLst>
              <a:ext uri="{FF2B5EF4-FFF2-40B4-BE49-F238E27FC236}">
                <a16:creationId xmlns:a16="http://schemas.microsoft.com/office/drawing/2014/main" id="{366848E6-9BE0-02B5-CC0F-5C6426CD62E4}"/>
              </a:ext>
            </a:extLst>
          </p:cNvPr>
          <p:cNvPicPr>
            <a:picLocks noChangeAspect="1"/>
          </p:cNvPicPr>
          <p:nvPr/>
        </p:nvPicPr>
        <p:blipFill>
          <a:blip r:embed="rId5"/>
          <a:stretch>
            <a:fillRect/>
          </a:stretch>
        </p:blipFill>
        <p:spPr>
          <a:xfrm>
            <a:off x="59421" y="4376015"/>
            <a:ext cx="4326621" cy="2481985"/>
          </a:xfrm>
          <a:prstGeom prst="rect">
            <a:avLst/>
          </a:prstGeom>
        </p:spPr>
      </p:pic>
    </p:spTree>
    <p:extLst>
      <p:ext uri="{BB962C8B-B14F-4D97-AF65-F5344CB8AC3E}">
        <p14:creationId xmlns:p14="http://schemas.microsoft.com/office/powerpoint/2010/main" val="23685999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I used View port feature on game maker to have the main camera be focused on the office.</a:t>
            </a:r>
          </a:p>
          <a:p>
            <a:endParaRPr lang="en-GB" sz="1400" dirty="0"/>
          </a:p>
          <a:p>
            <a:r>
              <a:rPr lang="en-GB" sz="1400" dirty="0"/>
              <a:t>The code below is the camera, that when I put in camera_apply or shift view onto a button Object it will change OBJ_Camera’s position within the room. It is not done yet but is a massive leap in completing one of my most advanced mechanics.</a:t>
            </a:r>
          </a:p>
          <a:p>
            <a:endParaRPr lang="en-GB" sz="1400" dirty="0"/>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15696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Continue working on sprites and setting the game up ready for all the coding, so adding in all the assets/files.</a:t>
            </a:r>
          </a:p>
          <a:p>
            <a:endParaRPr lang="en-GB" sz="1200" dirty="0"/>
          </a:p>
          <a:p>
            <a:endParaRPr lang="en-GB" sz="1200" dirty="0"/>
          </a:p>
        </p:txBody>
      </p:sp>
      <p:pic>
        <p:nvPicPr>
          <p:cNvPr id="27" name="Picture 26">
            <a:extLst>
              <a:ext uri="{FF2B5EF4-FFF2-40B4-BE49-F238E27FC236}">
                <a16:creationId xmlns:a16="http://schemas.microsoft.com/office/drawing/2014/main" id="{F677CB03-D1DC-CB3F-CAE0-F8B146FE754F}"/>
              </a:ext>
            </a:extLst>
          </p:cNvPr>
          <p:cNvPicPr>
            <a:picLocks noChangeAspect="1"/>
          </p:cNvPicPr>
          <p:nvPr/>
        </p:nvPicPr>
        <p:blipFill>
          <a:blip r:embed="rId2"/>
          <a:stretch>
            <a:fillRect/>
          </a:stretch>
        </p:blipFill>
        <p:spPr>
          <a:xfrm>
            <a:off x="231941" y="754545"/>
            <a:ext cx="2512691" cy="5638018"/>
          </a:xfrm>
          <a:prstGeom prst="rect">
            <a:avLst/>
          </a:prstGeom>
        </p:spPr>
      </p:pic>
      <p:sp>
        <p:nvSpPr>
          <p:cNvPr id="5" name="TextBox 4">
            <a:extLst>
              <a:ext uri="{FF2B5EF4-FFF2-40B4-BE49-F238E27FC236}">
                <a16:creationId xmlns:a16="http://schemas.microsoft.com/office/drawing/2014/main" id="{3C6B70CF-F758-8FF9-4535-1E2605546C2E}"/>
              </a:ext>
            </a:extLst>
          </p:cNvPr>
          <p:cNvSpPr txBox="1"/>
          <p:nvPr/>
        </p:nvSpPr>
        <p:spPr>
          <a:xfrm>
            <a:off x="0" y="54237"/>
            <a:ext cx="1959856"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Continuation of previous slide.</a:t>
            </a:r>
          </a:p>
        </p:txBody>
      </p:sp>
      <p:pic>
        <p:nvPicPr>
          <p:cNvPr id="11" name="Picture 10">
            <a:extLst>
              <a:ext uri="{FF2B5EF4-FFF2-40B4-BE49-F238E27FC236}">
                <a16:creationId xmlns:a16="http://schemas.microsoft.com/office/drawing/2014/main" id="{10266355-A36C-5972-ED51-B27E7586F80B}"/>
              </a:ext>
            </a:extLst>
          </p:cNvPr>
          <p:cNvPicPr>
            <a:picLocks noChangeAspect="1"/>
          </p:cNvPicPr>
          <p:nvPr/>
        </p:nvPicPr>
        <p:blipFill>
          <a:blip r:embed="rId3"/>
          <a:stretch>
            <a:fillRect/>
          </a:stretch>
        </p:blipFill>
        <p:spPr>
          <a:xfrm>
            <a:off x="3038494" y="3756230"/>
            <a:ext cx="8921565" cy="2581366"/>
          </a:xfrm>
          <a:prstGeom prst="rect">
            <a:avLst/>
          </a:prstGeom>
        </p:spPr>
      </p:pic>
    </p:spTree>
    <p:extLst>
      <p:ext uri="{BB962C8B-B14F-4D97-AF65-F5344CB8AC3E}">
        <p14:creationId xmlns:p14="http://schemas.microsoft.com/office/powerpoint/2010/main" val="34604687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Refined Sprite designs such as the doors. Created template buttons for the doors both from main view and close-up view.</a:t>
            </a:r>
          </a:p>
          <a:p>
            <a:endParaRPr lang="en-GB" sz="1400" dirty="0"/>
          </a:p>
          <a:p>
            <a:r>
              <a:rPr lang="en-GB" sz="1400" dirty="0"/>
              <a:t>Named each zones area/location.</a:t>
            </a:r>
          </a:p>
          <a:p>
            <a:endParaRPr lang="en-GB" sz="1400" dirty="0"/>
          </a:p>
          <a:p>
            <a:r>
              <a:rPr lang="en-GB" sz="1400" dirty="0"/>
              <a:t>Created variables for </a:t>
            </a:r>
            <a:r>
              <a:rPr lang="en-GB" sz="1400" dirty="0" err="1"/>
              <a:t>obj_camera</a:t>
            </a:r>
            <a:r>
              <a:rPr lang="en-GB" sz="1400" dirty="0"/>
              <a:t>.</a:t>
            </a:r>
          </a:p>
          <a:p>
            <a:endParaRPr lang="en-GB" sz="1400" dirty="0"/>
          </a:p>
          <a:p>
            <a:r>
              <a:rPr lang="en-GB" sz="1400" dirty="0"/>
              <a:t>Added Up close door to the up close door zones for both left and right.</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Work on sound designs for the game and the characters.</a:t>
            </a:r>
          </a:p>
          <a:p>
            <a:endParaRPr lang="en-GB" sz="1200" dirty="0"/>
          </a:p>
          <a:p>
            <a:r>
              <a:rPr lang="en-GB" sz="1200" dirty="0"/>
              <a:t>Use audio and SFX from other horror games as reference or for the smaller sounds.</a:t>
            </a:r>
          </a:p>
          <a:p>
            <a:endParaRPr lang="en-GB" sz="1200" dirty="0"/>
          </a:p>
          <a:p>
            <a:r>
              <a:rPr lang="en-GB" sz="1200" b="1" dirty="0"/>
              <a:t>Get Camera system operational</a:t>
            </a:r>
          </a:p>
          <a:p>
            <a:endParaRPr lang="en-GB" sz="1200" dirty="0"/>
          </a:p>
          <a:p>
            <a:endParaRPr lang="en-GB" sz="1200" dirty="0"/>
          </a:p>
        </p:txBody>
      </p:sp>
      <p:pic>
        <p:nvPicPr>
          <p:cNvPr id="8" name="Picture 7">
            <a:extLst>
              <a:ext uri="{FF2B5EF4-FFF2-40B4-BE49-F238E27FC236}">
                <a16:creationId xmlns:a16="http://schemas.microsoft.com/office/drawing/2014/main" id="{2B25F36B-7370-C022-0982-D33C4899384B}"/>
              </a:ext>
            </a:extLst>
          </p:cNvPr>
          <p:cNvPicPr>
            <a:picLocks noChangeAspect="1"/>
          </p:cNvPicPr>
          <p:nvPr/>
        </p:nvPicPr>
        <p:blipFill>
          <a:blip r:embed="rId2"/>
          <a:stretch>
            <a:fillRect/>
          </a:stretch>
        </p:blipFill>
        <p:spPr>
          <a:xfrm>
            <a:off x="0" y="4302897"/>
            <a:ext cx="4356284" cy="2362127"/>
          </a:xfrm>
          <a:prstGeom prst="rect">
            <a:avLst/>
          </a:prstGeom>
        </p:spPr>
      </p:pic>
      <p:pic>
        <p:nvPicPr>
          <p:cNvPr id="10" name="Picture 9">
            <a:extLst>
              <a:ext uri="{FF2B5EF4-FFF2-40B4-BE49-F238E27FC236}">
                <a16:creationId xmlns:a16="http://schemas.microsoft.com/office/drawing/2014/main" id="{330D62C2-AA53-B794-C0B6-312FEE7FF2DF}"/>
              </a:ext>
            </a:extLst>
          </p:cNvPr>
          <p:cNvPicPr>
            <a:picLocks noChangeAspect="1"/>
          </p:cNvPicPr>
          <p:nvPr/>
        </p:nvPicPr>
        <p:blipFill>
          <a:blip r:embed="rId3"/>
          <a:stretch>
            <a:fillRect/>
          </a:stretch>
        </p:blipFill>
        <p:spPr>
          <a:xfrm>
            <a:off x="294127" y="428674"/>
            <a:ext cx="1704008" cy="3354765"/>
          </a:xfrm>
          <a:prstGeom prst="rect">
            <a:avLst/>
          </a:prstGeom>
        </p:spPr>
      </p:pic>
      <p:pic>
        <p:nvPicPr>
          <p:cNvPr id="13" name="Picture 12">
            <a:extLst>
              <a:ext uri="{FF2B5EF4-FFF2-40B4-BE49-F238E27FC236}">
                <a16:creationId xmlns:a16="http://schemas.microsoft.com/office/drawing/2014/main" id="{350428BE-0AC0-96D2-D92A-71AD3D19FADD}"/>
              </a:ext>
            </a:extLst>
          </p:cNvPr>
          <p:cNvPicPr>
            <a:picLocks noChangeAspect="1"/>
          </p:cNvPicPr>
          <p:nvPr/>
        </p:nvPicPr>
        <p:blipFill>
          <a:blip r:embed="rId4"/>
          <a:stretch>
            <a:fillRect/>
          </a:stretch>
        </p:blipFill>
        <p:spPr>
          <a:xfrm>
            <a:off x="2092643" y="885888"/>
            <a:ext cx="3477110" cy="952633"/>
          </a:xfrm>
          <a:prstGeom prst="rect">
            <a:avLst/>
          </a:prstGeom>
        </p:spPr>
      </p:pic>
    </p:spTree>
    <p:extLst>
      <p:ext uri="{BB962C8B-B14F-4D97-AF65-F5344CB8AC3E}">
        <p14:creationId xmlns:p14="http://schemas.microsoft.com/office/powerpoint/2010/main" val="1285422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04/12/2025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634019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Firstly, I have laid the foundation for the camera code and have it ready. However, I still need to make the camera alternate between camera zones based on a player clicking a button object.</a:t>
            </a:r>
          </a:p>
          <a:p>
            <a:endParaRPr lang="en-GB" sz="1400" dirty="0"/>
          </a:p>
          <a:p>
            <a:r>
              <a:rPr lang="en-GB" sz="1400" dirty="0"/>
              <a:t>Next, I changed the zones sizes to a respectful 1920x1080. This is due to the odd aspect ration of the game when it runs. This also helps make it more suitable for every display device. This change was also made to the camera’s width/height of the viewing area.</a:t>
            </a:r>
          </a:p>
          <a:p>
            <a:endParaRPr lang="en-GB" sz="1400" dirty="0"/>
          </a:p>
          <a:p>
            <a:r>
              <a:rPr lang="en-GB" sz="1400" dirty="0"/>
              <a:t>This has caused some issues with other sprites which were made too large or too small, however they are templates to help give a visual guide for the game’s development.</a:t>
            </a:r>
          </a:p>
          <a:p>
            <a:endParaRPr lang="en-GB" sz="1400" dirty="0"/>
          </a:p>
          <a:p>
            <a:r>
              <a:rPr lang="en-GB" sz="1400" dirty="0"/>
              <a:t>The doors width have been brought back from 220 to 200 to fit with the office pre-existing door frames.</a:t>
            </a:r>
          </a:p>
          <a:p>
            <a:endParaRPr lang="en-GB" sz="1400" dirty="0"/>
          </a:p>
          <a:p>
            <a:r>
              <a:rPr lang="en-GB" sz="1400" dirty="0"/>
              <a:t>Finally, I made the player object, but it will not have a sprite; it will function as a way for enemies to interact with the player and for the cameras to function.</a:t>
            </a:r>
          </a:p>
          <a:p>
            <a:endParaRPr lang="en-GB" sz="1400" dirty="0"/>
          </a:p>
          <a:p>
            <a:r>
              <a:rPr lang="en-GB" sz="1400" dirty="0"/>
              <a:t>I was unable to do sounds due to certain events that occurred between this session and the last one.</a:t>
            </a:r>
            <a:endParaRPr lang="en-GB" sz="1600" dirty="0"/>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618630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Get Cameras fully functioning.</a:t>
            </a:r>
          </a:p>
          <a:p>
            <a:endParaRPr lang="en-GB" sz="1200" dirty="0"/>
          </a:p>
          <a:p>
            <a:r>
              <a:rPr lang="en-GB" sz="1200" dirty="0"/>
              <a:t>Start gathering SFX for the game and soundtracks.</a:t>
            </a:r>
          </a:p>
          <a:p>
            <a:endParaRPr lang="en-GB" sz="1200" dirty="0"/>
          </a:p>
          <a:p>
            <a:r>
              <a:rPr lang="en-GB" sz="1200" dirty="0"/>
              <a:t>Research more into enemy AI.</a:t>
            </a:r>
          </a:p>
          <a:p>
            <a:endParaRPr lang="en-GB" sz="1200" dirty="0"/>
          </a:p>
          <a:p>
            <a:r>
              <a:rPr lang="en-GB" sz="1200" dirty="0"/>
              <a:t>Create draft for AMCD 00  Prototype design.</a:t>
            </a:r>
          </a:p>
          <a:p>
            <a:endParaRPr lang="en-GB" sz="1200" dirty="0"/>
          </a:p>
          <a:p>
            <a:r>
              <a:rPr lang="en-GB" sz="1200" dirty="0"/>
              <a:t>Create table for how the enemies will behave which room they’ll appear and how they interact with the player.</a:t>
            </a:r>
          </a:p>
          <a:p>
            <a:endParaRPr lang="en-GB" sz="1200" dirty="0"/>
          </a:p>
          <a:p>
            <a:r>
              <a:rPr lang="en-GB" sz="1200" b="1" dirty="0"/>
              <a:t>Key goal: Play/research games like Critical Failure to analyse how they function and how they were developed. Example games: Five Nights at Freddys, Sinking Iron, Slenderman, Baldi basics and many other indie horror games that follow Critical Failures Gameplay style.</a:t>
            </a:r>
          </a:p>
          <a:p>
            <a:endParaRPr lang="en-GB" sz="1200" dirty="0"/>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a:extLst>
              <a:ext uri="{FF2B5EF4-FFF2-40B4-BE49-F238E27FC236}">
                <a16:creationId xmlns:a16="http://schemas.microsoft.com/office/drawing/2014/main" id="{F3CF97BA-F2A0-9A19-1F64-8E66ECE37B83}"/>
              </a:ext>
            </a:extLst>
          </p:cNvPr>
          <p:cNvPicPr>
            <a:picLocks noChangeAspect="1"/>
          </p:cNvPicPr>
          <p:nvPr/>
        </p:nvPicPr>
        <p:blipFill>
          <a:blip r:embed="rId2"/>
          <a:stretch>
            <a:fillRect/>
          </a:stretch>
        </p:blipFill>
        <p:spPr>
          <a:xfrm>
            <a:off x="111155" y="90120"/>
            <a:ext cx="1476581" cy="3762900"/>
          </a:xfrm>
          <a:prstGeom prst="rect">
            <a:avLst/>
          </a:prstGeom>
        </p:spPr>
      </p:pic>
      <p:pic>
        <p:nvPicPr>
          <p:cNvPr id="11" name="Picture 10">
            <a:extLst>
              <a:ext uri="{FF2B5EF4-FFF2-40B4-BE49-F238E27FC236}">
                <a16:creationId xmlns:a16="http://schemas.microsoft.com/office/drawing/2014/main" id="{7375B3BC-4471-1EEA-EBF6-DAB831BB8957}"/>
              </a:ext>
            </a:extLst>
          </p:cNvPr>
          <p:cNvPicPr>
            <a:picLocks noChangeAspect="1"/>
          </p:cNvPicPr>
          <p:nvPr/>
        </p:nvPicPr>
        <p:blipFill>
          <a:blip r:embed="rId3"/>
          <a:stretch>
            <a:fillRect/>
          </a:stretch>
        </p:blipFill>
        <p:spPr>
          <a:xfrm>
            <a:off x="69966" y="3774946"/>
            <a:ext cx="1000265" cy="609685"/>
          </a:xfrm>
          <a:prstGeom prst="rect">
            <a:avLst/>
          </a:prstGeom>
        </p:spPr>
      </p:pic>
      <p:pic>
        <p:nvPicPr>
          <p:cNvPr id="14" name="Picture 13">
            <a:extLst>
              <a:ext uri="{FF2B5EF4-FFF2-40B4-BE49-F238E27FC236}">
                <a16:creationId xmlns:a16="http://schemas.microsoft.com/office/drawing/2014/main" id="{4BF3402E-D74E-3774-562F-54BE4BAE8694}"/>
              </a:ext>
            </a:extLst>
          </p:cNvPr>
          <p:cNvPicPr>
            <a:picLocks noChangeAspect="1"/>
          </p:cNvPicPr>
          <p:nvPr/>
        </p:nvPicPr>
        <p:blipFill>
          <a:blip r:embed="rId4"/>
          <a:stretch>
            <a:fillRect/>
          </a:stretch>
        </p:blipFill>
        <p:spPr>
          <a:xfrm>
            <a:off x="1658061" y="2314517"/>
            <a:ext cx="1457528" cy="733527"/>
          </a:xfrm>
          <a:prstGeom prst="rect">
            <a:avLst/>
          </a:prstGeom>
        </p:spPr>
      </p:pic>
      <p:pic>
        <p:nvPicPr>
          <p:cNvPr id="16" name="Picture 15">
            <a:extLst>
              <a:ext uri="{FF2B5EF4-FFF2-40B4-BE49-F238E27FC236}">
                <a16:creationId xmlns:a16="http://schemas.microsoft.com/office/drawing/2014/main" id="{A5C0A0A8-1501-BE77-3257-4F78051B82A0}"/>
              </a:ext>
            </a:extLst>
          </p:cNvPr>
          <p:cNvPicPr>
            <a:picLocks noChangeAspect="1"/>
          </p:cNvPicPr>
          <p:nvPr/>
        </p:nvPicPr>
        <p:blipFill>
          <a:blip r:embed="rId5"/>
          <a:stretch>
            <a:fillRect/>
          </a:stretch>
        </p:blipFill>
        <p:spPr>
          <a:xfrm>
            <a:off x="1658061" y="90120"/>
            <a:ext cx="3841493" cy="2167578"/>
          </a:xfrm>
          <a:prstGeom prst="rect">
            <a:avLst/>
          </a:prstGeom>
        </p:spPr>
      </p:pic>
      <p:pic>
        <p:nvPicPr>
          <p:cNvPr id="18" name="Picture 17">
            <a:extLst>
              <a:ext uri="{FF2B5EF4-FFF2-40B4-BE49-F238E27FC236}">
                <a16:creationId xmlns:a16="http://schemas.microsoft.com/office/drawing/2014/main" id="{05FF2020-AF09-2E53-6D54-A0F84F4BD320}"/>
              </a:ext>
            </a:extLst>
          </p:cNvPr>
          <p:cNvPicPr>
            <a:picLocks noChangeAspect="1"/>
          </p:cNvPicPr>
          <p:nvPr/>
        </p:nvPicPr>
        <p:blipFill>
          <a:blip r:embed="rId6"/>
          <a:stretch>
            <a:fillRect/>
          </a:stretch>
        </p:blipFill>
        <p:spPr>
          <a:xfrm>
            <a:off x="1094944" y="3897169"/>
            <a:ext cx="4525006" cy="866896"/>
          </a:xfrm>
          <a:prstGeom prst="rect">
            <a:avLst/>
          </a:prstGeom>
        </p:spPr>
      </p:pic>
      <p:pic>
        <p:nvPicPr>
          <p:cNvPr id="20" name="Picture 19">
            <a:extLst>
              <a:ext uri="{FF2B5EF4-FFF2-40B4-BE49-F238E27FC236}">
                <a16:creationId xmlns:a16="http://schemas.microsoft.com/office/drawing/2014/main" id="{A83EC13A-93A9-7B37-32B0-2C4521CAACE5}"/>
              </a:ext>
            </a:extLst>
          </p:cNvPr>
          <p:cNvPicPr>
            <a:picLocks noChangeAspect="1"/>
          </p:cNvPicPr>
          <p:nvPr/>
        </p:nvPicPr>
        <p:blipFill>
          <a:blip r:embed="rId7"/>
          <a:srcRect t="16360" r="10476" b="33031"/>
          <a:stretch>
            <a:fillRect/>
          </a:stretch>
        </p:blipFill>
        <p:spPr>
          <a:xfrm>
            <a:off x="118619" y="4808214"/>
            <a:ext cx="3778074" cy="1031747"/>
          </a:xfrm>
          <a:prstGeom prst="rect">
            <a:avLst/>
          </a:prstGeom>
        </p:spPr>
      </p:pic>
      <p:pic>
        <p:nvPicPr>
          <p:cNvPr id="22" name="Picture 21">
            <a:extLst>
              <a:ext uri="{FF2B5EF4-FFF2-40B4-BE49-F238E27FC236}">
                <a16:creationId xmlns:a16="http://schemas.microsoft.com/office/drawing/2014/main" id="{4B7E2811-A0DE-AB20-9624-39B1D71E48C0}"/>
              </a:ext>
            </a:extLst>
          </p:cNvPr>
          <p:cNvPicPr>
            <a:picLocks noChangeAspect="1"/>
          </p:cNvPicPr>
          <p:nvPr/>
        </p:nvPicPr>
        <p:blipFill>
          <a:blip r:embed="rId8"/>
          <a:stretch>
            <a:fillRect/>
          </a:stretch>
        </p:blipFill>
        <p:spPr>
          <a:xfrm>
            <a:off x="17205" y="5884110"/>
            <a:ext cx="5210902" cy="962159"/>
          </a:xfrm>
          <a:prstGeom prst="rect">
            <a:avLst/>
          </a:prstGeom>
        </p:spPr>
      </p:pic>
    </p:spTree>
    <p:extLst>
      <p:ext uri="{BB962C8B-B14F-4D97-AF65-F5344CB8AC3E}">
        <p14:creationId xmlns:p14="http://schemas.microsoft.com/office/powerpoint/2010/main" val="37223881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V.0.3</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181588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Cameras are now fully function, with them correctly going to their respective zones as well as the camera Hud.</a:t>
            </a:r>
          </a:p>
          <a:p>
            <a:endParaRPr lang="en-GB" sz="1600" dirty="0"/>
          </a:p>
          <a:p>
            <a:r>
              <a:rPr lang="en-GB" sz="1600" dirty="0"/>
              <a:t>I have made up close vent/door buttons in addition to the vents actual sprite which is a landscaped version of the doors.</a:t>
            </a:r>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267765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Create SFX and add Soundtrack.</a:t>
            </a:r>
          </a:p>
          <a:p>
            <a:endParaRPr lang="en-GB" sz="1200" dirty="0"/>
          </a:p>
          <a:p>
            <a:r>
              <a:rPr lang="en-GB" sz="1200" dirty="0"/>
              <a:t>Design the Prototype.</a:t>
            </a:r>
          </a:p>
          <a:p>
            <a:endParaRPr lang="en-GB" sz="1200" dirty="0"/>
          </a:p>
          <a:p>
            <a:r>
              <a:rPr lang="en-GB" sz="1200" dirty="0"/>
              <a:t>Finish Oxygen System.</a:t>
            </a:r>
          </a:p>
          <a:p>
            <a:endParaRPr lang="en-GB" sz="1200" dirty="0"/>
          </a:p>
          <a:p>
            <a:r>
              <a:rPr lang="en-GB" sz="1200" dirty="0"/>
              <a:t>Have Doors open and close.</a:t>
            </a:r>
          </a:p>
          <a:p>
            <a:endParaRPr lang="en-GB" sz="1200" dirty="0"/>
          </a:p>
          <a:p>
            <a:endParaRPr lang="en-GB" sz="1200" dirty="0"/>
          </a:p>
          <a:p>
            <a:endParaRPr lang="en-GB" sz="1200" dirty="0"/>
          </a:p>
          <a:p>
            <a:endParaRPr lang="en-GB" sz="1200" dirty="0"/>
          </a:p>
          <a:p>
            <a:endParaRPr lang="en-GB" sz="1200" dirty="0"/>
          </a:p>
        </p:txBody>
      </p:sp>
      <p:pic>
        <p:nvPicPr>
          <p:cNvPr id="8" name="Picture 7">
            <a:extLst>
              <a:ext uri="{FF2B5EF4-FFF2-40B4-BE49-F238E27FC236}">
                <a16:creationId xmlns:a16="http://schemas.microsoft.com/office/drawing/2014/main" id="{56107CA3-D414-0D54-F60B-B2C50A404372}"/>
              </a:ext>
            </a:extLst>
          </p:cNvPr>
          <p:cNvPicPr>
            <a:picLocks noChangeAspect="1"/>
          </p:cNvPicPr>
          <p:nvPr/>
        </p:nvPicPr>
        <p:blipFill>
          <a:blip r:embed="rId2"/>
          <a:stretch>
            <a:fillRect/>
          </a:stretch>
        </p:blipFill>
        <p:spPr>
          <a:xfrm>
            <a:off x="111155" y="54237"/>
            <a:ext cx="3715268" cy="5058481"/>
          </a:xfrm>
          <a:prstGeom prst="rect">
            <a:avLst/>
          </a:prstGeom>
        </p:spPr>
      </p:pic>
    </p:spTree>
    <p:extLst>
      <p:ext uri="{BB962C8B-B14F-4D97-AF65-F5344CB8AC3E}">
        <p14:creationId xmlns:p14="http://schemas.microsoft.com/office/powerpoint/2010/main" val="19325148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0216D-2704-359E-7582-D564D71C506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9E41B7D-1D49-BBC1-E509-8842E48766DA}"/>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8D8DDF84-E15F-9A36-A07B-DEB54B86143F}"/>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a:t>
            </a:r>
          </a:p>
        </p:txBody>
      </p:sp>
      <p:sp>
        <p:nvSpPr>
          <p:cNvPr id="3" name="TextBox 2">
            <a:extLst>
              <a:ext uri="{FF2B5EF4-FFF2-40B4-BE49-F238E27FC236}">
                <a16:creationId xmlns:a16="http://schemas.microsoft.com/office/drawing/2014/main" id="{F569AE5E-9CE7-F792-1ECA-C3CD4DAFE42C}"/>
              </a:ext>
            </a:extLst>
          </p:cNvPr>
          <p:cNvSpPr txBox="1"/>
          <p:nvPr/>
        </p:nvSpPr>
        <p:spPr>
          <a:xfrm>
            <a:off x="5642854" y="578678"/>
            <a:ext cx="3926490" cy="501675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In this session I completed in create the door/vent oxygen mechanic where when doors/vents are open oxygen increases and when doors/vents are closed oxygen decreases. In addition, the door mechanic was also completed and the doors/vents in both the up-close scenes and the main view open/close when the player presses the door/vent button. When ,ore doors/vents are closed the oxygens decent increases and the same works the other way around.</a:t>
            </a:r>
          </a:p>
          <a:p>
            <a:endParaRPr lang="en-GB" sz="1600" dirty="0"/>
          </a:p>
          <a:p>
            <a:r>
              <a:rPr lang="en-GB" sz="1600" dirty="0"/>
              <a:t>There is also a fill bar, displaying the oxygens percentage.</a:t>
            </a:r>
          </a:p>
          <a:p>
            <a:endParaRPr lang="en-GB" sz="1600" dirty="0"/>
          </a:p>
          <a:p>
            <a:r>
              <a:rPr lang="en-GB" sz="1600" dirty="0"/>
              <a:t>I also created a warning system for when oxygen is low and an animated sprite flashes red in GUI Draw.</a:t>
            </a:r>
          </a:p>
          <a:p>
            <a:endParaRPr lang="en-GB" sz="1600" dirty="0"/>
          </a:p>
        </p:txBody>
      </p:sp>
      <p:sp>
        <p:nvSpPr>
          <p:cNvPr id="6" name="TextBox 5">
            <a:extLst>
              <a:ext uri="{FF2B5EF4-FFF2-40B4-BE49-F238E27FC236}">
                <a16:creationId xmlns:a16="http://schemas.microsoft.com/office/drawing/2014/main" id="{9AF3946E-61EB-6EE6-C810-2D62B4C1B989}"/>
              </a:ext>
            </a:extLst>
          </p:cNvPr>
          <p:cNvSpPr txBox="1"/>
          <p:nvPr/>
        </p:nvSpPr>
        <p:spPr>
          <a:xfrm>
            <a:off x="9642445" y="54237"/>
            <a:ext cx="2438400" cy="341632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Plan Enemy Movement for all enemies.</a:t>
            </a:r>
          </a:p>
          <a:p>
            <a:endParaRPr lang="en-GB" sz="1200" dirty="0"/>
          </a:p>
          <a:p>
            <a:r>
              <a:rPr lang="en-GB" sz="1200" dirty="0"/>
              <a:t>Create 2 of the enemy AI’s</a:t>
            </a:r>
          </a:p>
          <a:p>
            <a:endParaRPr lang="en-GB" sz="1200" dirty="0"/>
          </a:p>
          <a:p>
            <a:r>
              <a:rPr lang="en-GB" sz="1200" dirty="0"/>
              <a:t>Finish Prototype design</a:t>
            </a:r>
          </a:p>
          <a:p>
            <a:endParaRPr lang="en-GB" sz="1200" dirty="0"/>
          </a:p>
          <a:p>
            <a:r>
              <a:rPr lang="en-GB" sz="1200" dirty="0"/>
              <a:t>Refine enemy sprite design</a:t>
            </a:r>
          </a:p>
          <a:p>
            <a:endParaRPr lang="en-GB" sz="1200" dirty="0"/>
          </a:p>
          <a:p>
            <a:r>
              <a:rPr lang="en-GB" sz="1200" dirty="0"/>
              <a:t>Adjust code for longer gameplay</a:t>
            </a:r>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descr="A screenshot of a video game&#10;&#10;AI-generated content may be incorrect.">
            <a:extLst>
              <a:ext uri="{FF2B5EF4-FFF2-40B4-BE49-F238E27FC236}">
                <a16:creationId xmlns:a16="http://schemas.microsoft.com/office/drawing/2014/main" id="{11A2BEDF-F7E2-9671-3395-25B4B861E9D4}"/>
              </a:ext>
            </a:extLst>
          </p:cNvPr>
          <p:cNvPicPr>
            <a:picLocks noChangeAspect="1"/>
          </p:cNvPicPr>
          <p:nvPr/>
        </p:nvPicPr>
        <p:blipFill>
          <a:blip r:embed="rId2"/>
          <a:stretch>
            <a:fillRect/>
          </a:stretch>
        </p:blipFill>
        <p:spPr>
          <a:xfrm>
            <a:off x="0" y="54237"/>
            <a:ext cx="2443092" cy="2197731"/>
          </a:xfrm>
          <a:prstGeom prst="rect">
            <a:avLst/>
          </a:prstGeom>
        </p:spPr>
      </p:pic>
      <p:pic>
        <p:nvPicPr>
          <p:cNvPr id="9" name="Picture 8" descr="A red circle with black text&#10;&#10;AI-generated content may be incorrect.">
            <a:extLst>
              <a:ext uri="{FF2B5EF4-FFF2-40B4-BE49-F238E27FC236}">
                <a16:creationId xmlns:a16="http://schemas.microsoft.com/office/drawing/2014/main" id="{E97A4350-D8B7-8A50-0F1A-296F2142589C}"/>
              </a:ext>
            </a:extLst>
          </p:cNvPr>
          <p:cNvPicPr>
            <a:picLocks noChangeAspect="1"/>
          </p:cNvPicPr>
          <p:nvPr/>
        </p:nvPicPr>
        <p:blipFill>
          <a:blip r:embed="rId3"/>
          <a:stretch>
            <a:fillRect/>
          </a:stretch>
        </p:blipFill>
        <p:spPr>
          <a:xfrm>
            <a:off x="2506037" y="117872"/>
            <a:ext cx="3060671" cy="173698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D4BFA7E8-88D9-CAAA-2269-5C3345D7AC49}"/>
              </a:ext>
            </a:extLst>
          </p:cNvPr>
          <p:cNvPicPr>
            <a:picLocks noChangeAspect="1"/>
          </p:cNvPicPr>
          <p:nvPr/>
        </p:nvPicPr>
        <p:blipFill>
          <a:blip r:embed="rId4"/>
          <a:stretch>
            <a:fillRect/>
          </a:stretch>
        </p:blipFill>
        <p:spPr>
          <a:xfrm>
            <a:off x="-36501" y="2224987"/>
            <a:ext cx="2954202" cy="2778160"/>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0DCDF415-8664-901D-5A02-3FE377795EF9}"/>
              </a:ext>
            </a:extLst>
          </p:cNvPr>
          <p:cNvPicPr>
            <a:picLocks noChangeAspect="1"/>
          </p:cNvPicPr>
          <p:nvPr/>
        </p:nvPicPr>
        <p:blipFill>
          <a:blip r:embed="rId5"/>
          <a:stretch>
            <a:fillRect/>
          </a:stretch>
        </p:blipFill>
        <p:spPr>
          <a:xfrm>
            <a:off x="2718755" y="2224987"/>
            <a:ext cx="2805553" cy="2618862"/>
          </a:xfrm>
          <a:prstGeom prst="rect">
            <a:avLst/>
          </a:prstGeom>
        </p:spPr>
      </p:pic>
      <p:pic>
        <p:nvPicPr>
          <p:cNvPr id="15" name="Picture 14" descr="A screen shot of a computer&#10;&#10;AI-generated content may be incorrect.">
            <a:extLst>
              <a:ext uri="{FF2B5EF4-FFF2-40B4-BE49-F238E27FC236}">
                <a16:creationId xmlns:a16="http://schemas.microsoft.com/office/drawing/2014/main" id="{36C436FB-F3BC-DDE3-2D15-CB8734E26E86}"/>
              </a:ext>
            </a:extLst>
          </p:cNvPr>
          <p:cNvPicPr>
            <a:picLocks noChangeAspect="1"/>
          </p:cNvPicPr>
          <p:nvPr/>
        </p:nvPicPr>
        <p:blipFill>
          <a:blip r:embed="rId6"/>
          <a:stretch>
            <a:fillRect/>
          </a:stretch>
        </p:blipFill>
        <p:spPr>
          <a:xfrm>
            <a:off x="-36501" y="4988731"/>
            <a:ext cx="4572638" cy="1219370"/>
          </a:xfrm>
          <a:prstGeom prst="rect">
            <a:avLst/>
          </a:prstGeom>
        </p:spPr>
      </p:pic>
    </p:spTree>
    <p:extLst>
      <p:ext uri="{BB962C8B-B14F-4D97-AF65-F5344CB8AC3E}">
        <p14:creationId xmlns:p14="http://schemas.microsoft.com/office/powerpoint/2010/main" val="35608704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CDCD7CC-FF07-70A3-611E-3D7FC910C776}"/>
              </a:ext>
            </a:extLst>
          </p:cNvPr>
          <p:cNvGraphicFramePr>
            <a:graphicFrameLocks noGrp="1"/>
          </p:cNvGraphicFramePr>
          <p:nvPr>
            <p:extLst>
              <p:ext uri="{D42A27DB-BD31-4B8C-83A1-F6EECF244321}">
                <p14:modId xmlns:p14="http://schemas.microsoft.com/office/powerpoint/2010/main" val="3281645487"/>
              </p:ext>
            </p:extLst>
          </p:nvPr>
        </p:nvGraphicFramePr>
        <p:xfrm>
          <a:off x="97155" y="84201"/>
          <a:ext cx="11988463" cy="9726150"/>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572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 – Build V.0.3</a:t>
                      </a:r>
                    </a:p>
                  </a:txBody>
                  <a:tcPr/>
                </a:tc>
                <a:tc>
                  <a:txBody>
                    <a:bodyPr/>
                    <a:lstStyle/>
                    <a:p>
                      <a:r>
                        <a:rPr lang="en-GB" sz="1100" dirty="0"/>
                        <a:t>rm_office/</a:t>
                      </a:r>
                      <a:r>
                        <a:rPr lang="en-GB" sz="1100" dirty="0" err="1"/>
                        <a:t>rm_start_up_screen_init</a:t>
                      </a:r>
                      <a:endParaRPr lang="en-GB" sz="1100" dirty="0"/>
                    </a:p>
                  </a:txBody>
                  <a:tcPr/>
                </a:tc>
                <a:tc>
                  <a:txBody>
                    <a:bodyPr/>
                    <a:lstStyle/>
                    <a:p>
                      <a:r>
                        <a:rPr lang="en-GB" sz="1100" dirty="0" err="1"/>
                        <a:t>obj_camera</a:t>
                      </a:r>
                      <a:r>
                        <a:rPr lang="en-GB" sz="1100" dirty="0"/>
                        <a:t>, </a:t>
                      </a:r>
                      <a:r>
                        <a:rPr lang="en-GB" sz="1100" dirty="0" err="1"/>
                        <a:t>scr_change_camera</a:t>
                      </a:r>
                      <a:r>
                        <a:rPr lang="en-GB" sz="1100" dirty="0"/>
                        <a:t>, </a:t>
                      </a:r>
                      <a:r>
                        <a:rPr lang="en-GB" sz="1100" dirty="0" err="1"/>
                        <a:t>obj_office</a:t>
                      </a:r>
                      <a:r>
                        <a:rPr lang="en-GB" sz="1100" dirty="0"/>
                        <a:t>, </a:t>
                      </a:r>
                      <a:r>
                        <a:rPr lang="en-GB" sz="1100" dirty="0" err="1"/>
                        <a:t>obj_cam_zone</a:t>
                      </a:r>
                      <a:r>
                        <a:rPr lang="en-GB" sz="1100" dirty="0"/>
                        <a:t> 1-8, Close Up scene zones.</a:t>
                      </a:r>
                    </a:p>
                  </a:txBody>
                  <a:tcPr/>
                </a:tc>
                <a:tc>
                  <a:txBody>
                    <a:bodyPr/>
                    <a:lstStyle/>
                    <a:p>
                      <a:r>
                        <a:rPr lang="en-GB" sz="1100" dirty="0"/>
                        <a:t>When the game runs, the camera goes to the office zone from there the player can click on the doors to move to the close-up door zones. In addition, when Pressing Key C, they change camera view to the Camera Hud Zone where they can interact with the obj_cam_1-8 to change cameras. They can press C again to return to camera Hud or press V to return to office.</a:t>
                      </a:r>
                    </a:p>
                  </a:txBody>
                  <a:tcPr/>
                </a:tc>
                <a:tc>
                  <a:txBody>
                    <a:bodyPr/>
                    <a:lstStyle/>
                    <a:p>
                      <a:r>
                        <a:rPr lang="en-GB" sz="1100" dirty="0"/>
                        <a:t>When the game starts I am taken to the office zone and are able to interact with the buttons and they all go to their respective zones and all keys function properly.</a:t>
                      </a:r>
                    </a:p>
                  </a:txBody>
                  <a:tcPr/>
                </a:tc>
                <a:tc>
                  <a:txBody>
                    <a:bodyPr/>
                    <a:lstStyle/>
                    <a:p>
                      <a:r>
                        <a:rPr lang="en-GB" sz="1100" dirty="0"/>
                        <a:t>During practise with this code I did have to correct the co-ordinates due to them not being accurate, in addition I had issues due to my background being off which caused Duplicates of the zones to appear.</a:t>
                      </a:r>
                    </a:p>
                    <a:p>
                      <a:endParaRPr lang="en-GB" sz="1100" dirty="0"/>
                    </a:p>
                    <a:p>
                      <a:r>
                        <a:rPr lang="en-GB" sz="1100" dirty="0"/>
                        <a:t>Both were fixed by changing the Co-ordinates and turning on background.</a:t>
                      </a:r>
                    </a:p>
                  </a:txBody>
                  <a:tcPr/>
                </a:tc>
                <a:extLst>
                  <a:ext uri="{0D108BD9-81ED-4DB2-BD59-A6C34878D82A}">
                    <a16:rowId xmlns:a16="http://schemas.microsoft.com/office/drawing/2014/main" val="4028166049"/>
                  </a:ext>
                </a:extLst>
              </a:tr>
              <a:tr h="595728">
                <a:tc>
                  <a:txBody>
                    <a:bodyPr/>
                    <a:lstStyle/>
                    <a:p>
                      <a:r>
                        <a:rPr lang="en-GB" sz="1100" dirty="0"/>
                        <a:t>2 – Build V.0.4</a:t>
                      </a:r>
                    </a:p>
                  </a:txBody>
                  <a:tcPr/>
                </a:tc>
                <a:tc>
                  <a:txBody>
                    <a:bodyPr/>
                    <a:lstStyle/>
                    <a:p>
                      <a:r>
                        <a:rPr lang="en-GB" sz="1100" dirty="0"/>
                        <a:t>rm_office</a:t>
                      </a:r>
                    </a:p>
                  </a:txBody>
                  <a:tcPr/>
                </a:tc>
                <a:tc>
                  <a:txBody>
                    <a:bodyPr/>
                    <a:lstStyle/>
                    <a:p>
                      <a:r>
                        <a:rPr lang="en-GB" sz="1100" dirty="0"/>
                        <a:t>Door and vent objects </a:t>
                      </a:r>
                      <a:r>
                        <a:rPr lang="en-GB" sz="1100" b="1" dirty="0"/>
                        <a:t>open/closed</a:t>
                      </a:r>
                      <a:r>
                        <a:rPr lang="en-GB" sz="1100" dirty="0"/>
                        <a:t>, </a:t>
                      </a:r>
                      <a:r>
                        <a:rPr lang="en-GB" sz="1100" dirty="0" err="1"/>
                        <a:t>obj_oxygen_door_controller</a:t>
                      </a:r>
                      <a:endParaRPr lang="en-GB" sz="1100" dirty="0"/>
                    </a:p>
                  </a:txBody>
                  <a:tcPr/>
                </a:tc>
                <a:tc>
                  <a:txBody>
                    <a:bodyPr/>
                    <a:lstStyle/>
                    <a:p>
                      <a:r>
                        <a:rPr lang="en-GB" sz="1100" dirty="0"/>
                        <a:t>When doors/vents are open oxygen increases, when doors/vents are closed oxygen decreases. When door/button is pressed the doors/vents of both main view and up-close will open and close according to the players selection. In addition, if multiple doors/vents are open or closed the oxygen rate increases or decreases. The text displaying oxygen will change its percentage based on oxygen amount.</a:t>
                      </a:r>
                    </a:p>
                  </a:txBody>
                  <a:tcPr/>
                </a:tc>
                <a:tc>
                  <a:txBody>
                    <a:bodyPr/>
                    <a:lstStyle/>
                    <a:p>
                      <a:r>
                        <a:rPr lang="en-GB" sz="1100" dirty="0"/>
                        <a:t>The game starts with all doors closed so oxygen is 0%. When two doors are opened nothing happens, but when the back vent opens the oxygen rapidly increases but reaches 100% despite one vent still being closed.</a:t>
                      </a:r>
                    </a:p>
                    <a:p>
                      <a:endParaRPr lang="en-GB" sz="1100" dirty="0"/>
                    </a:p>
                    <a:p>
                      <a:r>
                        <a:rPr lang="en-GB" sz="1100" dirty="0"/>
                        <a:t>The doors/vents buttons work and the vents/doors open and close correctly.</a:t>
                      </a:r>
                    </a:p>
                    <a:p>
                      <a:endParaRPr lang="en-GB" sz="1100" dirty="0"/>
                    </a:p>
                    <a:p>
                      <a:r>
                        <a:rPr lang="en-GB" sz="1100" dirty="0"/>
                        <a:t>The code works, just have an issue with the front vent not being open at start.</a:t>
                      </a:r>
                    </a:p>
                  </a:txBody>
                  <a:tcPr/>
                </a:tc>
                <a:tc>
                  <a:txBody>
                    <a:bodyPr/>
                    <a:lstStyle/>
                    <a:p>
                      <a:r>
                        <a:rPr lang="en-GB" sz="1100" dirty="0"/>
                        <a:t>I changed the controllers code to have all the doors and vents set to open upon starting the game. This allows for the game to start with 100% oxygen.</a:t>
                      </a:r>
                    </a:p>
                    <a:p>
                      <a:endParaRPr lang="en-GB" sz="1100" dirty="0"/>
                    </a:p>
                    <a:p>
                      <a:r>
                        <a:rPr lang="en-GB" sz="1100" dirty="0"/>
                        <a:t>I have solved the issue with oxygen rate increasing and decreasing incorrectly. So, now if more than 1 door or vent is open, based on the amount open/closed the oxygens rate will Increase/decrease.</a:t>
                      </a:r>
                    </a:p>
                    <a:p>
                      <a:endParaRPr lang="en-GB" sz="1100" dirty="0"/>
                    </a:p>
                    <a:p>
                      <a:r>
                        <a:rPr lang="en-GB" sz="1100" dirty="0"/>
                        <a:t>Only issue is that the front vent for some reason starts with the closed variant of its sprite but that can be easily solved next session.</a:t>
                      </a:r>
                    </a:p>
                    <a:p>
                      <a:endParaRPr lang="en-GB" sz="1100" dirty="0"/>
                    </a:p>
                    <a:p>
                      <a:endParaRPr lang="en-GB" sz="1100" dirty="0"/>
                    </a:p>
                  </a:txBody>
                  <a:tcPr/>
                </a:tc>
                <a:extLst>
                  <a:ext uri="{0D108BD9-81ED-4DB2-BD59-A6C34878D82A}">
                    <a16:rowId xmlns:a16="http://schemas.microsoft.com/office/drawing/2014/main" val="2721134836"/>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82440278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098605140"/>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1574423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606308168"/>
                  </a:ext>
                </a:extLst>
              </a:tr>
            </a:tbl>
          </a:graphicData>
        </a:graphic>
      </p:graphicFrame>
    </p:spTree>
    <p:extLst>
      <p:ext uri="{BB962C8B-B14F-4D97-AF65-F5344CB8AC3E}">
        <p14:creationId xmlns:p14="http://schemas.microsoft.com/office/powerpoint/2010/main" val="70165298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752</TotalTime>
  <Words>1723</Words>
  <Application>Microsoft Office PowerPoint</Application>
  <PresentationFormat>Widescreen</PresentationFormat>
  <Paragraphs>182</Paragraphs>
  <Slides>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JAR24887099 (Ieuan Jarvis)</cp:lastModifiedBy>
  <cp:revision>129</cp:revision>
  <dcterms:created xsi:type="dcterms:W3CDTF">2025-10-10T09:00:53Z</dcterms:created>
  <dcterms:modified xsi:type="dcterms:W3CDTF">2026-01-02T12:17:06Z</dcterms:modified>
</cp:coreProperties>
</file>