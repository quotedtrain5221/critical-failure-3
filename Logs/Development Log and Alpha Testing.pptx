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68C49C6.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64" r:id="rId9"/>
    <p:sldId id="265" r:id="rId10"/>
    <p:sldId id="266" r:id="rId11"/>
    <p:sldId id="268" r:id="rId12"/>
    <p:sldId id="257" r:id="rId13"/>
    <p:sldId id="267" r:id="rId14"/>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47" autoAdjust="0"/>
    <p:restoredTop sz="94660"/>
  </p:normalViewPr>
  <p:slideViewPr>
    <p:cSldViewPr snapToGrid="0">
      <p:cViewPr varScale="1">
        <p:scale>
          <a:sx n="117" d="100"/>
          <a:sy n="117" d="100"/>
        </p:scale>
        <p:origin x="348"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20"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omments/modernComment_100_68C49C6.xml><?xml version="1.0" encoding="utf-8"?>
<p188:cmLst xmlns:a="http://schemas.openxmlformats.org/drawingml/2006/main" xmlns:r="http://schemas.openxmlformats.org/officeDocument/2006/relationships" xmlns:p188="http://schemas.microsoft.com/office/powerpoint/2018/8/main">
  <p188:cm id="{6DB92719-FE1B-4F64-AAC0-8BCEB8A4943A}" authorId="{566DD6F6-1B0B-2351-1B34-242F146A8762}" created="2025-10-10T09:06:24.583">
    <pc:sldMkLst xmlns:pc="http://schemas.microsoft.com/office/powerpoint/2013/main/command">
      <pc:docMk/>
      <pc:sldMk cId="109857222" sldId="256"/>
    </pc:sldMkLst>
    <p188:txBody>
      <a:bodyPr/>
      <a:lstStyle/>
      <a:p>
        <a:r>
          <a:rPr lang="en-GB"/>
          <a:t>Template Slide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15/01/2026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15/01/2026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15/01/2026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15/01/2026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15/01/2026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15/01/2026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15/01/2026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15/01/2026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15/01/2026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15/01/2026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15/01/2026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15/01/2026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microsoft.com/office/2018/10/relationships/comments" Target="../comments/modernComment_100_68C49C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3"/>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4"/>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5"/>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6"/>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7"/>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50167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 When ,ore doors/vents are closed the oxygens decent increases and the same works the other way around.</a:t>
            </a:r>
          </a:p>
          <a:p>
            <a:endParaRPr lang="en-GB" sz="1600" dirty="0"/>
          </a:p>
          <a:p>
            <a:r>
              <a:rPr lang="en-GB" sz="1600" dirty="0"/>
              <a:t>There is also a fill bar, displaying the oxygens percentage.</a:t>
            </a:r>
          </a:p>
          <a:p>
            <a:endParaRPr lang="en-GB" sz="1600" dirty="0"/>
          </a:p>
          <a:p>
            <a:r>
              <a:rPr lang="en-GB" sz="1600" dirty="0"/>
              <a:t>I also created a warning system for when oxygen is low and an animated sprite flashes red in GUI Draw.</a:t>
            </a:r>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Plan Enemy Movement for all enemies.</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 design</a:t>
            </a:r>
          </a:p>
          <a:p>
            <a:endParaRPr lang="en-GB" sz="1200" dirty="0"/>
          </a:p>
          <a:p>
            <a:r>
              <a:rPr lang="en-GB" sz="1200" dirty="0"/>
              <a:t>Adjust code for longer gameplay</a:t>
            </a:r>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descr="A screenshot of a video game&#10;&#10;AI-generated content may be incorrect.">
            <a:extLst>
              <a:ext uri="{FF2B5EF4-FFF2-40B4-BE49-F238E27FC236}">
                <a16:creationId xmlns:a16="http://schemas.microsoft.com/office/drawing/2014/main" id="{11A2BEDF-F7E2-9671-3395-25B4B861E9D4}"/>
              </a:ext>
            </a:extLst>
          </p:cNvPr>
          <p:cNvPicPr>
            <a:picLocks noChangeAspect="1"/>
          </p:cNvPicPr>
          <p:nvPr/>
        </p:nvPicPr>
        <p:blipFill>
          <a:blip r:embed="rId2"/>
          <a:stretch>
            <a:fillRect/>
          </a:stretch>
        </p:blipFill>
        <p:spPr>
          <a:xfrm>
            <a:off x="0" y="54237"/>
            <a:ext cx="2443092" cy="2197731"/>
          </a:xfrm>
          <a:prstGeom prst="rect">
            <a:avLst/>
          </a:prstGeom>
        </p:spPr>
      </p:pic>
      <p:pic>
        <p:nvPicPr>
          <p:cNvPr id="9" name="Picture 8" descr="A red circle with black text&#10;&#10;AI-generated content may be incorrect.">
            <a:extLst>
              <a:ext uri="{FF2B5EF4-FFF2-40B4-BE49-F238E27FC236}">
                <a16:creationId xmlns:a16="http://schemas.microsoft.com/office/drawing/2014/main" id="{E97A4350-D8B7-8A50-0F1A-296F2142589C}"/>
              </a:ext>
            </a:extLst>
          </p:cNvPr>
          <p:cNvPicPr>
            <a:picLocks noChangeAspect="1"/>
          </p:cNvPicPr>
          <p:nvPr/>
        </p:nvPicPr>
        <p:blipFill>
          <a:blip r:embed="rId3"/>
          <a:stretch>
            <a:fillRect/>
          </a:stretch>
        </p:blipFill>
        <p:spPr>
          <a:xfrm>
            <a:off x="2506037" y="117872"/>
            <a:ext cx="3060671" cy="173698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D4BFA7E8-88D9-CAAA-2269-5C3345D7AC49}"/>
              </a:ext>
            </a:extLst>
          </p:cNvPr>
          <p:cNvPicPr>
            <a:picLocks noChangeAspect="1"/>
          </p:cNvPicPr>
          <p:nvPr/>
        </p:nvPicPr>
        <p:blipFill>
          <a:blip r:embed="rId4"/>
          <a:stretch>
            <a:fillRect/>
          </a:stretch>
        </p:blipFill>
        <p:spPr>
          <a:xfrm>
            <a:off x="-36501" y="2224987"/>
            <a:ext cx="2954202" cy="2778160"/>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0DCDF415-8664-901D-5A02-3FE377795EF9}"/>
              </a:ext>
            </a:extLst>
          </p:cNvPr>
          <p:cNvPicPr>
            <a:picLocks noChangeAspect="1"/>
          </p:cNvPicPr>
          <p:nvPr/>
        </p:nvPicPr>
        <p:blipFill>
          <a:blip r:embed="rId5"/>
          <a:stretch>
            <a:fillRect/>
          </a:stretch>
        </p:blipFill>
        <p:spPr>
          <a:xfrm>
            <a:off x="2718755" y="2224987"/>
            <a:ext cx="2805553" cy="2618862"/>
          </a:xfrm>
          <a:prstGeom prst="rect">
            <a:avLst/>
          </a:prstGeom>
        </p:spPr>
      </p:pic>
      <p:pic>
        <p:nvPicPr>
          <p:cNvPr id="15" name="Picture 14" descr="A screen shot of a computer&#10;&#10;AI-generated content may be incorrect.">
            <a:extLst>
              <a:ext uri="{FF2B5EF4-FFF2-40B4-BE49-F238E27FC236}">
                <a16:creationId xmlns:a16="http://schemas.microsoft.com/office/drawing/2014/main" id="{36C436FB-F3BC-DDE3-2D15-CB8734E26E86}"/>
              </a:ext>
            </a:extLst>
          </p:cNvPr>
          <p:cNvPicPr>
            <a:picLocks noChangeAspect="1"/>
          </p:cNvPicPr>
          <p:nvPr/>
        </p:nvPicPr>
        <p:blipFill>
          <a:blip r:embed="rId6"/>
          <a:stretch>
            <a:fillRect/>
          </a:stretch>
        </p:blipFill>
        <p:spPr>
          <a:xfrm>
            <a:off x="-36501" y="4988731"/>
            <a:ext cx="4572638" cy="1219370"/>
          </a:xfrm>
          <a:prstGeom prst="rect">
            <a:avLst/>
          </a:prstGeom>
        </p:spPr>
      </p:pic>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9CAC-F4D4-0940-FD27-353304D96C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81D27-824A-B9B2-192E-BE7A377EF487}"/>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08/01/2026</a:t>
            </a:r>
          </a:p>
        </p:txBody>
      </p:sp>
      <p:sp>
        <p:nvSpPr>
          <p:cNvPr id="2" name="TextBox 1">
            <a:extLst>
              <a:ext uri="{FF2B5EF4-FFF2-40B4-BE49-F238E27FC236}">
                <a16:creationId xmlns:a16="http://schemas.microsoft.com/office/drawing/2014/main" id="{ACDF04B8-2A1D-DF20-1601-5FE531257554}"/>
              </a:ext>
            </a:extLst>
          </p:cNvPr>
          <p:cNvSpPr txBox="1"/>
          <p:nvPr/>
        </p:nvSpPr>
        <p:spPr>
          <a:xfrm>
            <a:off x="5651844" y="9012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V.0.4.7.5/V.0.5</a:t>
            </a:r>
          </a:p>
        </p:txBody>
      </p:sp>
      <p:sp>
        <p:nvSpPr>
          <p:cNvPr id="3" name="TextBox 2">
            <a:extLst>
              <a:ext uri="{FF2B5EF4-FFF2-40B4-BE49-F238E27FC236}">
                <a16:creationId xmlns:a16="http://schemas.microsoft.com/office/drawing/2014/main" id="{9CE445F5-21C3-AB0E-1B29-D1424BE214D4}"/>
              </a:ext>
            </a:extLst>
          </p:cNvPr>
          <p:cNvSpPr txBox="1"/>
          <p:nvPr/>
        </p:nvSpPr>
        <p:spPr>
          <a:xfrm>
            <a:off x="151043" y="143238"/>
            <a:ext cx="5136348" cy="421653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Unfortunately, due to mistakes and not having functional code Critical Failure V0.4.7.5 is officially a failed version of my game. To go into more detail, I was following an online guide for a specific piece of code, however I mistakenly forgot to save a version of the game with the original code, so when I altered it and made some deletions, I couldn't get my old code back. So, I decided to refresh and re-attempt it.</a:t>
            </a:r>
          </a:p>
          <a:p>
            <a:endParaRPr lang="en-GB" sz="1400" dirty="0"/>
          </a:p>
          <a:p>
            <a:r>
              <a:rPr lang="en-GB" sz="1400" dirty="0"/>
              <a:t>However, learning from mistakes form that version I made Critical Failure V.0.5. From here I re-designed the enemy movement code and was able to get a good start in creating the enemy's foundation.</a:t>
            </a:r>
          </a:p>
          <a:p>
            <a:endParaRPr lang="en-GB" sz="1400" dirty="0"/>
          </a:p>
          <a:p>
            <a:r>
              <a:rPr lang="en-GB" sz="1400" dirty="0"/>
              <a:t>I started by making an enemy parent which will give the enemies the information needed to know what zone they are in, where to move to and time taken to move. I also kept each enemy object in the game and within their code, they will be uniquely different from each other in terms of behaviour and movement.</a:t>
            </a:r>
          </a:p>
          <a:p>
            <a:endParaRPr lang="en-GB" sz="1600" dirty="0"/>
          </a:p>
        </p:txBody>
      </p:sp>
      <p:sp>
        <p:nvSpPr>
          <p:cNvPr id="6" name="TextBox 5">
            <a:extLst>
              <a:ext uri="{FF2B5EF4-FFF2-40B4-BE49-F238E27FC236}">
                <a16:creationId xmlns:a16="http://schemas.microsoft.com/office/drawing/2014/main" id="{C3081297-77F1-D156-87AE-D1CA434C11BC}"/>
              </a:ext>
            </a:extLst>
          </p:cNvPr>
          <p:cNvSpPr txBox="1"/>
          <p:nvPr/>
        </p:nvSpPr>
        <p:spPr>
          <a:xfrm>
            <a:off x="5725298" y="976875"/>
            <a:ext cx="6153663" cy="360098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 V.0.5.1</a:t>
            </a:r>
          </a:p>
          <a:p>
            <a:endParaRPr lang="en-GB" sz="1200" dirty="0"/>
          </a:p>
          <a:p>
            <a:endParaRPr lang="en-GB" sz="1200" dirty="0"/>
          </a:p>
          <a:p>
            <a:endParaRPr lang="en-GB" sz="1200" dirty="0"/>
          </a:p>
          <a:p>
            <a:r>
              <a:rPr lang="en-GB" sz="1200" b="1" dirty="0"/>
              <a:t>Due timing, enemy movement code is to be made in Critical Failure’s next version.</a:t>
            </a:r>
          </a:p>
          <a:p>
            <a:endParaRPr lang="en-GB" sz="1200" dirty="0"/>
          </a:p>
          <a:p>
            <a:r>
              <a:rPr lang="en-GB" sz="1200" dirty="0"/>
              <a:t>Make Each enemy Independent. A parent was used  for their movement, but I want to have the enemies be independent of a parent. In the next version I will attempt to make the enemies not reliant on the controller for movement and only to communicate their location to the camera controller.</a:t>
            </a:r>
          </a:p>
          <a:p>
            <a:endParaRPr lang="en-GB" sz="1200" dirty="0"/>
          </a:p>
          <a:p>
            <a:r>
              <a:rPr lang="en-GB" sz="1200" dirty="0"/>
              <a:t>lay a foundation for the code for my enemies to act and move the  way I want them to. As the game is, the enemies are moving but only through code not physically within the room. In addition, their movement isn’t organised and they cannot attack zone 0 the main office.</a:t>
            </a:r>
          </a:p>
          <a:p>
            <a:endParaRPr lang="en-GB" sz="1200" dirty="0"/>
          </a:p>
          <a:p>
            <a:endParaRPr lang="en-GB" sz="1200" dirty="0"/>
          </a:p>
          <a:p>
            <a:endParaRPr lang="en-GB" sz="1200" dirty="0"/>
          </a:p>
          <a:p>
            <a:endParaRPr lang="en-GB" sz="1200" dirty="0"/>
          </a:p>
          <a:p>
            <a:endParaRPr lang="en-GB" sz="1200" dirty="0"/>
          </a:p>
        </p:txBody>
      </p:sp>
      <p:pic>
        <p:nvPicPr>
          <p:cNvPr id="9" name="Picture 8" descr="A screen shot of a computer program&#10;&#10;AI-generated content may be incorrect.">
            <a:extLst>
              <a:ext uri="{FF2B5EF4-FFF2-40B4-BE49-F238E27FC236}">
                <a16:creationId xmlns:a16="http://schemas.microsoft.com/office/drawing/2014/main" id="{39C7307B-DFB4-711A-1A28-44581B6D429F}"/>
              </a:ext>
            </a:extLst>
          </p:cNvPr>
          <p:cNvPicPr>
            <a:picLocks noChangeAspect="1"/>
          </p:cNvPicPr>
          <p:nvPr/>
        </p:nvPicPr>
        <p:blipFill>
          <a:blip r:embed="rId2"/>
          <a:stretch>
            <a:fillRect/>
          </a:stretch>
        </p:blipFill>
        <p:spPr>
          <a:xfrm>
            <a:off x="151043" y="4233999"/>
            <a:ext cx="2232135" cy="2302328"/>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F04A0F47-5202-9AB7-6CD4-F88A003AD3BA}"/>
              </a:ext>
            </a:extLst>
          </p:cNvPr>
          <p:cNvPicPr>
            <a:picLocks noChangeAspect="1"/>
          </p:cNvPicPr>
          <p:nvPr/>
        </p:nvPicPr>
        <p:blipFill>
          <a:blip r:embed="rId3"/>
          <a:stretch>
            <a:fillRect/>
          </a:stretch>
        </p:blipFill>
        <p:spPr>
          <a:xfrm>
            <a:off x="2539232" y="4233999"/>
            <a:ext cx="2653101" cy="2480763"/>
          </a:xfrm>
          <a:prstGeom prst="rect">
            <a:avLst/>
          </a:prstGeom>
        </p:spPr>
      </p:pic>
    </p:spTree>
    <p:extLst>
      <p:ext uri="{BB962C8B-B14F-4D97-AF65-F5344CB8AC3E}">
        <p14:creationId xmlns:p14="http://schemas.microsoft.com/office/powerpoint/2010/main" val="1190945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5385C-4AC1-EFD6-4BC3-F510F04666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5783B4C-A886-40F9-B549-6921F677992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10/01/2026</a:t>
            </a:r>
          </a:p>
        </p:txBody>
      </p:sp>
      <p:sp>
        <p:nvSpPr>
          <p:cNvPr id="2" name="TextBox 1">
            <a:extLst>
              <a:ext uri="{FF2B5EF4-FFF2-40B4-BE49-F238E27FC236}">
                <a16:creationId xmlns:a16="http://schemas.microsoft.com/office/drawing/2014/main" id="{FD089D99-A04A-3305-F160-D0142583CD36}"/>
              </a:ext>
            </a:extLst>
          </p:cNvPr>
          <p:cNvSpPr txBox="1"/>
          <p:nvPr/>
        </p:nvSpPr>
        <p:spPr>
          <a:xfrm>
            <a:off x="5651845" y="12125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V.0.5.1, V0.5.2</a:t>
            </a:r>
          </a:p>
        </p:txBody>
      </p:sp>
      <p:sp>
        <p:nvSpPr>
          <p:cNvPr id="3" name="TextBox 2">
            <a:extLst>
              <a:ext uri="{FF2B5EF4-FFF2-40B4-BE49-F238E27FC236}">
                <a16:creationId xmlns:a16="http://schemas.microsoft.com/office/drawing/2014/main" id="{F2517612-01E7-BAF9-09FE-13F78E659030}"/>
              </a:ext>
            </a:extLst>
          </p:cNvPr>
          <p:cNvSpPr txBox="1"/>
          <p:nvPr/>
        </p:nvSpPr>
        <p:spPr>
          <a:xfrm>
            <a:off x="-1" y="167417"/>
            <a:ext cx="5521217" cy="504753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The enemies now successfully move independently, and the enemy parent is no more.</a:t>
            </a:r>
          </a:p>
          <a:p>
            <a:endParaRPr lang="en-GB" sz="1400" dirty="0"/>
          </a:p>
          <a:p>
            <a:r>
              <a:rPr lang="en-GB" sz="1400" dirty="0"/>
              <a:t>The reason for showing build V.0.5.2 is because for safety reasons build V.0.5.1 which as the current enemy parent will have the parent safely removed in build V.0.5.2 to ensure the enemies are 100% independent in both their movement and behaviour. It’s also to ensure that if removing the parent causes issues, I can fall back to build V.0.5.1 for a re-attempt. This is learning from build V.0.4.7.5.</a:t>
            </a:r>
          </a:p>
          <a:p>
            <a:endParaRPr lang="en-GB" sz="1400" dirty="0"/>
          </a:p>
          <a:p>
            <a:r>
              <a:rPr lang="en-GB" sz="1400" dirty="0"/>
              <a:t>I used the word ‘enemy’ as a placeholder for my code, but now to stick with the game, all code containing the word enemy will be replaced by ‘</a:t>
            </a:r>
            <a:r>
              <a:rPr lang="en-GB" sz="1400" dirty="0" err="1"/>
              <a:t>amcd</a:t>
            </a:r>
            <a:r>
              <a:rPr lang="en-GB" sz="1400" dirty="0"/>
              <a:t>’. This will not disrupt any code and will just be changing the variables names. This just makes it easier for me to remember the variables names.</a:t>
            </a:r>
          </a:p>
          <a:p>
            <a:endParaRPr lang="en-GB" sz="1400" dirty="0"/>
          </a:p>
          <a:p>
            <a:r>
              <a:rPr lang="en-GB" sz="1400" dirty="0"/>
              <a:t>I have also added office/zone 0 into the enemies’ movement.</a:t>
            </a:r>
          </a:p>
          <a:p>
            <a:endParaRPr lang="en-GB" sz="1400" dirty="0"/>
          </a:p>
          <a:p>
            <a:r>
              <a:rPr lang="en-GB" sz="1400" dirty="0"/>
              <a:t>The way the scripts work for enemies is like this. The script for enemy movement syncs with the camera controller into identifying where the enemy is and this will help with the </a:t>
            </a:r>
            <a:r>
              <a:rPr lang="en-GB" sz="1400" dirty="0" err="1"/>
              <a:t>is_watched</a:t>
            </a:r>
            <a:r>
              <a:rPr lang="en-GB" sz="1400" dirty="0"/>
              <a:t> section. Script </a:t>
            </a:r>
            <a:r>
              <a:rPr lang="en-GB" sz="1400" dirty="0" err="1"/>
              <a:t>amcd</a:t>
            </a:r>
            <a:r>
              <a:rPr lang="en-GB" sz="1400" dirty="0"/>
              <a:t> zone position is used to have the enemies physically move to different zones.</a:t>
            </a:r>
          </a:p>
        </p:txBody>
      </p:sp>
      <p:sp>
        <p:nvSpPr>
          <p:cNvPr id="6" name="TextBox 5">
            <a:extLst>
              <a:ext uri="{FF2B5EF4-FFF2-40B4-BE49-F238E27FC236}">
                <a16:creationId xmlns:a16="http://schemas.microsoft.com/office/drawing/2014/main" id="{F039A6F8-5252-52F2-80E9-E31FE5AC0846}"/>
              </a:ext>
            </a:extLst>
          </p:cNvPr>
          <p:cNvSpPr txBox="1"/>
          <p:nvPr/>
        </p:nvSpPr>
        <p:spPr>
          <a:xfrm>
            <a:off x="9511393" y="559554"/>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Have enemies only go to zone 0 if </a:t>
            </a:r>
            <a:r>
              <a:rPr lang="en-GB" sz="1200" dirty="0" err="1"/>
              <a:t>left_door_open</a:t>
            </a:r>
            <a:r>
              <a:rPr lang="en-GB" sz="1200" dirty="0"/>
              <a:t> or right door state = true.</a:t>
            </a:r>
          </a:p>
          <a:p>
            <a:endParaRPr lang="en-GB" sz="1200" dirty="0"/>
          </a:p>
          <a:p>
            <a:r>
              <a:rPr lang="en-GB" sz="1200" dirty="0"/>
              <a:t>Have enemies not attack before 5 seconds of being </a:t>
            </a:r>
            <a:r>
              <a:rPr lang="en-GB" sz="1200"/>
              <a:t>at an </a:t>
            </a:r>
            <a:r>
              <a:rPr lang="en-GB" sz="1200" dirty="0"/>
              <a:t>open door.</a:t>
            </a:r>
          </a:p>
          <a:p>
            <a:endParaRPr lang="en-GB" sz="1200" dirty="0"/>
          </a:p>
          <a:p>
            <a:endParaRPr lang="en-GB" sz="1200" dirty="0"/>
          </a:p>
        </p:txBody>
      </p:sp>
      <p:pic>
        <p:nvPicPr>
          <p:cNvPr id="7" name="Picture 6" descr="A screenshot of a computer&#10;&#10;AI-generated content may be incorrect.">
            <a:extLst>
              <a:ext uri="{FF2B5EF4-FFF2-40B4-BE49-F238E27FC236}">
                <a16:creationId xmlns:a16="http://schemas.microsoft.com/office/drawing/2014/main" id="{8E5BA216-CC04-F237-15BE-8FC6B51B291E}"/>
              </a:ext>
            </a:extLst>
          </p:cNvPr>
          <p:cNvPicPr>
            <a:picLocks noChangeAspect="1"/>
          </p:cNvPicPr>
          <p:nvPr/>
        </p:nvPicPr>
        <p:blipFill>
          <a:blip r:embed="rId2"/>
          <a:stretch>
            <a:fillRect/>
          </a:stretch>
        </p:blipFill>
        <p:spPr>
          <a:xfrm>
            <a:off x="161751" y="5490265"/>
            <a:ext cx="2495898" cy="1200318"/>
          </a:xfrm>
          <a:prstGeom prst="rect">
            <a:avLst/>
          </a:prstGeom>
        </p:spPr>
      </p:pic>
      <p:pic>
        <p:nvPicPr>
          <p:cNvPr id="8" name="Picture 7" descr="A black screen with orange text&#10;&#10;AI-generated content may be incorrect.">
            <a:extLst>
              <a:ext uri="{FF2B5EF4-FFF2-40B4-BE49-F238E27FC236}">
                <a16:creationId xmlns:a16="http://schemas.microsoft.com/office/drawing/2014/main" id="{EADB4082-A159-5C5A-559F-1972D89E9176}"/>
              </a:ext>
            </a:extLst>
          </p:cNvPr>
          <p:cNvPicPr>
            <a:picLocks noChangeAspect="1"/>
          </p:cNvPicPr>
          <p:nvPr/>
        </p:nvPicPr>
        <p:blipFill>
          <a:blip r:embed="rId3"/>
          <a:stretch>
            <a:fillRect/>
          </a:stretch>
        </p:blipFill>
        <p:spPr>
          <a:xfrm>
            <a:off x="2992568" y="5970091"/>
            <a:ext cx="4639322" cy="600159"/>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0D889BAB-B59F-F22F-5F93-AFB9C0EEA41E}"/>
              </a:ext>
            </a:extLst>
          </p:cNvPr>
          <p:cNvPicPr>
            <a:picLocks noChangeAspect="1"/>
          </p:cNvPicPr>
          <p:nvPr/>
        </p:nvPicPr>
        <p:blipFill>
          <a:blip r:embed="rId4"/>
          <a:stretch>
            <a:fillRect/>
          </a:stretch>
        </p:blipFill>
        <p:spPr>
          <a:xfrm>
            <a:off x="5632957" y="3181064"/>
            <a:ext cx="3997866" cy="2649028"/>
          </a:xfrm>
          <a:prstGeom prst="rect">
            <a:avLst/>
          </a:prstGeom>
        </p:spPr>
      </p:pic>
      <p:pic>
        <p:nvPicPr>
          <p:cNvPr id="12" name="Picture 11" descr="A screenshot of a computer&#10;&#10;AI-generated content may be incorrect.">
            <a:extLst>
              <a:ext uri="{FF2B5EF4-FFF2-40B4-BE49-F238E27FC236}">
                <a16:creationId xmlns:a16="http://schemas.microsoft.com/office/drawing/2014/main" id="{7414E0B5-B1B1-8872-9E1E-A8C52293A9BC}"/>
              </a:ext>
            </a:extLst>
          </p:cNvPr>
          <p:cNvPicPr>
            <a:picLocks noChangeAspect="1"/>
          </p:cNvPicPr>
          <p:nvPr/>
        </p:nvPicPr>
        <p:blipFill>
          <a:blip r:embed="rId5"/>
          <a:stretch>
            <a:fillRect/>
          </a:stretch>
        </p:blipFill>
        <p:spPr>
          <a:xfrm>
            <a:off x="5549446" y="1027908"/>
            <a:ext cx="3471400" cy="2032879"/>
          </a:xfrm>
          <a:prstGeom prst="rect">
            <a:avLst/>
          </a:prstGeom>
        </p:spPr>
      </p:pic>
    </p:spTree>
    <p:extLst>
      <p:ext uri="{BB962C8B-B14F-4D97-AF65-F5344CB8AC3E}">
        <p14:creationId xmlns:p14="http://schemas.microsoft.com/office/powerpoint/2010/main" val="248859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8D07-B83F-4671-D82E-D25B30B699B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F523C-CF87-CC38-2BCA-B282ECE17B1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11/01/2026</a:t>
            </a:r>
          </a:p>
        </p:txBody>
      </p:sp>
      <p:sp>
        <p:nvSpPr>
          <p:cNvPr id="2" name="TextBox 1">
            <a:extLst>
              <a:ext uri="{FF2B5EF4-FFF2-40B4-BE49-F238E27FC236}">
                <a16:creationId xmlns:a16="http://schemas.microsoft.com/office/drawing/2014/main" id="{A31C1D47-A3C3-4374-58DA-46639D6A5CF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V.0.5.4</a:t>
            </a:r>
          </a:p>
        </p:txBody>
      </p:sp>
      <p:sp>
        <p:nvSpPr>
          <p:cNvPr id="3" name="TextBox 2">
            <a:extLst>
              <a:ext uri="{FF2B5EF4-FFF2-40B4-BE49-F238E27FC236}">
                <a16:creationId xmlns:a16="http://schemas.microsoft.com/office/drawing/2014/main" id="{D72543A6-87FB-A723-FAEC-C3DC0A4D5BE3}"/>
              </a:ext>
            </a:extLst>
          </p:cNvPr>
          <p:cNvSpPr txBox="1"/>
          <p:nvPr/>
        </p:nvSpPr>
        <p:spPr>
          <a:xfrm>
            <a:off x="0" y="121250"/>
            <a:ext cx="5576207" cy="310854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I have added alarms to Gwiber which  trigger after how many frames have pasted, essentially the alarms are countdowns to execute their code, then in their code, Gwiber determines which zone it can move to and if it’s able to go to zone 0 the office.</a:t>
            </a:r>
          </a:p>
          <a:p>
            <a:endParaRPr lang="en-GB" sz="1400" dirty="0"/>
          </a:p>
          <a:p>
            <a:r>
              <a:rPr lang="en-GB" sz="1400" dirty="0"/>
              <a:t>The code that tells Gwiber what to do when in zone 2 in deciding if it can move to zone 0 only if </a:t>
            </a:r>
            <a:r>
              <a:rPr lang="en-GB" sz="1400" dirty="0" err="1"/>
              <a:t>left_door_open</a:t>
            </a:r>
            <a:r>
              <a:rPr lang="en-GB" sz="1400" dirty="0"/>
              <a:t> = true is the same format used for having Gwiber determine what zone its in and what zones to go to instead.</a:t>
            </a:r>
          </a:p>
          <a:p>
            <a:endParaRPr lang="en-GB" sz="1400" dirty="0"/>
          </a:p>
          <a:p>
            <a:r>
              <a:rPr lang="en-GB" sz="1400" dirty="0"/>
              <a:t>The code now makes it so that each zone </a:t>
            </a:r>
            <a:r>
              <a:rPr lang="en-GB" sz="1400" dirty="0" err="1"/>
              <a:t>Gwiber</a:t>
            </a:r>
            <a:r>
              <a:rPr lang="en-GB" sz="1400" dirty="0"/>
              <a:t> gives him options of which zone it can move to based on certain variables. More specifically zone 2 where </a:t>
            </a:r>
            <a:r>
              <a:rPr lang="en-GB" sz="1400" dirty="0" err="1"/>
              <a:t>Gwiber</a:t>
            </a:r>
            <a:r>
              <a:rPr lang="en-GB" sz="1400" dirty="0"/>
              <a:t> can only go to zone 0 IF the door is open.</a:t>
            </a:r>
          </a:p>
        </p:txBody>
      </p:sp>
      <p:sp>
        <p:nvSpPr>
          <p:cNvPr id="6" name="TextBox 5">
            <a:extLst>
              <a:ext uri="{FF2B5EF4-FFF2-40B4-BE49-F238E27FC236}">
                <a16:creationId xmlns:a16="http://schemas.microsoft.com/office/drawing/2014/main" id="{C56E8C47-CCBF-44D9-9D77-3959980595D9}"/>
              </a:ext>
            </a:extLst>
          </p:cNvPr>
          <p:cNvSpPr txBox="1"/>
          <p:nvPr/>
        </p:nvSpPr>
        <p:spPr>
          <a:xfrm>
            <a:off x="9135836" y="584730"/>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To do next session</a:t>
            </a:r>
          </a:p>
          <a:p>
            <a:endParaRPr lang="en-GB" sz="1200" dirty="0"/>
          </a:p>
          <a:p>
            <a:r>
              <a:rPr lang="en-GB" sz="1200" dirty="0"/>
              <a:t>Next session is to make current game into build V.0.5.5, this version is to be the most critical point where all the enemies code is set (doesn’t need tinkering yet) and from that point the game is in a stable runnable state.</a:t>
            </a:r>
          </a:p>
          <a:p>
            <a:endParaRPr lang="en-GB" sz="1200" dirty="0"/>
          </a:p>
          <a:p>
            <a:endParaRPr lang="en-GB" sz="1200" dirty="0"/>
          </a:p>
        </p:txBody>
      </p:sp>
      <p:pic>
        <p:nvPicPr>
          <p:cNvPr id="13" name="Picture 12" descr="A screenshot of a computer program&#10;&#10;AI-generated content may be incorrect.">
            <a:extLst>
              <a:ext uri="{FF2B5EF4-FFF2-40B4-BE49-F238E27FC236}">
                <a16:creationId xmlns:a16="http://schemas.microsoft.com/office/drawing/2014/main" id="{0575A016-B5C9-0C09-4C94-5D6414BCE293}"/>
              </a:ext>
            </a:extLst>
          </p:cNvPr>
          <p:cNvPicPr>
            <a:picLocks noChangeAspect="1"/>
          </p:cNvPicPr>
          <p:nvPr/>
        </p:nvPicPr>
        <p:blipFill>
          <a:blip r:embed="rId2"/>
          <a:stretch>
            <a:fillRect/>
          </a:stretch>
        </p:blipFill>
        <p:spPr>
          <a:xfrm>
            <a:off x="0" y="3128498"/>
            <a:ext cx="3046560" cy="3729502"/>
          </a:xfrm>
          <a:prstGeom prst="rect">
            <a:avLst/>
          </a:prstGeom>
        </p:spPr>
      </p:pic>
      <p:pic>
        <p:nvPicPr>
          <p:cNvPr id="7" name="Picture 6" descr="A screen shot of a computer program&#10;&#10;AI-generated content may be incorrect.">
            <a:extLst>
              <a:ext uri="{FF2B5EF4-FFF2-40B4-BE49-F238E27FC236}">
                <a16:creationId xmlns:a16="http://schemas.microsoft.com/office/drawing/2014/main" id="{CEB98659-AD81-B502-ADB4-D73692DD7046}"/>
              </a:ext>
            </a:extLst>
          </p:cNvPr>
          <p:cNvPicPr>
            <a:picLocks noChangeAspect="1"/>
          </p:cNvPicPr>
          <p:nvPr/>
        </p:nvPicPr>
        <p:blipFill>
          <a:blip r:embed="rId3"/>
          <a:stretch>
            <a:fillRect/>
          </a:stretch>
        </p:blipFill>
        <p:spPr>
          <a:xfrm>
            <a:off x="3348169" y="3649436"/>
            <a:ext cx="5081495" cy="2711188"/>
          </a:xfrm>
          <a:prstGeom prst="rect">
            <a:avLst/>
          </a:prstGeom>
        </p:spPr>
      </p:pic>
      <p:sp>
        <p:nvSpPr>
          <p:cNvPr id="8" name="TextBox 7">
            <a:extLst>
              <a:ext uri="{FF2B5EF4-FFF2-40B4-BE49-F238E27FC236}">
                <a16:creationId xmlns:a16="http://schemas.microsoft.com/office/drawing/2014/main" id="{F13E88DE-B1DA-141E-A39C-77C4D652B48B}"/>
              </a:ext>
            </a:extLst>
          </p:cNvPr>
          <p:cNvSpPr txBox="1"/>
          <p:nvPr/>
        </p:nvSpPr>
        <p:spPr>
          <a:xfrm>
            <a:off x="5651845" y="497376"/>
            <a:ext cx="3394184" cy="3539430"/>
          </a:xfrm>
          <a:prstGeom prst="rect">
            <a:avLst/>
          </a:prstGeom>
          <a:noFill/>
          <a:ln>
            <a:solidFill>
              <a:schemeClr val="tx1"/>
            </a:solidFill>
          </a:ln>
        </p:spPr>
        <p:txBody>
          <a:bodyPr wrap="square" rtlCol="0">
            <a:spAutoFit/>
          </a:bodyPr>
          <a:lstStyle/>
          <a:p>
            <a:r>
              <a:rPr lang="en-GB" sz="1400" dirty="0"/>
              <a:t>In addition, this specific code format not only makes each enemy independent but also make sit easier to code their behaviours.</a:t>
            </a:r>
          </a:p>
          <a:p>
            <a:endParaRPr lang="en-GB" sz="1400" dirty="0"/>
          </a:p>
          <a:p>
            <a:r>
              <a:rPr lang="en-GB" sz="1400" dirty="0"/>
              <a:t>For example, Arach, an enemy that doesn’t move like the others can just remain in zone 5 and only access zone 0 or change to zone 4 using the same line of code for what’s used in zone 2.</a:t>
            </a:r>
          </a:p>
          <a:p>
            <a:endParaRPr lang="en-GB" sz="1400" dirty="0"/>
          </a:p>
          <a:p>
            <a:r>
              <a:rPr lang="en-GB" sz="1400" dirty="0"/>
              <a:t>Also, this code can allow me to restrict their movement. Example, </a:t>
            </a:r>
            <a:r>
              <a:rPr lang="en-GB" sz="1400" dirty="0" err="1"/>
              <a:t>Gwiber</a:t>
            </a:r>
            <a:r>
              <a:rPr lang="en-GB" sz="1400" dirty="0"/>
              <a:t> can only move throughout the left side zones.</a:t>
            </a:r>
          </a:p>
          <a:p>
            <a:endParaRPr lang="en-GB" sz="1400" dirty="0"/>
          </a:p>
          <a:p>
            <a:endParaRPr lang="en-GB" sz="1400" dirty="0"/>
          </a:p>
        </p:txBody>
      </p:sp>
    </p:spTree>
    <p:extLst>
      <p:ext uri="{BB962C8B-B14F-4D97-AF65-F5344CB8AC3E}">
        <p14:creationId xmlns:p14="http://schemas.microsoft.com/office/powerpoint/2010/main" val="3659257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14/01/2026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V.0.5.5</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err="1"/>
              <a:t>Gwiber</a:t>
            </a:r>
            <a:r>
              <a:rPr lang="en-GB" sz="1200" dirty="0"/>
              <a:t> officially moves and no longer requires an alarm. </a:t>
            </a:r>
            <a:r>
              <a:rPr lang="en-GB" sz="1200" dirty="0" err="1"/>
              <a:t>Gwiber</a:t>
            </a:r>
            <a:r>
              <a:rPr lang="en-GB" sz="1200" dirty="0"/>
              <a:t> reacts and calculates whether it is being watched and what zone it can move to. </a:t>
            </a:r>
            <a:r>
              <a:rPr lang="en-GB" sz="1200" dirty="0" err="1"/>
              <a:t>Gwiber</a:t>
            </a:r>
            <a:r>
              <a:rPr lang="en-GB" sz="1200" dirty="0"/>
              <a:t> also reacts to the doors state, knowing when the door is or is not open.</a:t>
            </a:r>
          </a:p>
          <a:p>
            <a:endParaRPr lang="en-GB" sz="1200" dirty="0"/>
          </a:p>
          <a:p>
            <a:r>
              <a:rPr lang="en-GB" sz="1200" dirty="0" err="1"/>
              <a:t>Gwiber’s</a:t>
            </a:r>
            <a:r>
              <a:rPr lang="en-GB" sz="1200" dirty="0"/>
              <a:t> movement is working as intended, delaying itself when watched, rolling its chance to move and to which zones are available to move to.</a:t>
            </a:r>
          </a:p>
          <a:p>
            <a:endParaRPr lang="en-GB" sz="1200" dirty="0"/>
          </a:p>
          <a:p>
            <a:r>
              <a:rPr lang="en-GB" sz="1200" dirty="0"/>
              <a:t>The key thing with this enemies, code is the lack of alarms. Instead of them I used Move timers. The move timers tell </a:t>
            </a:r>
            <a:r>
              <a:rPr lang="en-GB" sz="1200" dirty="0" err="1"/>
              <a:t>Gwiber</a:t>
            </a:r>
            <a:r>
              <a:rPr lang="en-GB" sz="1200" dirty="0"/>
              <a:t> the time until it should move. This also worked perfectly with the </a:t>
            </a:r>
            <a:r>
              <a:rPr lang="en-GB" sz="1200" dirty="0" err="1"/>
              <a:t>is_watched</a:t>
            </a:r>
            <a:r>
              <a:rPr lang="en-GB" sz="1200" dirty="0"/>
              <a:t> movement delay. This code though did come with some issues such has door sprites disappearing despite normal behaviour and </a:t>
            </a:r>
            <a:r>
              <a:rPr lang="en-GB" sz="1200" dirty="0" err="1"/>
              <a:t>Gwibers</a:t>
            </a:r>
            <a:r>
              <a:rPr lang="en-GB" sz="1200" dirty="0"/>
              <a:t> very low chance of going into zone 1.</a:t>
            </a:r>
          </a:p>
          <a:p>
            <a:endParaRPr lang="en-GB" sz="1200" dirty="0"/>
          </a:p>
          <a:p>
            <a:r>
              <a:rPr lang="en-GB" sz="1200" dirty="0"/>
              <a:t>The best part is that </a:t>
            </a:r>
            <a:r>
              <a:rPr lang="en-GB" sz="1200" dirty="0" err="1"/>
              <a:t>Gwiber</a:t>
            </a:r>
            <a:r>
              <a:rPr lang="en-GB" sz="1200" dirty="0"/>
              <a:t> has basically 1% relation to </a:t>
            </a:r>
            <a:r>
              <a:rPr lang="en-GB" sz="1200" dirty="0" err="1"/>
              <a:t>global.current_zone</a:t>
            </a:r>
            <a:r>
              <a:rPr lang="en-GB" sz="1200" dirty="0"/>
              <a:t> which was theorised to be the cause of previous problems.</a:t>
            </a:r>
          </a:p>
        </p:txBody>
      </p:sp>
      <p:sp>
        <p:nvSpPr>
          <p:cNvPr id="6" name="TextBox 5">
            <a:extLst>
              <a:ext uri="{FF2B5EF4-FFF2-40B4-BE49-F238E27FC236}">
                <a16:creationId xmlns:a16="http://schemas.microsoft.com/office/drawing/2014/main" id="{A73144A0-1615-3C12-C65C-A1A0E7AB63BD}"/>
              </a:ext>
            </a:extLst>
          </p:cNvPr>
          <p:cNvSpPr txBox="1"/>
          <p:nvPr/>
        </p:nvSpPr>
        <p:spPr>
          <a:xfrm>
            <a:off x="5651845" y="2283607"/>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a:t>
            </a:r>
            <a:r>
              <a:rPr lang="en-GB" sz="1050" dirty="0" err="1"/>
              <a:t>Gwiber</a:t>
            </a:r>
            <a:r>
              <a:rPr lang="en-GB" sz="1050" dirty="0"/>
              <a:t> might be moving but he doesn’t have much in terms of behaviour such as delayed movement in zone 0 before jump scare, sounds and speed.</a:t>
            </a:r>
          </a:p>
          <a:p>
            <a:endParaRPr lang="en-GB" sz="1050" dirty="0"/>
          </a:p>
        </p:txBody>
      </p:sp>
      <p:pic>
        <p:nvPicPr>
          <p:cNvPr id="9" name="Picture 8" descr="A screenshot of a computer program&#10;&#10;AI-generated content may be incorrect.">
            <a:extLst>
              <a:ext uri="{FF2B5EF4-FFF2-40B4-BE49-F238E27FC236}">
                <a16:creationId xmlns:a16="http://schemas.microsoft.com/office/drawing/2014/main" id="{AD60EDFF-9126-A283-EAF4-804EE44BF60D}"/>
              </a:ext>
            </a:extLst>
          </p:cNvPr>
          <p:cNvPicPr>
            <a:picLocks noChangeAspect="1"/>
          </p:cNvPicPr>
          <p:nvPr/>
        </p:nvPicPr>
        <p:blipFill>
          <a:blip r:embed="rId2"/>
          <a:stretch>
            <a:fillRect/>
          </a:stretch>
        </p:blipFill>
        <p:spPr>
          <a:xfrm>
            <a:off x="244928" y="3525028"/>
            <a:ext cx="4378585" cy="311220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A47FE8C5-CF31-C1D5-DF77-CFA577455A30}"/>
              </a:ext>
            </a:extLst>
          </p:cNvPr>
          <p:cNvPicPr>
            <a:picLocks noChangeAspect="1"/>
          </p:cNvPicPr>
          <p:nvPr/>
        </p:nvPicPr>
        <p:blipFill>
          <a:blip r:embed="rId3"/>
          <a:stretch>
            <a:fillRect/>
          </a:stretch>
        </p:blipFill>
        <p:spPr>
          <a:xfrm>
            <a:off x="4814143" y="3607856"/>
            <a:ext cx="4182059" cy="3029373"/>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491A1334-62CA-420F-5DFA-15FC4F8B56E6}"/>
              </a:ext>
            </a:extLst>
          </p:cNvPr>
          <p:cNvPicPr>
            <a:picLocks noChangeAspect="1"/>
          </p:cNvPicPr>
          <p:nvPr/>
        </p:nvPicPr>
        <p:blipFill>
          <a:blip r:embed="rId4"/>
          <a:stretch>
            <a:fillRect/>
          </a:stretch>
        </p:blipFill>
        <p:spPr>
          <a:xfrm>
            <a:off x="9074180" y="2334702"/>
            <a:ext cx="3005168" cy="2667800"/>
          </a:xfrm>
          <a:prstGeom prst="rect">
            <a:avLst/>
          </a:prstGeom>
        </p:spPr>
      </p:pic>
      <p:pic>
        <p:nvPicPr>
          <p:cNvPr id="16" name="Picture 15" descr="A computer screen shot of a program code&#10;&#10;AI-generated content may be incorrect.">
            <a:extLst>
              <a:ext uri="{FF2B5EF4-FFF2-40B4-BE49-F238E27FC236}">
                <a16:creationId xmlns:a16="http://schemas.microsoft.com/office/drawing/2014/main" id="{C010A13C-B8AE-9B62-017A-4F5D37539CA9}"/>
              </a:ext>
            </a:extLst>
          </p:cNvPr>
          <p:cNvPicPr>
            <a:picLocks noChangeAspect="1"/>
          </p:cNvPicPr>
          <p:nvPr/>
        </p:nvPicPr>
        <p:blipFill>
          <a:blip r:embed="rId5"/>
          <a:srcRect t="5113" r="1600" b="18002"/>
          <a:stretch>
            <a:fillRect/>
          </a:stretch>
        </p:blipFill>
        <p:spPr>
          <a:xfrm>
            <a:off x="5651845" y="476261"/>
            <a:ext cx="5671229" cy="1779815"/>
          </a:xfrm>
          <a:prstGeom prst="rect">
            <a:avLst/>
          </a:prstGeom>
        </p:spPr>
      </p:pic>
      <p:sp>
        <p:nvSpPr>
          <p:cNvPr id="17" name="TextBox 16">
            <a:extLst>
              <a:ext uri="{FF2B5EF4-FFF2-40B4-BE49-F238E27FC236}">
                <a16:creationId xmlns:a16="http://schemas.microsoft.com/office/drawing/2014/main" id="{BB773F2C-1740-6DB8-CE63-90FE5236C780}"/>
              </a:ext>
            </a:extLst>
          </p:cNvPr>
          <p:cNvSpPr txBox="1"/>
          <p:nvPr/>
        </p:nvSpPr>
        <p:spPr>
          <a:xfrm>
            <a:off x="9035191" y="5028590"/>
            <a:ext cx="3083145" cy="203132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 2</a:t>
            </a:r>
          </a:p>
          <a:p>
            <a:endParaRPr lang="en-GB" sz="1050" dirty="0"/>
          </a:p>
          <a:p>
            <a:r>
              <a:rPr lang="en-GB" sz="1050" dirty="0"/>
              <a:t>Fix door sprite issue. (</a:t>
            </a:r>
            <a:r>
              <a:rPr lang="en-GB" sz="1050" dirty="0" err="1"/>
              <a:t>Nvm</a:t>
            </a:r>
            <a:r>
              <a:rPr lang="en-GB" sz="1050" dirty="0"/>
              <a:t> somehow fixed it)</a:t>
            </a:r>
          </a:p>
          <a:p>
            <a:endParaRPr lang="en-GB" sz="1050" dirty="0"/>
          </a:p>
          <a:p>
            <a:r>
              <a:rPr lang="en-GB" sz="1050" dirty="0"/>
              <a:t>Create sounds and jump scares for </a:t>
            </a:r>
            <a:r>
              <a:rPr lang="en-GB" sz="1050" dirty="0" err="1"/>
              <a:t>Gwiber</a:t>
            </a:r>
            <a:r>
              <a:rPr lang="en-GB" sz="1050" dirty="0"/>
              <a:t>.</a:t>
            </a:r>
          </a:p>
          <a:p>
            <a:endParaRPr lang="en-GB" sz="1050" dirty="0"/>
          </a:p>
          <a:p>
            <a:r>
              <a:rPr lang="en-GB" sz="1050" dirty="0"/>
              <a:t>Death Screen</a:t>
            </a:r>
          </a:p>
          <a:p>
            <a:endParaRPr lang="en-GB" sz="1050" dirty="0"/>
          </a:p>
          <a:p>
            <a:r>
              <a:rPr lang="en-GB" sz="1050" dirty="0"/>
              <a:t>Starting Room</a:t>
            </a:r>
          </a:p>
          <a:p>
            <a:endParaRPr lang="en-GB" sz="1050" dirty="0"/>
          </a:p>
          <a:p>
            <a:r>
              <a:rPr lang="en-GB" sz="1050" dirty="0"/>
              <a:t>Correct Camera/</a:t>
            </a:r>
            <a:r>
              <a:rPr lang="en-GB" sz="1050" dirty="0" err="1"/>
              <a:t>Gwiber</a:t>
            </a:r>
            <a:r>
              <a:rPr lang="en-GB" sz="1050" dirty="0"/>
              <a:t> co-ordinates</a:t>
            </a:r>
          </a:p>
          <a:p>
            <a:endParaRPr lang="en-GB" sz="1050" dirty="0"/>
          </a:p>
        </p:txBody>
      </p:sp>
    </p:spTree>
    <p:extLst>
      <p:ext uri="{BB962C8B-B14F-4D97-AF65-F5344CB8AC3E}">
        <p14:creationId xmlns:p14="http://schemas.microsoft.com/office/powerpoint/2010/main" val="38910532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281645487"/>
              </p:ext>
            </p:extLst>
          </p:nvPr>
        </p:nvGraphicFramePr>
        <p:xfrm>
          <a:off x="97155" y="84201"/>
          <a:ext cx="11988463" cy="972615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 – Build V.0.3</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 – Build V.0.4</a:t>
                      </a:r>
                    </a:p>
                  </a:txBody>
                  <a:tcPr/>
                </a:tc>
                <a:tc>
                  <a:txBody>
                    <a:bodyPr/>
                    <a:lstStyle/>
                    <a:p>
                      <a:r>
                        <a:rPr lang="en-GB" sz="1100" dirty="0"/>
                        <a:t>rm_office</a:t>
                      </a:r>
                    </a:p>
                  </a:txBody>
                  <a:tcPr/>
                </a:tc>
                <a:tc>
                  <a:txBody>
                    <a:bodyPr/>
                    <a:lstStyle/>
                    <a:p>
                      <a:r>
                        <a:rPr lang="en-GB" sz="1100" dirty="0"/>
                        <a:t>Door and vent objects </a:t>
                      </a:r>
                      <a:r>
                        <a:rPr lang="en-GB" sz="1100" b="1" dirty="0"/>
                        <a:t>open/closed</a:t>
                      </a:r>
                      <a:r>
                        <a:rPr lang="en-GB" sz="1100" dirty="0"/>
                        <a:t>,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r>
                        <a:rPr lang="en-GB" sz="1100" dirty="0"/>
                        <a:t>I changed the controllers code to have all the doors and vents set to open upon starting the game. This allows for the game to start with 100% oxygen.</a:t>
                      </a:r>
                    </a:p>
                    <a:p>
                      <a:endParaRPr lang="en-GB" sz="1100" dirty="0"/>
                    </a:p>
                    <a:p>
                      <a:r>
                        <a:rPr lang="en-GB" sz="1100" dirty="0"/>
                        <a:t>I have solved the issue with oxygen rate increasing and decreasing incorrectly. So, now if more than 1 door or vent is open, based on the amount open/closed the oxygens rate will Increase/decrease.</a:t>
                      </a:r>
                    </a:p>
                    <a:p>
                      <a:endParaRPr lang="en-GB" sz="1100" dirty="0"/>
                    </a:p>
                    <a:p>
                      <a:r>
                        <a:rPr lang="en-GB" sz="1100" dirty="0"/>
                        <a:t>Only issue is that the front vent for some reason starts with the closed variant of its sprite but that can be easily solved next session.</a:t>
                      </a:r>
                    </a:p>
                    <a:p>
                      <a:endParaRPr lang="en-GB" sz="1100" dirty="0"/>
                    </a:p>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2775184045"/>
              </p:ext>
            </p:extLst>
          </p:nvPr>
        </p:nvGraphicFramePr>
        <p:xfrm>
          <a:off x="97155" y="84201"/>
          <a:ext cx="11988463" cy="66758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3. Build V.0.5.4</a:t>
                      </a:r>
                    </a:p>
                    <a:p>
                      <a:r>
                        <a:rPr lang="en-GB" sz="1100" dirty="0"/>
                        <a:t>(Note: there was a test for build V.0.4.5 however I accidently overwritten this PowerPoint causing me to lose it. However, that test was for the amcd’s movement which worked and this test is for the new updated enemy movement.</a:t>
                      </a:r>
                    </a:p>
                  </a:txBody>
                  <a:tcPr/>
                </a:tc>
                <a:tc>
                  <a:txBody>
                    <a:bodyPr/>
                    <a:lstStyle/>
                    <a:p>
                      <a:r>
                        <a:rPr lang="en-GB" sz="1100" dirty="0" err="1"/>
                        <a:t>Rm_office</a:t>
                      </a:r>
                      <a:endParaRPr lang="en-GB" sz="1100" dirty="0"/>
                    </a:p>
                  </a:txBody>
                  <a:tcPr/>
                </a:tc>
                <a:tc>
                  <a:txBody>
                    <a:bodyPr/>
                    <a:lstStyle/>
                    <a:p>
                      <a:r>
                        <a:rPr lang="en-GB" sz="1100" dirty="0" err="1"/>
                        <a:t>Obj_amcd_gwiber</a:t>
                      </a:r>
                      <a:endParaRPr lang="en-GB" sz="1100" dirty="0"/>
                    </a:p>
                  </a:txBody>
                  <a:tcPr/>
                </a:tc>
                <a:tc>
                  <a:txBody>
                    <a:bodyPr/>
                    <a:lstStyle/>
                    <a:p>
                      <a:r>
                        <a:rPr lang="en-GB" sz="1100" dirty="0" err="1"/>
                        <a:t>Gwiber</a:t>
                      </a:r>
                      <a:r>
                        <a:rPr lang="en-GB" sz="1100" dirty="0"/>
                        <a:t> is to change zones based on what zone its currently in and whether or not it is currently able to go to zone 0 from zone 2. </a:t>
                      </a:r>
                      <a:r>
                        <a:rPr lang="en-GB" sz="1100" dirty="0" err="1"/>
                        <a:t>Gwiber</a:t>
                      </a:r>
                      <a:r>
                        <a:rPr lang="en-GB" sz="1100" dirty="0"/>
                        <a:t> should also have its movement delayed when </a:t>
                      </a:r>
                      <a:r>
                        <a:rPr lang="en-GB" sz="1100" dirty="0" err="1"/>
                        <a:t>global.gwiberpos</a:t>
                      </a:r>
                      <a:r>
                        <a:rPr lang="en-GB" sz="1100" dirty="0"/>
                        <a:t> = </a:t>
                      </a:r>
                      <a:r>
                        <a:rPr lang="en-GB" sz="1100" dirty="0" err="1"/>
                        <a:t>global.current_zone</a:t>
                      </a:r>
                      <a:r>
                        <a:rPr lang="en-GB" sz="1100" dirty="0"/>
                        <a:t>.</a:t>
                      </a:r>
                    </a:p>
                  </a:txBody>
                  <a:tcPr/>
                </a:tc>
                <a:tc>
                  <a:txBody>
                    <a:bodyPr/>
                    <a:lstStyle/>
                    <a:p>
                      <a:r>
                        <a:rPr lang="en-GB" sz="1100" dirty="0" err="1"/>
                        <a:t>Gwiber</a:t>
                      </a:r>
                      <a:r>
                        <a:rPr lang="en-GB" sz="1100" dirty="0"/>
                        <a:t> moved from zone 1 to zone 5 but remained their, it didn’t move back to zone 1 for it to move to zone 2 </a:t>
                      </a:r>
                      <a:r>
                        <a:rPr lang="en-GB" sz="1100" dirty="0" err="1"/>
                        <a:t>ect</a:t>
                      </a:r>
                      <a:r>
                        <a:rPr lang="en-GB" sz="1100" dirty="0"/>
                        <a:t>. Due to this I couldn’t confirm if the watched mechanic was working or not.</a:t>
                      </a:r>
                    </a:p>
                  </a:txBody>
                  <a:tcPr/>
                </a:tc>
                <a:tc>
                  <a:txBody>
                    <a:bodyPr/>
                    <a:lstStyle/>
                    <a:p>
                      <a:r>
                        <a:rPr lang="en-GB" sz="1100" dirty="0"/>
                        <a:t>At the time of this test, I have not made any changes besides trying to give </a:t>
                      </a:r>
                      <a:r>
                        <a:rPr lang="en-GB" sz="1100" dirty="0" err="1"/>
                        <a:t>Gwiber</a:t>
                      </a:r>
                      <a:r>
                        <a:rPr lang="en-GB" sz="1100" dirty="0"/>
                        <a:t> a draw GUI to see if he is in fact moving or not.</a:t>
                      </a:r>
                    </a:p>
                    <a:p>
                      <a:endParaRPr lang="en-GB" sz="1100" dirty="0"/>
                    </a:p>
                    <a:p>
                      <a:r>
                        <a:rPr lang="en-GB" sz="1100" dirty="0"/>
                        <a:t>Update: got a GUI draw and I can confirm that </a:t>
                      </a:r>
                      <a:r>
                        <a:rPr lang="en-GB" sz="1100" dirty="0" err="1"/>
                        <a:t>Gwiber</a:t>
                      </a:r>
                      <a:r>
                        <a:rPr lang="en-GB" sz="1100" dirty="0"/>
                        <a:t> doesn’t move from zone 1.</a:t>
                      </a:r>
                    </a:p>
                    <a:p>
                      <a:endParaRPr lang="en-GB" sz="1100" dirty="0"/>
                    </a:p>
                    <a:p>
                      <a:r>
                        <a:rPr lang="en-GB" sz="1100" dirty="0"/>
                        <a:t>Also, using debug show I can confirm that </a:t>
                      </a:r>
                      <a:r>
                        <a:rPr lang="en-GB" sz="1100" dirty="0" err="1"/>
                        <a:t>Gwiber</a:t>
                      </a:r>
                      <a:r>
                        <a:rPr lang="en-GB" sz="1100" dirty="0"/>
                        <a:t> is running its step event but alarm 0 is not, meaning that the step event is having problems triggering alarm [0].</a:t>
                      </a:r>
                    </a:p>
                  </a:txBody>
                  <a:tcPr/>
                </a:tc>
                <a:extLst>
                  <a:ext uri="{0D108BD9-81ED-4DB2-BD59-A6C34878D82A}">
                    <a16:rowId xmlns:a16="http://schemas.microsoft.com/office/drawing/2014/main" val="4028166049"/>
                  </a:ext>
                </a:extLst>
              </a:tr>
              <a:tr h="595728">
                <a:tc>
                  <a:txBody>
                    <a:bodyPr/>
                    <a:lstStyle/>
                    <a:p>
                      <a:r>
                        <a:rPr lang="en-GB" sz="1100" dirty="0"/>
                        <a:t>4. Build V.0.5.5</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t>
                      </a:r>
                      <a:r>
                        <a:rPr lang="en-GB" sz="1100" dirty="0" err="1"/>
                        <a:t>obj_oxygen_door_controller</a:t>
                      </a:r>
                      <a:endParaRPr lang="en-GB" sz="1100" dirty="0"/>
                    </a:p>
                  </a:txBody>
                  <a:tcPr/>
                </a:tc>
                <a:tc>
                  <a:txBody>
                    <a:bodyPr/>
                    <a:lstStyle/>
                    <a:p>
                      <a:r>
                        <a:rPr lang="en-GB" sz="1100" dirty="0" err="1"/>
                        <a:t>Gwiber</a:t>
                      </a:r>
                      <a:r>
                        <a:rPr lang="en-GB" sz="1100" dirty="0"/>
                        <a:t> has a move timer that when it reaches 0, will reset to 600. when it goes 0 </a:t>
                      </a:r>
                      <a:r>
                        <a:rPr lang="en-GB" sz="1100" dirty="0" err="1"/>
                        <a:t>Gwiber</a:t>
                      </a:r>
                      <a:r>
                        <a:rPr lang="en-GB" sz="1100" dirty="0"/>
                        <a:t> does a zone check and determines based on a 50/50 chance which zone it can move two. Specifically for zone 2, </a:t>
                      </a:r>
                      <a:r>
                        <a:rPr lang="en-GB" sz="1100" dirty="0" err="1"/>
                        <a:t>Gwiber</a:t>
                      </a:r>
                      <a:r>
                        <a:rPr lang="en-GB" sz="1100" dirty="0"/>
                        <a:t> must understand if the door is In an open or closed state before moving into zone 0 (The Office).</a:t>
                      </a:r>
                    </a:p>
                  </a:txBody>
                  <a:tcPr/>
                </a:tc>
                <a:tc>
                  <a:txBody>
                    <a:bodyPr/>
                    <a:lstStyle/>
                    <a:p>
                      <a:r>
                        <a:rPr lang="en-GB" sz="1100" dirty="0" err="1"/>
                        <a:t>Gwiber</a:t>
                      </a:r>
                      <a:r>
                        <a:rPr lang="en-GB" sz="1100" dirty="0"/>
                        <a:t> does move between zones based on the timers. However, </a:t>
                      </a:r>
                      <a:r>
                        <a:rPr lang="en-GB" sz="1100" dirty="0" err="1"/>
                        <a:t>Gwiber</a:t>
                      </a:r>
                      <a:r>
                        <a:rPr lang="en-GB" sz="1100" dirty="0"/>
                        <a:t> moves from zone 1 straight to zone 0 when it should only be able to go to zone 2 or 5. Also, for some reason the code that tells </a:t>
                      </a:r>
                      <a:r>
                        <a:rPr lang="en-GB" sz="1100" dirty="0" err="1"/>
                        <a:t>Gwiber</a:t>
                      </a:r>
                      <a:r>
                        <a:rPr lang="en-GB" sz="1100" dirty="0"/>
                        <a:t> if the doors are open or closed had caused the door sprites to disappear in addition to teleporting the other enemy objects when button is pressed. </a:t>
                      </a:r>
                      <a:r>
                        <a:rPr lang="en-GB" sz="1100" dirty="0" err="1"/>
                        <a:t>Gwiber</a:t>
                      </a:r>
                      <a:r>
                        <a:rPr lang="en-GB" sz="1100" dirty="0"/>
                        <a:t> does not go into zone 0 when </a:t>
                      </a:r>
                      <a:r>
                        <a:rPr lang="en-GB" sz="1100" dirty="0" err="1"/>
                        <a:t>left_door_state</a:t>
                      </a:r>
                      <a:r>
                        <a:rPr lang="en-GB" sz="1100" dirty="0"/>
                        <a:t>  is closed.</a:t>
                      </a:r>
                    </a:p>
                  </a:txBody>
                  <a:tcPr/>
                </a:tc>
                <a:tc>
                  <a:txBody>
                    <a:bodyPr/>
                    <a:lstStyle/>
                    <a:p>
                      <a:r>
                        <a:rPr lang="en-GB" sz="1100" dirty="0"/>
                        <a:t>This code causes the doors sprites disappearing</a:t>
                      </a:r>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r>
                        <a:rPr lang="en-GB" sz="1100" dirty="0"/>
                        <a:t>But it is also needed to give </a:t>
                      </a:r>
                      <a:r>
                        <a:rPr lang="en-GB" sz="1100" dirty="0" err="1"/>
                        <a:t>Gwiber</a:t>
                      </a:r>
                      <a:r>
                        <a:rPr lang="en-GB" sz="1100" dirty="0"/>
                        <a:t> information in whether the door is in an open state.</a:t>
                      </a:r>
                    </a:p>
                    <a:p>
                      <a:r>
                        <a:rPr lang="en-GB" sz="1100" dirty="0"/>
                        <a:t>(Ok don’t know why or </a:t>
                      </a:r>
                      <a:r>
                        <a:rPr lang="en-GB" sz="1100"/>
                        <a:t>how but the doors are fixed?)</a:t>
                      </a:r>
                      <a:endParaRPr lang="en-GB" sz="1100" dirty="0"/>
                    </a:p>
                  </a:txBody>
                  <a:tcPr/>
                </a:tc>
                <a:extLst>
                  <a:ext uri="{0D108BD9-81ED-4DB2-BD59-A6C34878D82A}">
                    <a16:rowId xmlns:a16="http://schemas.microsoft.com/office/drawing/2014/main" val="2721134836"/>
                  </a:ext>
                </a:extLst>
              </a:tr>
            </a:tbl>
          </a:graphicData>
        </a:graphic>
      </p:graphicFrame>
      <p:pic>
        <p:nvPicPr>
          <p:cNvPr id="3" name="Picture 2" descr="A screen shot of a computer code&#10;&#10;AI-generated content may be incorrect.">
            <a:extLst>
              <a:ext uri="{FF2B5EF4-FFF2-40B4-BE49-F238E27FC236}">
                <a16:creationId xmlns:a16="http://schemas.microsoft.com/office/drawing/2014/main" id="{F214B762-8CA8-0BB1-6864-D871DB33B96D}"/>
              </a:ext>
            </a:extLst>
          </p:cNvPr>
          <p:cNvPicPr>
            <a:picLocks noChangeAspect="1"/>
          </p:cNvPicPr>
          <p:nvPr/>
        </p:nvPicPr>
        <p:blipFill>
          <a:blip r:embed="rId2"/>
          <a:stretch>
            <a:fillRect/>
          </a:stretch>
        </p:blipFill>
        <p:spPr>
          <a:xfrm>
            <a:off x="10165310" y="4212771"/>
            <a:ext cx="1645897" cy="1429609"/>
          </a:xfrm>
          <a:prstGeom prst="rect">
            <a:avLst/>
          </a:prstGeom>
        </p:spPr>
      </p:pic>
    </p:spTree>
    <p:extLst>
      <p:ext uri="{BB962C8B-B14F-4D97-AF65-F5344CB8AC3E}">
        <p14:creationId xmlns:p14="http://schemas.microsoft.com/office/powerpoint/2010/main" val="353285438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1182</TotalTime>
  <Words>3394</Words>
  <Application>Microsoft Office PowerPoint</Application>
  <PresentationFormat>Widescreen</PresentationFormat>
  <Paragraphs>295</Paragraphs>
  <Slides>13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ieuan Jarvis</dc:creator>
  <cp:lastModifiedBy>JAR24887099 (Ieuan Jarvis)</cp:lastModifiedBy>
  <cp:revision>159</cp:revision>
  <dcterms:created xsi:type="dcterms:W3CDTF">2025-10-10T09:00:53Z</dcterms:created>
  <dcterms:modified xsi:type="dcterms:W3CDTF">2026-01-15T14:54:12Z</dcterms:modified>
</cp:coreProperties>
</file>