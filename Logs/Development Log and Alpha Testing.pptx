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80" r:id="rId20"/>
    <p:sldId id="281" r:id="rId21"/>
    <p:sldId id="282" r:id="rId22"/>
    <p:sldId id="283" r:id="rId23"/>
    <p:sldId id="285" r:id="rId24"/>
    <p:sldId id="286" r:id="rId25"/>
    <p:sldId id="287" r:id="rId26"/>
    <p:sldId id="288" r:id="rId27"/>
    <p:sldId id="290" r:id="rId28"/>
    <p:sldId id="291" r:id="rId29"/>
    <p:sldId id="292" r:id="rId30"/>
    <p:sldId id="293" r:id="rId31"/>
    <p:sldId id="294" r:id="rId32"/>
    <p:sldId id="295" r:id="rId33"/>
    <p:sldId id="296" r:id="rId34"/>
    <p:sldId id="297" r:id="rId35"/>
    <p:sldId id="257" r:id="rId36"/>
    <p:sldId id="267" r:id="rId37"/>
    <p:sldId id="270" r:id="rId38"/>
    <p:sldId id="272" r:id="rId39"/>
    <p:sldId id="276" r:id="rId40"/>
    <p:sldId id="278" r:id="rId41"/>
    <p:sldId id="284" r:id="rId42"/>
    <p:sldId id="309" r:id="rId43"/>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17" d="100"/>
          <a:sy n="117" d="100"/>
        </p:scale>
        <p:origin x="35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28/02/2026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28/02/2026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28/02/2026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28/02/2026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28/02/2026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28/02/2026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28/02/2026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28/02/2026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28/02/2026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28/02/2026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28/02/2026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28/02/2026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2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xml"/><Relationship Id="rId5" Type="http://schemas.openxmlformats.org/officeDocument/2006/relationships/image" Target="../media/image74.png"/><Relationship Id="rId4" Type="http://schemas.openxmlformats.org/officeDocument/2006/relationships/image" Target="../media/image73.png"/></Relationships>
</file>

<file path=ppt/slides/_rels/slide22.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image" Target="../media/image75.png"/><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82.png"/></Relationships>
</file>

<file path=ppt/slides/_rels/slide2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2"/>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3"/>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4"/>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5"/>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6"/>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Gwiber.</a:t>
            </a:r>
          </a:p>
          <a:p>
            <a:r>
              <a:rPr lang="en-GB" sz="1200" dirty="0"/>
              <a:t>Mainly what he does while inside of zone 0, the main office.</a:t>
            </a:r>
          </a:p>
          <a:p>
            <a:endParaRPr lang="en-GB" sz="1200" dirty="0"/>
          </a:p>
          <a:p>
            <a:r>
              <a:rPr lang="en-GB" sz="1200" dirty="0"/>
              <a:t>This was done by using timed alarms for when Gwiber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Gwiber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Gwiber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Gwiber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Gwiber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Gwiber.</a:t>
            </a:r>
          </a:p>
          <a:p>
            <a:endParaRPr lang="en-GB" sz="1200" dirty="0"/>
          </a:p>
          <a:p>
            <a:r>
              <a:rPr lang="en-GB" sz="1200" dirty="0"/>
              <a:t>Also, with Gwiber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Gwiber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Gwiber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(Gwiber and K9) and the new camera controller is 100% completed.</a:t>
            </a:r>
          </a:p>
          <a:p>
            <a:r>
              <a:rPr lang="en-GB" sz="1200" dirty="0" err="1"/>
              <a:t>Rm_office</a:t>
            </a:r>
            <a:r>
              <a:rPr lang="en-GB" sz="1200" dirty="0"/>
              <a:t> is now Level 1. (rm_level1)</a:t>
            </a:r>
          </a:p>
          <a:p>
            <a:r>
              <a:rPr lang="en-GB" sz="1200" dirty="0"/>
              <a:t>I have also finished designing the buttons and background for the menu and death screens. The start button takes the player to level one with Gwiber and K9.</a:t>
            </a:r>
          </a:p>
        </p:txBody>
      </p:sp>
      <p:pic>
        <p:nvPicPr>
          <p:cNvPr id="6" name="Picture 5" descr="A screenshot of a video game&#10;&#10;AI-generated content may be incorrect.">
            <a:extLst>
              <a:ext uri="{FF2B5EF4-FFF2-40B4-BE49-F238E27FC236}">
                <a16:creationId xmlns:a16="http://schemas.microsoft.com/office/drawing/2014/main" id="{C234081F-9781-74E4-546E-83D67303384D}"/>
              </a:ext>
            </a:extLst>
          </p:cNvPr>
          <p:cNvPicPr>
            <a:picLocks noChangeAspect="1"/>
          </p:cNvPicPr>
          <p:nvPr/>
        </p:nvPicPr>
        <p:blipFill>
          <a:blip r:embed="rId2"/>
          <a:stretch>
            <a:fillRect/>
          </a:stretch>
        </p:blipFill>
        <p:spPr>
          <a:xfrm>
            <a:off x="269422" y="1275873"/>
            <a:ext cx="9004534" cy="5259902"/>
          </a:xfrm>
          <a:prstGeom prst="rect">
            <a:avLst/>
          </a:prstGeom>
        </p:spPr>
      </p:pic>
      <p:pic>
        <p:nvPicPr>
          <p:cNvPr id="8" name="Picture 7" descr="A close up of a text&#10;&#10;AI-generated content may be incorrect.">
            <a:extLst>
              <a:ext uri="{FF2B5EF4-FFF2-40B4-BE49-F238E27FC236}">
                <a16:creationId xmlns:a16="http://schemas.microsoft.com/office/drawing/2014/main" id="{1393A406-5096-761B-E908-8F1B7D23D32B}"/>
              </a:ext>
            </a:extLst>
          </p:cNvPr>
          <p:cNvPicPr>
            <a:picLocks noChangeAspect="1"/>
          </p:cNvPicPr>
          <p:nvPr/>
        </p:nvPicPr>
        <p:blipFill>
          <a:blip r:embed="rId3"/>
          <a:stretch>
            <a:fillRect/>
          </a:stretch>
        </p:blipFill>
        <p:spPr>
          <a:xfrm>
            <a:off x="5992381" y="567987"/>
            <a:ext cx="2934109" cy="590632"/>
          </a:xfrm>
          <a:prstGeom prst="rect">
            <a:avLst/>
          </a:prstGeom>
        </p:spPr>
      </p:pic>
      <p:sp>
        <p:nvSpPr>
          <p:cNvPr id="9" name="TextBox 8">
            <a:extLst>
              <a:ext uri="{FF2B5EF4-FFF2-40B4-BE49-F238E27FC236}">
                <a16:creationId xmlns:a16="http://schemas.microsoft.com/office/drawing/2014/main" id="{11897B8E-B835-6E46-C041-E0E3C6F112ED}"/>
              </a:ext>
            </a:extLst>
          </p:cNvPr>
          <p:cNvSpPr txBox="1"/>
          <p:nvPr/>
        </p:nvSpPr>
        <p:spPr>
          <a:xfrm>
            <a:off x="9519557" y="1036864"/>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Create Level 2</a:t>
            </a:r>
          </a:p>
          <a:p>
            <a:endParaRPr lang="en-GB" sz="1400" dirty="0"/>
          </a:p>
          <a:p>
            <a:r>
              <a:rPr lang="en-GB" sz="1400" dirty="0"/>
              <a:t>Finish Death Screen</a:t>
            </a:r>
          </a:p>
          <a:p>
            <a:endParaRPr lang="en-GB" sz="1400" dirty="0"/>
          </a:p>
          <a:p>
            <a:r>
              <a:rPr lang="en-GB" sz="1400" dirty="0"/>
              <a:t>Code Bulker and the other enemies for level 2.</a:t>
            </a:r>
          </a:p>
          <a:p>
            <a:endParaRPr lang="en-GB" sz="1400" dirty="0"/>
          </a:p>
          <a:p>
            <a:endParaRPr lang="en-GB" sz="1400" dirty="0"/>
          </a:p>
        </p:txBody>
      </p:sp>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A4C11-FA38-DBC3-860F-01B73BA013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3436AC-4570-BE1E-6AD7-BBD26FF628B4}"/>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ACDF2AE4-8804-15D9-BC33-3E18CE6B1EF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5FB4D45-69BE-38D4-7538-98B5EDBB45A8}"/>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Bulker’s code is a copy of </a:t>
            </a:r>
            <a:r>
              <a:rPr lang="en-GB" sz="1200" dirty="0" err="1"/>
              <a:t>Gwibers</a:t>
            </a:r>
            <a:r>
              <a:rPr lang="en-GB" sz="1200" dirty="0"/>
              <a:t> just with re-named variables and timing.</a:t>
            </a:r>
          </a:p>
          <a:p>
            <a:endParaRPr lang="en-GB" sz="1200" dirty="0"/>
          </a:p>
          <a:p>
            <a:r>
              <a:rPr lang="en-GB" sz="1200" dirty="0"/>
              <a:t>I have begun making Level 2 for my game, expanding off the current zones. Level 2 will introduce Bulker into the roster of enemies.</a:t>
            </a:r>
          </a:p>
          <a:p>
            <a:r>
              <a:rPr lang="en-GB" sz="1200" dirty="0"/>
              <a:t>In total there are 20 zones for level 2. I do need to note that every time I add a new zone, I need to update the script and the value that the buttons represent. 14/20 of these zones are camera zones for both the player and the enemies.</a:t>
            </a:r>
          </a:p>
          <a:p>
            <a:endParaRPr lang="en-GB" sz="1200" dirty="0"/>
          </a:p>
          <a:p>
            <a:r>
              <a:rPr lang="en-GB" sz="1200" dirty="0"/>
              <a:t>Also, the new updated camera </a:t>
            </a:r>
            <a:r>
              <a:rPr lang="en-GB" sz="1200" dirty="0" err="1"/>
              <a:t>hud</a:t>
            </a:r>
            <a:r>
              <a:rPr lang="en-GB" sz="1200" dirty="0"/>
              <a:t> layout is much bigger meaning I will have to try and work around the camera view, at least for zone 1 (Camera Hud).</a:t>
            </a:r>
          </a:p>
          <a:p>
            <a:endParaRPr lang="en-GB" sz="1200" dirty="0"/>
          </a:p>
          <a:p>
            <a:r>
              <a:rPr lang="en-GB" sz="1200" dirty="0"/>
              <a:t>Also, added some Place-holder sound effects to use for key parts of the games like enemy movement and doors closing.</a:t>
            </a:r>
          </a:p>
          <a:p>
            <a:r>
              <a:rPr lang="en-GB" sz="1200" dirty="0"/>
              <a:t>Also, for some reason, when game starts somehow level 2 is affecting level 1 so all I get is a dark screen when I click start.</a:t>
            </a:r>
          </a:p>
        </p:txBody>
      </p:sp>
      <p:pic>
        <p:nvPicPr>
          <p:cNvPr id="7" name="Picture 6" descr="A screen shot of a computer program&#10;&#10;AI-generated content may be incorrect.">
            <a:extLst>
              <a:ext uri="{FF2B5EF4-FFF2-40B4-BE49-F238E27FC236}">
                <a16:creationId xmlns:a16="http://schemas.microsoft.com/office/drawing/2014/main" id="{6C57EF37-7BFA-6462-C4AD-34C9F5FD698D}"/>
              </a:ext>
            </a:extLst>
          </p:cNvPr>
          <p:cNvPicPr>
            <a:picLocks noChangeAspect="1"/>
          </p:cNvPicPr>
          <p:nvPr/>
        </p:nvPicPr>
        <p:blipFill>
          <a:blip r:embed="rId2"/>
          <a:stretch>
            <a:fillRect/>
          </a:stretch>
        </p:blipFill>
        <p:spPr>
          <a:xfrm>
            <a:off x="5992585" y="540352"/>
            <a:ext cx="2960686" cy="2036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F9FA7D4-550C-11FA-6D93-E8BACDAE3642}"/>
              </a:ext>
            </a:extLst>
          </p:cNvPr>
          <p:cNvPicPr>
            <a:picLocks noChangeAspect="1"/>
          </p:cNvPicPr>
          <p:nvPr/>
        </p:nvPicPr>
        <p:blipFill>
          <a:blip r:embed="rId3"/>
          <a:stretch>
            <a:fillRect/>
          </a:stretch>
        </p:blipFill>
        <p:spPr>
          <a:xfrm>
            <a:off x="171450" y="2968602"/>
            <a:ext cx="3671000" cy="3531986"/>
          </a:xfrm>
          <a:prstGeom prst="rect">
            <a:avLst/>
          </a:prstGeom>
        </p:spPr>
      </p:pic>
      <p:pic>
        <p:nvPicPr>
          <p:cNvPr id="11" name="Picture 10" descr="A computer screen shot of a network&#10;&#10;AI-generated content may be incorrect.">
            <a:extLst>
              <a:ext uri="{FF2B5EF4-FFF2-40B4-BE49-F238E27FC236}">
                <a16:creationId xmlns:a16="http://schemas.microsoft.com/office/drawing/2014/main" id="{0D560ABB-4855-DD0D-61F6-C6A570725988}"/>
              </a:ext>
            </a:extLst>
          </p:cNvPr>
          <p:cNvPicPr>
            <a:picLocks noChangeAspect="1"/>
          </p:cNvPicPr>
          <p:nvPr/>
        </p:nvPicPr>
        <p:blipFill>
          <a:blip r:embed="rId4"/>
          <a:stretch>
            <a:fillRect/>
          </a:stretch>
        </p:blipFill>
        <p:spPr>
          <a:xfrm>
            <a:off x="4571231" y="2878587"/>
            <a:ext cx="5372850" cy="3858163"/>
          </a:xfrm>
          <a:prstGeom prst="rect">
            <a:avLst/>
          </a:prstGeom>
        </p:spPr>
      </p:pic>
    </p:spTree>
    <p:extLst>
      <p:ext uri="{BB962C8B-B14F-4D97-AF65-F5344CB8AC3E}">
        <p14:creationId xmlns:p14="http://schemas.microsoft.com/office/powerpoint/2010/main" val="139610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A9345-4628-A3C1-2D0D-7A1BE0C93B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A7A869-587A-4435-F2BD-37298F2AF70A}"/>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00C0F9FF-1952-A285-05A3-B7251FBE542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CA69D0FE-BAFE-3A86-FFF6-BC078FFB958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an continuation of the previous slide. I have discovered the problem, and it was my lack of care. I was making edits to the same camera controller level 1 was using.</a:t>
            </a:r>
          </a:p>
          <a:p>
            <a:endParaRPr lang="en-GB" sz="1200" dirty="0"/>
          </a:p>
          <a:p>
            <a:r>
              <a:rPr lang="en-GB" sz="1200" dirty="0"/>
              <a:t>I’ve made two controllers now both for their respective rooms and I’ve restored the original Camera Controller.</a:t>
            </a:r>
          </a:p>
          <a:p>
            <a:endParaRPr lang="en-GB" sz="1200" dirty="0"/>
          </a:p>
          <a:p>
            <a:r>
              <a:rPr lang="en-GB" sz="1200" dirty="0"/>
              <a:t>Turns out I need duplicate versions of everything that uses the </a:t>
            </a:r>
            <a:r>
              <a:rPr lang="en-GB" sz="1200" dirty="0" err="1"/>
              <a:t>change_camera_script</a:t>
            </a:r>
            <a:r>
              <a:rPr lang="en-GB" sz="1200" dirty="0"/>
              <a:t> to have the camera work for each new room.</a:t>
            </a:r>
          </a:p>
          <a:p>
            <a:endParaRPr lang="en-GB" sz="1200" dirty="0"/>
          </a:p>
        </p:txBody>
      </p:sp>
      <p:sp>
        <p:nvSpPr>
          <p:cNvPr id="12" name="TextBox 11">
            <a:extLst>
              <a:ext uri="{FF2B5EF4-FFF2-40B4-BE49-F238E27FC236}">
                <a16:creationId xmlns:a16="http://schemas.microsoft.com/office/drawing/2014/main" id="{E4657D6D-732E-851C-6391-3731DE728E98}"/>
              </a:ext>
            </a:extLst>
          </p:cNvPr>
          <p:cNvSpPr txBox="1"/>
          <p:nvPr/>
        </p:nvSpPr>
        <p:spPr>
          <a:xfrm>
            <a:off x="9570683" y="508708"/>
            <a:ext cx="2073729" cy="3754874"/>
          </a:xfrm>
          <a:prstGeom prst="rect">
            <a:avLst/>
          </a:prstGeom>
          <a:noFill/>
        </p:spPr>
        <p:txBody>
          <a:bodyPr wrap="square" rtlCol="0">
            <a:spAutoFit/>
          </a:bodyPr>
          <a:lstStyle/>
          <a:p>
            <a:r>
              <a:rPr lang="en-GB" sz="1400" dirty="0"/>
              <a:t>What to Do next session</a:t>
            </a:r>
          </a:p>
          <a:p>
            <a:endParaRPr lang="en-GB" sz="1400" dirty="0"/>
          </a:p>
          <a:p>
            <a:r>
              <a:rPr lang="en-GB" sz="1400" dirty="0"/>
              <a:t>Finish Enemies code based on new zones.</a:t>
            </a:r>
          </a:p>
          <a:p>
            <a:endParaRPr lang="en-GB" sz="1400" dirty="0"/>
          </a:p>
          <a:p>
            <a:r>
              <a:rPr lang="en-GB" sz="1400" dirty="0"/>
              <a:t>Start on Level 3</a:t>
            </a:r>
          </a:p>
          <a:p>
            <a:endParaRPr lang="en-GB" sz="1400" dirty="0"/>
          </a:p>
          <a:p>
            <a:r>
              <a:rPr lang="en-GB" sz="1400" dirty="0"/>
              <a:t>Code Arach</a:t>
            </a:r>
          </a:p>
          <a:p>
            <a:endParaRPr lang="en-GB" sz="1400" dirty="0"/>
          </a:p>
          <a:p>
            <a:r>
              <a:rPr lang="en-GB" sz="1400" dirty="0"/>
              <a:t>Make player go to death screen when killed.</a:t>
            </a:r>
          </a:p>
          <a:p>
            <a:endParaRPr lang="en-GB" sz="1400" dirty="0"/>
          </a:p>
          <a:p>
            <a:r>
              <a:rPr lang="en-GB" sz="1400" dirty="0"/>
              <a:t>Make about button</a:t>
            </a:r>
          </a:p>
          <a:p>
            <a:endParaRPr lang="en-GB" sz="1400" dirty="0"/>
          </a:p>
          <a:p>
            <a:endParaRPr lang="en-GB" sz="1400" dirty="0"/>
          </a:p>
          <a:p>
            <a:endParaRPr lang="en-GB" sz="1400" dirty="0"/>
          </a:p>
          <a:p>
            <a:endParaRPr lang="en-GB" sz="1400" dirty="0"/>
          </a:p>
        </p:txBody>
      </p:sp>
      <p:pic>
        <p:nvPicPr>
          <p:cNvPr id="6" name="Picture 5" descr="A screenshot of a computer&#10;&#10;AI-generated content may be incorrect.">
            <a:extLst>
              <a:ext uri="{FF2B5EF4-FFF2-40B4-BE49-F238E27FC236}">
                <a16:creationId xmlns:a16="http://schemas.microsoft.com/office/drawing/2014/main" id="{662060B5-0FB4-40CF-4218-4D8024EBE90C}"/>
              </a:ext>
            </a:extLst>
          </p:cNvPr>
          <p:cNvPicPr>
            <a:picLocks noChangeAspect="1"/>
          </p:cNvPicPr>
          <p:nvPr/>
        </p:nvPicPr>
        <p:blipFill>
          <a:blip r:embed="rId2"/>
          <a:stretch>
            <a:fillRect/>
          </a:stretch>
        </p:blipFill>
        <p:spPr>
          <a:xfrm>
            <a:off x="547588" y="2610492"/>
            <a:ext cx="2019582" cy="543001"/>
          </a:xfrm>
          <a:prstGeom prst="rect">
            <a:avLst/>
          </a:prstGeom>
        </p:spPr>
      </p:pic>
      <p:pic>
        <p:nvPicPr>
          <p:cNvPr id="10" name="Picture 9">
            <a:extLst>
              <a:ext uri="{FF2B5EF4-FFF2-40B4-BE49-F238E27FC236}">
                <a16:creationId xmlns:a16="http://schemas.microsoft.com/office/drawing/2014/main" id="{E9603090-F2BE-8DAF-A1C6-06B389A2D6DF}"/>
              </a:ext>
            </a:extLst>
          </p:cNvPr>
          <p:cNvPicPr>
            <a:picLocks noChangeAspect="1"/>
          </p:cNvPicPr>
          <p:nvPr/>
        </p:nvPicPr>
        <p:blipFill>
          <a:blip r:embed="rId3"/>
          <a:stretch>
            <a:fillRect/>
          </a:stretch>
        </p:blipFill>
        <p:spPr>
          <a:xfrm>
            <a:off x="662512" y="3771884"/>
            <a:ext cx="2229161" cy="228632"/>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7AAF0E6D-B186-0978-16A8-40F8067C20B9}"/>
              </a:ext>
            </a:extLst>
          </p:cNvPr>
          <p:cNvPicPr>
            <a:picLocks noChangeAspect="1"/>
          </p:cNvPicPr>
          <p:nvPr/>
        </p:nvPicPr>
        <p:blipFill>
          <a:blip r:embed="rId4"/>
          <a:stretch>
            <a:fillRect/>
          </a:stretch>
        </p:blipFill>
        <p:spPr>
          <a:xfrm>
            <a:off x="3174544" y="3400882"/>
            <a:ext cx="4039164" cy="1438476"/>
          </a:xfrm>
          <a:prstGeom prst="rect">
            <a:avLst/>
          </a:prstGeom>
        </p:spPr>
      </p:pic>
    </p:spTree>
    <p:extLst>
      <p:ext uri="{BB962C8B-B14F-4D97-AF65-F5344CB8AC3E}">
        <p14:creationId xmlns:p14="http://schemas.microsoft.com/office/powerpoint/2010/main" val="3270231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2625D-F1E3-37EE-DD87-D5E1D0DBEE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0ABAE57-1604-5296-2401-1A924AA5EFE1}"/>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76734B0F-95AE-27E0-5BB9-9877C7FA708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3FE027C8-FF0C-B56F-752D-F73E66BA5C9B}"/>
              </a:ext>
            </a:extLst>
          </p:cNvPr>
          <p:cNvSpPr txBox="1"/>
          <p:nvPr/>
        </p:nvSpPr>
        <p:spPr>
          <a:xfrm>
            <a:off x="0" y="152027"/>
            <a:ext cx="5576207" cy="32316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changed the options button to be an about me page which basically just me talking about why the game was made.</a:t>
            </a:r>
          </a:p>
          <a:p>
            <a:endParaRPr lang="en-GB" sz="1200" dirty="0"/>
          </a:p>
          <a:p>
            <a:r>
              <a:rPr lang="en-GB" sz="1200" dirty="0"/>
              <a:t>I also made ait so that when the player dies either from an enemy or due to low oxygen, they get teleported to the death screen room.</a:t>
            </a:r>
          </a:p>
          <a:p>
            <a:endParaRPr lang="en-GB" sz="1200" dirty="0"/>
          </a:p>
          <a:p>
            <a:r>
              <a:rPr lang="en-GB" sz="1200" dirty="0"/>
              <a:t>Made Multiple new rooms, including a level selector for the player to choose what level they wish to begin in.</a:t>
            </a:r>
          </a:p>
          <a:p>
            <a:endParaRPr lang="en-GB" sz="1200" dirty="0"/>
          </a:p>
          <a:p>
            <a:r>
              <a:rPr lang="en-GB" sz="1200" dirty="0"/>
              <a:t>For the enemies, they will have duplicate versions of themselves per level. Mainly due to the problem of them containing future zone code in the first level but breaking if they tried access a non-existent zone.</a:t>
            </a:r>
          </a:p>
          <a:p>
            <a:endParaRPr lang="en-GB" sz="1200" dirty="0"/>
          </a:p>
          <a:p>
            <a:r>
              <a:rPr lang="en-GB" sz="1200" dirty="0"/>
              <a:t>Altering their code is very simple, for all I need to do is just add the extra zones to their pre-existing movement.</a:t>
            </a:r>
          </a:p>
          <a:p>
            <a:endParaRPr lang="en-GB" sz="1200" dirty="0"/>
          </a:p>
          <a:p>
            <a:endParaRPr lang="en-GB" sz="1200" dirty="0"/>
          </a:p>
        </p:txBody>
      </p:sp>
      <p:pic>
        <p:nvPicPr>
          <p:cNvPr id="7" name="Picture 6" descr="A screen shot of a computer&#10;&#10;AI-generated content may be incorrect.">
            <a:extLst>
              <a:ext uri="{FF2B5EF4-FFF2-40B4-BE49-F238E27FC236}">
                <a16:creationId xmlns:a16="http://schemas.microsoft.com/office/drawing/2014/main" id="{D562636A-310A-95F9-3800-C3558D751CF7}"/>
              </a:ext>
            </a:extLst>
          </p:cNvPr>
          <p:cNvPicPr>
            <a:picLocks noChangeAspect="1"/>
          </p:cNvPicPr>
          <p:nvPr/>
        </p:nvPicPr>
        <p:blipFill>
          <a:blip r:embed="rId2"/>
          <a:stretch>
            <a:fillRect/>
          </a:stretch>
        </p:blipFill>
        <p:spPr>
          <a:xfrm>
            <a:off x="216829" y="2973759"/>
            <a:ext cx="2924583" cy="1171739"/>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5C8EA18A-6B10-7535-B098-75BF335D3BF7}"/>
              </a:ext>
            </a:extLst>
          </p:cNvPr>
          <p:cNvPicPr>
            <a:picLocks noChangeAspect="1"/>
          </p:cNvPicPr>
          <p:nvPr/>
        </p:nvPicPr>
        <p:blipFill>
          <a:blip r:embed="rId3"/>
          <a:stretch>
            <a:fillRect/>
          </a:stretch>
        </p:blipFill>
        <p:spPr>
          <a:xfrm>
            <a:off x="136930" y="4158978"/>
            <a:ext cx="4992381" cy="2546995"/>
          </a:xfrm>
          <a:prstGeom prst="rect">
            <a:avLst/>
          </a:prstGeom>
        </p:spPr>
      </p:pic>
      <p:pic>
        <p:nvPicPr>
          <p:cNvPr id="13" name="Picture 12" descr="A computer screen shot of a program&#10;&#10;AI-generated content may be incorrect.">
            <a:extLst>
              <a:ext uri="{FF2B5EF4-FFF2-40B4-BE49-F238E27FC236}">
                <a16:creationId xmlns:a16="http://schemas.microsoft.com/office/drawing/2014/main" id="{F17C99F0-37EF-1E4C-553C-C4FE89C93B0D}"/>
              </a:ext>
            </a:extLst>
          </p:cNvPr>
          <p:cNvPicPr>
            <a:picLocks noChangeAspect="1"/>
          </p:cNvPicPr>
          <p:nvPr/>
        </p:nvPicPr>
        <p:blipFill>
          <a:blip r:embed="rId4"/>
          <a:stretch>
            <a:fillRect/>
          </a:stretch>
        </p:blipFill>
        <p:spPr>
          <a:xfrm>
            <a:off x="5925410" y="1276169"/>
            <a:ext cx="3677163" cy="2591162"/>
          </a:xfrm>
          <a:prstGeom prst="rect">
            <a:avLst/>
          </a:prstGeom>
        </p:spPr>
      </p:pic>
      <p:pic>
        <p:nvPicPr>
          <p:cNvPr id="16" name="Picture 15" descr="A computer screen shot of a computer&#10;&#10;AI-generated content may be incorrect.">
            <a:extLst>
              <a:ext uri="{FF2B5EF4-FFF2-40B4-BE49-F238E27FC236}">
                <a16:creationId xmlns:a16="http://schemas.microsoft.com/office/drawing/2014/main" id="{8C8D8E10-C46D-09FF-9576-EEFF9D15491D}"/>
              </a:ext>
            </a:extLst>
          </p:cNvPr>
          <p:cNvPicPr>
            <a:picLocks noChangeAspect="1"/>
          </p:cNvPicPr>
          <p:nvPr/>
        </p:nvPicPr>
        <p:blipFill>
          <a:blip r:embed="rId5"/>
          <a:stretch>
            <a:fillRect/>
          </a:stretch>
        </p:blipFill>
        <p:spPr>
          <a:xfrm>
            <a:off x="6226150" y="4030616"/>
            <a:ext cx="3476314" cy="2457673"/>
          </a:xfrm>
          <a:prstGeom prst="rect">
            <a:avLst/>
          </a:prstGeom>
        </p:spPr>
      </p:pic>
    </p:spTree>
    <p:extLst>
      <p:ext uri="{BB962C8B-B14F-4D97-AF65-F5344CB8AC3E}">
        <p14:creationId xmlns:p14="http://schemas.microsoft.com/office/powerpoint/2010/main" val="3766735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29C88-0599-9A43-9145-341E9145CDF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0EFC79D-BB55-F205-BF9B-81A79A16132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DCDAF045-3BB1-1CA7-73DA-1B093AF47E9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55AC8A76-26E2-6D0D-F18E-5F33536DC810}"/>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Extension of previous slide. I want to mention how Bulker remain at the door longer than the other enemies do.</a:t>
            </a:r>
          </a:p>
          <a:p>
            <a:r>
              <a:rPr lang="en-GB" sz="1200" dirty="0"/>
              <a:t> its simply this code</a:t>
            </a:r>
          </a:p>
          <a:p>
            <a:r>
              <a:rPr lang="en-GB" sz="1200" dirty="0"/>
              <a:t>In alarm 6. </a:t>
            </a:r>
          </a:p>
          <a:p>
            <a:r>
              <a:rPr lang="en-GB" sz="1200" dirty="0"/>
              <a:t>When the office right door is closed his movement time increases from 1500 to 2000. (Adjustments may be made in the future)</a:t>
            </a:r>
          </a:p>
          <a:p>
            <a:endParaRPr lang="en-GB" sz="1200" dirty="0"/>
          </a:p>
          <a:p>
            <a:r>
              <a:rPr lang="en-GB" sz="1200" dirty="0"/>
              <a:t>Now all the enemies in my game at least for level 2 move correctly and have the correct behaviour.</a:t>
            </a:r>
          </a:p>
          <a:p>
            <a:endParaRPr lang="en-GB" sz="1200" dirty="0"/>
          </a:p>
          <a:p>
            <a:r>
              <a:rPr lang="en-GB" sz="1200" dirty="0"/>
              <a:t>To solve the size difference for camera Hud zone I just changed the set size view for when you both exit and open the camera.</a:t>
            </a:r>
          </a:p>
          <a:p>
            <a:endParaRPr lang="en-GB" sz="1200" dirty="0"/>
          </a:p>
          <a:p>
            <a:r>
              <a:rPr lang="en-GB" sz="1200" dirty="0"/>
              <a:t>Next with the death screen finished, coded for the player to change room to </a:t>
            </a:r>
            <a:r>
              <a:rPr lang="en-GB" sz="1200" dirty="0" err="1"/>
              <a:t>rm_death_screen</a:t>
            </a:r>
            <a:r>
              <a:rPr lang="en-GB" sz="1200" dirty="0"/>
              <a:t> when oxygen = 0 or when enemy jump-scares. To do this I gave each enemy a </a:t>
            </a:r>
            <a:r>
              <a:rPr lang="en-GB" sz="1200" dirty="0" err="1"/>
              <a:t>deathscreentimer</a:t>
            </a:r>
            <a:r>
              <a:rPr lang="en-GB" sz="1200" dirty="0"/>
              <a:t>. This timer is to give time for the jump-scare to finish before the player moves to the death screen room. </a:t>
            </a:r>
          </a:p>
          <a:p>
            <a:endParaRPr lang="en-GB" sz="1200" dirty="0"/>
          </a:p>
          <a:p>
            <a:r>
              <a:rPr lang="en-GB" sz="1200" dirty="0"/>
              <a:t>For oxygen, I added a somewhat new mechanic, I had this mechanic originally but removed it for I didn’t see a need for it is the health bar. When oxygen = 0 the health bar goes down by 0.5 and cannot be restored.</a:t>
            </a:r>
          </a:p>
        </p:txBody>
      </p:sp>
      <p:pic>
        <p:nvPicPr>
          <p:cNvPr id="10" name="Picture 9">
            <a:extLst>
              <a:ext uri="{FF2B5EF4-FFF2-40B4-BE49-F238E27FC236}">
                <a16:creationId xmlns:a16="http://schemas.microsoft.com/office/drawing/2014/main" id="{31A709FD-52CC-69FE-CC07-23F8B9BB779B}"/>
              </a:ext>
            </a:extLst>
          </p:cNvPr>
          <p:cNvPicPr>
            <a:picLocks noChangeAspect="1"/>
          </p:cNvPicPr>
          <p:nvPr/>
        </p:nvPicPr>
        <p:blipFill>
          <a:blip r:embed="rId2"/>
          <a:stretch>
            <a:fillRect/>
          </a:stretch>
        </p:blipFill>
        <p:spPr>
          <a:xfrm>
            <a:off x="1432034" y="577787"/>
            <a:ext cx="1686160" cy="266737"/>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D4D1E843-F525-D20E-1198-1DA885633E10}"/>
              </a:ext>
            </a:extLst>
          </p:cNvPr>
          <p:cNvPicPr>
            <a:picLocks noChangeAspect="1"/>
          </p:cNvPicPr>
          <p:nvPr/>
        </p:nvPicPr>
        <p:blipFill>
          <a:blip r:embed="rId3"/>
          <a:stretch>
            <a:fillRect/>
          </a:stretch>
        </p:blipFill>
        <p:spPr>
          <a:xfrm>
            <a:off x="5836411" y="577787"/>
            <a:ext cx="3961101" cy="3139424"/>
          </a:xfrm>
          <a:prstGeom prst="rect">
            <a:avLst/>
          </a:prstGeom>
        </p:spPr>
      </p:pic>
      <p:pic>
        <p:nvPicPr>
          <p:cNvPr id="19" name="Picture 18" descr="A screen shot of a computer&#10;&#10;AI-generated content may be incorrect.">
            <a:extLst>
              <a:ext uri="{FF2B5EF4-FFF2-40B4-BE49-F238E27FC236}">
                <a16:creationId xmlns:a16="http://schemas.microsoft.com/office/drawing/2014/main" id="{DC67ADB5-A443-9964-296D-F14A58425929}"/>
              </a:ext>
            </a:extLst>
          </p:cNvPr>
          <p:cNvPicPr>
            <a:picLocks noChangeAspect="1"/>
          </p:cNvPicPr>
          <p:nvPr/>
        </p:nvPicPr>
        <p:blipFill>
          <a:blip r:embed="rId4"/>
          <a:stretch>
            <a:fillRect/>
          </a:stretch>
        </p:blipFill>
        <p:spPr>
          <a:xfrm>
            <a:off x="8507186" y="3835195"/>
            <a:ext cx="3555823" cy="1359828"/>
          </a:xfrm>
          <a:prstGeom prst="rect">
            <a:avLst/>
          </a:prstGeom>
        </p:spPr>
      </p:pic>
      <p:pic>
        <p:nvPicPr>
          <p:cNvPr id="21" name="Picture 20" descr="A black background with colorful text&#10;&#10;AI-generated content may be incorrect.">
            <a:extLst>
              <a:ext uri="{FF2B5EF4-FFF2-40B4-BE49-F238E27FC236}">
                <a16:creationId xmlns:a16="http://schemas.microsoft.com/office/drawing/2014/main" id="{FB730EDF-438D-3CAC-35C6-C5CEB705698B}"/>
              </a:ext>
            </a:extLst>
          </p:cNvPr>
          <p:cNvPicPr>
            <a:picLocks noChangeAspect="1"/>
          </p:cNvPicPr>
          <p:nvPr/>
        </p:nvPicPr>
        <p:blipFill>
          <a:blip r:embed="rId5"/>
          <a:stretch>
            <a:fillRect/>
          </a:stretch>
        </p:blipFill>
        <p:spPr>
          <a:xfrm>
            <a:off x="66423" y="4422573"/>
            <a:ext cx="4143953" cy="647790"/>
          </a:xfrm>
          <a:prstGeom prst="rect">
            <a:avLst/>
          </a:prstGeom>
        </p:spPr>
      </p:pic>
      <p:pic>
        <p:nvPicPr>
          <p:cNvPr id="25" name="Picture 24">
            <a:extLst>
              <a:ext uri="{FF2B5EF4-FFF2-40B4-BE49-F238E27FC236}">
                <a16:creationId xmlns:a16="http://schemas.microsoft.com/office/drawing/2014/main" id="{D6577D31-EFBC-0275-A429-A944A2808245}"/>
              </a:ext>
            </a:extLst>
          </p:cNvPr>
          <p:cNvPicPr>
            <a:picLocks noChangeAspect="1"/>
          </p:cNvPicPr>
          <p:nvPr/>
        </p:nvPicPr>
        <p:blipFill>
          <a:blip r:embed="rId6"/>
          <a:stretch>
            <a:fillRect/>
          </a:stretch>
        </p:blipFill>
        <p:spPr>
          <a:xfrm>
            <a:off x="66423" y="4218414"/>
            <a:ext cx="1914792" cy="181000"/>
          </a:xfrm>
          <a:prstGeom prst="rect">
            <a:avLst/>
          </a:prstGeom>
        </p:spPr>
      </p:pic>
      <p:pic>
        <p:nvPicPr>
          <p:cNvPr id="27" name="Picture 26">
            <a:extLst>
              <a:ext uri="{FF2B5EF4-FFF2-40B4-BE49-F238E27FC236}">
                <a16:creationId xmlns:a16="http://schemas.microsoft.com/office/drawing/2014/main" id="{0C263AFF-0270-CD3A-C702-D0E6CE2754AB}"/>
              </a:ext>
            </a:extLst>
          </p:cNvPr>
          <p:cNvPicPr>
            <a:picLocks noChangeAspect="1"/>
          </p:cNvPicPr>
          <p:nvPr/>
        </p:nvPicPr>
        <p:blipFill>
          <a:blip r:embed="rId7"/>
          <a:stretch>
            <a:fillRect/>
          </a:stretch>
        </p:blipFill>
        <p:spPr>
          <a:xfrm>
            <a:off x="66423" y="5480610"/>
            <a:ext cx="1409897" cy="181000"/>
          </a:xfrm>
          <a:prstGeom prst="rect">
            <a:avLst/>
          </a:prstGeom>
        </p:spPr>
      </p:pic>
      <p:pic>
        <p:nvPicPr>
          <p:cNvPr id="29" name="Picture 28" descr="A screenshot of a computer program&#10;&#10;AI-generated content may be incorrect.">
            <a:extLst>
              <a:ext uri="{FF2B5EF4-FFF2-40B4-BE49-F238E27FC236}">
                <a16:creationId xmlns:a16="http://schemas.microsoft.com/office/drawing/2014/main" id="{F962A779-271C-426C-1975-2608A7747F33}"/>
              </a:ext>
            </a:extLst>
          </p:cNvPr>
          <p:cNvPicPr>
            <a:picLocks noChangeAspect="1"/>
          </p:cNvPicPr>
          <p:nvPr/>
        </p:nvPicPr>
        <p:blipFill>
          <a:blip r:embed="rId8"/>
          <a:stretch>
            <a:fillRect/>
          </a:stretch>
        </p:blipFill>
        <p:spPr>
          <a:xfrm>
            <a:off x="75949" y="5726467"/>
            <a:ext cx="2800741" cy="1066949"/>
          </a:xfrm>
          <a:prstGeom prst="rect">
            <a:avLst/>
          </a:prstGeom>
        </p:spPr>
      </p:pic>
      <p:pic>
        <p:nvPicPr>
          <p:cNvPr id="31" name="Picture 30" descr="A screenshot of a computer program&#10;&#10;AI-generated content may be incorrect.">
            <a:extLst>
              <a:ext uri="{FF2B5EF4-FFF2-40B4-BE49-F238E27FC236}">
                <a16:creationId xmlns:a16="http://schemas.microsoft.com/office/drawing/2014/main" id="{8D902745-7EBB-E42D-2E4F-E8C14E9BA457}"/>
              </a:ext>
            </a:extLst>
          </p:cNvPr>
          <p:cNvPicPr>
            <a:picLocks noChangeAspect="1"/>
          </p:cNvPicPr>
          <p:nvPr/>
        </p:nvPicPr>
        <p:blipFill>
          <a:blip r:embed="rId9"/>
          <a:stretch>
            <a:fillRect/>
          </a:stretch>
        </p:blipFill>
        <p:spPr>
          <a:xfrm>
            <a:off x="4407299" y="4218414"/>
            <a:ext cx="3986129" cy="2537202"/>
          </a:xfrm>
          <a:prstGeom prst="rect">
            <a:avLst/>
          </a:prstGeom>
        </p:spPr>
      </p:pic>
    </p:spTree>
    <p:extLst>
      <p:ext uri="{BB962C8B-B14F-4D97-AF65-F5344CB8AC3E}">
        <p14:creationId xmlns:p14="http://schemas.microsoft.com/office/powerpoint/2010/main" val="1365547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This is just to mention the player health mechanic.</a:t>
            </a:r>
          </a:p>
          <a:p>
            <a:endParaRPr lang="en-GB" sz="1200" dirty="0"/>
          </a:p>
          <a:p>
            <a:r>
              <a:rPr lang="en-GB" sz="1200" dirty="0"/>
              <a:t>When oxygen = 0, player health goes down by 0.5. When player health = 0, go to death screen room. Then the timer resets itself back to 100.</a:t>
            </a:r>
          </a:p>
          <a:p>
            <a:endParaRPr lang="en-GB" sz="1200" dirty="0"/>
          </a:p>
          <a:p>
            <a:r>
              <a:rPr lang="en-GB" sz="1200" dirty="0"/>
              <a:t>I also copied over the GUI code for the oxygen to get a status bar that decreases and increases. However, the player Health cannot be restored if oxygen is restored.</a:t>
            </a:r>
          </a:p>
        </p:txBody>
      </p:sp>
      <p:sp>
        <p:nvSpPr>
          <p:cNvPr id="12" name="TextBox 11">
            <a:extLst>
              <a:ext uri="{FF2B5EF4-FFF2-40B4-BE49-F238E27FC236}">
                <a16:creationId xmlns:a16="http://schemas.microsoft.com/office/drawing/2014/main" id="{AC84ABBC-F0AD-4A94-2998-F05AAA42C866}"/>
              </a:ext>
            </a:extLst>
          </p:cNvPr>
          <p:cNvSpPr txBox="1"/>
          <p:nvPr/>
        </p:nvSpPr>
        <p:spPr>
          <a:xfrm>
            <a:off x="8815512" y="753345"/>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Code </a:t>
            </a:r>
            <a:r>
              <a:rPr lang="en-GB" sz="1400" dirty="0" err="1"/>
              <a:t>Arach</a:t>
            </a:r>
            <a:endParaRPr lang="en-GB" sz="1400" dirty="0"/>
          </a:p>
          <a:p>
            <a:endParaRPr lang="en-GB" sz="1400" dirty="0"/>
          </a:p>
          <a:p>
            <a:r>
              <a:rPr lang="en-GB" sz="1400" dirty="0"/>
              <a:t>Create Level 3</a:t>
            </a:r>
          </a:p>
          <a:p>
            <a:endParaRPr lang="en-GB" sz="1400" dirty="0"/>
          </a:p>
          <a:p>
            <a:r>
              <a:rPr lang="en-GB" sz="1400" dirty="0"/>
              <a:t>Create more zones</a:t>
            </a:r>
          </a:p>
          <a:p>
            <a:endParaRPr lang="en-GB" sz="1400" dirty="0"/>
          </a:p>
          <a:p>
            <a:endParaRPr lang="en-GB" sz="1400" dirty="0"/>
          </a:p>
          <a:p>
            <a:endParaRPr lang="en-GB" sz="1400" dirty="0"/>
          </a:p>
          <a:p>
            <a:endParaRPr lang="en-GB" sz="1400" dirty="0"/>
          </a:p>
        </p:txBody>
      </p:sp>
      <p:pic>
        <p:nvPicPr>
          <p:cNvPr id="8" name="Picture 7" descr="A screenshot of a computer program&#10;&#10;AI-generated content may be incorrect.">
            <a:extLst>
              <a:ext uri="{FF2B5EF4-FFF2-40B4-BE49-F238E27FC236}">
                <a16:creationId xmlns:a16="http://schemas.microsoft.com/office/drawing/2014/main" id="{2001273F-305B-C176-64BC-2DC71D923DE8}"/>
              </a:ext>
            </a:extLst>
          </p:cNvPr>
          <p:cNvPicPr>
            <a:picLocks noChangeAspect="1"/>
          </p:cNvPicPr>
          <p:nvPr/>
        </p:nvPicPr>
        <p:blipFill>
          <a:blip r:embed="rId2"/>
          <a:stretch>
            <a:fillRect/>
          </a:stretch>
        </p:blipFill>
        <p:spPr>
          <a:xfrm>
            <a:off x="97972" y="2448256"/>
            <a:ext cx="6230219" cy="4134427"/>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482D21FF-7080-2E9A-A1C0-AE31D040268B}"/>
              </a:ext>
            </a:extLst>
          </p:cNvPr>
          <p:cNvPicPr>
            <a:picLocks noChangeAspect="1"/>
          </p:cNvPicPr>
          <p:nvPr/>
        </p:nvPicPr>
        <p:blipFill>
          <a:blip r:embed="rId3"/>
          <a:stretch>
            <a:fillRect/>
          </a:stretch>
        </p:blipFill>
        <p:spPr>
          <a:xfrm>
            <a:off x="6230219" y="1733781"/>
            <a:ext cx="1857634" cy="714475"/>
          </a:xfrm>
          <a:prstGeom prst="rect">
            <a:avLst/>
          </a:prstGeom>
        </p:spPr>
      </p:pic>
    </p:spTree>
    <p:extLst>
      <p:ext uri="{BB962C8B-B14F-4D97-AF65-F5344CB8AC3E}">
        <p14:creationId xmlns:p14="http://schemas.microsoft.com/office/powerpoint/2010/main" val="5412096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Arach’s code allows him to move between zones 5 and 8. During this, if the front vent is open while he’s in camera 5, he will proceed to go on the offensive but just a second after the attack timer begins Arach plays a vent sound so the player can have time to react fast enough to close the vent. This plays the same for when he is in camera 8.</a:t>
            </a:r>
          </a:p>
          <a:p>
            <a:endParaRPr lang="en-GB" sz="1200" dirty="0"/>
          </a:p>
          <a:p>
            <a:r>
              <a:rPr lang="en-GB" sz="1200" dirty="0"/>
              <a:t>I can now move onto my next build V.0.7.1 where I’ll begin designing the prototype and begin transferring the level 3 objects into level 4 which is easier for, I do not plan to add more zones at this time.</a:t>
            </a:r>
          </a:p>
          <a:p>
            <a:endParaRPr lang="en-GB" sz="1200" dirty="0"/>
          </a:p>
          <a:p>
            <a:r>
              <a:rPr lang="en-GB" sz="1200" dirty="0"/>
              <a:t>Also, making Level 4 was a breeze since I didn’t need any more new zones meaning I could just copy level 3 without needing to change much besides variable names.</a:t>
            </a:r>
          </a:p>
          <a:p>
            <a:endParaRPr lang="en-GB" sz="1200" dirty="0"/>
          </a:p>
          <a:p>
            <a:r>
              <a:rPr lang="en-GB" sz="1200" dirty="0"/>
              <a:t>If you are looking through my versions, you might have noticed that I recently started using </a:t>
            </a:r>
            <a:r>
              <a:rPr lang="en-GB" sz="1200" dirty="0" err="1"/>
              <a:t>lvl</a:t>
            </a:r>
            <a:r>
              <a:rPr lang="en-GB" sz="1200" dirty="0"/>
              <a:t> instead of level. This was done just to safe time and make naming much easier to do. So, </a:t>
            </a:r>
            <a:r>
              <a:rPr lang="en-GB" sz="1200" dirty="0" err="1"/>
              <a:t>lvl</a:t>
            </a:r>
            <a:r>
              <a:rPr lang="en-GB" sz="1200" dirty="0"/>
              <a:t> is just Level.</a:t>
            </a:r>
          </a:p>
          <a:p>
            <a:endParaRPr lang="en-GB" sz="1200" dirty="0"/>
          </a:p>
          <a:p>
            <a:r>
              <a:rPr lang="en-GB" sz="1200" dirty="0"/>
              <a:t>To make Prototype I will use level 3 K9 as the foundation for the prototypes code.</a:t>
            </a:r>
          </a:p>
          <a:p>
            <a:endParaRPr lang="en-GB" sz="1200" dirty="0"/>
          </a:p>
          <a:p>
            <a:r>
              <a:rPr lang="en-GB" sz="1200" dirty="0"/>
              <a:t>Finally Prototypes design is completed.</a:t>
            </a:r>
          </a:p>
          <a:p>
            <a:r>
              <a:rPr lang="en-GB" sz="1200" dirty="0"/>
              <a:t>I always planned for him to me a fusion</a:t>
            </a:r>
          </a:p>
          <a:p>
            <a:r>
              <a:rPr lang="en-GB" sz="1200" dirty="0"/>
              <a:t>Of the other AMCD’s and I think it came</a:t>
            </a:r>
          </a:p>
          <a:p>
            <a:r>
              <a:rPr lang="en-GB" sz="1200" dirty="0"/>
              <a:t>Out perfectly.</a:t>
            </a:r>
          </a:p>
        </p:txBody>
      </p:sp>
      <p:pic>
        <p:nvPicPr>
          <p:cNvPr id="11" name="Picture 10" descr="A screen shot of a computer&#10;&#10;AI-generated content may be incorrect.">
            <a:extLst>
              <a:ext uri="{FF2B5EF4-FFF2-40B4-BE49-F238E27FC236}">
                <a16:creationId xmlns:a16="http://schemas.microsoft.com/office/drawing/2014/main" id="{4560D85E-4DCB-4F35-6ADC-A6787A918037}"/>
              </a:ext>
            </a:extLst>
          </p:cNvPr>
          <p:cNvPicPr>
            <a:picLocks noChangeAspect="1"/>
          </p:cNvPicPr>
          <p:nvPr/>
        </p:nvPicPr>
        <p:blipFill>
          <a:blip r:embed="rId2"/>
          <a:stretch>
            <a:fillRect/>
          </a:stretch>
        </p:blipFill>
        <p:spPr>
          <a:xfrm>
            <a:off x="6533679" y="5709053"/>
            <a:ext cx="4991797" cy="676369"/>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E1164DD6-C6E7-C4EB-CACF-C7BB87978DDB}"/>
              </a:ext>
            </a:extLst>
          </p:cNvPr>
          <p:cNvPicPr>
            <a:picLocks noChangeAspect="1"/>
          </p:cNvPicPr>
          <p:nvPr/>
        </p:nvPicPr>
        <p:blipFill>
          <a:blip r:embed="rId3"/>
          <a:stretch>
            <a:fillRect/>
          </a:stretch>
        </p:blipFill>
        <p:spPr>
          <a:xfrm>
            <a:off x="6407670" y="1439343"/>
            <a:ext cx="4553585" cy="4039164"/>
          </a:xfrm>
          <a:prstGeom prst="rect">
            <a:avLst/>
          </a:prstGeom>
        </p:spPr>
      </p:pic>
      <p:pic>
        <p:nvPicPr>
          <p:cNvPr id="6" name="Picture 5" descr="A screenshot of a computer screen&#10;&#10;AI-generated content may be incorrect.">
            <a:extLst>
              <a:ext uri="{FF2B5EF4-FFF2-40B4-BE49-F238E27FC236}">
                <a16:creationId xmlns:a16="http://schemas.microsoft.com/office/drawing/2014/main" id="{722DC87C-C839-85D9-FAF5-F2BF44603B15}"/>
              </a:ext>
            </a:extLst>
          </p:cNvPr>
          <p:cNvPicPr>
            <a:picLocks noChangeAspect="1"/>
          </p:cNvPicPr>
          <p:nvPr/>
        </p:nvPicPr>
        <p:blipFill>
          <a:blip r:embed="rId4"/>
          <a:stretch>
            <a:fillRect/>
          </a:stretch>
        </p:blipFill>
        <p:spPr>
          <a:xfrm>
            <a:off x="2694874" y="3985262"/>
            <a:ext cx="2963448" cy="2751488"/>
          </a:xfrm>
          <a:prstGeom prst="rect">
            <a:avLst/>
          </a:prstGeom>
        </p:spPr>
      </p:pic>
    </p:spTree>
    <p:extLst>
      <p:ext uri="{BB962C8B-B14F-4D97-AF65-F5344CB8AC3E}">
        <p14:creationId xmlns:p14="http://schemas.microsoft.com/office/powerpoint/2010/main" val="41472154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The Prototype or AMCD 00 will just like its design take attributes from the other AMCD’s into itself.</a:t>
            </a:r>
          </a:p>
          <a:p>
            <a:endParaRPr lang="en-GB" sz="1200" dirty="0"/>
          </a:p>
          <a:p>
            <a:r>
              <a:rPr lang="en-GB" sz="1200" u="sng" dirty="0"/>
              <a:t>Prototype will have…</a:t>
            </a:r>
          </a:p>
          <a:p>
            <a:r>
              <a:rPr lang="en-GB" sz="1200" dirty="0"/>
              <a:t>K9 speed</a:t>
            </a:r>
          </a:p>
          <a:p>
            <a:r>
              <a:rPr lang="en-GB" sz="1200" dirty="0"/>
              <a:t>Bulker waiting Time</a:t>
            </a:r>
          </a:p>
          <a:p>
            <a:r>
              <a:rPr lang="en-GB" sz="1200" dirty="0" err="1"/>
              <a:t>Gwiber’s</a:t>
            </a:r>
            <a:r>
              <a:rPr lang="en-GB" sz="1200" dirty="0"/>
              <a:t> low </a:t>
            </a:r>
            <a:r>
              <a:rPr lang="en-GB" sz="1200"/>
              <a:t>sound movement.</a:t>
            </a:r>
          </a:p>
          <a:p>
            <a:r>
              <a:rPr lang="en-GB" sz="1200" dirty="0"/>
              <a:t>Arach Audio </a:t>
            </a:r>
          </a:p>
          <a:p>
            <a:r>
              <a:rPr lang="en-GB" sz="1200" dirty="0"/>
              <a:t>For coding the Prototypes code will be setup similarly to K9 with adjustments made of all the AMCD’s behaviours into Prototype.</a:t>
            </a:r>
          </a:p>
          <a:p>
            <a:endParaRPr lang="en-GB" sz="1200" dirty="0"/>
          </a:p>
          <a:p>
            <a:r>
              <a:rPr lang="en-GB" sz="1200" dirty="0"/>
              <a:t>there will also be 2 special features for the prototype to increase its difficulty.</a:t>
            </a:r>
          </a:p>
          <a:p>
            <a:endParaRPr lang="en-GB" sz="1200" dirty="0"/>
          </a:p>
          <a:p>
            <a:pPr marL="228600" indent="-228600">
              <a:buAutoNum type="arabicPeriod"/>
            </a:pPr>
            <a:r>
              <a:rPr lang="en-GB" sz="1200" dirty="0"/>
              <a:t>Random movement times. This will make Prototype unpredictable and require you to be constantly active on the camera’s or else he’ll reach your office while your distracted by Arach.</a:t>
            </a:r>
          </a:p>
          <a:p>
            <a:pPr marL="228600" indent="-228600">
              <a:buAutoNum type="arabicPeriod"/>
            </a:pPr>
            <a:r>
              <a:rPr lang="en-GB" sz="1200" dirty="0"/>
              <a:t>Fake sounds. The Prototype will sometimes make fake sounds, tricking the player into thinking he’s moved or is about to attack.</a:t>
            </a:r>
          </a:p>
          <a:p>
            <a:endParaRPr lang="en-GB" sz="1200" dirty="0"/>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5909310"/>
          </a:xfrm>
          <a:prstGeom prst="rect">
            <a:avLst/>
          </a:prstGeom>
          <a:noFill/>
        </p:spPr>
        <p:txBody>
          <a:bodyPr wrap="square" rtlCol="0">
            <a:spAutoFit/>
          </a:bodyPr>
          <a:lstStyle/>
          <a:p>
            <a:r>
              <a:rPr lang="en-GB" sz="1400" dirty="0"/>
              <a:t>What to Do next session</a:t>
            </a:r>
          </a:p>
          <a:p>
            <a:endParaRPr lang="en-GB" sz="1400" dirty="0"/>
          </a:p>
          <a:p>
            <a:r>
              <a:rPr lang="en-GB" sz="1400" dirty="0"/>
              <a:t>Design Zones</a:t>
            </a:r>
          </a:p>
          <a:p>
            <a:endParaRPr lang="en-GB" sz="1400" dirty="0"/>
          </a:p>
          <a:p>
            <a:r>
              <a:rPr lang="en-GB" sz="1400" dirty="0"/>
              <a:t>Find suitable Place Holder sounds</a:t>
            </a:r>
          </a:p>
          <a:p>
            <a:endParaRPr lang="en-GB" sz="1400" dirty="0"/>
          </a:p>
          <a:p>
            <a:r>
              <a:rPr lang="en-GB" sz="1400" dirty="0"/>
              <a:t>Make level 5 with all the AMCD’s.</a:t>
            </a:r>
          </a:p>
          <a:p>
            <a:endParaRPr lang="en-GB" sz="1400" dirty="0"/>
          </a:p>
          <a:p>
            <a:r>
              <a:rPr lang="en-GB" sz="1400" dirty="0"/>
              <a:t>Adjust enemies code for more balanced gameplay.</a:t>
            </a:r>
          </a:p>
          <a:p>
            <a:endParaRPr lang="en-GB" sz="1400" dirty="0"/>
          </a:p>
          <a:p>
            <a:r>
              <a:rPr lang="en-GB" sz="1400" dirty="0"/>
              <a:t>Display level timer.</a:t>
            </a:r>
          </a:p>
          <a:p>
            <a:endParaRPr lang="en-GB" sz="1400" dirty="0"/>
          </a:p>
          <a:p>
            <a:r>
              <a:rPr lang="en-GB" sz="1400" dirty="0"/>
              <a:t>Re-do Health Bar.</a:t>
            </a:r>
          </a:p>
          <a:p>
            <a:endParaRPr lang="en-GB" sz="1400" dirty="0"/>
          </a:p>
          <a:p>
            <a:r>
              <a:rPr lang="en-GB" sz="1400" dirty="0"/>
              <a:t>Finally, in the main menu add the Soundtrack I created for Critical Failure.</a:t>
            </a:r>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20784053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V.0.7.2</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21250"/>
            <a:ext cx="5576207" cy="63709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part is the next big step In completing all the code for my game and refining it to full functionality.</a:t>
            </a:r>
          </a:p>
          <a:p>
            <a:endParaRPr lang="en-GB" sz="1200" dirty="0"/>
          </a:p>
          <a:p>
            <a:r>
              <a:rPr lang="en-GB" sz="1200" dirty="0"/>
              <a:t>This session, I implemented Bulkers long waiting time at door to the Prototype.</a:t>
            </a:r>
          </a:p>
          <a:p>
            <a:endParaRPr lang="en-GB" sz="1200" dirty="0"/>
          </a:p>
          <a:p>
            <a:r>
              <a:rPr lang="en-GB" sz="1200" dirty="0"/>
              <a:t>The Game will Run at 60fps. Doing this allows me to get the correct amount of time in seconds or minutes in game by using the equation (frames = minutes x 60 x </a:t>
            </a:r>
            <a:r>
              <a:rPr lang="en-GB" sz="1200" dirty="0" err="1"/>
              <a:t>room_speed</a:t>
            </a:r>
            <a:r>
              <a:rPr lang="en-GB" sz="1200" dirty="0"/>
              <a:t>). This will allow me to properly adjust the timers used by objects in each level. </a:t>
            </a:r>
          </a:p>
          <a:p>
            <a:endParaRPr lang="en-GB" sz="1200" dirty="0"/>
          </a:p>
          <a:p>
            <a:r>
              <a:rPr lang="en-GB" sz="1200" dirty="0"/>
              <a:t>I have also implemented a Pause screen during the levels, just in case the player wishes to go back to main menu or take a break.</a:t>
            </a:r>
          </a:p>
          <a:p>
            <a:endParaRPr lang="en-GB" sz="1200" dirty="0"/>
          </a:p>
          <a:p>
            <a:r>
              <a:rPr lang="en-GB" sz="1200" dirty="0"/>
              <a:t>Narratively, the game would take the main character 12 hours to survive until 12pm. However, that time doesn’t translate well in terms of gameplay. So, the level will be 7 minutes and 30 seconds long and the level timer will change its sprite based off what stage the timer is at. So, using the equation  frames for 7min and 30sec minutes of gameplay per level is 27,000 frames.</a:t>
            </a:r>
          </a:p>
          <a:p>
            <a:endParaRPr lang="en-GB" sz="1200" dirty="0"/>
          </a:p>
          <a:p>
            <a:r>
              <a:rPr lang="en-GB" sz="1200" dirty="0"/>
              <a:t>I’ve also added new rooms for the levels for when the player completes a night that has a transition into the next room.</a:t>
            </a:r>
          </a:p>
          <a:p>
            <a:endParaRPr lang="en-GB" sz="1200" dirty="0"/>
          </a:p>
          <a:p>
            <a:endParaRPr lang="en-GB" sz="1200" dirty="0"/>
          </a:p>
          <a:p>
            <a:r>
              <a:rPr lang="en-GB" sz="1200" dirty="0"/>
              <a:t>I did run into an issue and that was having the Enemies physically move alongside their movement code. They do, but they are so offset you can’t see them. Despite me using the same exact co-ordinates as the camera controller, it turns out the enemies don’t follow the top left co-ordinate like the camera. So, I’ve spent over an hour getting the right co-ordinates and adjusting the enemy’s sprite origin to centre middle.</a:t>
            </a:r>
          </a:p>
          <a:p>
            <a:endParaRPr lang="en-GB" sz="1200" dirty="0"/>
          </a:p>
          <a:p>
            <a:r>
              <a:rPr lang="en-GB" sz="1200" dirty="0"/>
              <a:t>This has proven to be very time consuming for I need to constantly start up the game check An AMCD’s physically position and adjust their code, rinse and repeat for all variants of the enemies in all the levels. I was only able to do lvl1 Gwiber and K9 and lvl2 Bulker, the other level 2’s have been difficult.</a:t>
            </a:r>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2677656"/>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4281728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46527-0379-7DCB-AEDE-EA081D39C56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B58B659-D1A5-6243-A490-07CA1D78C6E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31/01/2026</a:t>
            </a:r>
          </a:p>
        </p:txBody>
      </p:sp>
      <p:sp>
        <p:nvSpPr>
          <p:cNvPr id="2" name="TextBox 1">
            <a:extLst>
              <a:ext uri="{FF2B5EF4-FFF2-40B4-BE49-F238E27FC236}">
                <a16:creationId xmlns:a16="http://schemas.microsoft.com/office/drawing/2014/main" id="{ED540E2B-C8CB-73FF-E64D-B1300659E93B}"/>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a:t>
            </a:r>
          </a:p>
        </p:txBody>
      </p:sp>
      <p:sp>
        <p:nvSpPr>
          <p:cNvPr id="3" name="TextBox 2">
            <a:extLst>
              <a:ext uri="{FF2B5EF4-FFF2-40B4-BE49-F238E27FC236}">
                <a16:creationId xmlns:a16="http://schemas.microsoft.com/office/drawing/2014/main" id="{9A4FCE44-D8B6-B201-EED5-51307B1B2674}"/>
              </a:ext>
            </a:extLst>
          </p:cNvPr>
          <p:cNvSpPr txBox="1"/>
          <p:nvPr/>
        </p:nvSpPr>
        <p:spPr>
          <a:xfrm>
            <a:off x="0" y="121250"/>
            <a:ext cx="5576207"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made the soundtrack for the intro part of my game. When the player clicks the button to go to the next level, the sound stops.</a:t>
            </a:r>
          </a:p>
          <a:p>
            <a:endParaRPr lang="en-GB" sz="1200" dirty="0"/>
          </a:p>
          <a:p>
            <a:r>
              <a:rPr lang="en-GB" sz="1200" dirty="0"/>
              <a:t>I’m </a:t>
            </a:r>
            <a:r>
              <a:rPr lang="en-GB" sz="1200" dirty="0" err="1"/>
              <a:t>gonna</a:t>
            </a:r>
            <a:r>
              <a:rPr lang="en-GB" sz="1200" dirty="0"/>
              <a:t> use the Windows XP error </a:t>
            </a:r>
            <a:r>
              <a:rPr lang="en-GB" sz="1200" dirty="0" err="1"/>
              <a:t>sfx</a:t>
            </a:r>
            <a:r>
              <a:rPr lang="en-GB" sz="1200" dirty="0"/>
              <a:t> for when Prototype makes a fake noise. I also want to add lots of small rare easter eggs in my game, just to bring some more life into the game. These are extremely rare and probably won’t happen on most peoples first playthrough.</a:t>
            </a:r>
          </a:p>
          <a:p>
            <a:endParaRPr lang="en-GB" sz="1200" dirty="0"/>
          </a:p>
          <a:p>
            <a:endParaRPr lang="en-GB" sz="1200" dirty="0"/>
          </a:p>
        </p:txBody>
      </p:sp>
      <p:sp>
        <p:nvSpPr>
          <p:cNvPr id="12" name="TextBox 11">
            <a:extLst>
              <a:ext uri="{FF2B5EF4-FFF2-40B4-BE49-F238E27FC236}">
                <a16:creationId xmlns:a16="http://schemas.microsoft.com/office/drawing/2014/main" id="{BD93A3B1-0749-37C1-9A50-2EE1EA46B84D}"/>
              </a:ext>
            </a:extLst>
          </p:cNvPr>
          <p:cNvSpPr txBox="1"/>
          <p:nvPr/>
        </p:nvSpPr>
        <p:spPr>
          <a:xfrm>
            <a:off x="8555487" y="722845"/>
            <a:ext cx="2073729" cy="3108543"/>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r>
              <a:rPr lang="en-GB" sz="1400" dirty="0"/>
              <a:t>Design Zones.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9030598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E589B-990F-8860-4638-237B5862F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2269E-3881-5A24-4B03-5C9AF405D81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1/02/2026</a:t>
            </a:r>
          </a:p>
        </p:txBody>
      </p:sp>
      <p:sp>
        <p:nvSpPr>
          <p:cNvPr id="2" name="TextBox 1">
            <a:extLst>
              <a:ext uri="{FF2B5EF4-FFF2-40B4-BE49-F238E27FC236}">
                <a16:creationId xmlns:a16="http://schemas.microsoft.com/office/drawing/2014/main" id="{DA40A170-E1C7-DC9A-6D71-A7C690245B1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V.0.8.1</a:t>
            </a:r>
          </a:p>
        </p:txBody>
      </p:sp>
      <p:sp>
        <p:nvSpPr>
          <p:cNvPr id="3" name="TextBox 2">
            <a:extLst>
              <a:ext uri="{FF2B5EF4-FFF2-40B4-BE49-F238E27FC236}">
                <a16:creationId xmlns:a16="http://schemas.microsoft.com/office/drawing/2014/main" id="{369DC118-DC4C-CDC2-2775-7F44EFE4262C}"/>
              </a:ext>
            </a:extLst>
          </p:cNvPr>
          <p:cNvSpPr txBox="1"/>
          <p:nvPr/>
        </p:nvSpPr>
        <p:spPr>
          <a:xfrm>
            <a:off x="0" y="121250"/>
            <a:ext cx="5576207"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designed all the zones and have also found a solution to the offset issue.</a:t>
            </a:r>
          </a:p>
          <a:p>
            <a:endParaRPr lang="en-GB" sz="1200" dirty="0"/>
          </a:p>
          <a:p>
            <a:r>
              <a:rPr lang="en-GB" sz="1200" dirty="0"/>
              <a:t>I plan to make the zones sprites change when the enemies enter them. This means I won’t need my enemies to have sprites and provides me full customisability within each zone.</a:t>
            </a:r>
          </a:p>
          <a:p>
            <a:endParaRPr lang="en-GB" sz="1200" dirty="0"/>
          </a:p>
          <a:p>
            <a:r>
              <a:rPr lang="en-GB" sz="1200" dirty="0"/>
              <a:t>The way it works is that I have my current zones with no enemies, I will duplicate these and add the AMCD’s into them separate. So, Gwiber Zones, Bulker Zones and K9 Zones etc.</a:t>
            </a:r>
          </a:p>
          <a:p>
            <a:endParaRPr lang="en-GB" sz="1200" dirty="0"/>
          </a:p>
          <a:p>
            <a:r>
              <a:rPr lang="en-GB" sz="1200" dirty="0"/>
              <a:t>To have the zones change sprite I will create a Zone Controller that basically acts as a way for the Zones to know when to change sprites based off certain conditions. (This will also be good for sounds).</a:t>
            </a:r>
          </a:p>
          <a:p>
            <a:endParaRPr lang="en-GB" sz="1200" dirty="0"/>
          </a:p>
        </p:txBody>
      </p:sp>
      <p:sp>
        <p:nvSpPr>
          <p:cNvPr id="12" name="TextBox 11">
            <a:extLst>
              <a:ext uri="{FF2B5EF4-FFF2-40B4-BE49-F238E27FC236}">
                <a16:creationId xmlns:a16="http://schemas.microsoft.com/office/drawing/2014/main" id="{2186328D-9647-E460-1A4B-1B381BCDDD19}"/>
              </a:ext>
            </a:extLst>
          </p:cNvPr>
          <p:cNvSpPr txBox="1"/>
          <p:nvPr/>
        </p:nvSpPr>
        <p:spPr>
          <a:xfrm>
            <a:off x="8555487" y="722845"/>
            <a:ext cx="2073729" cy="5047536"/>
          </a:xfrm>
          <a:prstGeom prst="rect">
            <a:avLst/>
          </a:prstGeom>
          <a:noFill/>
        </p:spPr>
        <p:txBody>
          <a:bodyPr wrap="square" rtlCol="0">
            <a:spAutoFit/>
          </a:bodyPr>
          <a:lstStyle/>
          <a:p>
            <a:r>
              <a:rPr lang="en-GB" sz="1400" dirty="0"/>
              <a:t>What to Do next session</a:t>
            </a:r>
          </a:p>
          <a:p>
            <a:endParaRPr lang="en-GB" sz="1400" dirty="0"/>
          </a:p>
          <a:p>
            <a:r>
              <a:rPr lang="en-GB" sz="1400" dirty="0"/>
              <a:t>Make Zone Controller</a:t>
            </a:r>
          </a:p>
          <a:p>
            <a:endParaRPr lang="en-GB" sz="1400" dirty="0"/>
          </a:p>
          <a:p>
            <a:r>
              <a:rPr lang="en-GB" sz="1400" dirty="0"/>
              <a:t>Make Level lock (stop the player from going to level 2 unless level 1 is beaten.</a:t>
            </a:r>
          </a:p>
          <a:p>
            <a:endParaRPr lang="en-GB" sz="1400" dirty="0"/>
          </a:p>
          <a:p>
            <a:r>
              <a:rPr lang="en-GB" sz="1400" dirty="0"/>
              <a:t>Make AMCD versions of zone sprites.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shot of a video game&#10;&#10;AI-generated content may be incorrect.">
            <a:extLst>
              <a:ext uri="{FF2B5EF4-FFF2-40B4-BE49-F238E27FC236}">
                <a16:creationId xmlns:a16="http://schemas.microsoft.com/office/drawing/2014/main" id="{520155B2-5599-6697-A30B-9678C2EC53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829" y="2654634"/>
            <a:ext cx="3810000" cy="2143125"/>
          </a:xfrm>
          <a:prstGeom prst="rect">
            <a:avLst/>
          </a:prstGeom>
        </p:spPr>
      </p:pic>
      <p:pic>
        <p:nvPicPr>
          <p:cNvPr id="8" name="Picture 7" descr="A black rectangular object with a brown x&#10;&#10;AI-generated content may be incorrect.">
            <a:extLst>
              <a:ext uri="{FF2B5EF4-FFF2-40B4-BE49-F238E27FC236}">
                <a16:creationId xmlns:a16="http://schemas.microsoft.com/office/drawing/2014/main" id="{2ADC7D25-A6AC-DF0A-67C2-500B45F6DE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50279" y="3059566"/>
            <a:ext cx="3810000" cy="2143125"/>
          </a:xfrm>
          <a:prstGeom prst="rect">
            <a:avLst/>
          </a:prstGeom>
        </p:spPr>
      </p:pic>
    </p:spTree>
    <p:extLst>
      <p:ext uri="{BB962C8B-B14F-4D97-AF65-F5344CB8AC3E}">
        <p14:creationId xmlns:p14="http://schemas.microsoft.com/office/powerpoint/2010/main" val="24469474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69338-87C8-E82E-2624-E0CCAAE75B2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A4C7ED0-0115-43C8-8149-B6FFD54450A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2/02/2026</a:t>
            </a:r>
          </a:p>
        </p:txBody>
      </p:sp>
      <p:sp>
        <p:nvSpPr>
          <p:cNvPr id="2" name="TextBox 1">
            <a:extLst>
              <a:ext uri="{FF2B5EF4-FFF2-40B4-BE49-F238E27FC236}">
                <a16:creationId xmlns:a16="http://schemas.microsoft.com/office/drawing/2014/main" id="{AFEBC780-BA62-793A-4C81-DCA14DD778C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A6A304AE-9C3F-5240-DD1D-BEC7360FB613}"/>
              </a:ext>
            </a:extLst>
          </p:cNvPr>
          <p:cNvSpPr txBox="1"/>
          <p:nvPr/>
        </p:nvSpPr>
        <p:spPr>
          <a:xfrm>
            <a:off x="0" y="121250"/>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All zones are fully designed and have duplicate variants for each AMCD.</a:t>
            </a:r>
          </a:p>
          <a:p>
            <a:endParaRPr lang="en-GB" sz="1200" dirty="0"/>
          </a:p>
          <a:p>
            <a:r>
              <a:rPr lang="en-GB" sz="1200" dirty="0"/>
              <a:t>The way this works is that the camera zones change their sprites based off whether an enemy is inside of them or not.</a:t>
            </a:r>
          </a:p>
          <a:p>
            <a:endParaRPr lang="en-GB" sz="1200" dirty="0"/>
          </a:p>
          <a:p>
            <a:r>
              <a:rPr lang="en-GB" sz="1200" dirty="0"/>
              <a:t>Here’s a flow chart of what I want the mechanic to do.</a:t>
            </a:r>
          </a:p>
          <a:p>
            <a:endParaRPr lang="en-GB" sz="1200" dirty="0"/>
          </a:p>
          <a:p>
            <a:pPr marL="228600" indent="-228600">
              <a:buAutoNum type="arabicPeriod"/>
            </a:pPr>
            <a:r>
              <a:rPr lang="en-GB" sz="1200" dirty="0"/>
              <a:t>Gwiber moves to Cam 1</a:t>
            </a:r>
          </a:p>
          <a:p>
            <a:pPr marL="228600" indent="-228600">
              <a:buAutoNum type="arabicPeriod"/>
            </a:pPr>
            <a:r>
              <a:rPr lang="en-GB" sz="1200" dirty="0" err="1"/>
              <a:t>Gwiberpos</a:t>
            </a:r>
            <a:r>
              <a:rPr lang="en-GB" sz="1200" dirty="0"/>
              <a:t> = 1</a:t>
            </a:r>
          </a:p>
          <a:p>
            <a:pPr marL="228600" indent="-228600">
              <a:buAutoNum type="arabicPeriod"/>
            </a:pPr>
            <a:r>
              <a:rPr lang="en-GB" sz="1200" dirty="0"/>
              <a:t>If </a:t>
            </a:r>
            <a:r>
              <a:rPr lang="en-GB" sz="1200" dirty="0" err="1"/>
              <a:t>gwiberpos</a:t>
            </a:r>
            <a:r>
              <a:rPr lang="en-GB" sz="1200" dirty="0"/>
              <a:t> = 1 (inside zone object)</a:t>
            </a:r>
          </a:p>
          <a:p>
            <a:pPr marL="228600" indent="-228600">
              <a:buAutoNum type="arabicPeriod"/>
            </a:pPr>
            <a:r>
              <a:rPr lang="en-GB" sz="1200" dirty="0"/>
              <a:t>Change obj_cam_zone_1 sprite to spr_zone_1_gwiber</a:t>
            </a:r>
          </a:p>
          <a:p>
            <a:pPr marL="228600" indent="-228600">
              <a:buAutoNum type="arabicPeriod"/>
            </a:pPr>
            <a:r>
              <a:rPr lang="en-GB" sz="1200" dirty="0"/>
              <a:t>If !</a:t>
            </a:r>
            <a:r>
              <a:rPr lang="en-GB" sz="1200" dirty="0" err="1"/>
              <a:t>gwiberpos</a:t>
            </a:r>
            <a:r>
              <a:rPr lang="en-GB" sz="1200" dirty="0"/>
              <a:t> = 1</a:t>
            </a:r>
          </a:p>
          <a:p>
            <a:pPr marL="228600" indent="-228600">
              <a:buAutoNum type="arabicPeriod"/>
            </a:pPr>
            <a:r>
              <a:rPr lang="en-GB" sz="1200" dirty="0"/>
              <a:t>Change obj_cam_zone_1 sprite to spr_zone_1</a:t>
            </a:r>
          </a:p>
          <a:p>
            <a:pPr marL="228600" indent="-228600">
              <a:buAutoNum type="arabicPeriod"/>
            </a:pPr>
            <a:endParaRPr lang="en-GB" sz="1200" dirty="0"/>
          </a:p>
          <a:p>
            <a:r>
              <a:rPr lang="en-GB" sz="1200" dirty="0"/>
              <a:t>That’s the flow of how this mechanic will work.</a:t>
            </a:r>
          </a:p>
          <a:p>
            <a:pPr marL="228600" indent="-228600">
              <a:buAutoNum type="arabicPeriod"/>
            </a:pPr>
            <a:endParaRPr lang="en-GB" sz="1200" dirty="0"/>
          </a:p>
        </p:txBody>
      </p:sp>
      <p:sp>
        <p:nvSpPr>
          <p:cNvPr id="12" name="TextBox 11">
            <a:extLst>
              <a:ext uri="{FF2B5EF4-FFF2-40B4-BE49-F238E27FC236}">
                <a16:creationId xmlns:a16="http://schemas.microsoft.com/office/drawing/2014/main" id="{AB36E85F-0529-201D-1AC6-2134890FE3A8}"/>
              </a:ext>
            </a:extLst>
          </p:cNvPr>
          <p:cNvSpPr txBox="1"/>
          <p:nvPr/>
        </p:nvSpPr>
        <p:spPr>
          <a:xfrm>
            <a:off x="8555487" y="722845"/>
            <a:ext cx="2073729" cy="6986528"/>
          </a:xfrm>
          <a:prstGeom prst="rect">
            <a:avLst/>
          </a:prstGeom>
          <a:noFill/>
        </p:spPr>
        <p:txBody>
          <a:bodyPr wrap="square" rtlCol="0">
            <a:spAutoFit/>
          </a:bodyPr>
          <a:lstStyle/>
          <a:p>
            <a:r>
              <a:rPr lang="en-GB" sz="1400" dirty="0"/>
              <a:t>What to Do next session</a:t>
            </a:r>
          </a:p>
          <a:p>
            <a:endParaRPr lang="en-GB" sz="1400" dirty="0"/>
          </a:p>
          <a:p>
            <a:r>
              <a:rPr lang="en-GB" sz="1400" dirty="0"/>
              <a:t>Draw enemies inside the same zone as their position to show they are in it.</a:t>
            </a:r>
          </a:p>
          <a:p>
            <a:endParaRPr lang="en-GB" sz="1400" dirty="0"/>
          </a:p>
          <a:p>
            <a:endParaRPr lang="en-GB" sz="1400" dirty="0"/>
          </a:p>
          <a:p>
            <a:r>
              <a:rPr lang="en-GB" sz="1400" dirty="0"/>
              <a:t>Fix Cam 7 on Level 3.</a:t>
            </a:r>
          </a:p>
          <a:p>
            <a:endParaRPr lang="en-GB" sz="1400" dirty="0"/>
          </a:p>
          <a:p>
            <a:r>
              <a:rPr lang="en-GB" sz="1400" dirty="0"/>
              <a:t>Finish adding place-holder sounds.</a:t>
            </a:r>
          </a:p>
          <a:p>
            <a:endParaRPr lang="en-GB" sz="1400" dirty="0"/>
          </a:p>
          <a:p>
            <a:r>
              <a:rPr lang="en-GB" sz="1400" dirty="0"/>
              <a:t>Adjust Enemy movement timers</a:t>
            </a:r>
          </a:p>
          <a:p>
            <a:endParaRPr lang="en-GB" sz="1400" dirty="0"/>
          </a:p>
          <a:p>
            <a:r>
              <a:rPr lang="en-GB" sz="1400" dirty="0"/>
              <a:t>Adjust level timer</a:t>
            </a:r>
          </a:p>
          <a:p>
            <a:endParaRPr lang="en-GB" sz="1400" dirty="0"/>
          </a:p>
          <a:p>
            <a:r>
              <a:rPr lang="en-GB" sz="1400" dirty="0"/>
              <a:t>Adjust oxygen depletion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7" name="Picture 6" descr="A screen shot of a computer program&#10;&#10;AI-generated content may be incorrect.">
            <a:extLst>
              <a:ext uri="{FF2B5EF4-FFF2-40B4-BE49-F238E27FC236}">
                <a16:creationId xmlns:a16="http://schemas.microsoft.com/office/drawing/2014/main" id="{31911AB7-DD4B-BFA6-125D-ACA98465190B}"/>
              </a:ext>
            </a:extLst>
          </p:cNvPr>
          <p:cNvPicPr>
            <a:picLocks noChangeAspect="1"/>
          </p:cNvPicPr>
          <p:nvPr/>
        </p:nvPicPr>
        <p:blipFill>
          <a:blip r:embed="rId2"/>
          <a:stretch>
            <a:fillRect/>
          </a:stretch>
        </p:blipFill>
        <p:spPr>
          <a:xfrm>
            <a:off x="87547" y="3913990"/>
            <a:ext cx="3134162" cy="1495634"/>
          </a:xfrm>
          <a:prstGeom prst="rect">
            <a:avLst/>
          </a:prstGeom>
        </p:spPr>
      </p:pic>
      <p:sp>
        <p:nvSpPr>
          <p:cNvPr id="9" name="TextBox 8">
            <a:extLst>
              <a:ext uri="{FF2B5EF4-FFF2-40B4-BE49-F238E27FC236}">
                <a16:creationId xmlns:a16="http://schemas.microsoft.com/office/drawing/2014/main" id="{1CDF575A-4919-5A0B-064D-D3EA7E33611B}"/>
              </a:ext>
            </a:extLst>
          </p:cNvPr>
          <p:cNvSpPr txBox="1"/>
          <p:nvPr/>
        </p:nvSpPr>
        <p:spPr>
          <a:xfrm>
            <a:off x="-14969" y="3233336"/>
            <a:ext cx="3339193" cy="738664"/>
          </a:xfrm>
          <a:prstGeom prst="rect">
            <a:avLst/>
          </a:prstGeom>
          <a:noFill/>
        </p:spPr>
        <p:txBody>
          <a:bodyPr wrap="square" rtlCol="0">
            <a:spAutoFit/>
          </a:bodyPr>
          <a:lstStyle/>
          <a:p>
            <a:r>
              <a:rPr lang="en-GB" sz="1400" dirty="0"/>
              <a:t>This is all the code needed per position. This is done for all AMCD’s. The code is done inside of the object zones.</a:t>
            </a:r>
          </a:p>
        </p:txBody>
      </p:sp>
      <p:pic>
        <p:nvPicPr>
          <p:cNvPr id="11" name="Picture 10" descr="A screen shot of a computer program&#10;&#10;AI-generated content may be incorrect.">
            <a:extLst>
              <a:ext uri="{FF2B5EF4-FFF2-40B4-BE49-F238E27FC236}">
                <a16:creationId xmlns:a16="http://schemas.microsoft.com/office/drawing/2014/main" id="{4C83D34A-A7D7-DD06-E841-148D37809D23}"/>
              </a:ext>
            </a:extLst>
          </p:cNvPr>
          <p:cNvPicPr>
            <a:picLocks noChangeAspect="1"/>
          </p:cNvPicPr>
          <p:nvPr/>
        </p:nvPicPr>
        <p:blipFill>
          <a:blip r:embed="rId3"/>
          <a:stretch>
            <a:fillRect/>
          </a:stretch>
        </p:blipFill>
        <p:spPr>
          <a:xfrm>
            <a:off x="4164926" y="4517470"/>
            <a:ext cx="3143689" cy="1448002"/>
          </a:xfrm>
          <a:prstGeom prst="rect">
            <a:avLst/>
          </a:prstGeom>
        </p:spPr>
      </p:pic>
    </p:spTree>
    <p:extLst>
      <p:ext uri="{BB962C8B-B14F-4D97-AF65-F5344CB8AC3E}">
        <p14:creationId xmlns:p14="http://schemas.microsoft.com/office/powerpoint/2010/main" val="15771460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BAA7-7F44-F9F3-9424-C0010C550B1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C3134BE-59EF-5D80-3127-3B2BF32DE3E7}"/>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3/02/2026</a:t>
            </a:r>
          </a:p>
        </p:txBody>
      </p:sp>
      <p:sp>
        <p:nvSpPr>
          <p:cNvPr id="2" name="TextBox 1">
            <a:extLst>
              <a:ext uri="{FF2B5EF4-FFF2-40B4-BE49-F238E27FC236}">
                <a16:creationId xmlns:a16="http://schemas.microsoft.com/office/drawing/2014/main" id="{C2FED3F3-5484-58D8-A667-E41109861B87}"/>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45552579-2D3F-D93B-FD25-557A695335B5}"/>
              </a:ext>
            </a:extLst>
          </p:cNvPr>
          <p:cNvSpPr txBox="1"/>
          <p:nvPr/>
        </p:nvSpPr>
        <p:spPr>
          <a:xfrm>
            <a:off x="0" y="121250"/>
            <a:ext cx="5576207" cy="249299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adjusted the enemies and all of the timers to giver critical failure more appropriate gameplay. I also fixed the Cam 7 problem and adjusted the oxygen depletion.</a:t>
            </a:r>
          </a:p>
          <a:p>
            <a:endParaRPr lang="en-GB" sz="1200" dirty="0"/>
          </a:p>
          <a:p>
            <a:r>
              <a:rPr lang="en-GB" sz="1200" dirty="0"/>
              <a:t>I also, added some more sounds into the game such as for cameras and enemy movement.</a:t>
            </a:r>
          </a:p>
          <a:p>
            <a:endParaRPr lang="en-GB" sz="1200" dirty="0"/>
          </a:p>
          <a:p>
            <a:r>
              <a:rPr lang="en-GB" sz="1200" dirty="0"/>
              <a:t>I also Started Drawing in the enemy versions of my now designed zones. In addition, I’ve made a new category of zones in which if 2 or more enemies are in the same zone then they’ll both appear.</a:t>
            </a:r>
          </a:p>
          <a:p>
            <a:endParaRPr lang="en-GB" sz="1200" dirty="0"/>
          </a:p>
          <a:p>
            <a:r>
              <a:rPr lang="en-GB" sz="1200" dirty="0"/>
              <a:t>I also made a small fix and that was to remove the oxygen flash sprite after death for it continued to persist throughout all rooms.</a:t>
            </a:r>
          </a:p>
        </p:txBody>
      </p:sp>
      <p:sp>
        <p:nvSpPr>
          <p:cNvPr id="12" name="TextBox 11">
            <a:extLst>
              <a:ext uri="{FF2B5EF4-FFF2-40B4-BE49-F238E27FC236}">
                <a16:creationId xmlns:a16="http://schemas.microsoft.com/office/drawing/2014/main" id="{CFEDDD55-0318-0FCA-A5C1-B75438787764}"/>
              </a:ext>
            </a:extLst>
          </p:cNvPr>
          <p:cNvSpPr txBox="1"/>
          <p:nvPr/>
        </p:nvSpPr>
        <p:spPr>
          <a:xfrm>
            <a:off x="8555487" y="722845"/>
            <a:ext cx="2073729" cy="5047536"/>
          </a:xfrm>
          <a:prstGeom prst="rect">
            <a:avLst/>
          </a:prstGeom>
          <a:noFill/>
        </p:spPr>
        <p:txBody>
          <a:bodyPr wrap="square" rtlCol="0">
            <a:spAutoFit/>
          </a:bodyPr>
          <a:lstStyle/>
          <a:p>
            <a:r>
              <a:rPr lang="en-GB" sz="1400" dirty="0"/>
              <a:t>What to Do next session</a:t>
            </a:r>
          </a:p>
          <a:p>
            <a:endParaRPr lang="en-GB" sz="1400" dirty="0"/>
          </a:p>
          <a:p>
            <a:r>
              <a:rPr lang="en-GB" sz="1400" dirty="0"/>
              <a:t>Continue with enemy sprite zones.</a:t>
            </a:r>
          </a:p>
          <a:p>
            <a:endParaRPr lang="en-GB" sz="1400" dirty="0"/>
          </a:p>
          <a:p>
            <a:r>
              <a:rPr lang="en-GB" sz="1400" dirty="0"/>
              <a:t>Adjust timers</a:t>
            </a:r>
          </a:p>
          <a:p>
            <a:endParaRPr lang="en-GB" sz="1400" dirty="0"/>
          </a:p>
          <a:p>
            <a:r>
              <a:rPr lang="en-GB" sz="1400" dirty="0"/>
              <a:t>Refine mechanics</a:t>
            </a:r>
          </a:p>
          <a:p>
            <a:endParaRPr lang="en-GB" sz="1400" dirty="0"/>
          </a:p>
          <a:p>
            <a:r>
              <a:rPr lang="en-GB" sz="1400" dirty="0"/>
              <a:t>Add remaining sounds.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 shot of a computer program&#10;&#10;AI-generated content may be incorrect.">
            <a:extLst>
              <a:ext uri="{FF2B5EF4-FFF2-40B4-BE49-F238E27FC236}">
                <a16:creationId xmlns:a16="http://schemas.microsoft.com/office/drawing/2014/main" id="{C12717CB-D8ED-885B-B386-78C6AAE29FCE}"/>
              </a:ext>
            </a:extLst>
          </p:cNvPr>
          <p:cNvPicPr>
            <a:picLocks noChangeAspect="1"/>
          </p:cNvPicPr>
          <p:nvPr/>
        </p:nvPicPr>
        <p:blipFill>
          <a:blip r:embed="rId2"/>
          <a:stretch>
            <a:fillRect/>
          </a:stretch>
        </p:blipFill>
        <p:spPr>
          <a:xfrm>
            <a:off x="422362" y="2914450"/>
            <a:ext cx="2524477" cy="2857899"/>
          </a:xfrm>
          <a:prstGeom prst="rect">
            <a:avLst/>
          </a:prstGeom>
        </p:spPr>
      </p:pic>
    </p:spTree>
    <p:extLst>
      <p:ext uri="{BB962C8B-B14F-4D97-AF65-F5344CB8AC3E}">
        <p14:creationId xmlns:p14="http://schemas.microsoft.com/office/powerpoint/2010/main" val="8935232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3298-BB00-65B0-448E-7520EEF1DC4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B5E39-8B55-EA9A-B8F4-E78BBBF1B99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5/02/2026</a:t>
            </a:r>
          </a:p>
        </p:txBody>
      </p:sp>
      <p:sp>
        <p:nvSpPr>
          <p:cNvPr id="2" name="TextBox 1">
            <a:extLst>
              <a:ext uri="{FF2B5EF4-FFF2-40B4-BE49-F238E27FC236}">
                <a16:creationId xmlns:a16="http://schemas.microsoft.com/office/drawing/2014/main" id="{925C303A-F07E-A65A-E11E-195022AD4B23}"/>
              </a:ext>
            </a:extLst>
          </p:cNvPr>
          <p:cNvSpPr txBox="1"/>
          <p:nvPr/>
        </p:nvSpPr>
        <p:spPr>
          <a:xfrm>
            <a:off x="7894620" y="607618"/>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a:t>
            </a:r>
          </a:p>
        </p:txBody>
      </p:sp>
      <p:sp>
        <p:nvSpPr>
          <p:cNvPr id="3" name="TextBox 2">
            <a:extLst>
              <a:ext uri="{FF2B5EF4-FFF2-40B4-BE49-F238E27FC236}">
                <a16:creationId xmlns:a16="http://schemas.microsoft.com/office/drawing/2014/main" id="{6810E88E-1EEF-282F-4F0B-5E9C2F3EEC62}"/>
              </a:ext>
            </a:extLst>
          </p:cNvPr>
          <p:cNvSpPr txBox="1"/>
          <p:nvPr/>
        </p:nvSpPr>
        <p:spPr>
          <a:xfrm>
            <a:off x="0" y="121250"/>
            <a:ext cx="7829550"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I’ve made big changes and I apologies to moderators about not mentioning them separately since this happened across multiple days.</a:t>
            </a:r>
          </a:p>
          <a:p>
            <a:endParaRPr lang="en-GB" sz="1200" dirty="0"/>
          </a:p>
          <a:p>
            <a:r>
              <a:rPr lang="en-GB" sz="1200" dirty="0"/>
              <a:t>So, what did I do.</a:t>
            </a:r>
          </a:p>
          <a:p>
            <a:endParaRPr lang="en-GB" sz="1200" dirty="0"/>
          </a:p>
          <a:p>
            <a:r>
              <a:rPr lang="en-GB" sz="1200" dirty="0"/>
              <a:t>I finished searching for sounds and began implementing them into my Game. There is also directional audio for the left and right sides of the map.</a:t>
            </a:r>
          </a:p>
          <a:p>
            <a:endParaRPr lang="en-GB" sz="1200" dirty="0"/>
          </a:p>
          <a:p>
            <a:r>
              <a:rPr lang="en-GB" sz="1200" dirty="0"/>
              <a:t>Enemies now trigger left/right versions of footstep sounds that play whether an enemy is in Camera zone 2 or 7.</a:t>
            </a:r>
          </a:p>
          <a:p>
            <a:endParaRPr lang="en-GB" sz="1200" dirty="0"/>
          </a:p>
          <a:p>
            <a:r>
              <a:rPr lang="en-GB" sz="1200" dirty="0"/>
              <a:t>I have finished designing the enemy versions </a:t>
            </a:r>
            <a:r>
              <a:rPr lang="en-GB" sz="1200" b="1" dirty="0"/>
              <a:t>(Besides Arach for he doesn’t need one) </a:t>
            </a:r>
            <a:r>
              <a:rPr lang="en-GB" sz="1200" dirty="0"/>
              <a:t>of the Camera zone and the mechanic of the zones changing based on the </a:t>
            </a:r>
            <a:r>
              <a:rPr lang="en-GB" sz="1200" dirty="0" err="1"/>
              <a:t>enenmypos</a:t>
            </a:r>
            <a:r>
              <a:rPr lang="en-GB" sz="1200" dirty="0"/>
              <a:t>. However, my original code didn’t reset the sprites after the enemy leaves it, so I have had to experiment with different methods, one of these methods is having the enemies when they change zone and are in a particular zone, reset the previous one instead of  automatically doing it as soon as it leaves it.</a:t>
            </a:r>
          </a:p>
          <a:p>
            <a:r>
              <a:rPr lang="en-GB" sz="1200" dirty="0"/>
              <a:t>I finished Implementing all the code for the zone change.</a:t>
            </a:r>
          </a:p>
          <a:p>
            <a:endParaRPr lang="en-GB" sz="1200" dirty="0"/>
          </a:p>
          <a:p>
            <a:r>
              <a:rPr lang="en-GB" sz="1200" dirty="0"/>
              <a:t>I properly adjusted the enemies and room timers to be more appropriate.</a:t>
            </a:r>
          </a:p>
          <a:p>
            <a:endParaRPr lang="en-GB" sz="1200" dirty="0"/>
          </a:p>
          <a:p>
            <a:r>
              <a:rPr lang="en-GB" sz="1200" dirty="0"/>
              <a:t>I have also doubled the oxygens decreasing rate for I found that the player could survive the night by having all the doors closed.</a:t>
            </a:r>
          </a:p>
          <a:p>
            <a:endParaRPr lang="en-GB" sz="1200" dirty="0"/>
          </a:p>
          <a:p>
            <a:r>
              <a:rPr lang="en-GB" sz="1200" dirty="0"/>
              <a:t>I also added a debug tool that allows me infinite oxygen for me to check that the enemies are moving correctly and the zones change appropriately. O-on F-off. NOTE: This is for development purposes and will not be a feature.</a:t>
            </a:r>
          </a:p>
        </p:txBody>
      </p:sp>
      <p:sp>
        <p:nvSpPr>
          <p:cNvPr id="12" name="TextBox 11">
            <a:extLst>
              <a:ext uri="{FF2B5EF4-FFF2-40B4-BE49-F238E27FC236}">
                <a16:creationId xmlns:a16="http://schemas.microsoft.com/office/drawing/2014/main" id="{7F9D5535-CF98-86FB-053E-9485F86D9A2C}"/>
              </a:ext>
            </a:extLst>
          </p:cNvPr>
          <p:cNvSpPr txBox="1"/>
          <p:nvPr/>
        </p:nvSpPr>
        <p:spPr>
          <a:xfrm>
            <a:off x="8090807" y="2361528"/>
            <a:ext cx="2073729" cy="4185761"/>
          </a:xfrm>
          <a:prstGeom prst="rect">
            <a:avLst/>
          </a:prstGeom>
          <a:noFill/>
        </p:spPr>
        <p:txBody>
          <a:bodyPr wrap="square" rtlCol="0">
            <a:spAutoFit/>
          </a:bodyPr>
          <a:lstStyle/>
          <a:p>
            <a:r>
              <a:rPr lang="en-GB" sz="1400" dirty="0"/>
              <a:t>What to Do next session</a:t>
            </a:r>
          </a:p>
          <a:p>
            <a:endParaRPr lang="en-GB" sz="1400" dirty="0"/>
          </a:p>
          <a:p>
            <a:r>
              <a:rPr lang="en-GB" sz="1400" dirty="0"/>
              <a:t>Make zone change sprite controller.</a:t>
            </a:r>
          </a:p>
          <a:p>
            <a:endParaRPr lang="en-GB" sz="1400" dirty="0"/>
          </a:p>
          <a:p>
            <a:r>
              <a:rPr lang="en-GB" sz="1400" dirty="0"/>
              <a:t>Design Double Zones for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7" name="Picture 6" descr="A screenshot of a computer&#10;&#10;AI-generated content may be incorrect.">
            <a:extLst>
              <a:ext uri="{FF2B5EF4-FFF2-40B4-BE49-F238E27FC236}">
                <a16:creationId xmlns:a16="http://schemas.microsoft.com/office/drawing/2014/main" id="{EE31987A-FF7B-63FA-8884-5D41D9D5559C}"/>
              </a:ext>
            </a:extLst>
          </p:cNvPr>
          <p:cNvPicPr>
            <a:picLocks noChangeAspect="1"/>
          </p:cNvPicPr>
          <p:nvPr/>
        </p:nvPicPr>
        <p:blipFill>
          <a:blip r:embed="rId2"/>
          <a:stretch>
            <a:fillRect/>
          </a:stretch>
        </p:blipFill>
        <p:spPr>
          <a:xfrm>
            <a:off x="108702" y="4793379"/>
            <a:ext cx="11974596" cy="1943371"/>
          </a:xfrm>
          <a:prstGeom prst="rect">
            <a:avLst/>
          </a:prstGeom>
        </p:spPr>
      </p:pic>
      <p:pic>
        <p:nvPicPr>
          <p:cNvPr id="9" name="Picture 8" descr="A screen shot of a computer">
            <a:extLst>
              <a:ext uri="{FF2B5EF4-FFF2-40B4-BE49-F238E27FC236}">
                <a16:creationId xmlns:a16="http://schemas.microsoft.com/office/drawing/2014/main" id="{E8B401EE-600A-8E6E-DC76-F553F175CDE5}"/>
              </a:ext>
            </a:extLst>
          </p:cNvPr>
          <p:cNvPicPr>
            <a:picLocks noChangeAspect="1"/>
          </p:cNvPicPr>
          <p:nvPr/>
        </p:nvPicPr>
        <p:blipFill>
          <a:blip r:embed="rId3"/>
          <a:stretch>
            <a:fillRect/>
          </a:stretch>
        </p:blipFill>
        <p:spPr>
          <a:xfrm>
            <a:off x="8144955" y="1390256"/>
            <a:ext cx="2400635" cy="771633"/>
          </a:xfrm>
          <a:prstGeom prst="rect">
            <a:avLst/>
          </a:prstGeom>
        </p:spPr>
      </p:pic>
    </p:spTree>
    <p:extLst>
      <p:ext uri="{BB962C8B-B14F-4D97-AF65-F5344CB8AC3E}">
        <p14:creationId xmlns:p14="http://schemas.microsoft.com/office/powerpoint/2010/main" val="5139640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EDECF1-DA48-4B67-A7A6-DE398EF4ED1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29FFFD-FA54-2184-B750-40D60A7B7016}"/>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9/02/2026</a:t>
            </a:r>
          </a:p>
        </p:txBody>
      </p:sp>
      <p:sp>
        <p:nvSpPr>
          <p:cNvPr id="2" name="TextBox 1">
            <a:extLst>
              <a:ext uri="{FF2B5EF4-FFF2-40B4-BE49-F238E27FC236}">
                <a16:creationId xmlns:a16="http://schemas.microsoft.com/office/drawing/2014/main" id="{E123AF8E-C573-278C-31F7-DEF436DA3087}"/>
              </a:ext>
            </a:extLst>
          </p:cNvPr>
          <p:cNvSpPr txBox="1"/>
          <p:nvPr/>
        </p:nvSpPr>
        <p:spPr>
          <a:xfrm>
            <a:off x="5015350" y="542303"/>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V.0.9.3</a:t>
            </a:r>
          </a:p>
        </p:txBody>
      </p:sp>
      <p:sp>
        <p:nvSpPr>
          <p:cNvPr id="3" name="TextBox 2">
            <a:extLst>
              <a:ext uri="{FF2B5EF4-FFF2-40B4-BE49-F238E27FC236}">
                <a16:creationId xmlns:a16="http://schemas.microsoft.com/office/drawing/2014/main" id="{B02B0936-5426-F729-E947-C7D9B8AEEA64}"/>
              </a:ext>
            </a:extLst>
          </p:cNvPr>
          <p:cNvSpPr txBox="1"/>
          <p:nvPr/>
        </p:nvSpPr>
        <p:spPr>
          <a:xfrm>
            <a:off x="0" y="121250"/>
            <a:ext cx="4906736" cy="674030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apologies for this gap in my development log and me not mentioning the two previous versions before V.0.9.3.</a:t>
            </a:r>
          </a:p>
          <a:p>
            <a:endParaRPr lang="en-GB" sz="1200" dirty="0"/>
          </a:p>
          <a:p>
            <a:r>
              <a:rPr lang="en-GB" sz="1200" dirty="0"/>
              <a:t>To catch things up V.0.9.1 to V.0.9.2 were my attempts in making the zone sprite change controller. Unfortunately, I failed in both versions to create a working version of the zone sprite change mechanic.</a:t>
            </a:r>
          </a:p>
          <a:p>
            <a:endParaRPr lang="en-GB" sz="1200" dirty="0"/>
          </a:p>
          <a:p>
            <a:r>
              <a:rPr lang="en-GB" sz="1200" dirty="0"/>
              <a:t>I started by giving each individual zone object code telling them to change their sprites based on if an enemy or enemies are in it. The zones changed sprites but didn’t return to normal and was separate from the enemies' movement.</a:t>
            </a:r>
          </a:p>
          <a:p>
            <a:endParaRPr lang="en-GB" sz="1200" dirty="0"/>
          </a:p>
          <a:p>
            <a:r>
              <a:rPr lang="en-GB" sz="1200" dirty="0"/>
              <a:t>In, V.0.9.2 I tried adding the zone sprite change into the enemy's movement code using </a:t>
            </a:r>
            <a:r>
              <a:rPr lang="en-GB" sz="1200" dirty="0" err="1"/>
              <a:t>object_set_sprite</a:t>
            </a:r>
            <a:r>
              <a:rPr lang="en-GB" sz="1200" dirty="0"/>
              <a:t>(). This also didn’t work same as V.0.9.1. The issue seemed to lie with the fact that the zones couldn’t revert to their original sprite.</a:t>
            </a:r>
          </a:p>
          <a:p>
            <a:endParaRPr lang="en-GB" sz="1200" dirty="0"/>
          </a:p>
          <a:p>
            <a:r>
              <a:rPr lang="en-GB" sz="1200" dirty="0"/>
              <a:t>V.0.9.3 is where I have a working change zone mechanic. A Friend of mine gave me guidance and explained to me that instead of using </a:t>
            </a:r>
            <a:r>
              <a:rPr lang="en-GB" sz="1200" dirty="0" err="1"/>
              <a:t>object_set_sprite</a:t>
            </a:r>
            <a:r>
              <a:rPr lang="en-GB" sz="1200" dirty="0"/>
              <a:t>, I instead make the alternate zone sprite versions into objects and use </a:t>
            </a:r>
            <a:r>
              <a:rPr lang="en-GB" sz="1200" dirty="0" err="1"/>
              <a:t>instance_layer</a:t>
            </a:r>
            <a:r>
              <a:rPr lang="en-GB" sz="1200" dirty="0"/>
              <a:t> to create the object zones and destroy them. </a:t>
            </a:r>
          </a:p>
          <a:p>
            <a:endParaRPr lang="en-GB" sz="1200" dirty="0"/>
          </a:p>
          <a:p>
            <a:r>
              <a:rPr lang="en-GB" sz="1200" dirty="0"/>
              <a:t>The way it works is quite simple. What the </a:t>
            </a:r>
            <a:r>
              <a:rPr lang="en-GB" sz="1200" dirty="0" err="1"/>
              <a:t>instance_layer</a:t>
            </a:r>
            <a:r>
              <a:rPr lang="en-GB" sz="1200" dirty="0"/>
              <a:t> does is guarantee that the zone object is removed and then replaced. This code was used inside of Level 1 </a:t>
            </a:r>
            <a:r>
              <a:rPr lang="en-GB" sz="1200" dirty="0" err="1"/>
              <a:t>Gwibers</a:t>
            </a:r>
            <a:r>
              <a:rPr lang="en-GB" sz="1200" dirty="0"/>
              <a:t> movement code. The code checks if </a:t>
            </a:r>
            <a:r>
              <a:rPr lang="en-GB" sz="1200" dirty="0" err="1"/>
              <a:t>Gwibers</a:t>
            </a:r>
            <a:r>
              <a:rPr lang="en-GB" sz="1200" dirty="0"/>
              <a:t> next zone, the one he’s moving to is or isn’t occupied by K9. This allows Gwiber to destroy the next zones instance layer and replace it with the correct one based on if K9 is or isn’t in it. This also works the other way around and if Gwiber moves to lets say 1 from 2, </a:t>
            </a:r>
            <a:r>
              <a:rPr lang="en-GB" sz="1200" dirty="0" err="1"/>
              <a:t>Giwber</a:t>
            </a:r>
            <a:r>
              <a:rPr lang="en-GB" sz="1200" dirty="0"/>
              <a:t> will check if K9 is or isn’t in Zone 2 and Replace Zones 2 object accordingly.</a:t>
            </a:r>
          </a:p>
          <a:p>
            <a:endParaRPr lang="en-GB" sz="1200" dirty="0"/>
          </a:p>
          <a:p>
            <a:r>
              <a:rPr lang="en-GB" sz="1200" dirty="0"/>
              <a:t>Note: Only Level 1 and Level 1 Gwiber have this code.</a:t>
            </a:r>
          </a:p>
          <a:p>
            <a:endParaRPr lang="en-GB" sz="1200" dirty="0"/>
          </a:p>
          <a:p>
            <a:r>
              <a:rPr lang="en-GB" sz="1200" dirty="0"/>
              <a:t>I also designed the Double Zones for when enemies are in the same zone together.</a:t>
            </a:r>
          </a:p>
        </p:txBody>
      </p:sp>
      <p:sp>
        <p:nvSpPr>
          <p:cNvPr id="12" name="TextBox 11">
            <a:extLst>
              <a:ext uri="{FF2B5EF4-FFF2-40B4-BE49-F238E27FC236}">
                <a16:creationId xmlns:a16="http://schemas.microsoft.com/office/drawing/2014/main" id="{83339772-E0CC-C0C2-7CD9-7328158EA734}"/>
              </a:ext>
            </a:extLst>
          </p:cNvPr>
          <p:cNvSpPr txBox="1"/>
          <p:nvPr/>
        </p:nvSpPr>
        <p:spPr>
          <a:xfrm>
            <a:off x="7537550" y="107525"/>
            <a:ext cx="4286175" cy="4401205"/>
          </a:xfrm>
          <a:prstGeom prst="rect">
            <a:avLst/>
          </a:prstGeom>
          <a:noFill/>
        </p:spPr>
        <p:txBody>
          <a:bodyPr wrap="square" rtlCol="0">
            <a:spAutoFit/>
          </a:bodyPr>
          <a:lstStyle/>
          <a:p>
            <a:r>
              <a:rPr lang="en-GB" sz="1400" dirty="0"/>
              <a:t>What to Do next session</a:t>
            </a:r>
          </a:p>
          <a:p>
            <a:endParaRPr lang="en-GB" sz="1400" dirty="0"/>
          </a:p>
          <a:p>
            <a:r>
              <a:rPr lang="en-GB" sz="1400" dirty="0"/>
              <a:t>Finish level 1 enemies zone change mechanic</a:t>
            </a:r>
          </a:p>
          <a:p>
            <a:endParaRPr lang="en-GB" sz="1400" dirty="0"/>
          </a:p>
          <a:p>
            <a:r>
              <a:rPr lang="en-GB" sz="1400" dirty="0"/>
              <a:t>Design jump-scares</a:t>
            </a:r>
          </a:p>
          <a:p>
            <a:endParaRPr lang="en-GB" sz="1400" dirty="0"/>
          </a:p>
          <a:p>
            <a:r>
              <a:rPr lang="en-GB" sz="1400" dirty="0"/>
              <a:t>Implement Jump-scares into the game.</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 shot of a computer program&#10;&#10;AI-generated content may be incorrect.">
            <a:extLst>
              <a:ext uri="{FF2B5EF4-FFF2-40B4-BE49-F238E27FC236}">
                <a16:creationId xmlns:a16="http://schemas.microsoft.com/office/drawing/2014/main" id="{45C09BB4-6063-9416-F5F4-473ED8B94638}"/>
              </a:ext>
            </a:extLst>
          </p:cNvPr>
          <p:cNvPicPr>
            <a:picLocks noChangeAspect="1"/>
          </p:cNvPicPr>
          <p:nvPr/>
        </p:nvPicPr>
        <p:blipFill>
          <a:blip r:embed="rId2"/>
          <a:stretch>
            <a:fillRect/>
          </a:stretch>
        </p:blipFill>
        <p:spPr>
          <a:xfrm>
            <a:off x="5316789" y="2113037"/>
            <a:ext cx="6096883" cy="4484159"/>
          </a:xfrm>
          <a:prstGeom prst="rect">
            <a:avLst/>
          </a:prstGeom>
        </p:spPr>
      </p:pic>
      <p:sp>
        <p:nvSpPr>
          <p:cNvPr id="8" name="TextBox 7">
            <a:extLst>
              <a:ext uri="{FF2B5EF4-FFF2-40B4-BE49-F238E27FC236}">
                <a16:creationId xmlns:a16="http://schemas.microsoft.com/office/drawing/2014/main" id="{88E7019B-9FB6-BEDE-7214-5C543DB0234D}"/>
              </a:ext>
            </a:extLst>
          </p:cNvPr>
          <p:cNvSpPr txBox="1"/>
          <p:nvPr/>
        </p:nvSpPr>
        <p:spPr>
          <a:xfrm>
            <a:off x="5015350" y="1028700"/>
            <a:ext cx="1875307" cy="830997"/>
          </a:xfrm>
          <a:prstGeom prst="rect">
            <a:avLst/>
          </a:prstGeom>
          <a:noFill/>
        </p:spPr>
        <p:txBody>
          <a:bodyPr wrap="square" rtlCol="0">
            <a:spAutoFit/>
          </a:bodyPr>
          <a:lstStyle/>
          <a:p>
            <a:r>
              <a:rPr lang="en-GB" sz="1200" dirty="0"/>
              <a:t>Last thing, I made a sound controller to make it easier to manage the sounds in the game.</a:t>
            </a:r>
          </a:p>
        </p:txBody>
      </p:sp>
    </p:spTree>
    <p:extLst>
      <p:ext uri="{BB962C8B-B14F-4D97-AF65-F5344CB8AC3E}">
        <p14:creationId xmlns:p14="http://schemas.microsoft.com/office/powerpoint/2010/main" val="32930564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52D63-0913-40A3-A082-16F5A498D5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32472B1-828A-C8FC-269C-59E5229378E0}"/>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10/02/2026</a:t>
            </a:r>
          </a:p>
        </p:txBody>
      </p:sp>
      <p:sp>
        <p:nvSpPr>
          <p:cNvPr id="2" name="TextBox 1">
            <a:extLst>
              <a:ext uri="{FF2B5EF4-FFF2-40B4-BE49-F238E27FC236}">
                <a16:creationId xmlns:a16="http://schemas.microsoft.com/office/drawing/2014/main" id="{34289866-E8F5-AD39-D6C7-2BD8012A7032}"/>
              </a:ext>
            </a:extLst>
          </p:cNvPr>
          <p:cNvSpPr txBox="1"/>
          <p:nvPr/>
        </p:nvSpPr>
        <p:spPr>
          <a:xfrm>
            <a:off x="5015350" y="542303"/>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V.0.9.3</a:t>
            </a:r>
          </a:p>
        </p:txBody>
      </p:sp>
      <p:sp>
        <p:nvSpPr>
          <p:cNvPr id="3" name="TextBox 2">
            <a:extLst>
              <a:ext uri="{FF2B5EF4-FFF2-40B4-BE49-F238E27FC236}">
                <a16:creationId xmlns:a16="http://schemas.microsoft.com/office/drawing/2014/main" id="{0C64B911-15FF-5BFC-4CB8-1A785568E084}"/>
              </a:ext>
            </a:extLst>
          </p:cNvPr>
          <p:cNvSpPr txBox="1"/>
          <p:nvPr/>
        </p:nvSpPr>
        <p:spPr>
          <a:xfrm>
            <a:off x="0" y="121250"/>
            <a:ext cx="4906736" cy="489364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implemented to Jump-scares to work similarly to how the enemies change zone.</a:t>
            </a:r>
          </a:p>
          <a:p>
            <a:endParaRPr lang="en-GB" sz="1200" dirty="0"/>
          </a:p>
          <a:p>
            <a:r>
              <a:rPr lang="en-GB" sz="1200" dirty="0"/>
              <a:t>How the jump-scares work is that when dead = true the death screen timer begins, counting down to when the player should change to the death screen room. During this time, the jump-scare happens. What the Jump-scare is, is just the enemies forcing the players camera view to go to the jump-scare zone in which the enemies can then change it into their jump-scare. Scaring the Player :).</a:t>
            </a:r>
          </a:p>
          <a:p>
            <a:endParaRPr lang="en-GB" sz="1200" dirty="0"/>
          </a:p>
          <a:p>
            <a:r>
              <a:rPr lang="en-GB" sz="1200" dirty="0"/>
              <a:t>This was done using a newly added zone that only the enemies can interact with. This will be the jump-scare zone. The enemies can change this zone as they please into the version related to the enemy that killed you.</a:t>
            </a:r>
          </a:p>
          <a:p>
            <a:endParaRPr lang="en-GB" sz="1200" dirty="0"/>
          </a:p>
          <a:p>
            <a:r>
              <a:rPr lang="en-GB" sz="1200" dirty="0"/>
              <a:t>I have run into a problem concerning the aftermath of player death. The door and vent controller is persistent meaning that even after dying the doors/vents that are closed, remain that way after death. The issue with the doors/vents is that their code isn’t as simple as making </a:t>
            </a:r>
            <a:r>
              <a:rPr lang="en-GB" sz="1200" dirty="0" err="1"/>
              <a:t>global.door_open</a:t>
            </a:r>
            <a:r>
              <a:rPr lang="en-GB" sz="1200" dirty="0"/>
              <a:t> = true. The doors and vents are synced with each other and require themselves to change sprite as well as know what state they are in for the oxygen count. I’m going to try and find a solution to this.</a:t>
            </a:r>
          </a:p>
          <a:p>
            <a:endParaRPr lang="en-GB" sz="1200" dirty="0"/>
          </a:p>
          <a:p>
            <a:r>
              <a:rPr lang="en-GB" sz="1200" dirty="0"/>
              <a:t>Zone change code didn’t work in the sense that the enemies did change the camera zones sprite but didn’t revert it back to normal.</a:t>
            </a:r>
          </a:p>
        </p:txBody>
      </p:sp>
      <p:sp>
        <p:nvSpPr>
          <p:cNvPr id="12" name="TextBox 11">
            <a:extLst>
              <a:ext uri="{FF2B5EF4-FFF2-40B4-BE49-F238E27FC236}">
                <a16:creationId xmlns:a16="http://schemas.microsoft.com/office/drawing/2014/main" id="{98A250EB-DC51-5D1D-5E2C-D7A3E200CF2F}"/>
              </a:ext>
            </a:extLst>
          </p:cNvPr>
          <p:cNvSpPr txBox="1"/>
          <p:nvPr/>
        </p:nvSpPr>
        <p:spPr>
          <a:xfrm>
            <a:off x="7537550" y="107525"/>
            <a:ext cx="4286175" cy="4185761"/>
          </a:xfrm>
          <a:prstGeom prst="rect">
            <a:avLst/>
          </a:prstGeom>
          <a:noFill/>
        </p:spPr>
        <p:txBody>
          <a:bodyPr wrap="square" rtlCol="0">
            <a:spAutoFit/>
          </a:bodyPr>
          <a:lstStyle/>
          <a:p>
            <a:r>
              <a:rPr lang="en-GB" sz="1400" dirty="0"/>
              <a:t>What to Do next session</a:t>
            </a:r>
          </a:p>
          <a:p>
            <a:endParaRPr lang="en-GB" sz="1400" dirty="0"/>
          </a:p>
          <a:p>
            <a:r>
              <a:rPr lang="en-GB" sz="1400" dirty="0"/>
              <a:t>Make Doors and Vents be in an open state after death.</a:t>
            </a:r>
          </a:p>
          <a:p>
            <a:endParaRPr lang="en-GB" sz="1400" dirty="0"/>
          </a:p>
          <a:p>
            <a:r>
              <a:rPr lang="en-GB" sz="1400" dirty="0"/>
              <a:t>Find a solution to the zone change</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14110576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04C35-6ED1-743F-B9F5-53D7F97EF80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E06680A-C841-E60D-9D87-A953C732C8A2}"/>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12/02/2026</a:t>
            </a:r>
          </a:p>
        </p:txBody>
      </p:sp>
      <p:sp>
        <p:nvSpPr>
          <p:cNvPr id="2" name="TextBox 1">
            <a:extLst>
              <a:ext uri="{FF2B5EF4-FFF2-40B4-BE49-F238E27FC236}">
                <a16:creationId xmlns:a16="http://schemas.microsoft.com/office/drawing/2014/main" id="{35D3F74D-E071-E5CB-206F-9CAB5CD06E57}"/>
              </a:ext>
            </a:extLst>
          </p:cNvPr>
          <p:cNvSpPr txBox="1"/>
          <p:nvPr/>
        </p:nvSpPr>
        <p:spPr>
          <a:xfrm>
            <a:off x="5015350" y="542303"/>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V.0.10 and V.0.10.1</a:t>
            </a:r>
          </a:p>
        </p:txBody>
      </p:sp>
      <p:sp>
        <p:nvSpPr>
          <p:cNvPr id="3" name="TextBox 2">
            <a:extLst>
              <a:ext uri="{FF2B5EF4-FFF2-40B4-BE49-F238E27FC236}">
                <a16:creationId xmlns:a16="http://schemas.microsoft.com/office/drawing/2014/main" id="{CA48F9F1-982B-72B8-84E8-53C6CD510847}"/>
              </a:ext>
            </a:extLst>
          </p:cNvPr>
          <p:cNvSpPr txBox="1"/>
          <p:nvPr/>
        </p:nvSpPr>
        <p:spPr>
          <a:xfrm>
            <a:off x="0" y="121250"/>
            <a:ext cx="4906736"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found a solution to the zone change and made sure to test it constantly to ensure full functionality.</a:t>
            </a:r>
          </a:p>
          <a:p>
            <a:endParaRPr lang="en-GB" sz="1200" dirty="0"/>
          </a:p>
          <a:p>
            <a:r>
              <a:rPr lang="en-GB" sz="1200" dirty="0"/>
              <a:t>The Camera zones now do change based on whether an enemy is or isn’t in the zone.</a:t>
            </a:r>
          </a:p>
          <a:p>
            <a:endParaRPr lang="en-GB" sz="1200" dirty="0"/>
          </a:p>
          <a:p>
            <a:r>
              <a:rPr lang="en-GB" sz="1200" dirty="0"/>
              <a:t>This was done by changing and destroying the zones instances every time the enemy is about move.</a:t>
            </a:r>
          </a:p>
          <a:p>
            <a:endParaRPr lang="en-GB" sz="1200" dirty="0"/>
          </a:p>
          <a:p>
            <a:r>
              <a:rPr lang="en-GB" sz="1200" dirty="0"/>
              <a:t>Instead of changing the sprite I decided to change the object instead. This did come with some challenges, mainly because this code is extremely fragile. If I were to name 1 variable wrong, the entire code collapses. To ensure full functionality, I made sure to focus primarily on Level 1 Gwiber before adding the code to level 1 K9 and so on so forth.</a:t>
            </a:r>
          </a:p>
          <a:p>
            <a:endParaRPr lang="en-GB" sz="1200" dirty="0"/>
          </a:p>
          <a:p>
            <a:r>
              <a:rPr lang="en-GB" sz="1200" dirty="0"/>
              <a:t>I’ve added the zone change code into K9 by copying </a:t>
            </a:r>
            <a:r>
              <a:rPr lang="en-GB" sz="1200" dirty="0" err="1"/>
              <a:t>Gwibers</a:t>
            </a:r>
            <a:r>
              <a:rPr lang="en-GB" sz="1200" dirty="0"/>
              <a:t> version. However, I needed to be careful about using the correct naming.</a:t>
            </a:r>
          </a:p>
          <a:p>
            <a:endParaRPr lang="en-GB" sz="1200" dirty="0"/>
          </a:p>
          <a:p>
            <a:r>
              <a:rPr lang="en-GB" sz="1200" dirty="0"/>
              <a:t>Level 1 is now fully playable, and I also made it so that you automatically move onto the next night after finishing the current one. </a:t>
            </a:r>
          </a:p>
          <a:p>
            <a:r>
              <a:rPr lang="en-GB" sz="1200" dirty="0"/>
              <a:t>Level 2 is </a:t>
            </a:r>
            <a:r>
              <a:rPr lang="en-GB" sz="1200"/>
              <a:t>also complete.</a:t>
            </a:r>
            <a:endParaRPr lang="en-GB" sz="1200" dirty="0"/>
          </a:p>
          <a:p>
            <a:endParaRPr lang="en-GB" sz="1200" dirty="0"/>
          </a:p>
          <a:p>
            <a:r>
              <a:rPr lang="en-GB" sz="1200" dirty="0"/>
              <a:t>Also, vent/door open state after death was a very easy fix and it was just the fact that my controller was persistent and only existed in 1 room. After, turning persistent off and placing 1 in each level the vents/doors return to normal since room restarts itself after the player leaves it.</a:t>
            </a:r>
          </a:p>
          <a:p>
            <a:endParaRPr lang="en-GB" sz="1200" dirty="0"/>
          </a:p>
          <a:p>
            <a:r>
              <a:rPr lang="en-GB" sz="1200" dirty="0"/>
              <a:t>I want to mention the steps for the zone change. Step 1, the enemy checks what zone they are leaving, then step to they check what zone they are moving to. This is the core of the code and one I must follow if I wish to have my enemies change zones correctly.</a:t>
            </a:r>
          </a:p>
          <a:p>
            <a:endParaRPr lang="en-GB" sz="1200" dirty="0"/>
          </a:p>
          <a:p>
            <a:r>
              <a:rPr lang="en-GB" sz="1200" dirty="0"/>
              <a:t>I also gave the enemies a room start event that changes their zone as soon as the room begins, this just makes them visible before they move.</a:t>
            </a:r>
          </a:p>
          <a:p>
            <a:endParaRPr lang="en-GB" sz="1200" dirty="0"/>
          </a:p>
          <a:p>
            <a:endParaRPr lang="en-GB" sz="1200" dirty="0"/>
          </a:p>
          <a:p>
            <a:endParaRPr lang="en-GB" sz="1200" dirty="0"/>
          </a:p>
        </p:txBody>
      </p:sp>
      <p:sp>
        <p:nvSpPr>
          <p:cNvPr id="12" name="TextBox 11">
            <a:extLst>
              <a:ext uri="{FF2B5EF4-FFF2-40B4-BE49-F238E27FC236}">
                <a16:creationId xmlns:a16="http://schemas.microsoft.com/office/drawing/2014/main" id="{BA6CF913-F102-27E5-5822-7BF46B018CD8}"/>
              </a:ext>
            </a:extLst>
          </p:cNvPr>
          <p:cNvSpPr txBox="1"/>
          <p:nvPr/>
        </p:nvSpPr>
        <p:spPr>
          <a:xfrm>
            <a:off x="7537550" y="107525"/>
            <a:ext cx="4286175" cy="3323987"/>
          </a:xfrm>
          <a:prstGeom prst="rect">
            <a:avLst/>
          </a:prstGeom>
          <a:noFill/>
        </p:spPr>
        <p:txBody>
          <a:bodyPr wrap="square" rtlCol="0">
            <a:spAutoFit/>
          </a:bodyPr>
          <a:lstStyle/>
          <a:p>
            <a:r>
              <a:rPr lang="en-GB" sz="1400" dirty="0"/>
              <a:t>What to Do next session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computer screen shot of a program code&#10;&#10;AI-generated content may be incorrect.">
            <a:extLst>
              <a:ext uri="{FF2B5EF4-FFF2-40B4-BE49-F238E27FC236}">
                <a16:creationId xmlns:a16="http://schemas.microsoft.com/office/drawing/2014/main" id="{23742B60-2768-1334-B776-CE154C91B9CE}"/>
              </a:ext>
            </a:extLst>
          </p:cNvPr>
          <p:cNvPicPr>
            <a:picLocks noChangeAspect="1"/>
          </p:cNvPicPr>
          <p:nvPr/>
        </p:nvPicPr>
        <p:blipFill>
          <a:blip r:embed="rId2"/>
          <a:stretch>
            <a:fillRect/>
          </a:stretch>
        </p:blipFill>
        <p:spPr>
          <a:xfrm>
            <a:off x="5015350" y="1124614"/>
            <a:ext cx="5946316" cy="3560357"/>
          </a:xfrm>
          <a:prstGeom prst="rect">
            <a:avLst/>
          </a:prstGeom>
        </p:spPr>
      </p:pic>
      <p:sp>
        <p:nvSpPr>
          <p:cNvPr id="5" name="TextBox 4">
            <a:extLst>
              <a:ext uri="{FF2B5EF4-FFF2-40B4-BE49-F238E27FC236}">
                <a16:creationId xmlns:a16="http://schemas.microsoft.com/office/drawing/2014/main" id="{60B7E554-3F43-3C5E-48CF-D28EF2E9287E}"/>
              </a:ext>
            </a:extLst>
          </p:cNvPr>
          <p:cNvSpPr txBox="1"/>
          <p:nvPr/>
        </p:nvSpPr>
        <p:spPr>
          <a:xfrm>
            <a:off x="5110843" y="4972050"/>
            <a:ext cx="6490607" cy="1477328"/>
          </a:xfrm>
          <a:prstGeom prst="rect">
            <a:avLst/>
          </a:prstGeom>
          <a:noFill/>
        </p:spPr>
        <p:txBody>
          <a:bodyPr wrap="square" rtlCol="0">
            <a:spAutoFit/>
          </a:bodyPr>
          <a:lstStyle/>
          <a:p>
            <a:r>
              <a:rPr lang="en-GB" dirty="0"/>
              <a:t>Also want to mention that the rest of the place-holder sounds have been added, but some do not have code to trigger them yet, I will do this once V.1.0 is made to ensure everything is completed, also the rest of the double zones have been designed except for the triple zones. </a:t>
            </a:r>
          </a:p>
        </p:txBody>
      </p:sp>
    </p:spTree>
    <p:extLst>
      <p:ext uri="{BB962C8B-B14F-4D97-AF65-F5344CB8AC3E}">
        <p14:creationId xmlns:p14="http://schemas.microsoft.com/office/powerpoint/2010/main" val="275779086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Gwiber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Gwiber to move back to zone 2.</a:t>
                      </a:r>
                    </a:p>
                  </a:txBody>
                  <a:tcPr/>
                </a:tc>
                <a:tc>
                  <a:txBody>
                    <a:bodyPr/>
                    <a:lstStyle/>
                    <a:p>
                      <a:r>
                        <a:rPr lang="en-GB" sz="1100" dirty="0"/>
                        <a:t>At start of Game Gwiber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Gwiber starts in zone 4 and makes his way to the office. If the office doors are closed Gwiber can’t enter zone 0. If Gwiber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a:t>Gwiber does exactly what he’s supposed to do and so does K9.</a:t>
                      </a:r>
                    </a:p>
                    <a:p>
                      <a:endParaRPr lang="en-GB" sz="1100" dirty="0"/>
                    </a:p>
                    <a:p>
                      <a:r>
                        <a:rPr lang="en-GB" sz="1100" dirty="0"/>
                        <a:t>There are still no end game screen at this point so soon after jump-scaring from either K9 or Gwiber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Gwiber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1402193734"/>
              </p:ext>
            </p:extLst>
          </p:nvPr>
        </p:nvGraphicFramePr>
        <p:xfrm>
          <a:off x="0" y="0"/>
          <a:ext cx="11988463" cy="63557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r>
                        <a:rPr lang="en-GB" sz="1100" dirty="0"/>
                        <a:t>12. Build V.0.6.5</a:t>
                      </a:r>
                    </a:p>
                  </a:txBody>
                  <a:tcPr/>
                </a:tc>
                <a:tc>
                  <a:txBody>
                    <a:bodyPr/>
                    <a:lstStyle/>
                    <a:p>
                      <a:r>
                        <a:rPr lang="en-GB" sz="1100" dirty="0"/>
                        <a:t>Rm_level1</a:t>
                      </a:r>
                    </a:p>
                  </a:txBody>
                  <a:tcPr/>
                </a:tc>
                <a:tc>
                  <a:txBody>
                    <a:bodyPr/>
                    <a:lstStyle/>
                    <a:p>
                      <a:r>
                        <a:rPr lang="en-GB" sz="1100" dirty="0" err="1"/>
                        <a:t>Obj_camera_controller</a:t>
                      </a:r>
                      <a:r>
                        <a:rPr lang="en-GB" sz="1100" dirty="0"/>
                        <a:t> and door controller</a:t>
                      </a:r>
                    </a:p>
                  </a:txBody>
                  <a:tcPr/>
                </a:tc>
                <a:tc>
                  <a:txBody>
                    <a:bodyPr/>
                    <a:lstStyle/>
                    <a:p>
                      <a:r>
                        <a:rPr lang="en-GB" sz="1100" dirty="0"/>
                        <a:t>When I close either the left or right door a sound will play signifying the fact the door has been closed.</a:t>
                      </a:r>
                    </a:p>
                  </a:txBody>
                  <a:tcPr/>
                </a:tc>
                <a:tc>
                  <a:txBody>
                    <a:bodyPr/>
                    <a:lstStyle/>
                    <a:p>
                      <a:r>
                        <a:rPr lang="en-GB" sz="1100" dirty="0"/>
                        <a:t>Game breaks when trying to move to an up-close zone but this can just be a simple cause of when I tried altering the camera controllers code incorrectly.</a:t>
                      </a:r>
                    </a:p>
                  </a:txBody>
                  <a:tcPr/>
                </a:tc>
                <a:tc>
                  <a:txBody>
                    <a:bodyPr/>
                    <a:lstStyle/>
                    <a:p>
                      <a:r>
                        <a:rPr lang="en-GB" sz="1100" dirty="0"/>
                        <a:t>Fixed it, it was just because I altered the wrongly, now its fixed and I’m making duplicate Versions Of the Objects to have work in Level 2.</a:t>
                      </a:r>
                    </a:p>
                  </a:txBody>
                  <a:tcPr/>
                </a:tc>
                <a:extLst>
                  <a:ext uri="{0D108BD9-81ED-4DB2-BD59-A6C34878D82A}">
                    <a16:rowId xmlns:a16="http://schemas.microsoft.com/office/drawing/2014/main" val="2721134836"/>
                  </a:ext>
                </a:extLst>
              </a:tr>
              <a:tr h="595728">
                <a:tc>
                  <a:txBody>
                    <a:bodyPr/>
                    <a:lstStyle/>
                    <a:p>
                      <a:r>
                        <a:rPr lang="en-GB" sz="1100" dirty="0"/>
                        <a:t>13. Build V.0.6.5</a:t>
                      </a:r>
                    </a:p>
                  </a:txBody>
                  <a:tcPr/>
                </a:tc>
                <a:tc>
                  <a:txBody>
                    <a:bodyPr/>
                    <a:lstStyle/>
                    <a:p>
                      <a:r>
                        <a:rPr lang="en-GB" sz="1100" dirty="0"/>
                        <a:t>Rm_level2</a:t>
                      </a:r>
                    </a:p>
                  </a:txBody>
                  <a:tcPr/>
                </a:tc>
                <a:tc>
                  <a:txBody>
                    <a:bodyPr/>
                    <a:lstStyle/>
                    <a:p>
                      <a:r>
                        <a:rPr lang="en-GB" sz="1100" dirty="0"/>
                        <a:t>Obj_amcd_bulker_lvl2</a:t>
                      </a:r>
                    </a:p>
                    <a:p>
                      <a:r>
                        <a:rPr lang="en-GB" sz="1100" dirty="0"/>
                        <a:t>Obj_amcd_gwiber_lvl2</a:t>
                      </a:r>
                    </a:p>
                    <a:p>
                      <a:r>
                        <a:rPr lang="en-GB" sz="1100" dirty="0"/>
                        <a:t>Obj_amcd_gwiber_lvl2</a:t>
                      </a:r>
                    </a:p>
                  </a:txBody>
                  <a:tcPr/>
                </a:tc>
                <a:tc>
                  <a:txBody>
                    <a:bodyPr/>
                    <a:lstStyle/>
                    <a:p>
                      <a:r>
                        <a:rPr lang="en-GB" sz="1100" dirty="0"/>
                        <a:t>Gwiber and K9 retain their original movement but now have access to extra zones.</a:t>
                      </a:r>
                    </a:p>
                    <a:p>
                      <a:endParaRPr lang="en-GB" sz="1100" dirty="0"/>
                    </a:p>
                    <a:p>
                      <a:r>
                        <a:rPr lang="en-GB" sz="1100" dirty="0"/>
                        <a:t>Both Gwiber and K9 should know what to do when they are in zones 14,13,12 and original lot.</a:t>
                      </a:r>
                    </a:p>
                    <a:p>
                      <a:endParaRPr lang="en-GB" sz="1100" dirty="0"/>
                    </a:p>
                    <a:p>
                      <a:r>
                        <a:rPr lang="en-GB" sz="1100" dirty="0"/>
                        <a:t>Bulker now fully coded and should move correctly and stop moving when watched.</a:t>
                      </a:r>
                    </a:p>
                  </a:txBody>
                  <a:tcPr/>
                </a:tc>
                <a:tc>
                  <a:txBody>
                    <a:bodyPr/>
                    <a:lstStyle/>
                    <a:p>
                      <a:r>
                        <a:rPr lang="en-GB" sz="1100" dirty="0"/>
                        <a:t>Gwiber and K9 move like normal.</a:t>
                      </a:r>
                    </a:p>
                    <a:p>
                      <a:endParaRPr lang="en-GB" sz="1100" dirty="0"/>
                    </a:p>
                    <a:p>
                      <a:r>
                        <a:rPr lang="en-GB" sz="1100" dirty="0"/>
                        <a:t>Bulker also moves and he does stop moving when watched, however he is a little fast so adjustments will need to be made.</a:t>
                      </a:r>
                    </a:p>
                  </a:txBody>
                  <a:tcPr/>
                </a:tc>
                <a:tc>
                  <a:txBody>
                    <a:bodyPr/>
                    <a:lstStyle/>
                    <a:p>
                      <a:endParaRPr lang="en-GB" sz="1100" dirty="0"/>
                    </a:p>
                  </a:txBody>
                  <a:tcPr/>
                </a:tc>
                <a:extLst>
                  <a:ext uri="{0D108BD9-81ED-4DB2-BD59-A6C34878D82A}">
                    <a16:rowId xmlns:a16="http://schemas.microsoft.com/office/drawing/2014/main" val="421941911"/>
                  </a:ext>
                </a:extLst>
              </a:tr>
              <a:tr h="595728">
                <a:tc>
                  <a:txBody>
                    <a:bodyPr/>
                    <a:lstStyle/>
                    <a:p>
                      <a:r>
                        <a:rPr lang="en-GB" sz="1100" dirty="0"/>
                        <a:t>14. Build V.0.6.5</a:t>
                      </a:r>
                    </a:p>
                  </a:txBody>
                  <a:tcPr/>
                </a:tc>
                <a:tc>
                  <a:txBody>
                    <a:bodyPr/>
                    <a:lstStyle/>
                    <a:p>
                      <a:r>
                        <a:rPr lang="en-GB" sz="1100" dirty="0"/>
                        <a:t>Rm_level2</a:t>
                      </a:r>
                    </a:p>
                  </a:txBody>
                  <a:tcPr/>
                </a:tc>
                <a:tc>
                  <a:txBody>
                    <a:bodyPr/>
                    <a:lstStyle/>
                    <a:p>
                      <a:r>
                        <a:rPr lang="en-GB" sz="1100" dirty="0"/>
                        <a:t>Obj_camera_controller_lvl2</a:t>
                      </a:r>
                    </a:p>
                    <a:p>
                      <a:r>
                        <a:rPr lang="en-GB" sz="1100" dirty="0"/>
                        <a:t>Obj_exit_camera_lvl2</a:t>
                      </a:r>
                    </a:p>
                    <a:p>
                      <a:r>
                        <a:rPr lang="en-GB" sz="1100" dirty="0"/>
                        <a:t>Obj_open_camera_lvl2</a:t>
                      </a:r>
                    </a:p>
                  </a:txBody>
                  <a:tcPr/>
                </a:tc>
                <a:tc>
                  <a:txBody>
                    <a:bodyPr/>
                    <a:lstStyle/>
                    <a:p>
                      <a:r>
                        <a:rPr lang="en-GB" sz="1100" dirty="0"/>
                        <a:t>When the player opens the Camera, the view size changes to the same size as the Camera Hud zone and when the player exits the Camera, the zone returns to its original size.</a:t>
                      </a:r>
                    </a:p>
                  </a:txBody>
                  <a:tcPr/>
                </a:tc>
                <a:tc>
                  <a:txBody>
                    <a:bodyPr/>
                    <a:lstStyle/>
                    <a:p>
                      <a:r>
                        <a:rPr lang="en-GB" sz="1100" dirty="0"/>
                        <a:t>It did exactly what I wanted it to do and there are zero bugs from it.</a:t>
                      </a:r>
                    </a:p>
                    <a:p>
                      <a:endParaRPr lang="en-GB" sz="1100" dirty="0"/>
                    </a:p>
                    <a:p>
                      <a:r>
                        <a:rPr lang="en-GB" sz="1100" dirty="0"/>
                        <a:t>This means I can expand my camera Hud zone even more to have additional zones.</a:t>
                      </a:r>
                    </a:p>
                  </a:txBody>
                  <a:tcPr/>
                </a:tc>
                <a:tc>
                  <a:txBody>
                    <a:bodyPr/>
                    <a:lstStyle/>
                    <a:p>
                      <a:endParaRPr lang="en-GB" sz="1100" dirty="0"/>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3689435829"/>
              </p:ext>
            </p:extLst>
          </p:nvPr>
        </p:nvGraphicFramePr>
        <p:xfrm>
          <a:off x="0" y="0"/>
          <a:ext cx="11988463" cy="669106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15. Build V.0.6.5</a:t>
                      </a:r>
                    </a:p>
                  </a:txBody>
                  <a:tcPr/>
                </a:tc>
                <a:tc>
                  <a:txBody>
                    <a:bodyPr/>
                    <a:lstStyle/>
                    <a:p>
                      <a:r>
                        <a:rPr lang="en-GB" sz="1100" dirty="0"/>
                        <a:t>Rm_level2, </a:t>
                      </a:r>
                      <a:r>
                        <a:rPr lang="en-GB" sz="1100" dirty="0" err="1"/>
                        <a:t>rm_death_screen</a:t>
                      </a:r>
                      <a:r>
                        <a:rPr lang="en-GB" sz="1100" dirty="0"/>
                        <a:t> and 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 enemies</a:t>
                      </a:r>
                    </a:p>
                  </a:txBody>
                  <a:tcPr/>
                </a:tc>
                <a:tc>
                  <a:txBody>
                    <a:bodyPr/>
                    <a:lstStyle/>
                    <a:p>
                      <a:r>
                        <a:rPr lang="en-GB" sz="1100" dirty="0"/>
                        <a:t>When dead = true, </a:t>
                      </a:r>
                      <a:r>
                        <a:rPr lang="en-GB" sz="1100" dirty="0" err="1"/>
                        <a:t>deathscreentimer</a:t>
                      </a:r>
                      <a:r>
                        <a:rPr lang="en-GB" sz="1100" dirty="0"/>
                        <a:t> decreases by -1 and when it reaches 0, moves the player to the death screen room.</a:t>
                      </a:r>
                    </a:p>
                    <a:p>
                      <a:endParaRPr lang="en-GB" sz="1100" dirty="0"/>
                    </a:p>
                  </a:txBody>
                  <a:tcPr/>
                </a:tc>
                <a:tc>
                  <a:txBody>
                    <a:bodyPr/>
                    <a:lstStyle/>
                    <a:p>
                      <a:r>
                        <a:rPr lang="en-GB" sz="1100" dirty="0"/>
                        <a:t>When dead = true, timer goes down and when it hits zero player is taken to rm_death_screen, however, for some reason some assets are appearing in the death room which is not meant to happen. Besides that the code is working.</a:t>
                      </a:r>
                    </a:p>
                  </a:txBody>
                  <a:tcPr/>
                </a:tc>
                <a:tc>
                  <a:txBody>
                    <a:bodyPr/>
                    <a:lstStyle/>
                    <a:p>
                      <a:r>
                        <a:rPr lang="en-GB" sz="1100" dirty="0"/>
                        <a:t>The issue was that they were all persistent. So, to prevent this form happening again, I will disable the persistent objects for they have no connection to any other room.</a:t>
                      </a:r>
                    </a:p>
                  </a:txBody>
                  <a:tcPr/>
                </a:tc>
                <a:extLst>
                  <a:ext uri="{0D108BD9-81ED-4DB2-BD59-A6C34878D82A}">
                    <a16:rowId xmlns:a16="http://schemas.microsoft.com/office/drawing/2014/main" val="4028166049"/>
                  </a:ext>
                </a:extLst>
              </a:tr>
              <a:tr h="595728">
                <a:tc>
                  <a:txBody>
                    <a:bodyPr/>
                    <a:lstStyle/>
                    <a:p>
                      <a:r>
                        <a:rPr lang="en-GB" sz="1100" dirty="0"/>
                        <a:t>16. Build V.0.6.5</a:t>
                      </a:r>
                    </a:p>
                  </a:txBody>
                  <a:tcPr/>
                </a:tc>
                <a:tc>
                  <a:txBody>
                    <a:bodyPr/>
                    <a:lstStyle/>
                    <a:p>
                      <a:r>
                        <a:rPr lang="en-GB" sz="1100" dirty="0"/>
                        <a:t>Rm_level1 and 2.</a:t>
                      </a:r>
                    </a:p>
                  </a:txBody>
                  <a:tcPr/>
                </a:tc>
                <a:tc>
                  <a:txBody>
                    <a:bodyPr/>
                    <a:lstStyle/>
                    <a:p>
                      <a:r>
                        <a:rPr lang="en-GB" sz="1100" dirty="0" err="1"/>
                        <a:t>Obj_oxygen_door_controller</a:t>
                      </a:r>
                      <a:endParaRPr lang="en-GB" sz="1100" dirty="0"/>
                    </a:p>
                  </a:txBody>
                  <a:tcPr/>
                </a:tc>
                <a:tc>
                  <a:txBody>
                    <a:bodyPr/>
                    <a:lstStyle/>
                    <a:p>
                      <a:r>
                        <a:rPr lang="en-GB" sz="1100" dirty="0"/>
                        <a:t>When oxygen 0, </a:t>
                      </a:r>
                      <a:r>
                        <a:rPr lang="en-GB" sz="1100" dirty="0" err="1"/>
                        <a:t>playerhealth</a:t>
                      </a:r>
                      <a:r>
                        <a:rPr lang="en-GB" sz="1100" dirty="0"/>
                        <a:t> decreases by 0.5.</a:t>
                      </a:r>
                    </a:p>
                    <a:p>
                      <a:endParaRPr lang="en-GB" sz="1100" dirty="0"/>
                    </a:p>
                    <a:p>
                      <a:r>
                        <a:rPr lang="en-GB" sz="1100" dirty="0"/>
                        <a:t>When health = 0, go to death screen room.</a:t>
                      </a:r>
                    </a:p>
                  </a:txBody>
                  <a:tcPr/>
                </a:tc>
                <a:tc>
                  <a:txBody>
                    <a:bodyPr/>
                    <a:lstStyle/>
                    <a:p>
                      <a:r>
                        <a:rPr lang="en-GB" sz="1100" dirty="0"/>
                        <a:t>When the oxygen = 0, health goes down and when health = 0, death screen appears. However, the timer continues afterwards which I do not want. It might be because I have the code in the step event which is set to persistent = true.</a:t>
                      </a:r>
                    </a:p>
                  </a:txBody>
                  <a:tcPr/>
                </a:tc>
                <a:tc>
                  <a:txBody>
                    <a:bodyPr/>
                    <a:lstStyle/>
                    <a:p>
                      <a:r>
                        <a:rPr lang="en-GB" sz="1100" dirty="0"/>
                        <a:t>I’m going to try and make the </a:t>
                      </a:r>
                      <a:r>
                        <a:rPr lang="en-GB" sz="1100" dirty="0" err="1"/>
                        <a:t>healthbar</a:t>
                      </a:r>
                      <a:r>
                        <a:rPr lang="en-GB" sz="1100" dirty="0"/>
                        <a:t> a separate object instead of having be persistent in door controller. Also, in addition to this to fix the health bar not resetting, I made it so that if the value of </a:t>
                      </a:r>
                      <a:r>
                        <a:rPr lang="en-GB" sz="1100" dirty="0" err="1"/>
                        <a:t>playerhealthbar</a:t>
                      </a:r>
                      <a:r>
                        <a:rPr lang="en-GB" sz="1100" dirty="0"/>
                        <a:t> is ever less than 0, reset back to 100.</a:t>
                      </a:r>
                    </a:p>
                  </a:txBody>
                  <a:tcPr/>
                </a:tc>
                <a:extLst>
                  <a:ext uri="{0D108BD9-81ED-4DB2-BD59-A6C34878D82A}">
                    <a16:rowId xmlns:a16="http://schemas.microsoft.com/office/drawing/2014/main" val="2721134836"/>
                  </a:ext>
                </a:extLst>
              </a:tr>
              <a:tr h="595728">
                <a:tc>
                  <a:txBody>
                    <a:bodyPr/>
                    <a:lstStyle/>
                    <a:p>
                      <a:r>
                        <a:rPr lang="en-GB" sz="1100" dirty="0"/>
                        <a:t>17. Build V.0.7</a:t>
                      </a:r>
                    </a:p>
                  </a:txBody>
                  <a:tcPr/>
                </a:tc>
                <a:tc>
                  <a:txBody>
                    <a:bodyPr/>
                    <a:lstStyle/>
                    <a:p>
                      <a:r>
                        <a:rPr lang="en-GB" sz="1100" dirty="0"/>
                        <a:t>Rm_level3</a:t>
                      </a:r>
                    </a:p>
                  </a:txBody>
                  <a:tcPr/>
                </a:tc>
                <a:tc>
                  <a:txBody>
                    <a:bodyPr/>
                    <a:lstStyle/>
                    <a:p>
                      <a:r>
                        <a:rPr lang="en-GB" sz="1100" dirty="0" err="1"/>
                        <a:t>Obj_amcd_arach</a:t>
                      </a:r>
                      <a:endParaRPr lang="en-GB" sz="1100" dirty="0"/>
                    </a:p>
                  </a:txBody>
                  <a:tcPr/>
                </a:tc>
                <a:tc>
                  <a:txBody>
                    <a:bodyPr/>
                    <a:lstStyle/>
                    <a:p>
                      <a:r>
                        <a:rPr lang="en-GB" sz="1100" dirty="0"/>
                        <a:t>When Arach is on zone 5 and the front vent is open, Arach will start his attack timer and just a second after play the vent crawling sound. When the attack timer = 0 and the front vent is still open. He jump-scares the player. If the door is closed, he will retreat back to zone 5 or 8.</a:t>
                      </a:r>
                    </a:p>
                  </a:txBody>
                  <a:tcPr/>
                </a:tc>
                <a:tc>
                  <a:txBody>
                    <a:bodyPr/>
                    <a:lstStyle/>
                    <a:p>
                      <a:r>
                        <a:rPr lang="en-GB" sz="1100" dirty="0"/>
                        <a:t>Arach moved instantly from 5  to 8 but remains there and his </a:t>
                      </a:r>
                      <a:r>
                        <a:rPr lang="en-GB" sz="1100" dirty="0" err="1"/>
                        <a:t>attacktimer</a:t>
                      </a:r>
                      <a:r>
                        <a:rPr lang="en-GB" sz="1100" dirty="0"/>
                        <a:t> doesn’t reset. This is most likely due to my poor effort of converting K9’s code for Arach. I will re-attempt Arach by duplicating K9 and just having it be Arach and limited to 2 zones.</a:t>
                      </a:r>
                    </a:p>
                  </a:txBody>
                  <a:tcPr/>
                </a:tc>
                <a:tc>
                  <a:txBody>
                    <a:bodyPr/>
                    <a:lstStyle/>
                    <a:p>
                      <a:r>
                        <a:rPr lang="en-GB" sz="1100" dirty="0"/>
                        <a:t>The fix was easily made. All I did was duplicate K9’s code and re-named the variables to Arach and only gave him two zones to move between. He now functions perfectly, makes a sound when he’s about to attack and he moves between zone 5 and 8.</a:t>
                      </a:r>
                    </a:p>
                  </a:txBody>
                  <a:tcPr/>
                </a:tc>
                <a:extLst>
                  <a:ext uri="{0D108BD9-81ED-4DB2-BD59-A6C34878D82A}">
                    <a16:rowId xmlns:a16="http://schemas.microsoft.com/office/drawing/2014/main" val="421941911"/>
                  </a:ext>
                </a:extLst>
              </a:tr>
              <a:tr h="595728">
                <a:tc>
                  <a:txBody>
                    <a:bodyPr/>
                    <a:lstStyle/>
                    <a:p>
                      <a:r>
                        <a:rPr lang="en-GB" sz="1100" dirty="0"/>
                        <a:t>18. Build V.0.7.1</a:t>
                      </a:r>
                    </a:p>
                  </a:txBody>
                  <a:tcPr/>
                </a:tc>
                <a:tc>
                  <a:txBody>
                    <a:bodyPr/>
                    <a:lstStyle/>
                    <a:p>
                      <a:r>
                        <a:rPr lang="en-GB" sz="1100" dirty="0"/>
                        <a:t>All levels</a:t>
                      </a:r>
                    </a:p>
                  </a:txBody>
                  <a:tcPr/>
                </a:tc>
                <a:tc>
                  <a:txBody>
                    <a:bodyPr/>
                    <a:lstStyle/>
                    <a:p>
                      <a:r>
                        <a:rPr lang="en-GB" sz="1100" dirty="0"/>
                        <a:t>Object buttons</a:t>
                      </a:r>
                    </a:p>
                  </a:txBody>
                  <a:tcPr/>
                </a:tc>
                <a:tc>
                  <a:txBody>
                    <a:bodyPr/>
                    <a:lstStyle/>
                    <a:p>
                      <a:r>
                        <a:rPr lang="en-GB" sz="1100" dirty="0"/>
                        <a:t>When mouse hovers over movement buttons and open/close camera buttons, the buttons events trigger.</a:t>
                      </a:r>
                    </a:p>
                  </a:txBody>
                  <a:tcPr/>
                </a:tc>
                <a:tc>
                  <a:txBody>
                    <a:bodyPr/>
                    <a:lstStyle/>
                    <a:p>
                      <a:r>
                        <a:rPr lang="en-GB" sz="1100" dirty="0"/>
                        <a:t>Yes, the buttons do trigger when mouse enters the objects area.</a:t>
                      </a:r>
                    </a:p>
                  </a:txBody>
                  <a:tcPr/>
                </a:tc>
                <a:tc>
                  <a:txBody>
                    <a:bodyPr/>
                    <a:lstStyle/>
                    <a:p>
                      <a:r>
                        <a:rPr lang="en-GB" sz="1100" dirty="0"/>
                        <a:t>I have decided not to go forward with this idea but I’ll leave this here as evidence of experimentation.</a:t>
                      </a:r>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6063276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AEB23-508D-CA5E-0A87-C314BE90132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6D413D0-D979-C046-99D9-F71794E81797}"/>
              </a:ext>
            </a:extLst>
          </p:cNvPr>
          <p:cNvGraphicFramePr>
            <a:graphicFrameLocks noGrp="1"/>
          </p:cNvGraphicFramePr>
          <p:nvPr>
            <p:extLst>
              <p:ext uri="{D42A27DB-BD31-4B8C-83A1-F6EECF244321}">
                <p14:modId xmlns:p14="http://schemas.microsoft.com/office/powerpoint/2010/main" val="2414108079"/>
              </p:ext>
            </p:extLst>
          </p:nvPr>
        </p:nvGraphicFramePr>
        <p:xfrm>
          <a:off x="0" y="0"/>
          <a:ext cx="11988463" cy="289630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598878">
                <a:tc>
                  <a:txBody>
                    <a:bodyPr/>
                    <a:lstStyle/>
                    <a:p>
                      <a:r>
                        <a:rPr lang="en-GB" sz="1100" dirty="0"/>
                        <a:t>19 – Build V.1.0</a:t>
                      </a:r>
                    </a:p>
                  </a:txBody>
                  <a:tcPr/>
                </a:tc>
                <a:tc>
                  <a:txBody>
                    <a:bodyPr/>
                    <a:lstStyle/>
                    <a:p>
                      <a:r>
                        <a:rPr lang="en-GB" sz="1100" dirty="0"/>
                        <a:t>All rooms</a:t>
                      </a:r>
                    </a:p>
                  </a:txBody>
                  <a:tcPr/>
                </a:tc>
                <a:tc>
                  <a:txBody>
                    <a:bodyPr/>
                    <a:lstStyle/>
                    <a:p>
                      <a:r>
                        <a:rPr lang="en-GB" sz="1100" dirty="0"/>
                        <a:t>Obj_sound_controller_lvl1 - 5</a:t>
                      </a:r>
                    </a:p>
                  </a:txBody>
                  <a:tcPr/>
                </a:tc>
                <a:tc>
                  <a:txBody>
                    <a:bodyPr/>
                    <a:lstStyle/>
                    <a:p>
                      <a:r>
                        <a:rPr lang="en-GB" sz="1100" dirty="0"/>
                        <a:t>The sound controller loads in audio groups and is used to make the sounds for when enemies are in cam 2 or 7. It also plays sounds for enemy movement such as K9’s, for every time he moves. Lastly it plays a remix of my critical failure soundtrack in the background acting as ambience.</a:t>
                      </a:r>
                    </a:p>
                  </a:txBody>
                  <a:tcPr/>
                </a:tc>
                <a:tc>
                  <a:txBody>
                    <a:bodyPr/>
                    <a:lstStyle/>
                    <a:p>
                      <a:r>
                        <a:rPr lang="en-GB" sz="1100" dirty="0"/>
                        <a:t>Left hallway sound plays when enemy is in cam 2. Right hallway sound plays when enemy is in cam 7. Ambience didn’t play or sometimes overwrote the rest of the game sounds such as the doors. Lastly, K9’s footstep sound does play every time he moves.</a:t>
                      </a:r>
                    </a:p>
                  </a:txBody>
                  <a:tcPr/>
                </a:tc>
                <a:tc>
                  <a:txBody>
                    <a:bodyPr/>
                    <a:lstStyle/>
                    <a:p>
                      <a:r>
                        <a:rPr lang="en-GB" sz="1100" dirty="0"/>
                        <a:t>I managed to fix the ambience, and it was just the fact that it was in the incorrect audio group, but moving it to the default one worked, stopping it from overwriting the other sounds.</a:t>
                      </a:r>
                    </a:p>
                  </a:txBody>
                  <a:tcPr/>
                </a:tc>
                <a:extLst>
                  <a:ext uri="{0D108BD9-81ED-4DB2-BD59-A6C34878D82A}">
                    <a16:rowId xmlns:a16="http://schemas.microsoft.com/office/drawing/2014/main" val="4167885046"/>
                  </a:ext>
                </a:extLst>
              </a:tr>
            </a:tbl>
          </a:graphicData>
        </a:graphic>
      </p:graphicFrame>
    </p:spTree>
    <p:extLst>
      <p:ext uri="{BB962C8B-B14F-4D97-AF65-F5344CB8AC3E}">
        <p14:creationId xmlns:p14="http://schemas.microsoft.com/office/powerpoint/2010/main" val="284963415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4911</TotalTime>
  <Words>11173</Words>
  <Application>Microsoft Office PowerPoint</Application>
  <PresentationFormat>Widescreen</PresentationFormat>
  <Paragraphs>1037</Paragraphs>
  <Slides>42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42</vt:i4>
      </vt:variant>
    </vt:vector>
  </HeadingPairs>
  <TitlesOfParts>
    <vt:vector size="46"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ieuan Jarvis</cp:lastModifiedBy>
  <cp:revision>431</cp:revision>
  <dcterms:created xsi:type="dcterms:W3CDTF">2025-10-10T09:00:53Z</dcterms:created>
  <dcterms:modified xsi:type="dcterms:W3CDTF">2026-02-28T18:06:00Z</dcterms:modified>
</cp:coreProperties>
</file>