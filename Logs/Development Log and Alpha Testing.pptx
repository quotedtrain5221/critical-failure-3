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99" r:id="rId43"/>
    <p:sldId id="300" r:id="rId44"/>
    <p:sldId id="301" r:id="rId45"/>
    <p:sldId id="302" r:id="rId46"/>
    <p:sldId id="303" r:id="rId47"/>
    <p:sldId id="304" r:id="rId48"/>
    <p:sldId id="305" r:id="rId49"/>
    <p:sldId id="306" r:id="rId50"/>
    <p:sldId id="307" r:id="rId51"/>
    <p:sldId id="308" r:id="rId5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25/02/2026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25/02/2026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25/02/2026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25/02/2026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2"/>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3"/>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4"/>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5"/>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6"/>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Each test will be mentioned in each levels video. </a:t>
            </a:r>
            <a:br>
              <a:rPr lang="en-GB" dirty="0"/>
            </a:br>
            <a:r>
              <a:rPr lang="en-GB" dirty="0"/>
              <a:t>The videos will be added at the end of the table slides.</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not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315289"/>
              </p:ext>
            </p:extLst>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675186991"/>
              </p:ext>
            </p:extLst>
          </p:nvPr>
        </p:nvGraphicFramePr>
        <p:xfrm>
          <a:off x="0" y="391886"/>
          <a:ext cx="12034157" cy="6266361"/>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8830394"/>
              </p:ext>
            </p:extLst>
          </p:nvPr>
        </p:nvGraphicFramePr>
        <p:xfrm>
          <a:off x="0" y="391886"/>
          <a:ext cx="12034157" cy="602673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1428750">
                  <a:extLst>
                    <a:ext uri="{9D8B030D-6E8A-4147-A177-3AD203B41FA5}">
                      <a16:colId xmlns:a16="http://schemas.microsoft.com/office/drawing/2014/main" val="3102287305"/>
                    </a:ext>
                  </a:extLst>
                </a:gridCol>
                <a:gridCol w="677635">
                  <a:extLst>
                    <a:ext uri="{9D8B030D-6E8A-4147-A177-3AD203B41FA5}">
                      <a16:colId xmlns:a16="http://schemas.microsoft.com/office/drawing/2014/main" val="4080696647"/>
                    </a:ext>
                  </a:extLst>
                </a:gridCol>
                <a:gridCol w="1306286">
                  <a:extLst>
                    <a:ext uri="{9D8B030D-6E8A-4147-A177-3AD203B41FA5}">
                      <a16:colId xmlns:a16="http://schemas.microsoft.com/office/drawing/2014/main" val="132880537"/>
                    </a:ext>
                  </a:extLst>
                </a:gridCol>
                <a:gridCol w="7143750">
                  <a:extLst>
                    <a:ext uri="{9D8B030D-6E8A-4147-A177-3AD203B41FA5}">
                      <a16:colId xmlns:a16="http://schemas.microsoft.com/office/drawing/2014/main" val="786884226"/>
                    </a:ext>
                  </a:extLst>
                </a:gridCol>
                <a:gridCol w="775607">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txBody>
                  <a:tcPr/>
                </a:tc>
                <a:tc>
                  <a:txBody>
                    <a:bodyPr/>
                    <a:lstStyle/>
                    <a:p>
                      <a:endParaRPr lang="en-GB" sz="800" dirty="0"/>
                    </a:p>
                  </a:txBody>
                  <a:tcPr/>
                </a:tc>
                <a:extLst>
                  <a:ext uri="{0D108BD9-81ED-4DB2-BD59-A6C34878D82A}">
                    <a16:rowId xmlns:a16="http://schemas.microsoft.com/office/drawing/2014/main" val="2541011158"/>
                  </a:ext>
                </a:extLst>
              </a:tr>
              <a:tr h="548322">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8013024"/>
              </p:ext>
            </p:extLst>
          </p:nvPr>
        </p:nvGraphicFramePr>
        <p:xfrm>
          <a:off x="0" y="391886"/>
          <a:ext cx="10940142" cy="6048463"/>
        </p:xfrm>
        <a:graphic>
          <a:graphicData uri="http://schemas.openxmlformats.org/drawingml/2006/table">
            <a:tbl>
              <a:tblPr firstRow="1" bandRow="1">
                <a:tableStyleId>{5C22544A-7EE6-4342-B048-85BDC9FD1C3A}</a:tableStyleId>
              </a:tblPr>
              <a:tblGrid>
                <a:gridCol w="471903">
                  <a:extLst>
                    <a:ext uri="{9D8B030D-6E8A-4147-A177-3AD203B41FA5}">
                      <a16:colId xmlns:a16="http://schemas.microsoft.com/office/drawing/2014/main" val="2041145262"/>
                    </a:ext>
                  </a:extLst>
                </a:gridCol>
                <a:gridCol w="1657147">
                  <a:extLst>
                    <a:ext uri="{9D8B030D-6E8A-4147-A177-3AD203B41FA5}">
                      <a16:colId xmlns:a16="http://schemas.microsoft.com/office/drawing/2014/main" val="3102287305"/>
                    </a:ext>
                  </a:extLst>
                </a:gridCol>
                <a:gridCol w="616636">
                  <a:extLst>
                    <a:ext uri="{9D8B030D-6E8A-4147-A177-3AD203B41FA5}">
                      <a16:colId xmlns:a16="http://schemas.microsoft.com/office/drawing/2014/main" val="4080696647"/>
                    </a:ext>
                  </a:extLst>
                </a:gridCol>
                <a:gridCol w="1019984">
                  <a:extLst>
                    <a:ext uri="{9D8B030D-6E8A-4147-A177-3AD203B41FA5}">
                      <a16:colId xmlns:a16="http://schemas.microsoft.com/office/drawing/2014/main" val="132880537"/>
                    </a:ext>
                  </a:extLst>
                </a:gridCol>
                <a:gridCol w="3587236">
                  <a:extLst>
                    <a:ext uri="{9D8B030D-6E8A-4147-A177-3AD203B41FA5}">
                      <a16:colId xmlns:a16="http://schemas.microsoft.com/office/drawing/2014/main" val="786884226"/>
                    </a:ext>
                  </a:extLst>
                </a:gridCol>
                <a:gridCol w="3587236">
                  <a:extLst>
                    <a:ext uri="{9D8B030D-6E8A-4147-A177-3AD203B41FA5}">
                      <a16:colId xmlns:a16="http://schemas.microsoft.com/office/drawing/2014/main" val="3813578648"/>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FED8-8070-9576-7EC6-AE635117491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5D6642C-B464-D525-3EB5-3AAB8B4ACC80}"/>
              </a:ext>
            </a:extLst>
          </p:cNvPr>
          <p:cNvGraphicFramePr>
            <a:graphicFrameLocks noGrp="1"/>
          </p:cNvGraphicFramePr>
          <p:nvPr>
            <p:extLst>
              <p:ext uri="{D42A27DB-BD31-4B8C-83A1-F6EECF244321}">
                <p14:modId xmlns:p14="http://schemas.microsoft.com/office/powerpoint/2010/main" val="701358460"/>
              </p:ext>
            </p:extLst>
          </p:nvPr>
        </p:nvGraphicFramePr>
        <p:xfrm>
          <a:off x="114300" y="391885"/>
          <a:ext cx="11487150" cy="5865583"/>
        </p:xfrm>
        <a:graphic>
          <a:graphicData uri="http://schemas.openxmlformats.org/drawingml/2006/table">
            <a:tbl>
              <a:tblPr firstRow="1" bandRow="1">
                <a:tableStyleId>{5C22544A-7EE6-4342-B048-85BDC9FD1C3A}</a:tableStyleId>
              </a:tblPr>
              <a:tblGrid>
                <a:gridCol w="495498">
                  <a:extLst>
                    <a:ext uri="{9D8B030D-6E8A-4147-A177-3AD203B41FA5}">
                      <a16:colId xmlns:a16="http://schemas.microsoft.com/office/drawing/2014/main" val="2041145262"/>
                    </a:ext>
                  </a:extLst>
                </a:gridCol>
                <a:gridCol w="1740005">
                  <a:extLst>
                    <a:ext uri="{9D8B030D-6E8A-4147-A177-3AD203B41FA5}">
                      <a16:colId xmlns:a16="http://schemas.microsoft.com/office/drawing/2014/main" val="3102287305"/>
                    </a:ext>
                  </a:extLst>
                </a:gridCol>
                <a:gridCol w="647468">
                  <a:extLst>
                    <a:ext uri="{9D8B030D-6E8A-4147-A177-3AD203B41FA5}">
                      <a16:colId xmlns:a16="http://schemas.microsoft.com/office/drawing/2014/main" val="4080696647"/>
                    </a:ext>
                  </a:extLst>
                </a:gridCol>
                <a:gridCol w="1070983">
                  <a:extLst>
                    <a:ext uri="{9D8B030D-6E8A-4147-A177-3AD203B41FA5}">
                      <a16:colId xmlns:a16="http://schemas.microsoft.com/office/drawing/2014/main" val="132880537"/>
                    </a:ext>
                  </a:extLst>
                </a:gridCol>
                <a:gridCol w="5002267">
                  <a:extLst>
                    <a:ext uri="{9D8B030D-6E8A-4147-A177-3AD203B41FA5}">
                      <a16:colId xmlns:a16="http://schemas.microsoft.com/office/drawing/2014/main" val="786884226"/>
                    </a:ext>
                  </a:extLst>
                </a:gridCol>
                <a:gridCol w="2530929">
                  <a:extLst>
                    <a:ext uri="{9D8B030D-6E8A-4147-A177-3AD203B41FA5}">
                      <a16:colId xmlns:a16="http://schemas.microsoft.com/office/drawing/2014/main" val="642979864"/>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43.</a:t>
                      </a:r>
                    </a:p>
                  </a:txBody>
                  <a:tcPr/>
                </a:tc>
                <a:tc>
                  <a:txBody>
                    <a:bodyPr/>
                    <a:lstStyle/>
                    <a:p>
                      <a:r>
                        <a:rPr lang="en-GB" sz="800" dirty="0"/>
                        <a:t>Oxygen Door/vent controller</a:t>
                      </a:r>
                    </a:p>
                  </a:txBody>
                  <a:tcPr/>
                </a:tc>
                <a:tc>
                  <a:txBody>
                    <a:bodyPr/>
                    <a:lstStyle/>
                    <a:p>
                      <a:r>
                        <a:rPr lang="en-GB" sz="800" dirty="0"/>
                        <a:t>Rm_level1 - 5</a:t>
                      </a:r>
                    </a:p>
                  </a:txBody>
                  <a:tcPr/>
                </a:tc>
                <a:tc>
                  <a:txBody>
                    <a:bodyPr/>
                    <a:lstStyle/>
                    <a:p>
                      <a:r>
                        <a:rPr lang="en-GB" sz="800" dirty="0" err="1"/>
                        <a:t>obj_oxygen_door_controller</a:t>
                      </a:r>
                      <a:endParaRPr lang="en-GB" sz="800" dirty="0"/>
                    </a:p>
                  </a:txBody>
                  <a:tcPr/>
                </a:tc>
                <a:tc>
                  <a:txBody>
                    <a:bodyPr/>
                    <a:lstStyle/>
                    <a:p>
                      <a:r>
                        <a:rPr lang="en-GB" sz="800" dirty="0"/>
                        <a:t>The Oxygen controller is very unique so discussing its function may take a bit, so I will break down its function into its key functions. </a:t>
                      </a:r>
                    </a:p>
                    <a:p>
                      <a:endParaRPr lang="en-GB" sz="800" dirty="0"/>
                    </a:p>
                    <a:p>
                      <a:r>
                        <a:rPr lang="en-GB" sz="800" dirty="0"/>
                        <a:t>The oxygen controller has 5 primary functions</a:t>
                      </a:r>
                    </a:p>
                    <a:p>
                      <a:endParaRPr lang="en-GB" sz="800" dirty="0"/>
                    </a:p>
                    <a:p>
                      <a:pPr marL="228600" indent="-228600">
                        <a:buAutoNum type="arabicPeriod"/>
                      </a:pPr>
                      <a:r>
                        <a:rPr lang="en-GB" sz="800" dirty="0"/>
                        <a:t>Sync Doors and Vents together</a:t>
                      </a:r>
                    </a:p>
                    <a:p>
                      <a:pPr marL="228600" indent="-228600">
                        <a:buAutoNum type="arabicPeriod"/>
                      </a:pPr>
                      <a:endParaRPr lang="en-GB" sz="800" dirty="0"/>
                    </a:p>
                    <a:p>
                      <a:pPr marL="228600" indent="-228600">
                        <a:buAutoNum type="arabicPeriod"/>
                      </a:pPr>
                      <a:r>
                        <a:rPr lang="en-GB" sz="800" dirty="0"/>
                        <a:t>Decrease Oxygen faster when more vents/doors are closed and increase it when less or none are closed (the oxygens speed is determined by the number of doors open and closed</a:t>
                      </a:r>
                    </a:p>
                    <a:p>
                      <a:pPr marL="228600" indent="-228600">
                        <a:buAutoNum type="arabicPeriod"/>
                      </a:pPr>
                      <a:endParaRPr lang="en-GB" sz="800" dirty="0"/>
                    </a:p>
                    <a:p>
                      <a:pPr marL="228600" indent="-228600">
                        <a:buAutoNum type="arabicPeriod"/>
                      </a:pPr>
                      <a:r>
                        <a:rPr lang="en-GB" sz="800" dirty="0"/>
                        <a:t>Acknowledge when oxygen = 0, and decrease HP</a:t>
                      </a:r>
                    </a:p>
                    <a:p>
                      <a:pPr marL="228600" indent="-228600">
                        <a:buAutoNum type="arabicPeriod"/>
                      </a:pPr>
                      <a:endParaRPr lang="en-GB" sz="800" dirty="0"/>
                    </a:p>
                    <a:p>
                      <a:pPr marL="228600" indent="-228600">
                        <a:buAutoNum type="arabicPeriod"/>
                      </a:pPr>
                      <a:r>
                        <a:rPr lang="en-GB" sz="800" dirty="0"/>
                        <a:t>If HP = 0, </a:t>
                      </a:r>
                      <a:r>
                        <a:rPr lang="en-GB" sz="800" dirty="0" err="1"/>
                        <a:t>global.dead</a:t>
                      </a:r>
                      <a:r>
                        <a:rPr lang="en-GB" sz="800" dirty="0"/>
                        <a:t> = true</a:t>
                      </a:r>
                    </a:p>
                    <a:p>
                      <a:pPr marL="228600" indent="-228600">
                        <a:buAutoNum type="arabicPeriod"/>
                      </a:pPr>
                      <a:endParaRPr lang="en-GB" sz="800" dirty="0"/>
                    </a:p>
                    <a:p>
                      <a:pPr marL="228600" indent="-228600">
                        <a:buAutoNum type="arabicPeriod"/>
                      </a:pPr>
                      <a:r>
                        <a:rPr lang="en-GB" sz="800" dirty="0"/>
                        <a:t>Change the doors/vents sprites based on whether the doors/vents are in an open or closed state.</a:t>
                      </a:r>
                    </a:p>
                  </a:txBody>
                  <a:tcPr/>
                </a:tc>
                <a:tc>
                  <a:txBody>
                    <a:bodyPr/>
                    <a:lstStyle/>
                    <a:p>
                      <a:pPr marL="228600" indent="-228600">
                        <a:buAutoNum type="arabicPeriod"/>
                      </a:pPr>
                      <a:endParaRPr lang="en-GB" sz="800" dirty="0"/>
                    </a:p>
                  </a:txBody>
                  <a:tcPr/>
                </a:tc>
                <a:extLst>
                  <a:ext uri="{0D108BD9-81ED-4DB2-BD59-A6C34878D82A}">
                    <a16:rowId xmlns:a16="http://schemas.microsoft.com/office/drawing/2014/main" val="289599235"/>
                  </a:ext>
                </a:extLst>
              </a:tr>
              <a:tr h="470623">
                <a:tc>
                  <a:txBody>
                    <a:bodyPr/>
                    <a:lstStyle/>
                    <a:p>
                      <a:r>
                        <a:rPr lang="en-GB" sz="800" dirty="0"/>
                        <a:t>44.</a:t>
                      </a:r>
                    </a:p>
                  </a:txBody>
                  <a:tcPr/>
                </a:tc>
                <a:tc>
                  <a:txBody>
                    <a:bodyPr/>
                    <a:lstStyle/>
                    <a:p>
                      <a:r>
                        <a:rPr lang="en-GB" sz="800" dirty="0"/>
                        <a:t>Camera controller level 1</a:t>
                      </a:r>
                    </a:p>
                  </a:txBody>
                  <a:tcPr/>
                </a:tc>
                <a:tc>
                  <a:txBody>
                    <a:bodyPr/>
                    <a:lstStyle/>
                    <a:p>
                      <a:r>
                        <a:rPr lang="en-GB" sz="800" dirty="0"/>
                        <a:t>Rm_level1</a:t>
                      </a:r>
                    </a:p>
                  </a:txBody>
                  <a:tcPr/>
                </a:tc>
                <a:tc>
                  <a:txBody>
                    <a:bodyPr/>
                    <a:lstStyle/>
                    <a:p>
                      <a:r>
                        <a:rPr lang="en-GB" sz="800" dirty="0"/>
                        <a:t>obj_camera_controller_lvl1</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1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2</a:t>
                      </a:r>
                    </a:p>
                    <a:p>
                      <a:endParaRPr lang="en-GB" sz="800" dirty="0"/>
                    </a:p>
                  </a:txBody>
                  <a:tcPr/>
                </a:tc>
                <a:tc>
                  <a:txBody>
                    <a:bodyPr/>
                    <a:lstStyle/>
                    <a:p>
                      <a:r>
                        <a:rPr lang="en-GB" sz="800" dirty="0"/>
                        <a:t>Rm_level2</a:t>
                      </a:r>
                    </a:p>
                  </a:txBody>
                  <a:tcPr/>
                </a:tc>
                <a:tc>
                  <a:txBody>
                    <a:bodyPr/>
                    <a:lstStyle/>
                    <a:p>
                      <a:r>
                        <a:rPr lang="en-GB" sz="800" dirty="0"/>
                        <a:t>Obj_camera_controller_lvl2</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2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D6904CAE-3462-802B-2A36-A942CF4E9F87}"/>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5956008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6EFD9-5657-72F8-5C69-FD38EBC53D4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769D7B3-5A5E-19FE-FCF9-91E8CFBD8B16}"/>
              </a:ext>
            </a:extLst>
          </p:cNvPr>
          <p:cNvGraphicFramePr>
            <a:graphicFrameLocks noGrp="1"/>
          </p:cNvGraphicFramePr>
          <p:nvPr>
            <p:extLst>
              <p:ext uri="{D42A27DB-BD31-4B8C-83A1-F6EECF244321}">
                <p14:modId xmlns:p14="http://schemas.microsoft.com/office/powerpoint/2010/main" val="1614178007"/>
              </p:ext>
            </p:extLst>
          </p:nvPr>
        </p:nvGraphicFramePr>
        <p:xfrm>
          <a:off x="114301" y="391885"/>
          <a:ext cx="10874827" cy="63532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obj_camera_controller_lvl3</a:t>
                      </a:r>
                    </a:p>
                    <a:p>
                      <a:endParaRPr lang="en-GB" sz="800" dirty="0"/>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3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47.</a:t>
                      </a:r>
                    </a:p>
                  </a:txBody>
                  <a:tcPr/>
                </a:tc>
                <a:tc>
                  <a:txBody>
                    <a:bodyPr/>
                    <a:lstStyle/>
                    <a:p>
                      <a:r>
                        <a:rPr lang="en-GB" sz="800" dirty="0"/>
                        <a:t>Camera controller level 4</a:t>
                      </a:r>
                    </a:p>
                  </a:txBody>
                  <a:tcPr/>
                </a:tc>
                <a:tc>
                  <a:txBody>
                    <a:bodyPr/>
                    <a:lstStyle/>
                    <a:p>
                      <a:r>
                        <a:rPr lang="en-GB" sz="800" dirty="0"/>
                        <a:t>Rm_level4</a:t>
                      </a:r>
                    </a:p>
                  </a:txBody>
                  <a:tcPr/>
                </a:tc>
                <a:tc>
                  <a:txBody>
                    <a:bodyPr/>
                    <a:lstStyle/>
                    <a:p>
                      <a:r>
                        <a:rPr lang="en-GB" sz="800" dirty="0"/>
                        <a:t>obj_camera_controller_lvl4</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4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5</a:t>
                      </a:r>
                    </a:p>
                    <a:p>
                      <a:endParaRPr lang="en-GB" sz="800" dirty="0"/>
                    </a:p>
                  </a:txBody>
                  <a:tcPr/>
                </a:tc>
                <a:tc>
                  <a:txBody>
                    <a:bodyPr/>
                    <a:lstStyle/>
                    <a:p>
                      <a:r>
                        <a:rPr lang="en-GB" sz="800" dirty="0"/>
                        <a:t>Rm_level5</a:t>
                      </a:r>
                    </a:p>
                  </a:txBody>
                  <a:tcPr/>
                </a:tc>
                <a:tc>
                  <a:txBody>
                    <a:bodyPr/>
                    <a:lstStyle/>
                    <a:p>
                      <a:r>
                        <a:rPr lang="en-GB" sz="800" dirty="0"/>
                        <a:t>Obj_camera_controller_lvl5</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5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75F9E048-6337-9132-4E48-07400039BC98}"/>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3046066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623B9-484F-0887-686E-D8BB72489BF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4ADAA5F-494B-0AB9-AA89-C443F5417DB4}"/>
              </a:ext>
            </a:extLst>
          </p:cNvPr>
          <p:cNvGraphicFramePr>
            <a:graphicFrameLocks noGrp="1"/>
          </p:cNvGraphicFramePr>
          <p:nvPr>
            <p:extLst>
              <p:ext uri="{D42A27DB-BD31-4B8C-83A1-F6EECF244321}">
                <p14:modId xmlns:p14="http://schemas.microsoft.com/office/powerpoint/2010/main" val="878420764"/>
              </p:ext>
            </p:extLst>
          </p:nvPr>
        </p:nvGraphicFramePr>
        <p:xfrm>
          <a:off x="114301" y="391885"/>
          <a:ext cx="10874827" cy="2823738"/>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1</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obj_sound_controller_lvl1</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50.</a:t>
                      </a:r>
                    </a:p>
                  </a:txBody>
                  <a:tcPr/>
                </a:tc>
                <a:tc>
                  <a:txBody>
                    <a:bodyPr/>
                    <a:lstStyle/>
                    <a:p>
                      <a:r>
                        <a:rPr lang="en-GB" sz="800" dirty="0"/>
                        <a:t>Sound controller level 2</a:t>
                      </a:r>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obj_sound_controller_lvl2</a:t>
                      </a:r>
                    </a:p>
                    <a:p>
                      <a:endParaRPr lang="en-GB" sz="800" dirty="0"/>
                    </a:p>
                  </a:txBody>
                  <a:tcPr/>
                </a:tc>
                <a:tc>
                  <a:txBody>
                    <a:bodyPr/>
                    <a:lstStyle/>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obj_sound_controller_lvl3</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52.</a:t>
                      </a:r>
                    </a:p>
                  </a:txBody>
                  <a:tcPr/>
                </a:tc>
                <a:tc>
                  <a:txBody>
                    <a:bodyPr/>
                    <a:lstStyle/>
                    <a:p>
                      <a:r>
                        <a:rPr lang="en-GB" sz="800" dirty="0"/>
                        <a:t>Sound controller level 4</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obj_sound_controller_lvl4</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53.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5</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obj_sound_controller_lvl5</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AA77FAAA-C496-9910-E97D-F48489976CBF}"/>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18949872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4759</TotalTime>
  <Words>16411</Words>
  <Application>Microsoft Office PowerPoint</Application>
  <PresentationFormat>Widescreen</PresentationFormat>
  <Paragraphs>1385</Paragraphs>
  <Slides>51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Each test will be mentioned in each levels video.  The videos will be added at the end of the table slides.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ieuan Jarvis</cp:lastModifiedBy>
  <cp:revision>420</cp:revision>
  <dcterms:created xsi:type="dcterms:W3CDTF">2025-10-10T09:00:53Z</dcterms:created>
  <dcterms:modified xsi:type="dcterms:W3CDTF">2026-02-25T20:56:46Z</dcterms:modified>
</cp:coreProperties>
</file>