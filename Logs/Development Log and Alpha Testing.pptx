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omments/modernComment_100_68C49C6.xml" ContentType="application/vnd.ms-powerpoint.comments+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8" r:id="rId3"/>
    <p:sldId id="259" r:id="rId4"/>
    <p:sldId id="260" r:id="rId5"/>
    <p:sldId id="261" r:id="rId6"/>
    <p:sldId id="262" r:id="rId7"/>
    <p:sldId id="263" r:id="rId8"/>
    <p:sldId id="264" r:id="rId9"/>
    <p:sldId id="265" r:id="rId10"/>
    <p:sldId id="266" r:id="rId11"/>
    <p:sldId id="268" r:id="rId12"/>
    <p:sldId id="269" r:id="rId13"/>
    <p:sldId id="271" r:id="rId14"/>
    <p:sldId id="257" r:id="rId15"/>
    <p:sldId id="267" r:id="rId16"/>
    <p:sldId id="270" r:id="rId17"/>
  </p:sldIdLst>
  <p:sldSz cx="12192000" cy="6858000"/>
  <p:notesSz cx="6858000" cy="9144000"/>
  <p:defaultTex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66DD6F6-1B0B-2351-1B34-242F146A8762}" name="JAR24887099 (Ieuan Jarvis)" initials="JJ" userId="S::jar24887099@stu.gcs.ac.uk::ca6f5ab3-fc5c-42ee-a46c-5f4c8d500c29"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3940E55-2AF4-3544-3025-A50D6A750F6B}" v="1069" dt="2025-10-10T09:15:25.501"/>
    <p1510:client id="{B3A2F057-D9CB-BEFB-7B99-58B46FACF419}" v="9" dt="2025-10-10T09:01:16.39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47" autoAdjust="0"/>
    <p:restoredTop sz="94660"/>
  </p:normalViewPr>
  <p:slideViewPr>
    <p:cSldViewPr snapToGrid="0">
      <p:cViewPr varScale="1">
        <p:scale>
          <a:sx n="117" d="100"/>
          <a:sy n="117" d="100"/>
        </p:scale>
        <p:origin x="348" y="10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microsoft.com/office/2018/10/relationships/authors" Target="authors.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microsoft.com/office/2015/10/relationships/revisionInfo" Target="revisionInfo.xml"/></Relationships>
</file>

<file path=ppt/comments/modernComment_100_68C49C6.xml><?xml version="1.0" encoding="utf-8"?>
<p188:cmLst xmlns:a="http://schemas.openxmlformats.org/drawingml/2006/main" xmlns:r="http://schemas.openxmlformats.org/officeDocument/2006/relationships" xmlns:p188="http://schemas.microsoft.com/office/powerpoint/2018/8/main">
  <p188:cm id="{6DB92719-FE1B-4F64-AAC0-8BCEB8A4943A}" authorId="{566DD6F6-1B0B-2351-1B34-242F146A8762}" created="2025-10-10T09:06:24.583">
    <pc:sldMkLst xmlns:pc="http://schemas.microsoft.com/office/powerpoint/2013/main/command">
      <pc:docMk/>
      <pc:sldMk cId="109857222" sldId="256"/>
    </pc:sldMkLst>
    <p188:txBody>
      <a:bodyPr/>
      <a:lstStyle/>
      <a:p>
        <a:r>
          <a:rPr lang="en-GB"/>
          <a:t>Template Slide</a:t>
        </a:r>
      </a:p>
    </p188:txBody>
  </p188:cm>
</p188:cmLst>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GB"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19/01/2026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853878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19/01/2026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4913845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GB" smtClean="0"/>
              <a:t>19/01/2026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5915245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p:cNvSpPr>
            <a:spLocks noGrp="1"/>
          </p:cNvSpPr>
          <p:nvPr>
            <p:ph type="dt" sz="half" idx="10"/>
          </p:nvPr>
        </p:nvSpPr>
        <p:spPr/>
        <p:txBody>
          <a:bodyPr/>
          <a:lstStyle/>
          <a:p>
            <a:fld id="{846CE7D5-CF57-46EF-B807-FDD0502418D4}" type="datetimeFigureOut">
              <a:rPr lang="en-GB" smtClean="0"/>
              <a:t>19/01/2026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2030920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p:cNvSpPr>
            <a:spLocks noGrp="1"/>
          </p:cNvSpPr>
          <p:nvPr>
            <p:ph type="dt" sz="half" idx="10"/>
          </p:nvPr>
        </p:nvSpPr>
        <p:spPr/>
        <p:txBody>
          <a:bodyPr/>
          <a:lstStyle/>
          <a:p>
            <a:fld id="{846CE7D5-CF57-46EF-B807-FDD0502418D4}" type="datetimeFigureOut">
              <a:rPr lang="en-GB" smtClean="0"/>
              <a:t>19/01/2026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7331723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Date Placeholder 2"/>
          <p:cNvSpPr>
            <a:spLocks noGrp="1"/>
          </p:cNvSpPr>
          <p:nvPr>
            <p:ph type="dt" sz="half" idx="10"/>
          </p:nvPr>
        </p:nvSpPr>
        <p:spPr/>
        <p:txBody>
          <a:bodyPr/>
          <a:lstStyle/>
          <a:p>
            <a:fld id="{846CE7D5-CF57-46EF-B807-FDD0502418D4}" type="datetimeFigureOut">
              <a:rPr lang="en-GB" smtClean="0"/>
              <a:t>19/01/2026</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21031255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19/01/2026</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463889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19/01/2026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718414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19/01/2026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7189582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19/01/2026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2029054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19/01/2026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794456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GB"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46CE7D5-CF57-46EF-B807-FDD0502418D4}" type="datetimeFigureOut">
              <a:rPr lang="en-GB" smtClean="0"/>
              <a:t>19/01/2026</a:t>
            </a:fld>
            <a:endParaRPr lang="en-GB"/>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246095407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2" Type="http://schemas.microsoft.com/office/2018/10/relationships/comments" Target="../comments/modernComment_100_68C49C6.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xml"/><Relationship Id="rId5" Type="http://schemas.openxmlformats.org/officeDocument/2006/relationships/image" Target="../media/image10.png"/><Relationship Id="rId4" Type="http://schemas.openxmlformats.org/officeDocument/2006/relationships/image" Target="../media/image9.png"/></Relationships>
</file>

<file path=ppt/slides/_rels/slide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5.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image" Target="../media/image16.png"/><Relationship Id="rId1" Type="http://schemas.openxmlformats.org/officeDocument/2006/relationships/slideLayout" Target="../slideLayouts/slideLayout1.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_rels/slide6.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1.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s>
</file>

<file path=ppt/slides/_rels/slide8.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1.xml"/><Relationship Id="rId5" Type="http://schemas.openxmlformats.org/officeDocument/2006/relationships/image" Target="../media/image34.png"/><Relationship Id="rId4" Type="http://schemas.openxmlformats.org/officeDocument/2006/relationships/image" Target="../media/image33.png"/></Relationships>
</file>

<file path=ppt/slides/_rels/slide10.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1.xml"/><Relationship Id="rId5" Type="http://schemas.openxmlformats.org/officeDocument/2006/relationships/image" Target="../media/image40.png"/><Relationship Id="rId4" Type="http://schemas.openxmlformats.org/officeDocument/2006/relationships/image" Target="../media/image39.png"/></Relationships>
</file>

<file path=ppt/slides/_rels/slide12.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1.xml"/><Relationship Id="rId6" Type="http://schemas.openxmlformats.org/officeDocument/2006/relationships/image" Target="../media/image45.png"/><Relationship Id="rId5" Type="http://schemas.openxmlformats.org/officeDocument/2006/relationships/image" Target="../media/image44.png"/><Relationship Id="rId4" Type="http://schemas.openxmlformats.org/officeDocument/2006/relationships/image" Target="../media/image43.png"/></Relationships>
</file>

<file path=ppt/slides/_rels/slide13.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6.png"/><Relationship Id="rId1" Type="http://schemas.openxmlformats.org/officeDocument/2006/relationships/slideLayout" Target="../slideLayouts/slideLayout1.xml"/><Relationship Id="rId5" Type="http://schemas.openxmlformats.org/officeDocument/2006/relationships/image" Target="../media/image49.png"/><Relationship Id="rId4" Type="http://schemas.openxmlformats.org/officeDocument/2006/relationships/image" Target="../media/image4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11363CF-6A0B-0B94-74A0-D17285299A62}"/>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21/11/2025</a:t>
            </a:r>
          </a:p>
        </p:txBody>
      </p:sp>
      <p:sp>
        <p:nvSpPr>
          <p:cNvPr id="2" name="TextBox 1">
            <a:extLst>
              <a:ext uri="{FF2B5EF4-FFF2-40B4-BE49-F238E27FC236}">
                <a16:creationId xmlns:a16="http://schemas.microsoft.com/office/drawing/2014/main" id="{AF1B1338-8017-36DE-855E-3547A044D322}"/>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ABD11597-3654-1961-B5A6-D8586A06F825}"/>
              </a:ext>
            </a:extLst>
          </p:cNvPr>
          <p:cNvSpPr txBox="1"/>
          <p:nvPr/>
        </p:nvSpPr>
        <p:spPr>
          <a:xfrm>
            <a:off x="5648215" y="563289"/>
            <a:ext cx="3926490" cy="59708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600" dirty="0"/>
          </a:p>
          <a:p>
            <a:r>
              <a:rPr lang="en-GB" sz="1600" dirty="0"/>
              <a:t>I have finished outlining the design for the main office room.</a:t>
            </a:r>
          </a:p>
          <a:p>
            <a:endParaRPr lang="en-GB" sz="1600" dirty="0"/>
          </a:p>
          <a:p>
            <a:r>
              <a:rPr lang="en-GB" sz="1600" dirty="0"/>
              <a:t>I have corrected my enemies AMCD-01 to 04 to remove weird white spots left by the fill tool and now they are ready to be used in the game.</a:t>
            </a:r>
          </a:p>
          <a:p>
            <a:endParaRPr lang="en-GB" sz="1600" dirty="0"/>
          </a:p>
          <a:p>
            <a:r>
              <a:rPr lang="en-GB" sz="1600" dirty="0"/>
              <a:t>I have created the design/animation stages for the doors.</a:t>
            </a:r>
          </a:p>
          <a:p>
            <a:endParaRPr lang="en-GB" sz="1600" dirty="0"/>
          </a:p>
          <a:p>
            <a:r>
              <a:rPr lang="en-GB" sz="1600" dirty="0"/>
              <a:t>I have designed the buttons.</a:t>
            </a:r>
          </a:p>
          <a:p>
            <a:endParaRPr lang="en-GB" sz="1600" dirty="0"/>
          </a:p>
          <a:p>
            <a:r>
              <a:rPr lang="en-GB" sz="1600" dirty="0"/>
              <a:t>Lastly, I have begun adding the designs into Gamemaker and going over them, refining them to look cleaner.</a:t>
            </a:r>
          </a:p>
          <a:p>
            <a:endParaRPr lang="en-GB" sz="1600" dirty="0"/>
          </a:p>
          <a:p>
            <a:r>
              <a:rPr lang="en-GB" sz="1600" dirty="0"/>
              <a:t>Note: I made the backgrounds black to show them in a much darker environment, I do have PNG images of them with transparent backgrounds as to make them easier to use In Game Maker.</a:t>
            </a:r>
          </a:p>
        </p:txBody>
      </p:sp>
      <p:sp>
        <p:nvSpPr>
          <p:cNvPr id="6" name="TextBox 5">
            <a:extLst>
              <a:ext uri="{FF2B5EF4-FFF2-40B4-BE49-F238E27FC236}">
                <a16:creationId xmlns:a16="http://schemas.microsoft.com/office/drawing/2014/main" id="{E0A8C236-FDA4-5077-8330-330C0462E935}"/>
              </a:ext>
            </a:extLst>
          </p:cNvPr>
          <p:cNvSpPr txBox="1"/>
          <p:nvPr/>
        </p:nvSpPr>
        <p:spPr>
          <a:xfrm>
            <a:off x="9651124" y="54413"/>
            <a:ext cx="2438400" cy="544764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Study more about the specific GML code needed for enemy AI/Camera system</a:t>
            </a:r>
          </a:p>
          <a:p>
            <a:endParaRPr lang="en-GB" sz="1200" dirty="0"/>
          </a:p>
          <a:p>
            <a:r>
              <a:rPr lang="en-GB" sz="1200" dirty="0"/>
              <a:t>Enemy behaviour is unique between different enemies, as such they will have unique code.</a:t>
            </a:r>
          </a:p>
          <a:p>
            <a:endParaRPr lang="en-GB" sz="1200" dirty="0"/>
          </a:p>
          <a:p>
            <a:r>
              <a:rPr lang="en-GB" sz="1200" dirty="0"/>
              <a:t>Map Out zone's layout inside the main room.</a:t>
            </a:r>
          </a:p>
          <a:p>
            <a:endParaRPr lang="en-GB" sz="1200" dirty="0"/>
          </a:p>
          <a:p>
            <a:r>
              <a:rPr lang="en-GB" sz="1200" dirty="0"/>
              <a:t>Design Menu/Start-Up Screens.</a:t>
            </a:r>
          </a:p>
          <a:p>
            <a:endParaRPr lang="en-GB" sz="1200" dirty="0"/>
          </a:p>
          <a:p>
            <a:r>
              <a:rPr lang="en-GB" sz="1200" dirty="0"/>
              <a:t>Create the rest of the sprites ready for when their designs are ready.</a:t>
            </a:r>
          </a:p>
          <a:p>
            <a:endParaRPr lang="en-GB" sz="1200" dirty="0"/>
          </a:p>
          <a:p>
            <a:r>
              <a:rPr lang="en-GB" sz="1200" dirty="0"/>
              <a:t>Make the zones sprite canvas 1000x500 and give them a bold colour to start so you can begin mapping out the layout.</a:t>
            </a:r>
          </a:p>
          <a:p>
            <a:endParaRPr lang="en-GB" sz="1200" dirty="0"/>
          </a:p>
          <a:p>
            <a:r>
              <a:rPr lang="en-GB" sz="1200" dirty="0"/>
              <a:t>Also, attempt to make the main room as large as possible as to have more flexibility when designing the levels/layouts/zones.</a:t>
            </a:r>
            <a:endParaRPr lang="en-GB" sz="1600" dirty="0"/>
          </a:p>
        </p:txBody>
      </p:sp>
      <p:pic>
        <p:nvPicPr>
          <p:cNvPr id="8" name="Picture 7">
            <a:extLst>
              <a:ext uri="{FF2B5EF4-FFF2-40B4-BE49-F238E27FC236}">
                <a16:creationId xmlns:a16="http://schemas.microsoft.com/office/drawing/2014/main" id="{90DE02DD-7C0E-6907-4524-E440B9972EA2}"/>
              </a:ext>
            </a:extLst>
          </p:cNvPr>
          <p:cNvPicPr>
            <a:picLocks noChangeAspect="1"/>
          </p:cNvPicPr>
          <p:nvPr/>
        </p:nvPicPr>
        <p:blipFill>
          <a:blip r:embed="rId3"/>
          <a:srcRect t="23826"/>
          <a:stretch>
            <a:fillRect/>
          </a:stretch>
        </p:blipFill>
        <p:spPr>
          <a:xfrm>
            <a:off x="0" y="0"/>
            <a:ext cx="2352947" cy="1800970"/>
          </a:xfrm>
          <a:prstGeom prst="rect">
            <a:avLst/>
          </a:prstGeom>
        </p:spPr>
      </p:pic>
      <p:pic>
        <p:nvPicPr>
          <p:cNvPr id="12" name="Picture 11">
            <a:extLst>
              <a:ext uri="{FF2B5EF4-FFF2-40B4-BE49-F238E27FC236}">
                <a16:creationId xmlns:a16="http://schemas.microsoft.com/office/drawing/2014/main" id="{CD3F6F9B-E283-0871-5618-BF2AD8C13C8A}"/>
              </a:ext>
            </a:extLst>
          </p:cNvPr>
          <p:cNvPicPr>
            <a:picLocks noChangeAspect="1"/>
          </p:cNvPicPr>
          <p:nvPr/>
        </p:nvPicPr>
        <p:blipFill>
          <a:blip r:embed="rId4"/>
          <a:stretch>
            <a:fillRect/>
          </a:stretch>
        </p:blipFill>
        <p:spPr>
          <a:xfrm>
            <a:off x="2429366" y="0"/>
            <a:ext cx="2289200" cy="2160799"/>
          </a:xfrm>
          <a:prstGeom prst="rect">
            <a:avLst/>
          </a:prstGeom>
        </p:spPr>
      </p:pic>
      <p:pic>
        <p:nvPicPr>
          <p:cNvPr id="14" name="Picture 13">
            <a:extLst>
              <a:ext uri="{FF2B5EF4-FFF2-40B4-BE49-F238E27FC236}">
                <a16:creationId xmlns:a16="http://schemas.microsoft.com/office/drawing/2014/main" id="{70CA2CA6-EDA2-4A0C-CE49-43EDB705BF03}"/>
              </a:ext>
            </a:extLst>
          </p:cNvPr>
          <p:cNvPicPr>
            <a:picLocks noChangeAspect="1"/>
          </p:cNvPicPr>
          <p:nvPr/>
        </p:nvPicPr>
        <p:blipFill>
          <a:blip r:embed="rId5"/>
          <a:stretch>
            <a:fillRect/>
          </a:stretch>
        </p:blipFill>
        <p:spPr>
          <a:xfrm>
            <a:off x="1738645" y="2210227"/>
            <a:ext cx="3630800" cy="2415388"/>
          </a:xfrm>
          <a:prstGeom prst="rect">
            <a:avLst/>
          </a:prstGeom>
        </p:spPr>
      </p:pic>
      <p:pic>
        <p:nvPicPr>
          <p:cNvPr id="16" name="Picture 15">
            <a:extLst>
              <a:ext uri="{FF2B5EF4-FFF2-40B4-BE49-F238E27FC236}">
                <a16:creationId xmlns:a16="http://schemas.microsoft.com/office/drawing/2014/main" id="{7AED7DA6-F548-9D5E-1F49-049474294DB4}"/>
              </a:ext>
            </a:extLst>
          </p:cNvPr>
          <p:cNvPicPr>
            <a:picLocks noChangeAspect="1"/>
          </p:cNvPicPr>
          <p:nvPr/>
        </p:nvPicPr>
        <p:blipFill>
          <a:blip r:embed="rId6"/>
          <a:srcRect l="10547" r="31860"/>
          <a:stretch>
            <a:fillRect/>
          </a:stretch>
        </p:blipFill>
        <p:spPr>
          <a:xfrm>
            <a:off x="-1" y="2059622"/>
            <a:ext cx="1585600" cy="581106"/>
          </a:xfrm>
          <a:prstGeom prst="rect">
            <a:avLst/>
          </a:prstGeom>
        </p:spPr>
      </p:pic>
      <p:pic>
        <p:nvPicPr>
          <p:cNvPr id="18" name="Picture 17">
            <a:extLst>
              <a:ext uri="{FF2B5EF4-FFF2-40B4-BE49-F238E27FC236}">
                <a16:creationId xmlns:a16="http://schemas.microsoft.com/office/drawing/2014/main" id="{19EB194A-4303-246E-A8F0-35BE6AB86E18}"/>
              </a:ext>
            </a:extLst>
          </p:cNvPr>
          <p:cNvPicPr>
            <a:picLocks noChangeAspect="1"/>
          </p:cNvPicPr>
          <p:nvPr/>
        </p:nvPicPr>
        <p:blipFill>
          <a:blip r:embed="rId7"/>
          <a:srcRect r="17625" b="10853"/>
          <a:stretch>
            <a:fillRect/>
          </a:stretch>
        </p:blipFill>
        <p:spPr>
          <a:xfrm>
            <a:off x="62861" y="2756530"/>
            <a:ext cx="1599365" cy="3700233"/>
          </a:xfrm>
          <a:prstGeom prst="rect">
            <a:avLst/>
          </a:prstGeom>
        </p:spPr>
      </p:pic>
      <p:pic>
        <p:nvPicPr>
          <p:cNvPr id="7" name="Picture 6" descr="A blue rhinoceros with red eyes">
            <a:extLst>
              <a:ext uri="{FF2B5EF4-FFF2-40B4-BE49-F238E27FC236}">
                <a16:creationId xmlns:a16="http://schemas.microsoft.com/office/drawing/2014/main" id="{0F8F764B-4E33-6B63-2454-0E3138EA0DFC}"/>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1940996" y="4625615"/>
            <a:ext cx="3348578" cy="2232385"/>
          </a:xfrm>
          <a:prstGeom prst="rect">
            <a:avLst/>
          </a:prstGeom>
        </p:spPr>
      </p:pic>
    </p:spTree>
    <p:extLst>
      <p:ext uri="{BB962C8B-B14F-4D97-AF65-F5344CB8AC3E}">
        <p14:creationId xmlns:p14="http://schemas.microsoft.com/office/powerpoint/2010/main" val="109857222"/>
      </p:ext>
    </p:extLst>
  </p:cSld>
  <p:clrMapOvr>
    <a:masterClrMapping/>
  </p:clrMapOvr>
  <p:extLst>
    <p:ext uri="{6950BFC3-D8DA-4A85-94F7-54DA5524770B}">
      <p188:commentRel xmlns:p188="http://schemas.microsoft.com/office/powerpoint/2018/8/main" r:id="rId2"/>
    </p:ext>
  </p:extLs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39EC-F8FE-ADA9-EA59-F1EC36434BD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76BDE55-6263-8575-7C13-EC317449D25F}"/>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6165D850-749B-B97D-752E-BEC348B613E1}"/>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B05434DB-BE74-90C9-E4A8-6FC8304041B7}"/>
              </a:ext>
            </a:extLst>
          </p:cNvPr>
          <p:cNvSpPr txBox="1"/>
          <p:nvPr/>
        </p:nvSpPr>
        <p:spPr>
          <a:xfrm>
            <a:off x="5648215" y="563289"/>
            <a:ext cx="3926490" cy="443198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Colour coded each zone and named them correctly. These are to be used temporarily before the official designs are completed. The grey coloured zones are for the front views of both the vents and the doors.</a:t>
            </a:r>
          </a:p>
          <a:p>
            <a:endParaRPr lang="en-GB" sz="1400" dirty="0"/>
          </a:p>
          <a:p>
            <a:r>
              <a:rPr lang="en-GB" sz="1400" dirty="0"/>
              <a:t>I have also Created a template for the Office.</a:t>
            </a:r>
          </a:p>
          <a:p>
            <a:r>
              <a:rPr lang="en-GB" sz="1400" dirty="0"/>
              <a:t>The Office will have a set size of 3000x1050, and the zones will have a set size of 2000x1050.</a:t>
            </a:r>
          </a:p>
          <a:p>
            <a:endParaRPr lang="en-GB" sz="1400" dirty="0"/>
          </a:p>
          <a:p>
            <a:r>
              <a:rPr lang="en-GB" sz="1400" dirty="0"/>
              <a:t>The Buttons for both the vents and doors are made in Game Maker and will be 200x300px to have more flexibility in designing.</a:t>
            </a:r>
          </a:p>
          <a:p>
            <a:endParaRPr lang="en-GB" sz="1400" dirty="0"/>
          </a:p>
          <a:p>
            <a:r>
              <a:rPr lang="en-GB" sz="1400" dirty="0"/>
              <a:t>The Camera button will start off being 300x100.</a:t>
            </a:r>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5D546EC8-C3EF-D2D7-4576-CD84485BAD0C}"/>
              </a:ext>
            </a:extLst>
          </p:cNvPr>
          <p:cNvSpPr txBox="1"/>
          <p:nvPr/>
        </p:nvSpPr>
        <p:spPr>
          <a:xfrm>
            <a:off x="9642445" y="54237"/>
            <a:ext cx="2438400" cy="175432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Allocate each zone to a location and name them specific to what contents are in it. For Example, 2 zones will be named obj_left_corridor and obj_left_corridor.</a:t>
            </a:r>
          </a:p>
          <a:p>
            <a:endParaRPr lang="en-GB" sz="1200" dirty="0"/>
          </a:p>
        </p:txBody>
      </p:sp>
      <p:pic>
        <p:nvPicPr>
          <p:cNvPr id="9" name="Picture 8">
            <a:extLst>
              <a:ext uri="{FF2B5EF4-FFF2-40B4-BE49-F238E27FC236}">
                <a16:creationId xmlns:a16="http://schemas.microsoft.com/office/drawing/2014/main" id="{D5DA7A1B-0205-F5E4-D017-A101709C5534}"/>
              </a:ext>
            </a:extLst>
          </p:cNvPr>
          <p:cNvPicPr>
            <a:picLocks noChangeAspect="1"/>
          </p:cNvPicPr>
          <p:nvPr/>
        </p:nvPicPr>
        <p:blipFill>
          <a:blip r:embed="rId2"/>
          <a:stretch>
            <a:fillRect/>
          </a:stretch>
        </p:blipFill>
        <p:spPr>
          <a:xfrm>
            <a:off x="35660" y="54237"/>
            <a:ext cx="2581635" cy="2152950"/>
          </a:xfrm>
          <a:prstGeom prst="rect">
            <a:avLst/>
          </a:prstGeom>
        </p:spPr>
      </p:pic>
      <p:pic>
        <p:nvPicPr>
          <p:cNvPr id="19" name="Picture 18">
            <a:extLst>
              <a:ext uri="{FF2B5EF4-FFF2-40B4-BE49-F238E27FC236}">
                <a16:creationId xmlns:a16="http://schemas.microsoft.com/office/drawing/2014/main" id="{094D053A-FA5D-5E1A-4596-4B1AB3899244}"/>
              </a:ext>
            </a:extLst>
          </p:cNvPr>
          <p:cNvPicPr>
            <a:picLocks noChangeAspect="1"/>
          </p:cNvPicPr>
          <p:nvPr/>
        </p:nvPicPr>
        <p:blipFill>
          <a:blip r:embed="rId3"/>
          <a:stretch>
            <a:fillRect/>
          </a:stretch>
        </p:blipFill>
        <p:spPr>
          <a:xfrm>
            <a:off x="3200014" y="90120"/>
            <a:ext cx="2372056" cy="4239217"/>
          </a:xfrm>
          <a:prstGeom prst="rect">
            <a:avLst/>
          </a:prstGeom>
        </p:spPr>
      </p:pic>
      <p:pic>
        <p:nvPicPr>
          <p:cNvPr id="23" name="Picture 22">
            <a:extLst>
              <a:ext uri="{FF2B5EF4-FFF2-40B4-BE49-F238E27FC236}">
                <a16:creationId xmlns:a16="http://schemas.microsoft.com/office/drawing/2014/main" id="{BA939C8F-A31D-6446-512C-312CE13E262F}"/>
              </a:ext>
            </a:extLst>
          </p:cNvPr>
          <p:cNvPicPr>
            <a:picLocks noChangeAspect="1"/>
          </p:cNvPicPr>
          <p:nvPr/>
        </p:nvPicPr>
        <p:blipFill>
          <a:blip r:embed="rId4"/>
          <a:srcRect r="3135"/>
          <a:stretch>
            <a:fillRect/>
          </a:stretch>
        </p:blipFill>
        <p:spPr>
          <a:xfrm>
            <a:off x="149942" y="2348393"/>
            <a:ext cx="2353069" cy="1495634"/>
          </a:xfrm>
          <a:prstGeom prst="rect">
            <a:avLst/>
          </a:prstGeom>
        </p:spPr>
      </p:pic>
      <p:pic>
        <p:nvPicPr>
          <p:cNvPr id="25" name="Picture 24">
            <a:extLst>
              <a:ext uri="{FF2B5EF4-FFF2-40B4-BE49-F238E27FC236}">
                <a16:creationId xmlns:a16="http://schemas.microsoft.com/office/drawing/2014/main" id="{366848E6-9BE0-02B5-CC0F-5C6426CD62E4}"/>
              </a:ext>
            </a:extLst>
          </p:cNvPr>
          <p:cNvPicPr>
            <a:picLocks noChangeAspect="1"/>
          </p:cNvPicPr>
          <p:nvPr/>
        </p:nvPicPr>
        <p:blipFill>
          <a:blip r:embed="rId5"/>
          <a:stretch>
            <a:fillRect/>
          </a:stretch>
        </p:blipFill>
        <p:spPr>
          <a:xfrm>
            <a:off x="59421" y="4376015"/>
            <a:ext cx="4326621" cy="2481985"/>
          </a:xfrm>
          <a:prstGeom prst="rect">
            <a:avLst/>
          </a:prstGeom>
        </p:spPr>
      </p:pic>
    </p:spTree>
    <p:extLst>
      <p:ext uri="{BB962C8B-B14F-4D97-AF65-F5344CB8AC3E}">
        <p14:creationId xmlns:p14="http://schemas.microsoft.com/office/powerpoint/2010/main" val="23685999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1AF447-2503-6E06-EB64-6A29C299795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BD7D05-D183-64C6-1BA1-72453612143E}"/>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3E37F77A-82C0-2039-AD51-40366B52EBEB}"/>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2886F3E7-61E5-445C-5038-15B1F86B5A87}"/>
              </a:ext>
            </a:extLst>
          </p:cNvPr>
          <p:cNvSpPr txBox="1"/>
          <p:nvPr/>
        </p:nvSpPr>
        <p:spPr>
          <a:xfrm>
            <a:off x="5642854" y="578678"/>
            <a:ext cx="3926490" cy="33547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I used View port feature on game maker to have the main camera be focused on the office.</a:t>
            </a:r>
          </a:p>
          <a:p>
            <a:endParaRPr lang="en-GB" sz="1400" dirty="0"/>
          </a:p>
          <a:p>
            <a:r>
              <a:rPr lang="en-GB" sz="1400" dirty="0"/>
              <a:t>The code below is the camera, that when I put in camera_apply or shift view onto a button Object it will change OBJ_Camera’s position within the room. It is not done yet but is a massive leap in completing one of my most advanced mechanics.</a:t>
            </a:r>
          </a:p>
          <a:p>
            <a:endParaRPr lang="en-GB" sz="1400" dirty="0"/>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6C671371-B8F1-97C1-D2C5-BD2850E814D7}"/>
              </a:ext>
            </a:extLst>
          </p:cNvPr>
          <p:cNvSpPr txBox="1"/>
          <p:nvPr/>
        </p:nvSpPr>
        <p:spPr>
          <a:xfrm>
            <a:off x="9642445" y="54237"/>
            <a:ext cx="2438400" cy="15696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Continue working on sprites and setting the game up ready for all the coding, so adding in all the assets/files.</a:t>
            </a:r>
          </a:p>
          <a:p>
            <a:endParaRPr lang="en-GB" sz="1200" dirty="0"/>
          </a:p>
          <a:p>
            <a:endParaRPr lang="en-GB" sz="1200" dirty="0"/>
          </a:p>
        </p:txBody>
      </p:sp>
      <p:pic>
        <p:nvPicPr>
          <p:cNvPr id="27" name="Picture 26">
            <a:extLst>
              <a:ext uri="{FF2B5EF4-FFF2-40B4-BE49-F238E27FC236}">
                <a16:creationId xmlns:a16="http://schemas.microsoft.com/office/drawing/2014/main" id="{F677CB03-D1DC-CB3F-CAE0-F8B146FE754F}"/>
              </a:ext>
            </a:extLst>
          </p:cNvPr>
          <p:cNvPicPr>
            <a:picLocks noChangeAspect="1"/>
          </p:cNvPicPr>
          <p:nvPr/>
        </p:nvPicPr>
        <p:blipFill>
          <a:blip r:embed="rId2"/>
          <a:stretch>
            <a:fillRect/>
          </a:stretch>
        </p:blipFill>
        <p:spPr>
          <a:xfrm>
            <a:off x="231941" y="754545"/>
            <a:ext cx="2512691" cy="5638018"/>
          </a:xfrm>
          <a:prstGeom prst="rect">
            <a:avLst/>
          </a:prstGeom>
        </p:spPr>
      </p:pic>
      <p:sp>
        <p:nvSpPr>
          <p:cNvPr id="5" name="TextBox 4">
            <a:extLst>
              <a:ext uri="{FF2B5EF4-FFF2-40B4-BE49-F238E27FC236}">
                <a16:creationId xmlns:a16="http://schemas.microsoft.com/office/drawing/2014/main" id="{3C6B70CF-F758-8FF9-4535-1E2605546C2E}"/>
              </a:ext>
            </a:extLst>
          </p:cNvPr>
          <p:cNvSpPr txBox="1"/>
          <p:nvPr/>
        </p:nvSpPr>
        <p:spPr>
          <a:xfrm>
            <a:off x="0" y="54237"/>
            <a:ext cx="1959856" cy="5847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Continuation of previous slide.</a:t>
            </a:r>
          </a:p>
        </p:txBody>
      </p:sp>
      <p:pic>
        <p:nvPicPr>
          <p:cNvPr id="11" name="Picture 10">
            <a:extLst>
              <a:ext uri="{FF2B5EF4-FFF2-40B4-BE49-F238E27FC236}">
                <a16:creationId xmlns:a16="http://schemas.microsoft.com/office/drawing/2014/main" id="{10266355-A36C-5972-ED51-B27E7586F80B}"/>
              </a:ext>
            </a:extLst>
          </p:cNvPr>
          <p:cNvPicPr>
            <a:picLocks noChangeAspect="1"/>
          </p:cNvPicPr>
          <p:nvPr/>
        </p:nvPicPr>
        <p:blipFill>
          <a:blip r:embed="rId3"/>
          <a:stretch>
            <a:fillRect/>
          </a:stretch>
        </p:blipFill>
        <p:spPr>
          <a:xfrm>
            <a:off x="3038494" y="3756230"/>
            <a:ext cx="8921565" cy="2581366"/>
          </a:xfrm>
          <a:prstGeom prst="rect">
            <a:avLst/>
          </a:prstGeom>
        </p:spPr>
      </p:pic>
    </p:spTree>
    <p:extLst>
      <p:ext uri="{BB962C8B-B14F-4D97-AF65-F5344CB8AC3E}">
        <p14:creationId xmlns:p14="http://schemas.microsoft.com/office/powerpoint/2010/main" val="346046871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1AF447-2503-6E06-EB64-6A29C299795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BD7D05-D183-64C6-1BA1-72453612143E}"/>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3E37F77A-82C0-2039-AD51-40366B52EBEB}"/>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V.0.2</a:t>
            </a:r>
          </a:p>
        </p:txBody>
      </p:sp>
      <p:sp>
        <p:nvSpPr>
          <p:cNvPr id="3" name="TextBox 2">
            <a:extLst>
              <a:ext uri="{FF2B5EF4-FFF2-40B4-BE49-F238E27FC236}">
                <a16:creationId xmlns:a16="http://schemas.microsoft.com/office/drawing/2014/main" id="{2886F3E7-61E5-445C-5038-15B1F86B5A87}"/>
              </a:ext>
            </a:extLst>
          </p:cNvPr>
          <p:cNvSpPr txBox="1"/>
          <p:nvPr/>
        </p:nvSpPr>
        <p:spPr>
          <a:xfrm>
            <a:off x="5642854" y="578678"/>
            <a:ext cx="3926490" cy="33547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Refined Sprite designs such as the doors. Created template buttons for the doors both from main view and close-up view.</a:t>
            </a:r>
          </a:p>
          <a:p>
            <a:endParaRPr lang="en-GB" sz="1400" dirty="0"/>
          </a:p>
          <a:p>
            <a:r>
              <a:rPr lang="en-GB" sz="1400" dirty="0"/>
              <a:t>Named each zones area/location.</a:t>
            </a:r>
          </a:p>
          <a:p>
            <a:endParaRPr lang="en-GB" sz="1400" dirty="0"/>
          </a:p>
          <a:p>
            <a:r>
              <a:rPr lang="en-GB" sz="1400" dirty="0"/>
              <a:t>Created variables for </a:t>
            </a:r>
            <a:r>
              <a:rPr lang="en-GB" sz="1400" dirty="0" err="1"/>
              <a:t>obj_camera</a:t>
            </a:r>
            <a:r>
              <a:rPr lang="en-GB" sz="1400" dirty="0"/>
              <a:t>.</a:t>
            </a:r>
          </a:p>
          <a:p>
            <a:endParaRPr lang="en-GB" sz="1400" dirty="0"/>
          </a:p>
          <a:p>
            <a:r>
              <a:rPr lang="en-GB" sz="1400" dirty="0"/>
              <a:t>Added Up close door to the up close door zones for both left and right.</a:t>
            </a:r>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6C671371-B8F1-97C1-D2C5-BD2850E814D7}"/>
              </a:ext>
            </a:extLst>
          </p:cNvPr>
          <p:cNvSpPr txBox="1"/>
          <p:nvPr/>
        </p:nvSpPr>
        <p:spPr>
          <a:xfrm>
            <a:off x="9642445" y="54237"/>
            <a:ext cx="2438400" cy="230832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Work on sound designs for the game and the characters.</a:t>
            </a:r>
          </a:p>
          <a:p>
            <a:endParaRPr lang="en-GB" sz="1200" dirty="0"/>
          </a:p>
          <a:p>
            <a:r>
              <a:rPr lang="en-GB" sz="1200" dirty="0"/>
              <a:t>Use audio and SFX from other horror games as reference or for the smaller sounds.</a:t>
            </a:r>
          </a:p>
          <a:p>
            <a:endParaRPr lang="en-GB" sz="1200" dirty="0"/>
          </a:p>
          <a:p>
            <a:r>
              <a:rPr lang="en-GB" sz="1200" b="1" dirty="0"/>
              <a:t>Get Camera system operational</a:t>
            </a:r>
          </a:p>
          <a:p>
            <a:endParaRPr lang="en-GB" sz="1200" dirty="0"/>
          </a:p>
          <a:p>
            <a:endParaRPr lang="en-GB" sz="1200" dirty="0"/>
          </a:p>
        </p:txBody>
      </p:sp>
      <p:pic>
        <p:nvPicPr>
          <p:cNvPr id="8" name="Picture 7">
            <a:extLst>
              <a:ext uri="{FF2B5EF4-FFF2-40B4-BE49-F238E27FC236}">
                <a16:creationId xmlns:a16="http://schemas.microsoft.com/office/drawing/2014/main" id="{2B25F36B-7370-C022-0982-D33C4899384B}"/>
              </a:ext>
            </a:extLst>
          </p:cNvPr>
          <p:cNvPicPr>
            <a:picLocks noChangeAspect="1"/>
          </p:cNvPicPr>
          <p:nvPr/>
        </p:nvPicPr>
        <p:blipFill>
          <a:blip r:embed="rId2"/>
          <a:stretch>
            <a:fillRect/>
          </a:stretch>
        </p:blipFill>
        <p:spPr>
          <a:xfrm>
            <a:off x="0" y="4302897"/>
            <a:ext cx="4356284" cy="2362127"/>
          </a:xfrm>
          <a:prstGeom prst="rect">
            <a:avLst/>
          </a:prstGeom>
        </p:spPr>
      </p:pic>
      <p:pic>
        <p:nvPicPr>
          <p:cNvPr id="10" name="Picture 9">
            <a:extLst>
              <a:ext uri="{FF2B5EF4-FFF2-40B4-BE49-F238E27FC236}">
                <a16:creationId xmlns:a16="http://schemas.microsoft.com/office/drawing/2014/main" id="{330D62C2-AA53-B794-C0B6-312FEE7FF2DF}"/>
              </a:ext>
            </a:extLst>
          </p:cNvPr>
          <p:cNvPicPr>
            <a:picLocks noChangeAspect="1"/>
          </p:cNvPicPr>
          <p:nvPr/>
        </p:nvPicPr>
        <p:blipFill>
          <a:blip r:embed="rId3"/>
          <a:stretch>
            <a:fillRect/>
          </a:stretch>
        </p:blipFill>
        <p:spPr>
          <a:xfrm>
            <a:off x="294127" y="428674"/>
            <a:ext cx="1704008" cy="3354765"/>
          </a:xfrm>
          <a:prstGeom prst="rect">
            <a:avLst/>
          </a:prstGeom>
        </p:spPr>
      </p:pic>
      <p:pic>
        <p:nvPicPr>
          <p:cNvPr id="13" name="Picture 12">
            <a:extLst>
              <a:ext uri="{FF2B5EF4-FFF2-40B4-BE49-F238E27FC236}">
                <a16:creationId xmlns:a16="http://schemas.microsoft.com/office/drawing/2014/main" id="{350428BE-0AC0-96D2-D92A-71AD3D19FADD}"/>
              </a:ext>
            </a:extLst>
          </p:cNvPr>
          <p:cNvPicPr>
            <a:picLocks noChangeAspect="1"/>
          </p:cNvPicPr>
          <p:nvPr/>
        </p:nvPicPr>
        <p:blipFill>
          <a:blip r:embed="rId4"/>
          <a:stretch>
            <a:fillRect/>
          </a:stretch>
        </p:blipFill>
        <p:spPr>
          <a:xfrm>
            <a:off x="2092643" y="885888"/>
            <a:ext cx="3477110" cy="952633"/>
          </a:xfrm>
          <a:prstGeom prst="rect">
            <a:avLst/>
          </a:prstGeom>
        </p:spPr>
      </p:pic>
    </p:spTree>
    <p:extLst>
      <p:ext uri="{BB962C8B-B14F-4D97-AF65-F5344CB8AC3E}">
        <p14:creationId xmlns:p14="http://schemas.microsoft.com/office/powerpoint/2010/main" val="12854225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F62DB-3EC3-3B41-03C8-0A1E51E3268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11C257E-74C8-A3AC-8D69-29E9A23F0848}"/>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04/12/2025</a:t>
            </a:r>
          </a:p>
        </p:txBody>
      </p:sp>
      <p:sp>
        <p:nvSpPr>
          <p:cNvPr id="2" name="TextBox 1">
            <a:extLst>
              <a:ext uri="{FF2B5EF4-FFF2-40B4-BE49-F238E27FC236}">
                <a16:creationId xmlns:a16="http://schemas.microsoft.com/office/drawing/2014/main" id="{902949C2-E2B9-D83D-8899-C29A3FA172F8}"/>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V.0.2</a:t>
            </a:r>
          </a:p>
        </p:txBody>
      </p:sp>
      <p:sp>
        <p:nvSpPr>
          <p:cNvPr id="3" name="TextBox 2">
            <a:extLst>
              <a:ext uri="{FF2B5EF4-FFF2-40B4-BE49-F238E27FC236}">
                <a16:creationId xmlns:a16="http://schemas.microsoft.com/office/drawing/2014/main" id="{9E000D2B-0307-02E8-BECB-1750F323F22B}"/>
              </a:ext>
            </a:extLst>
          </p:cNvPr>
          <p:cNvSpPr txBox="1"/>
          <p:nvPr/>
        </p:nvSpPr>
        <p:spPr>
          <a:xfrm>
            <a:off x="5642854" y="578678"/>
            <a:ext cx="3926490" cy="6340197"/>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Firstly, I have laid the foundation for the camera code and have it ready. However, I still need to make the camera alternate between camera zones based on a player clicking a button object.</a:t>
            </a:r>
          </a:p>
          <a:p>
            <a:endParaRPr lang="en-GB" sz="1400" dirty="0"/>
          </a:p>
          <a:p>
            <a:r>
              <a:rPr lang="en-GB" sz="1400" dirty="0"/>
              <a:t>Next, I changed the zones sizes to a respectful 1920x1080. This is due to the odd aspect ration of the game when it runs. This also helps make it more suitable for every display device. This change was also made to the camera’s width/height of the viewing area.</a:t>
            </a:r>
          </a:p>
          <a:p>
            <a:endParaRPr lang="en-GB" sz="1400" dirty="0"/>
          </a:p>
          <a:p>
            <a:r>
              <a:rPr lang="en-GB" sz="1400" dirty="0"/>
              <a:t>This has caused some issues with other sprites which were made too large or too small, however they are templates to help give a visual guide for the game’s development.</a:t>
            </a:r>
          </a:p>
          <a:p>
            <a:endParaRPr lang="en-GB" sz="1400" dirty="0"/>
          </a:p>
          <a:p>
            <a:r>
              <a:rPr lang="en-GB" sz="1400" dirty="0"/>
              <a:t>The doors width have been brought back from 220 to 200 to fit with the office pre-existing door frames.</a:t>
            </a:r>
          </a:p>
          <a:p>
            <a:endParaRPr lang="en-GB" sz="1400" dirty="0"/>
          </a:p>
          <a:p>
            <a:r>
              <a:rPr lang="en-GB" sz="1400" dirty="0"/>
              <a:t>Finally, I made the player object, but it will not have a sprite; it will function as a way for enemies to interact with the player and for the cameras to function.</a:t>
            </a:r>
          </a:p>
          <a:p>
            <a:endParaRPr lang="en-GB" sz="1400" dirty="0"/>
          </a:p>
          <a:p>
            <a:r>
              <a:rPr lang="en-GB" sz="1400" dirty="0"/>
              <a:t>I was unable to do sounds due to certain events that occurred between this session and the last one.</a:t>
            </a:r>
            <a:endParaRPr lang="en-GB" sz="1600" dirty="0"/>
          </a:p>
        </p:txBody>
      </p:sp>
      <p:sp>
        <p:nvSpPr>
          <p:cNvPr id="6" name="TextBox 5">
            <a:extLst>
              <a:ext uri="{FF2B5EF4-FFF2-40B4-BE49-F238E27FC236}">
                <a16:creationId xmlns:a16="http://schemas.microsoft.com/office/drawing/2014/main" id="{525691B3-5070-833F-136D-FE02B5A0A477}"/>
              </a:ext>
            </a:extLst>
          </p:cNvPr>
          <p:cNvSpPr txBox="1"/>
          <p:nvPr/>
        </p:nvSpPr>
        <p:spPr>
          <a:xfrm>
            <a:off x="9642445" y="54237"/>
            <a:ext cx="2438400" cy="6186309"/>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Get Cameras fully functioning.</a:t>
            </a:r>
          </a:p>
          <a:p>
            <a:endParaRPr lang="en-GB" sz="1200" dirty="0"/>
          </a:p>
          <a:p>
            <a:r>
              <a:rPr lang="en-GB" sz="1200" dirty="0"/>
              <a:t>Start gathering SFX for the game and soundtracks.</a:t>
            </a:r>
          </a:p>
          <a:p>
            <a:endParaRPr lang="en-GB" sz="1200" dirty="0"/>
          </a:p>
          <a:p>
            <a:r>
              <a:rPr lang="en-GB" sz="1200" dirty="0"/>
              <a:t>Research more into enemy AI.</a:t>
            </a:r>
          </a:p>
          <a:p>
            <a:endParaRPr lang="en-GB" sz="1200" dirty="0"/>
          </a:p>
          <a:p>
            <a:r>
              <a:rPr lang="en-GB" sz="1200" dirty="0"/>
              <a:t>Create draft for AMCD 00  Prototype design.</a:t>
            </a:r>
          </a:p>
          <a:p>
            <a:endParaRPr lang="en-GB" sz="1200" dirty="0"/>
          </a:p>
          <a:p>
            <a:r>
              <a:rPr lang="en-GB" sz="1200" dirty="0"/>
              <a:t>Create table for how the enemies will behave which room they’ll appear and how they interact with the player.</a:t>
            </a:r>
          </a:p>
          <a:p>
            <a:endParaRPr lang="en-GB" sz="1200" dirty="0"/>
          </a:p>
          <a:p>
            <a:r>
              <a:rPr lang="en-GB" sz="1200" b="1" dirty="0"/>
              <a:t>Key goal: Play/research games like Critical Failure to analyse how they function and how they were developed. Example games: Five Nights at Freddys, Sinking Iron, Slenderman, Baldi basics and many other indie horror games that follow Critical Failures Gameplay style.</a:t>
            </a:r>
          </a:p>
          <a:p>
            <a:endParaRPr lang="en-GB" sz="1200" dirty="0"/>
          </a:p>
          <a:p>
            <a:endParaRPr lang="en-GB" sz="1200" dirty="0"/>
          </a:p>
          <a:p>
            <a:endParaRPr lang="en-GB" sz="1200" dirty="0"/>
          </a:p>
          <a:p>
            <a:endParaRPr lang="en-GB" sz="1200" dirty="0"/>
          </a:p>
          <a:p>
            <a:endParaRPr lang="en-GB" sz="1200" dirty="0"/>
          </a:p>
          <a:p>
            <a:endParaRPr lang="en-GB" sz="1200" dirty="0"/>
          </a:p>
          <a:p>
            <a:endParaRPr lang="en-GB" sz="1200" dirty="0"/>
          </a:p>
        </p:txBody>
      </p:sp>
      <p:pic>
        <p:nvPicPr>
          <p:cNvPr id="7" name="Picture 6">
            <a:extLst>
              <a:ext uri="{FF2B5EF4-FFF2-40B4-BE49-F238E27FC236}">
                <a16:creationId xmlns:a16="http://schemas.microsoft.com/office/drawing/2014/main" id="{F3CF97BA-F2A0-9A19-1F64-8E66ECE37B83}"/>
              </a:ext>
            </a:extLst>
          </p:cNvPr>
          <p:cNvPicPr>
            <a:picLocks noChangeAspect="1"/>
          </p:cNvPicPr>
          <p:nvPr/>
        </p:nvPicPr>
        <p:blipFill>
          <a:blip r:embed="rId2"/>
          <a:stretch>
            <a:fillRect/>
          </a:stretch>
        </p:blipFill>
        <p:spPr>
          <a:xfrm>
            <a:off x="111155" y="90120"/>
            <a:ext cx="1476581" cy="3762900"/>
          </a:xfrm>
          <a:prstGeom prst="rect">
            <a:avLst/>
          </a:prstGeom>
        </p:spPr>
      </p:pic>
      <p:pic>
        <p:nvPicPr>
          <p:cNvPr id="11" name="Picture 10">
            <a:extLst>
              <a:ext uri="{FF2B5EF4-FFF2-40B4-BE49-F238E27FC236}">
                <a16:creationId xmlns:a16="http://schemas.microsoft.com/office/drawing/2014/main" id="{7375B3BC-4471-1EEA-EBF6-DAB831BB8957}"/>
              </a:ext>
            </a:extLst>
          </p:cNvPr>
          <p:cNvPicPr>
            <a:picLocks noChangeAspect="1"/>
          </p:cNvPicPr>
          <p:nvPr/>
        </p:nvPicPr>
        <p:blipFill>
          <a:blip r:embed="rId3"/>
          <a:stretch>
            <a:fillRect/>
          </a:stretch>
        </p:blipFill>
        <p:spPr>
          <a:xfrm>
            <a:off x="69966" y="3774946"/>
            <a:ext cx="1000265" cy="609685"/>
          </a:xfrm>
          <a:prstGeom prst="rect">
            <a:avLst/>
          </a:prstGeom>
        </p:spPr>
      </p:pic>
      <p:pic>
        <p:nvPicPr>
          <p:cNvPr id="14" name="Picture 13">
            <a:extLst>
              <a:ext uri="{FF2B5EF4-FFF2-40B4-BE49-F238E27FC236}">
                <a16:creationId xmlns:a16="http://schemas.microsoft.com/office/drawing/2014/main" id="{4BF3402E-D74E-3774-562F-54BE4BAE8694}"/>
              </a:ext>
            </a:extLst>
          </p:cNvPr>
          <p:cNvPicPr>
            <a:picLocks noChangeAspect="1"/>
          </p:cNvPicPr>
          <p:nvPr/>
        </p:nvPicPr>
        <p:blipFill>
          <a:blip r:embed="rId4"/>
          <a:stretch>
            <a:fillRect/>
          </a:stretch>
        </p:blipFill>
        <p:spPr>
          <a:xfrm>
            <a:off x="1658061" y="2314517"/>
            <a:ext cx="1457528" cy="733527"/>
          </a:xfrm>
          <a:prstGeom prst="rect">
            <a:avLst/>
          </a:prstGeom>
        </p:spPr>
      </p:pic>
      <p:pic>
        <p:nvPicPr>
          <p:cNvPr id="16" name="Picture 15">
            <a:extLst>
              <a:ext uri="{FF2B5EF4-FFF2-40B4-BE49-F238E27FC236}">
                <a16:creationId xmlns:a16="http://schemas.microsoft.com/office/drawing/2014/main" id="{A5C0A0A8-1501-BE77-3257-4F78051B82A0}"/>
              </a:ext>
            </a:extLst>
          </p:cNvPr>
          <p:cNvPicPr>
            <a:picLocks noChangeAspect="1"/>
          </p:cNvPicPr>
          <p:nvPr/>
        </p:nvPicPr>
        <p:blipFill>
          <a:blip r:embed="rId5"/>
          <a:stretch>
            <a:fillRect/>
          </a:stretch>
        </p:blipFill>
        <p:spPr>
          <a:xfrm>
            <a:off x="1658061" y="90120"/>
            <a:ext cx="3841493" cy="2167578"/>
          </a:xfrm>
          <a:prstGeom prst="rect">
            <a:avLst/>
          </a:prstGeom>
        </p:spPr>
      </p:pic>
      <p:pic>
        <p:nvPicPr>
          <p:cNvPr id="18" name="Picture 17">
            <a:extLst>
              <a:ext uri="{FF2B5EF4-FFF2-40B4-BE49-F238E27FC236}">
                <a16:creationId xmlns:a16="http://schemas.microsoft.com/office/drawing/2014/main" id="{05FF2020-AF09-2E53-6D54-A0F84F4BD320}"/>
              </a:ext>
            </a:extLst>
          </p:cNvPr>
          <p:cNvPicPr>
            <a:picLocks noChangeAspect="1"/>
          </p:cNvPicPr>
          <p:nvPr/>
        </p:nvPicPr>
        <p:blipFill>
          <a:blip r:embed="rId6"/>
          <a:stretch>
            <a:fillRect/>
          </a:stretch>
        </p:blipFill>
        <p:spPr>
          <a:xfrm>
            <a:off x="1094944" y="3897169"/>
            <a:ext cx="4525006" cy="866896"/>
          </a:xfrm>
          <a:prstGeom prst="rect">
            <a:avLst/>
          </a:prstGeom>
        </p:spPr>
      </p:pic>
      <p:pic>
        <p:nvPicPr>
          <p:cNvPr id="20" name="Picture 19">
            <a:extLst>
              <a:ext uri="{FF2B5EF4-FFF2-40B4-BE49-F238E27FC236}">
                <a16:creationId xmlns:a16="http://schemas.microsoft.com/office/drawing/2014/main" id="{A83EC13A-93A9-7B37-32B0-2C4521CAACE5}"/>
              </a:ext>
            </a:extLst>
          </p:cNvPr>
          <p:cNvPicPr>
            <a:picLocks noChangeAspect="1"/>
          </p:cNvPicPr>
          <p:nvPr/>
        </p:nvPicPr>
        <p:blipFill>
          <a:blip r:embed="rId7"/>
          <a:srcRect t="16360" r="10476" b="33031"/>
          <a:stretch>
            <a:fillRect/>
          </a:stretch>
        </p:blipFill>
        <p:spPr>
          <a:xfrm>
            <a:off x="118619" y="4808214"/>
            <a:ext cx="3778074" cy="1031747"/>
          </a:xfrm>
          <a:prstGeom prst="rect">
            <a:avLst/>
          </a:prstGeom>
        </p:spPr>
      </p:pic>
      <p:pic>
        <p:nvPicPr>
          <p:cNvPr id="22" name="Picture 21">
            <a:extLst>
              <a:ext uri="{FF2B5EF4-FFF2-40B4-BE49-F238E27FC236}">
                <a16:creationId xmlns:a16="http://schemas.microsoft.com/office/drawing/2014/main" id="{4B7E2811-A0DE-AB20-9624-39B1D71E48C0}"/>
              </a:ext>
            </a:extLst>
          </p:cNvPr>
          <p:cNvPicPr>
            <a:picLocks noChangeAspect="1"/>
          </p:cNvPicPr>
          <p:nvPr/>
        </p:nvPicPr>
        <p:blipFill>
          <a:blip r:embed="rId8"/>
          <a:stretch>
            <a:fillRect/>
          </a:stretch>
        </p:blipFill>
        <p:spPr>
          <a:xfrm>
            <a:off x="17205" y="5884110"/>
            <a:ext cx="5210902" cy="962159"/>
          </a:xfrm>
          <a:prstGeom prst="rect">
            <a:avLst/>
          </a:prstGeom>
        </p:spPr>
      </p:pic>
    </p:spTree>
    <p:extLst>
      <p:ext uri="{BB962C8B-B14F-4D97-AF65-F5344CB8AC3E}">
        <p14:creationId xmlns:p14="http://schemas.microsoft.com/office/powerpoint/2010/main" val="372238814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F62DB-3EC3-3B41-03C8-0A1E51E3268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11C257E-74C8-A3AC-8D69-29E9A23F0848}"/>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12/12/2025</a:t>
            </a:r>
          </a:p>
        </p:txBody>
      </p:sp>
      <p:sp>
        <p:nvSpPr>
          <p:cNvPr id="2" name="TextBox 1">
            <a:extLst>
              <a:ext uri="{FF2B5EF4-FFF2-40B4-BE49-F238E27FC236}">
                <a16:creationId xmlns:a16="http://schemas.microsoft.com/office/drawing/2014/main" id="{902949C2-E2B9-D83D-8899-C29A3FA172F8}"/>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V.0.3</a:t>
            </a:r>
          </a:p>
        </p:txBody>
      </p:sp>
      <p:sp>
        <p:nvSpPr>
          <p:cNvPr id="3" name="TextBox 2">
            <a:extLst>
              <a:ext uri="{FF2B5EF4-FFF2-40B4-BE49-F238E27FC236}">
                <a16:creationId xmlns:a16="http://schemas.microsoft.com/office/drawing/2014/main" id="{9E000D2B-0307-02E8-BECB-1750F323F22B}"/>
              </a:ext>
            </a:extLst>
          </p:cNvPr>
          <p:cNvSpPr txBox="1"/>
          <p:nvPr/>
        </p:nvSpPr>
        <p:spPr>
          <a:xfrm>
            <a:off x="5642854" y="578678"/>
            <a:ext cx="3926490" cy="181588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Cameras are now fully function, with them correctly going to their respective zones as well as the camera Hud.</a:t>
            </a:r>
          </a:p>
          <a:p>
            <a:endParaRPr lang="en-GB" sz="1600" dirty="0"/>
          </a:p>
          <a:p>
            <a:r>
              <a:rPr lang="en-GB" sz="1600" dirty="0"/>
              <a:t>I have made up close vent/door buttons in addition to the vents actual sprite which is a landscaped version of the doors.</a:t>
            </a:r>
          </a:p>
        </p:txBody>
      </p:sp>
      <p:sp>
        <p:nvSpPr>
          <p:cNvPr id="6" name="TextBox 5">
            <a:extLst>
              <a:ext uri="{FF2B5EF4-FFF2-40B4-BE49-F238E27FC236}">
                <a16:creationId xmlns:a16="http://schemas.microsoft.com/office/drawing/2014/main" id="{525691B3-5070-833F-136D-FE02B5A0A477}"/>
              </a:ext>
            </a:extLst>
          </p:cNvPr>
          <p:cNvSpPr txBox="1"/>
          <p:nvPr/>
        </p:nvSpPr>
        <p:spPr>
          <a:xfrm>
            <a:off x="9642445" y="54237"/>
            <a:ext cx="2438400" cy="267765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a:t>
            </a:r>
          </a:p>
          <a:p>
            <a:endParaRPr lang="en-GB" sz="1200" dirty="0"/>
          </a:p>
          <a:p>
            <a:r>
              <a:rPr lang="en-GB" sz="1200" dirty="0"/>
              <a:t>Create SFX and add Soundtrack.</a:t>
            </a:r>
          </a:p>
          <a:p>
            <a:endParaRPr lang="en-GB" sz="1200" dirty="0"/>
          </a:p>
          <a:p>
            <a:r>
              <a:rPr lang="en-GB" sz="1200" dirty="0"/>
              <a:t>Design the Prototype.</a:t>
            </a:r>
          </a:p>
          <a:p>
            <a:endParaRPr lang="en-GB" sz="1200" dirty="0"/>
          </a:p>
          <a:p>
            <a:r>
              <a:rPr lang="en-GB" sz="1200" dirty="0"/>
              <a:t>Finish Oxygen System.</a:t>
            </a:r>
          </a:p>
          <a:p>
            <a:endParaRPr lang="en-GB" sz="1200" dirty="0"/>
          </a:p>
          <a:p>
            <a:r>
              <a:rPr lang="en-GB" sz="1200" dirty="0"/>
              <a:t>Have Doors open and close.</a:t>
            </a:r>
          </a:p>
          <a:p>
            <a:endParaRPr lang="en-GB" sz="1200" dirty="0"/>
          </a:p>
          <a:p>
            <a:endParaRPr lang="en-GB" sz="1200" dirty="0"/>
          </a:p>
          <a:p>
            <a:endParaRPr lang="en-GB" sz="1200" dirty="0"/>
          </a:p>
          <a:p>
            <a:endParaRPr lang="en-GB" sz="1200" dirty="0"/>
          </a:p>
          <a:p>
            <a:endParaRPr lang="en-GB" sz="1200" dirty="0"/>
          </a:p>
        </p:txBody>
      </p:sp>
      <p:pic>
        <p:nvPicPr>
          <p:cNvPr id="8" name="Picture 7">
            <a:extLst>
              <a:ext uri="{FF2B5EF4-FFF2-40B4-BE49-F238E27FC236}">
                <a16:creationId xmlns:a16="http://schemas.microsoft.com/office/drawing/2014/main" id="{56107CA3-D414-0D54-F60B-B2C50A404372}"/>
              </a:ext>
            </a:extLst>
          </p:cNvPr>
          <p:cNvPicPr>
            <a:picLocks noChangeAspect="1"/>
          </p:cNvPicPr>
          <p:nvPr/>
        </p:nvPicPr>
        <p:blipFill>
          <a:blip r:embed="rId2"/>
          <a:stretch>
            <a:fillRect/>
          </a:stretch>
        </p:blipFill>
        <p:spPr>
          <a:xfrm>
            <a:off x="111155" y="54237"/>
            <a:ext cx="3715268" cy="5058481"/>
          </a:xfrm>
          <a:prstGeom prst="rect">
            <a:avLst/>
          </a:prstGeom>
        </p:spPr>
      </p:pic>
    </p:spTree>
    <p:extLst>
      <p:ext uri="{BB962C8B-B14F-4D97-AF65-F5344CB8AC3E}">
        <p14:creationId xmlns:p14="http://schemas.microsoft.com/office/powerpoint/2010/main" val="193251487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00216D-2704-359E-7582-D564D71C506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9E41B7D-1D49-BBC1-E509-8842E48766DA}"/>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12/12/2025</a:t>
            </a:r>
          </a:p>
        </p:txBody>
      </p:sp>
      <p:sp>
        <p:nvSpPr>
          <p:cNvPr id="2" name="TextBox 1">
            <a:extLst>
              <a:ext uri="{FF2B5EF4-FFF2-40B4-BE49-F238E27FC236}">
                <a16:creationId xmlns:a16="http://schemas.microsoft.com/office/drawing/2014/main" id="{8D8DDF84-E15F-9A36-A07B-DEB54B86143F}"/>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V.0.4</a:t>
            </a:r>
          </a:p>
        </p:txBody>
      </p:sp>
      <p:sp>
        <p:nvSpPr>
          <p:cNvPr id="3" name="TextBox 2">
            <a:extLst>
              <a:ext uri="{FF2B5EF4-FFF2-40B4-BE49-F238E27FC236}">
                <a16:creationId xmlns:a16="http://schemas.microsoft.com/office/drawing/2014/main" id="{F569AE5E-9CE7-F792-1ECA-C3CD4DAFE42C}"/>
              </a:ext>
            </a:extLst>
          </p:cNvPr>
          <p:cNvSpPr txBox="1"/>
          <p:nvPr/>
        </p:nvSpPr>
        <p:spPr>
          <a:xfrm>
            <a:off x="5642854" y="578678"/>
            <a:ext cx="3926490" cy="501675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In this session I completed in create the door/vent oxygen mechanic where when doors/vents are open oxygen increases and when doors/vents are closed oxygen decreases. In addition, the door mechanic was also completed and the doors/vents in both the up-close scenes and the main view open/close when the player presses the door/vent button. When ,ore doors/vents are closed the oxygens decent increases and the same works the other way around.</a:t>
            </a:r>
          </a:p>
          <a:p>
            <a:endParaRPr lang="en-GB" sz="1600" dirty="0"/>
          </a:p>
          <a:p>
            <a:r>
              <a:rPr lang="en-GB" sz="1600" dirty="0"/>
              <a:t>There is also a fill bar, displaying the oxygens percentage.</a:t>
            </a:r>
          </a:p>
          <a:p>
            <a:endParaRPr lang="en-GB" sz="1600" dirty="0"/>
          </a:p>
          <a:p>
            <a:r>
              <a:rPr lang="en-GB" sz="1600" dirty="0"/>
              <a:t>I also created a warning system for when oxygen is low and an animated sprite flashes red in GUI Draw.</a:t>
            </a:r>
          </a:p>
          <a:p>
            <a:endParaRPr lang="en-GB" sz="1600" dirty="0"/>
          </a:p>
        </p:txBody>
      </p:sp>
      <p:sp>
        <p:nvSpPr>
          <p:cNvPr id="6" name="TextBox 5">
            <a:extLst>
              <a:ext uri="{FF2B5EF4-FFF2-40B4-BE49-F238E27FC236}">
                <a16:creationId xmlns:a16="http://schemas.microsoft.com/office/drawing/2014/main" id="{9AF3946E-61EB-6EE6-C810-2D62B4C1B989}"/>
              </a:ext>
            </a:extLst>
          </p:cNvPr>
          <p:cNvSpPr txBox="1"/>
          <p:nvPr/>
        </p:nvSpPr>
        <p:spPr>
          <a:xfrm>
            <a:off x="9642445" y="54237"/>
            <a:ext cx="2438400" cy="341632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a:t>
            </a:r>
          </a:p>
          <a:p>
            <a:endParaRPr lang="en-GB" sz="1200" dirty="0"/>
          </a:p>
          <a:p>
            <a:r>
              <a:rPr lang="en-GB" sz="1200" dirty="0"/>
              <a:t>Plan Enemy Movement for all enemies.</a:t>
            </a:r>
          </a:p>
          <a:p>
            <a:endParaRPr lang="en-GB" sz="1200" dirty="0"/>
          </a:p>
          <a:p>
            <a:r>
              <a:rPr lang="en-GB" sz="1200" dirty="0"/>
              <a:t>Create 2 of the enemy AI’s</a:t>
            </a:r>
          </a:p>
          <a:p>
            <a:endParaRPr lang="en-GB" sz="1200" dirty="0"/>
          </a:p>
          <a:p>
            <a:r>
              <a:rPr lang="en-GB" sz="1200" dirty="0"/>
              <a:t>Finish Prototype design</a:t>
            </a:r>
          </a:p>
          <a:p>
            <a:endParaRPr lang="en-GB" sz="1200" dirty="0"/>
          </a:p>
          <a:p>
            <a:r>
              <a:rPr lang="en-GB" sz="1200" dirty="0"/>
              <a:t>Refine enemy sprite design</a:t>
            </a:r>
          </a:p>
          <a:p>
            <a:endParaRPr lang="en-GB" sz="1200" dirty="0"/>
          </a:p>
          <a:p>
            <a:r>
              <a:rPr lang="en-GB" sz="1200" dirty="0"/>
              <a:t>Adjust code for longer gameplay</a:t>
            </a:r>
          </a:p>
          <a:p>
            <a:endParaRPr lang="en-GB" sz="1200" dirty="0"/>
          </a:p>
          <a:p>
            <a:endParaRPr lang="en-GB" sz="1200" dirty="0"/>
          </a:p>
          <a:p>
            <a:endParaRPr lang="en-GB" sz="1200" dirty="0"/>
          </a:p>
          <a:p>
            <a:endParaRPr lang="en-GB" sz="1200" dirty="0"/>
          </a:p>
          <a:p>
            <a:endParaRPr lang="en-GB" sz="1200" dirty="0"/>
          </a:p>
          <a:p>
            <a:endParaRPr lang="en-GB" sz="1200" dirty="0"/>
          </a:p>
        </p:txBody>
      </p:sp>
      <p:pic>
        <p:nvPicPr>
          <p:cNvPr id="7" name="Picture 6" descr="A screenshot of a video game&#10;&#10;AI-generated content may be incorrect.">
            <a:extLst>
              <a:ext uri="{FF2B5EF4-FFF2-40B4-BE49-F238E27FC236}">
                <a16:creationId xmlns:a16="http://schemas.microsoft.com/office/drawing/2014/main" id="{11A2BEDF-F7E2-9671-3395-25B4B861E9D4}"/>
              </a:ext>
            </a:extLst>
          </p:cNvPr>
          <p:cNvPicPr>
            <a:picLocks noChangeAspect="1"/>
          </p:cNvPicPr>
          <p:nvPr/>
        </p:nvPicPr>
        <p:blipFill>
          <a:blip r:embed="rId2"/>
          <a:stretch>
            <a:fillRect/>
          </a:stretch>
        </p:blipFill>
        <p:spPr>
          <a:xfrm>
            <a:off x="0" y="54237"/>
            <a:ext cx="2443092" cy="2197731"/>
          </a:xfrm>
          <a:prstGeom prst="rect">
            <a:avLst/>
          </a:prstGeom>
        </p:spPr>
      </p:pic>
      <p:pic>
        <p:nvPicPr>
          <p:cNvPr id="9" name="Picture 8" descr="A red circle with black text&#10;&#10;AI-generated content may be incorrect.">
            <a:extLst>
              <a:ext uri="{FF2B5EF4-FFF2-40B4-BE49-F238E27FC236}">
                <a16:creationId xmlns:a16="http://schemas.microsoft.com/office/drawing/2014/main" id="{E97A4350-D8B7-8A50-0F1A-296F2142589C}"/>
              </a:ext>
            </a:extLst>
          </p:cNvPr>
          <p:cNvPicPr>
            <a:picLocks noChangeAspect="1"/>
          </p:cNvPicPr>
          <p:nvPr/>
        </p:nvPicPr>
        <p:blipFill>
          <a:blip r:embed="rId3"/>
          <a:stretch>
            <a:fillRect/>
          </a:stretch>
        </p:blipFill>
        <p:spPr>
          <a:xfrm>
            <a:off x="2506037" y="117872"/>
            <a:ext cx="3060671" cy="1736981"/>
          </a:xfrm>
          <a:prstGeom prst="rect">
            <a:avLst/>
          </a:prstGeom>
        </p:spPr>
      </p:pic>
      <p:pic>
        <p:nvPicPr>
          <p:cNvPr id="11" name="Picture 10" descr="A screen shot of a computer program&#10;&#10;AI-generated content may be incorrect.">
            <a:extLst>
              <a:ext uri="{FF2B5EF4-FFF2-40B4-BE49-F238E27FC236}">
                <a16:creationId xmlns:a16="http://schemas.microsoft.com/office/drawing/2014/main" id="{D4BFA7E8-88D9-CAAA-2269-5C3345D7AC49}"/>
              </a:ext>
            </a:extLst>
          </p:cNvPr>
          <p:cNvPicPr>
            <a:picLocks noChangeAspect="1"/>
          </p:cNvPicPr>
          <p:nvPr/>
        </p:nvPicPr>
        <p:blipFill>
          <a:blip r:embed="rId4"/>
          <a:stretch>
            <a:fillRect/>
          </a:stretch>
        </p:blipFill>
        <p:spPr>
          <a:xfrm>
            <a:off x="-36501" y="2224987"/>
            <a:ext cx="2954202" cy="2778160"/>
          </a:xfrm>
          <a:prstGeom prst="rect">
            <a:avLst/>
          </a:prstGeom>
        </p:spPr>
      </p:pic>
      <p:pic>
        <p:nvPicPr>
          <p:cNvPr id="13" name="Picture 12" descr="A screen shot of a computer program&#10;&#10;AI-generated content may be incorrect.">
            <a:extLst>
              <a:ext uri="{FF2B5EF4-FFF2-40B4-BE49-F238E27FC236}">
                <a16:creationId xmlns:a16="http://schemas.microsoft.com/office/drawing/2014/main" id="{0DCDF415-8664-901D-5A02-3FE377795EF9}"/>
              </a:ext>
            </a:extLst>
          </p:cNvPr>
          <p:cNvPicPr>
            <a:picLocks noChangeAspect="1"/>
          </p:cNvPicPr>
          <p:nvPr/>
        </p:nvPicPr>
        <p:blipFill>
          <a:blip r:embed="rId5"/>
          <a:stretch>
            <a:fillRect/>
          </a:stretch>
        </p:blipFill>
        <p:spPr>
          <a:xfrm>
            <a:off x="2718755" y="2224987"/>
            <a:ext cx="2805553" cy="2618862"/>
          </a:xfrm>
          <a:prstGeom prst="rect">
            <a:avLst/>
          </a:prstGeom>
        </p:spPr>
      </p:pic>
      <p:pic>
        <p:nvPicPr>
          <p:cNvPr id="15" name="Picture 14" descr="A screen shot of a computer&#10;&#10;AI-generated content may be incorrect.">
            <a:extLst>
              <a:ext uri="{FF2B5EF4-FFF2-40B4-BE49-F238E27FC236}">
                <a16:creationId xmlns:a16="http://schemas.microsoft.com/office/drawing/2014/main" id="{36C436FB-F3BC-DDE3-2D15-CB8734E26E86}"/>
              </a:ext>
            </a:extLst>
          </p:cNvPr>
          <p:cNvPicPr>
            <a:picLocks noChangeAspect="1"/>
          </p:cNvPicPr>
          <p:nvPr/>
        </p:nvPicPr>
        <p:blipFill>
          <a:blip r:embed="rId6"/>
          <a:stretch>
            <a:fillRect/>
          </a:stretch>
        </p:blipFill>
        <p:spPr>
          <a:xfrm>
            <a:off x="-36501" y="4988731"/>
            <a:ext cx="4572638" cy="1219370"/>
          </a:xfrm>
          <a:prstGeom prst="rect">
            <a:avLst/>
          </a:prstGeom>
        </p:spPr>
      </p:pic>
    </p:spTree>
    <p:extLst>
      <p:ext uri="{BB962C8B-B14F-4D97-AF65-F5344CB8AC3E}">
        <p14:creationId xmlns:p14="http://schemas.microsoft.com/office/powerpoint/2010/main" val="356087041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519CAC-F4D4-0940-FD27-353304D96CB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781D27-824A-B9B2-192E-BE7A377EF487}"/>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08/01/2026</a:t>
            </a:r>
          </a:p>
        </p:txBody>
      </p:sp>
      <p:sp>
        <p:nvSpPr>
          <p:cNvPr id="2" name="TextBox 1">
            <a:extLst>
              <a:ext uri="{FF2B5EF4-FFF2-40B4-BE49-F238E27FC236}">
                <a16:creationId xmlns:a16="http://schemas.microsoft.com/office/drawing/2014/main" id="{ACDF04B8-2A1D-DF20-1601-5FE531257554}"/>
              </a:ext>
            </a:extLst>
          </p:cNvPr>
          <p:cNvSpPr txBox="1"/>
          <p:nvPr/>
        </p:nvSpPr>
        <p:spPr>
          <a:xfrm>
            <a:off x="5651844" y="90120"/>
            <a:ext cx="2112147" cy="5847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V.0.4.7.5/V.0.5</a:t>
            </a:r>
          </a:p>
        </p:txBody>
      </p:sp>
      <p:sp>
        <p:nvSpPr>
          <p:cNvPr id="3" name="TextBox 2">
            <a:extLst>
              <a:ext uri="{FF2B5EF4-FFF2-40B4-BE49-F238E27FC236}">
                <a16:creationId xmlns:a16="http://schemas.microsoft.com/office/drawing/2014/main" id="{9CE445F5-21C3-AB0E-1B29-D1424BE214D4}"/>
              </a:ext>
            </a:extLst>
          </p:cNvPr>
          <p:cNvSpPr txBox="1"/>
          <p:nvPr/>
        </p:nvSpPr>
        <p:spPr>
          <a:xfrm>
            <a:off x="151043" y="143238"/>
            <a:ext cx="5136348" cy="4216539"/>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Unfortunately, due to mistakes and not having functional code Critical Failure V0.4.7.5 is officially a failed version of my game. To go into more detail, I was following an online guide for a specific piece of code, however I mistakenly forgot to save a version of the game with the original code, so when I altered it and made some deletions, I couldn't get my old code back. So, I decided to refresh and re-attempt it.</a:t>
            </a:r>
          </a:p>
          <a:p>
            <a:endParaRPr lang="en-GB" sz="1400" dirty="0"/>
          </a:p>
          <a:p>
            <a:r>
              <a:rPr lang="en-GB" sz="1400" dirty="0"/>
              <a:t>However, learning from mistakes form that version I made Critical Failure V.0.5. From here I re-designed the enemy movement code and was able to get a good start in creating the enemy's foundation.</a:t>
            </a:r>
          </a:p>
          <a:p>
            <a:endParaRPr lang="en-GB" sz="1400" dirty="0"/>
          </a:p>
          <a:p>
            <a:r>
              <a:rPr lang="en-GB" sz="1400" dirty="0"/>
              <a:t>I started by making an enemy parent which will give the enemies the information needed to know what zone they are in, where to move to and time taken to move. I also kept each enemy object in the game and within their code, they will be uniquely different from each other in terms of behaviour and movement.</a:t>
            </a:r>
          </a:p>
          <a:p>
            <a:endParaRPr lang="en-GB" sz="1600" dirty="0"/>
          </a:p>
        </p:txBody>
      </p:sp>
      <p:sp>
        <p:nvSpPr>
          <p:cNvPr id="6" name="TextBox 5">
            <a:extLst>
              <a:ext uri="{FF2B5EF4-FFF2-40B4-BE49-F238E27FC236}">
                <a16:creationId xmlns:a16="http://schemas.microsoft.com/office/drawing/2014/main" id="{C3081297-77F1-D156-87AE-D1CA434C11BC}"/>
              </a:ext>
            </a:extLst>
          </p:cNvPr>
          <p:cNvSpPr txBox="1"/>
          <p:nvPr/>
        </p:nvSpPr>
        <p:spPr>
          <a:xfrm>
            <a:off x="5725298" y="976875"/>
            <a:ext cx="6153663" cy="360098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 V.0.5.1</a:t>
            </a:r>
          </a:p>
          <a:p>
            <a:endParaRPr lang="en-GB" sz="1200" dirty="0"/>
          </a:p>
          <a:p>
            <a:endParaRPr lang="en-GB" sz="1200" dirty="0"/>
          </a:p>
          <a:p>
            <a:endParaRPr lang="en-GB" sz="1200" dirty="0"/>
          </a:p>
          <a:p>
            <a:r>
              <a:rPr lang="en-GB" sz="1200" b="1" dirty="0"/>
              <a:t>Due timing, enemy movement code is to be made in Critical Failure’s next version.</a:t>
            </a:r>
          </a:p>
          <a:p>
            <a:endParaRPr lang="en-GB" sz="1200" dirty="0"/>
          </a:p>
          <a:p>
            <a:r>
              <a:rPr lang="en-GB" sz="1200" dirty="0"/>
              <a:t>Make Each enemy Independent. A parent was used  for their movement, but I want to have the enemies be independent of a parent. In the next version I will attempt to make the enemies not reliant on the controller for movement and only to communicate their location to the camera controller.</a:t>
            </a:r>
          </a:p>
          <a:p>
            <a:endParaRPr lang="en-GB" sz="1200" dirty="0"/>
          </a:p>
          <a:p>
            <a:r>
              <a:rPr lang="en-GB" sz="1200" dirty="0"/>
              <a:t>lay a foundation for the code for my enemies to act and move the  way I want them to. As the game is, the enemies are moving but only through code not physically within the room. In addition, their movement isn’t organised and they cannot attack zone 0 the main office.</a:t>
            </a:r>
          </a:p>
          <a:p>
            <a:endParaRPr lang="en-GB" sz="1200" dirty="0"/>
          </a:p>
          <a:p>
            <a:endParaRPr lang="en-GB" sz="1200" dirty="0"/>
          </a:p>
          <a:p>
            <a:endParaRPr lang="en-GB" sz="1200" dirty="0"/>
          </a:p>
          <a:p>
            <a:endParaRPr lang="en-GB" sz="1200" dirty="0"/>
          </a:p>
          <a:p>
            <a:endParaRPr lang="en-GB" sz="1200" dirty="0"/>
          </a:p>
        </p:txBody>
      </p:sp>
      <p:pic>
        <p:nvPicPr>
          <p:cNvPr id="9" name="Picture 8" descr="A screen shot of a computer program&#10;&#10;AI-generated content may be incorrect.">
            <a:extLst>
              <a:ext uri="{FF2B5EF4-FFF2-40B4-BE49-F238E27FC236}">
                <a16:creationId xmlns:a16="http://schemas.microsoft.com/office/drawing/2014/main" id="{39C7307B-DFB4-711A-1A28-44581B6D429F}"/>
              </a:ext>
            </a:extLst>
          </p:cNvPr>
          <p:cNvPicPr>
            <a:picLocks noChangeAspect="1"/>
          </p:cNvPicPr>
          <p:nvPr/>
        </p:nvPicPr>
        <p:blipFill>
          <a:blip r:embed="rId2"/>
          <a:stretch>
            <a:fillRect/>
          </a:stretch>
        </p:blipFill>
        <p:spPr>
          <a:xfrm>
            <a:off x="151043" y="4233999"/>
            <a:ext cx="2232135" cy="2302328"/>
          </a:xfrm>
          <a:prstGeom prst="rect">
            <a:avLst/>
          </a:prstGeom>
        </p:spPr>
      </p:pic>
      <p:pic>
        <p:nvPicPr>
          <p:cNvPr id="11" name="Picture 10" descr="A screenshot of a computer program&#10;&#10;AI-generated content may be incorrect.">
            <a:extLst>
              <a:ext uri="{FF2B5EF4-FFF2-40B4-BE49-F238E27FC236}">
                <a16:creationId xmlns:a16="http://schemas.microsoft.com/office/drawing/2014/main" id="{F04A0F47-5202-9AB7-6CD4-F88A003AD3BA}"/>
              </a:ext>
            </a:extLst>
          </p:cNvPr>
          <p:cNvPicPr>
            <a:picLocks noChangeAspect="1"/>
          </p:cNvPicPr>
          <p:nvPr/>
        </p:nvPicPr>
        <p:blipFill>
          <a:blip r:embed="rId3"/>
          <a:stretch>
            <a:fillRect/>
          </a:stretch>
        </p:blipFill>
        <p:spPr>
          <a:xfrm>
            <a:off x="2539232" y="4233999"/>
            <a:ext cx="2653101" cy="2480763"/>
          </a:xfrm>
          <a:prstGeom prst="rect">
            <a:avLst/>
          </a:prstGeom>
        </p:spPr>
      </p:pic>
    </p:spTree>
    <p:extLst>
      <p:ext uri="{BB962C8B-B14F-4D97-AF65-F5344CB8AC3E}">
        <p14:creationId xmlns:p14="http://schemas.microsoft.com/office/powerpoint/2010/main" val="11909453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E5385C-4AC1-EFD6-4BC3-F510F046661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5783B4C-A886-40F9-B549-6921F6779920}"/>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10/01/2026</a:t>
            </a:r>
          </a:p>
        </p:txBody>
      </p:sp>
      <p:sp>
        <p:nvSpPr>
          <p:cNvPr id="2" name="TextBox 1">
            <a:extLst>
              <a:ext uri="{FF2B5EF4-FFF2-40B4-BE49-F238E27FC236}">
                <a16:creationId xmlns:a16="http://schemas.microsoft.com/office/drawing/2014/main" id="{FD089D99-A04A-3305-F160-D0142583CD36}"/>
              </a:ext>
            </a:extLst>
          </p:cNvPr>
          <p:cNvSpPr txBox="1"/>
          <p:nvPr/>
        </p:nvSpPr>
        <p:spPr>
          <a:xfrm>
            <a:off x="5651845" y="121250"/>
            <a:ext cx="2112147" cy="5847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V.0.5.1, V0.5.2</a:t>
            </a:r>
          </a:p>
        </p:txBody>
      </p:sp>
      <p:sp>
        <p:nvSpPr>
          <p:cNvPr id="3" name="TextBox 2">
            <a:extLst>
              <a:ext uri="{FF2B5EF4-FFF2-40B4-BE49-F238E27FC236}">
                <a16:creationId xmlns:a16="http://schemas.microsoft.com/office/drawing/2014/main" id="{F2517612-01E7-BAF9-09FE-13F78E659030}"/>
              </a:ext>
            </a:extLst>
          </p:cNvPr>
          <p:cNvSpPr txBox="1"/>
          <p:nvPr/>
        </p:nvSpPr>
        <p:spPr>
          <a:xfrm>
            <a:off x="-1" y="167417"/>
            <a:ext cx="5521217" cy="504753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The enemies now successfully move independently, and the enemy parent is no more.</a:t>
            </a:r>
          </a:p>
          <a:p>
            <a:endParaRPr lang="en-GB" sz="1400" dirty="0"/>
          </a:p>
          <a:p>
            <a:r>
              <a:rPr lang="en-GB" sz="1400" dirty="0"/>
              <a:t>The reason for showing build V.0.5.2 is because for safety reasons build V.0.5.1 which as the current enemy parent will have the parent safely removed in build V.0.5.2 to ensure the enemies are 100% independent in both their movement and behaviour. It’s also to ensure that if removing the parent causes issues, I can fall back to build V.0.5.1 for a re-attempt. This is learning from build V.0.4.7.5.</a:t>
            </a:r>
          </a:p>
          <a:p>
            <a:endParaRPr lang="en-GB" sz="1400" dirty="0"/>
          </a:p>
          <a:p>
            <a:r>
              <a:rPr lang="en-GB" sz="1400" dirty="0"/>
              <a:t>I used the word ‘enemy’ as a placeholder for my code, but now to stick with the game, all code containing the word enemy will be replaced by ‘</a:t>
            </a:r>
            <a:r>
              <a:rPr lang="en-GB" sz="1400" dirty="0" err="1"/>
              <a:t>amcd</a:t>
            </a:r>
            <a:r>
              <a:rPr lang="en-GB" sz="1400" dirty="0"/>
              <a:t>’. This will not disrupt any code and will just be changing the variables names. This just makes it easier for me to remember the variables names.</a:t>
            </a:r>
          </a:p>
          <a:p>
            <a:endParaRPr lang="en-GB" sz="1400" dirty="0"/>
          </a:p>
          <a:p>
            <a:r>
              <a:rPr lang="en-GB" sz="1400" dirty="0"/>
              <a:t>I have also added office/zone 0 into the enemies’ movement.</a:t>
            </a:r>
          </a:p>
          <a:p>
            <a:endParaRPr lang="en-GB" sz="1400" dirty="0"/>
          </a:p>
          <a:p>
            <a:r>
              <a:rPr lang="en-GB" sz="1400" dirty="0"/>
              <a:t>The way the scripts work for enemies is like this. The script for enemy movement syncs with the camera controller into identifying where the enemy is and this will help with the </a:t>
            </a:r>
            <a:r>
              <a:rPr lang="en-GB" sz="1400" dirty="0" err="1"/>
              <a:t>is_watched</a:t>
            </a:r>
            <a:r>
              <a:rPr lang="en-GB" sz="1400" dirty="0"/>
              <a:t> section. Script </a:t>
            </a:r>
            <a:r>
              <a:rPr lang="en-GB" sz="1400" dirty="0" err="1"/>
              <a:t>amcd</a:t>
            </a:r>
            <a:r>
              <a:rPr lang="en-GB" sz="1400" dirty="0"/>
              <a:t> zone position is used to have the enemies physically move to different zones.</a:t>
            </a:r>
          </a:p>
        </p:txBody>
      </p:sp>
      <p:sp>
        <p:nvSpPr>
          <p:cNvPr id="6" name="TextBox 5">
            <a:extLst>
              <a:ext uri="{FF2B5EF4-FFF2-40B4-BE49-F238E27FC236}">
                <a16:creationId xmlns:a16="http://schemas.microsoft.com/office/drawing/2014/main" id="{F039A6F8-5252-52F2-80E9-E31FE5AC0846}"/>
              </a:ext>
            </a:extLst>
          </p:cNvPr>
          <p:cNvSpPr txBox="1"/>
          <p:nvPr/>
        </p:nvSpPr>
        <p:spPr>
          <a:xfrm>
            <a:off x="9511393" y="559554"/>
            <a:ext cx="26806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a:t>
            </a:r>
          </a:p>
          <a:p>
            <a:endParaRPr lang="en-GB" sz="1200" dirty="0"/>
          </a:p>
          <a:p>
            <a:r>
              <a:rPr lang="en-GB" sz="1200" dirty="0"/>
              <a:t>Have enemies only go to zone 0 if </a:t>
            </a:r>
            <a:r>
              <a:rPr lang="en-GB" sz="1200" dirty="0" err="1"/>
              <a:t>left_door_open</a:t>
            </a:r>
            <a:r>
              <a:rPr lang="en-GB" sz="1200" dirty="0"/>
              <a:t> or right door state = true.</a:t>
            </a:r>
          </a:p>
          <a:p>
            <a:endParaRPr lang="en-GB" sz="1200" dirty="0"/>
          </a:p>
          <a:p>
            <a:r>
              <a:rPr lang="en-GB" sz="1200" dirty="0"/>
              <a:t>Have enemies not attack before 5 seconds of being </a:t>
            </a:r>
            <a:r>
              <a:rPr lang="en-GB" sz="1200"/>
              <a:t>at an </a:t>
            </a:r>
            <a:r>
              <a:rPr lang="en-GB" sz="1200" dirty="0"/>
              <a:t>open door.</a:t>
            </a:r>
          </a:p>
          <a:p>
            <a:endParaRPr lang="en-GB" sz="1200" dirty="0"/>
          </a:p>
          <a:p>
            <a:endParaRPr lang="en-GB" sz="1200" dirty="0"/>
          </a:p>
        </p:txBody>
      </p:sp>
      <p:pic>
        <p:nvPicPr>
          <p:cNvPr id="7" name="Picture 6" descr="A screenshot of a computer&#10;&#10;AI-generated content may be incorrect.">
            <a:extLst>
              <a:ext uri="{FF2B5EF4-FFF2-40B4-BE49-F238E27FC236}">
                <a16:creationId xmlns:a16="http://schemas.microsoft.com/office/drawing/2014/main" id="{8E5BA216-CC04-F237-15BE-8FC6B51B291E}"/>
              </a:ext>
            </a:extLst>
          </p:cNvPr>
          <p:cNvPicPr>
            <a:picLocks noChangeAspect="1"/>
          </p:cNvPicPr>
          <p:nvPr/>
        </p:nvPicPr>
        <p:blipFill>
          <a:blip r:embed="rId2"/>
          <a:stretch>
            <a:fillRect/>
          </a:stretch>
        </p:blipFill>
        <p:spPr>
          <a:xfrm>
            <a:off x="161751" y="5490265"/>
            <a:ext cx="2495898" cy="1200318"/>
          </a:xfrm>
          <a:prstGeom prst="rect">
            <a:avLst/>
          </a:prstGeom>
        </p:spPr>
      </p:pic>
      <p:pic>
        <p:nvPicPr>
          <p:cNvPr id="8" name="Picture 7" descr="A black screen with orange text&#10;&#10;AI-generated content may be incorrect.">
            <a:extLst>
              <a:ext uri="{FF2B5EF4-FFF2-40B4-BE49-F238E27FC236}">
                <a16:creationId xmlns:a16="http://schemas.microsoft.com/office/drawing/2014/main" id="{EADB4082-A159-5C5A-559F-1972D89E9176}"/>
              </a:ext>
            </a:extLst>
          </p:cNvPr>
          <p:cNvPicPr>
            <a:picLocks noChangeAspect="1"/>
          </p:cNvPicPr>
          <p:nvPr/>
        </p:nvPicPr>
        <p:blipFill>
          <a:blip r:embed="rId3"/>
          <a:stretch>
            <a:fillRect/>
          </a:stretch>
        </p:blipFill>
        <p:spPr>
          <a:xfrm>
            <a:off x="2992568" y="5970091"/>
            <a:ext cx="4639322" cy="600159"/>
          </a:xfrm>
          <a:prstGeom prst="rect">
            <a:avLst/>
          </a:prstGeom>
        </p:spPr>
      </p:pic>
      <p:pic>
        <p:nvPicPr>
          <p:cNvPr id="10" name="Picture 9" descr="A screenshot of a computer&#10;&#10;AI-generated content may be incorrect.">
            <a:extLst>
              <a:ext uri="{FF2B5EF4-FFF2-40B4-BE49-F238E27FC236}">
                <a16:creationId xmlns:a16="http://schemas.microsoft.com/office/drawing/2014/main" id="{0D889BAB-B59F-F22F-5F93-AFB9C0EEA41E}"/>
              </a:ext>
            </a:extLst>
          </p:cNvPr>
          <p:cNvPicPr>
            <a:picLocks noChangeAspect="1"/>
          </p:cNvPicPr>
          <p:nvPr/>
        </p:nvPicPr>
        <p:blipFill>
          <a:blip r:embed="rId4"/>
          <a:stretch>
            <a:fillRect/>
          </a:stretch>
        </p:blipFill>
        <p:spPr>
          <a:xfrm>
            <a:off x="5632957" y="3181064"/>
            <a:ext cx="3997866" cy="2649028"/>
          </a:xfrm>
          <a:prstGeom prst="rect">
            <a:avLst/>
          </a:prstGeom>
        </p:spPr>
      </p:pic>
      <p:pic>
        <p:nvPicPr>
          <p:cNvPr id="12" name="Picture 11" descr="A screenshot of a computer&#10;&#10;AI-generated content may be incorrect.">
            <a:extLst>
              <a:ext uri="{FF2B5EF4-FFF2-40B4-BE49-F238E27FC236}">
                <a16:creationId xmlns:a16="http://schemas.microsoft.com/office/drawing/2014/main" id="{7414E0B5-B1B1-8872-9E1E-A8C52293A9BC}"/>
              </a:ext>
            </a:extLst>
          </p:cNvPr>
          <p:cNvPicPr>
            <a:picLocks noChangeAspect="1"/>
          </p:cNvPicPr>
          <p:nvPr/>
        </p:nvPicPr>
        <p:blipFill>
          <a:blip r:embed="rId5"/>
          <a:stretch>
            <a:fillRect/>
          </a:stretch>
        </p:blipFill>
        <p:spPr>
          <a:xfrm>
            <a:off x="5549446" y="1027908"/>
            <a:ext cx="3471400" cy="2032879"/>
          </a:xfrm>
          <a:prstGeom prst="rect">
            <a:avLst/>
          </a:prstGeom>
        </p:spPr>
      </p:pic>
    </p:spTree>
    <p:extLst>
      <p:ext uri="{BB962C8B-B14F-4D97-AF65-F5344CB8AC3E}">
        <p14:creationId xmlns:p14="http://schemas.microsoft.com/office/powerpoint/2010/main" val="24885933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118D07-B83F-4671-D82E-D25B30B699B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31F523C-CF87-CC38-2BCA-B282ECE17B10}"/>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11/01/2026</a:t>
            </a:r>
          </a:p>
        </p:txBody>
      </p:sp>
      <p:sp>
        <p:nvSpPr>
          <p:cNvPr id="2" name="TextBox 1">
            <a:extLst>
              <a:ext uri="{FF2B5EF4-FFF2-40B4-BE49-F238E27FC236}">
                <a16:creationId xmlns:a16="http://schemas.microsoft.com/office/drawing/2014/main" id="{A31C1D47-A3C3-4374-58DA-46639D6A5CF2}"/>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V.0.5.4</a:t>
            </a:r>
          </a:p>
        </p:txBody>
      </p:sp>
      <p:sp>
        <p:nvSpPr>
          <p:cNvPr id="3" name="TextBox 2">
            <a:extLst>
              <a:ext uri="{FF2B5EF4-FFF2-40B4-BE49-F238E27FC236}">
                <a16:creationId xmlns:a16="http://schemas.microsoft.com/office/drawing/2014/main" id="{D72543A6-87FB-A723-FAEC-C3DC0A4D5BE3}"/>
              </a:ext>
            </a:extLst>
          </p:cNvPr>
          <p:cNvSpPr txBox="1"/>
          <p:nvPr/>
        </p:nvSpPr>
        <p:spPr>
          <a:xfrm>
            <a:off x="0" y="121250"/>
            <a:ext cx="5576207" cy="310854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I have added alarms to Gwiber which  trigger after how many frames have pasted, essentially the alarms are countdowns to execute their code, then in their code, Gwiber determines which zone it can move to and if it’s able to go to zone 0 the office.</a:t>
            </a:r>
          </a:p>
          <a:p>
            <a:endParaRPr lang="en-GB" sz="1400" dirty="0"/>
          </a:p>
          <a:p>
            <a:r>
              <a:rPr lang="en-GB" sz="1400" dirty="0"/>
              <a:t>The code that tells Gwiber what to do when in zone 2 in deciding if it can move to zone 0 only if </a:t>
            </a:r>
            <a:r>
              <a:rPr lang="en-GB" sz="1400" dirty="0" err="1"/>
              <a:t>left_door_open</a:t>
            </a:r>
            <a:r>
              <a:rPr lang="en-GB" sz="1400" dirty="0"/>
              <a:t> = true is the same format used for having Gwiber determine what zone its in and what zones to go to instead.</a:t>
            </a:r>
          </a:p>
          <a:p>
            <a:endParaRPr lang="en-GB" sz="1400" dirty="0"/>
          </a:p>
          <a:p>
            <a:r>
              <a:rPr lang="en-GB" sz="1400" dirty="0"/>
              <a:t>The code now makes it so that each zone Gwiber gives him options of which zone it can move to based on certain variables. More specifically zone 2 where Gwiber can only go to zone 0 IF the door is open.</a:t>
            </a:r>
          </a:p>
        </p:txBody>
      </p:sp>
      <p:sp>
        <p:nvSpPr>
          <p:cNvPr id="6" name="TextBox 5">
            <a:extLst>
              <a:ext uri="{FF2B5EF4-FFF2-40B4-BE49-F238E27FC236}">
                <a16:creationId xmlns:a16="http://schemas.microsoft.com/office/drawing/2014/main" id="{C56E8C47-CCBF-44D9-9D77-3959980595D9}"/>
              </a:ext>
            </a:extLst>
          </p:cNvPr>
          <p:cNvSpPr txBox="1"/>
          <p:nvPr/>
        </p:nvSpPr>
        <p:spPr>
          <a:xfrm>
            <a:off x="9135836" y="584730"/>
            <a:ext cx="26806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To do next session</a:t>
            </a:r>
          </a:p>
          <a:p>
            <a:endParaRPr lang="en-GB" sz="1200" dirty="0"/>
          </a:p>
          <a:p>
            <a:r>
              <a:rPr lang="en-GB" sz="1200" dirty="0"/>
              <a:t>Next session is to make current game into build V.0.5.5, this version is to be the most critical point where all the enemies code is set (doesn’t need tinkering yet) and from that point the game is in a stable runnable state.</a:t>
            </a:r>
          </a:p>
          <a:p>
            <a:endParaRPr lang="en-GB" sz="1200" dirty="0"/>
          </a:p>
          <a:p>
            <a:endParaRPr lang="en-GB" sz="1200" dirty="0"/>
          </a:p>
        </p:txBody>
      </p:sp>
      <p:pic>
        <p:nvPicPr>
          <p:cNvPr id="13" name="Picture 12" descr="A screenshot of a computer program&#10;&#10;AI-generated content may be incorrect.">
            <a:extLst>
              <a:ext uri="{FF2B5EF4-FFF2-40B4-BE49-F238E27FC236}">
                <a16:creationId xmlns:a16="http://schemas.microsoft.com/office/drawing/2014/main" id="{0575A016-B5C9-0C09-4C94-5D6414BCE293}"/>
              </a:ext>
            </a:extLst>
          </p:cNvPr>
          <p:cNvPicPr>
            <a:picLocks noChangeAspect="1"/>
          </p:cNvPicPr>
          <p:nvPr/>
        </p:nvPicPr>
        <p:blipFill>
          <a:blip r:embed="rId2"/>
          <a:stretch>
            <a:fillRect/>
          </a:stretch>
        </p:blipFill>
        <p:spPr>
          <a:xfrm>
            <a:off x="0" y="3128498"/>
            <a:ext cx="3046560" cy="3729502"/>
          </a:xfrm>
          <a:prstGeom prst="rect">
            <a:avLst/>
          </a:prstGeom>
        </p:spPr>
      </p:pic>
      <p:pic>
        <p:nvPicPr>
          <p:cNvPr id="7" name="Picture 6" descr="A screen shot of a computer program&#10;&#10;AI-generated content may be incorrect.">
            <a:extLst>
              <a:ext uri="{FF2B5EF4-FFF2-40B4-BE49-F238E27FC236}">
                <a16:creationId xmlns:a16="http://schemas.microsoft.com/office/drawing/2014/main" id="{CEB98659-AD81-B502-ADB4-D73692DD7046}"/>
              </a:ext>
            </a:extLst>
          </p:cNvPr>
          <p:cNvPicPr>
            <a:picLocks noChangeAspect="1"/>
          </p:cNvPicPr>
          <p:nvPr/>
        </p:nvPicPr>
        <p:blipFill>
          <a:blip r:embed="rId3"/>
          <a:stretch>
            <a:fillRect/>
          </a:stretch>
        </p:blipFill>
        <p:spPr>
          <a:xfrm>
            <a:off x="3348169" y="3649436"/>
            <a:ext cx="5081495" cy="2711188"/>
          </a:xfrm>
          <a:prstGeom prst="rect">
            <a:avLst/>
          </a:prstGeom>
        </p:spPr>
      </p:pic>
      <p:sp>
        <p:nvSpPr>
          <p:cNvPr id="8" name="TextBox 7">
            <a:extLst>
              <a:ext uri="{FF2B5EF4-FFF2-40B4-BE49-F238E27FC236}">
                <a16:creationId xmlns:a16="http://schemas.microsoft.com/office/drawing/2014/main" id="{F13E88DE-B1DA-141E-A39C-77C4D652B48B}"/>
              </a:ext>
            </a:extLst>
          </p:cNvPr>
          <p:cNvSpPr txBox="1"/>
          <p:nvPr/>
        </p:nvSpPr>
        <p:spPr>
          <a:xfrm>
            <a:off x="5651845" y="497376"/>
            <a:ext cx="3394184" cy="3539430"/>
          </a:xfrm>
          <a:prstGeom prst="rect">
            <a:avLst/>
          </a:prstGeom>
          <a:noFill/>
          <a:ln>
            <a:solidFill>
              <a:schemeClr val="tx1"/>
            </a:solidFill>
          </a:ln>
        </p:spPr>
        <p:txBody>
          <a:bodyPr wrap="square" rtlCol="0">
            <a:spAutoFit/>
          </a:bodyPr>
          <a:lstStyle/>
          <a:p>
            <a:r>
              <a:rPr lang="en-GB" sz="1400" dirty="0"/>
              <a:t>In addition, this specific code format not only makes each enemy independent but also make sit easier to code their behaviours.</a:t>
            </a:r>
          </a:p>
          <a:p>
            <a:endParaRPr lang="en-GB" sz="1400" dirty="0"/>
          </a:p>
          <a:p>
            <a:r>
              <a:rPr lang="en-GB" sz="1400" dirty="0"/>
              <a:t>For example, Arach, an enemy that doesn’t move like the others can just remain in zone 5 and only access zone 0 or change to zone 4 using the same line of code for what’s used in zone 2.</a:t>
            </a:r>
          </a:p>
          <a:p>
            <a:endParaRPr lang="en-GB" sz="1400" dirty="0"/>
          </a:p>
          <a:p>
            <a:r>
              <a:rPr lang="en-GB" sz="1400" dirty="0"/>
              <a:t>Also, this code can allow me to restrict their movement. Example, Gwiber can only move throughout the left side zones.</a:t>
            </a:r>
          </a:p>
          <a:p>
            <a:endParaRPr lang="en-GB" sz="1400" dirty="0"/>
          </a:p>
          <a:p>
            <a:endParaRPr lang="en-GB" sz="1400" dirty="0"/>
          </a:p>
        </p:txBody>
      </p:sp>
    </p:spTree>
    <p:extLst>
      <p:ext uri="{BB962C8B-B14F-4D97-AF65-F5344CB8AC3E}">
        <p14:creationId xmlns:p14="http://schemas.microsoft.com/office/powerpoint/2010/main" val="365925792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82D8A3-7B8F-3B4D-A44A-3B98A99A907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05A0D19-4D0C-4B2A-4958-31A0624144EB}"/>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14/01/2026</a:t>
            </a:r>
          </a:p>
        </p:txBody>
      </p:sp>
      <p:sp>
        <p:nvSpPr>
          <p:cNvPr id="2" name="TextBox 1">
            <a:extLst>
              <a:ext uri="{FF2B5EF4-FFF2-40B4-BE49-F238E27FC236}">
                <a16:creationId xmlns:a16="http://schemas.microsoft.com/office/drawing/2014/main" id="{B990C352-E552-B533-904D-3E71A0C206A4}"/>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V.0.5.5</a:t>
            </a:r>
          </a:p>
        </p:txBody>
      </p:sp>
      <p:sp>
        <p:nvSpPr>
          <p:cNvPr id="3" name="TextBox 2">
            <a:extLst>
              <a:ext uri="{FF2B5EF4-FFF2-40B4-BE49-F238E27FC236}">
                <a16:creationId xmlns:a16="http://schemas.microsoft.com/office/drawing/2014/main" id="{E71E81A6-2768-2FB0-A3B9-0F0338062350}"/>
              </a:ext>
            </a:extLst>
          </p:cNvPr>
          <p:cNvSpPr txBox="1"/>
          <p:nvPr/>
        </p:nvSpPr>
        <p:spPr>
          <a:xfrm>
            <a:off x="0" y="152027"/>
            <a:ext cx="5576207" cy="286232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Gwiber officially moves and no longer requires an alarm. Gwiber reacts and calculates whether it is being watched and what zone it can move to. Gwiber also reacts to the doors state, knowing when the door is or is not open.</a:t>
            </a:r>
          </a:p>
          <a:p>
            <a:endParaRPr lang="en-GB" sz="1200" dirty="0"/>
          </a:p>
          <a:p>
            <a:r>
              <a:rPr lang="en-GB" sz="1200" dirty="0" err="1"/>
              <a:t>Gwiber’s</a:t>
            </a:r>
            <a:r>
              <a:rPr lang="en-GB" sz="1200" dirty="0"/>
              <a:t> movement is working as intended, delaying itself when watched, rolling its chance to move and to which zones are available to move to.</a:t>
            </a:r>
          </a:p>
          <a:p>
            <a:endParaRPr lang="en-GB" sz="1200" dirty="0"/>
          </a:p>
          <a:p>
            <a:r>
              <a:rPr lang="en-GB" sz="1200" dirty="0"/>
              <a:t>The key thing with this enemies, code is the lack of alarms. Instead of them I used Move timers. The move timers tell Gwiber the time until it should move. This also worked perfectly with the </a:t>
            </a:r>
            <a:r>
              <a:rPr lang="en-GB" sz="1200" dirty="0" err="1"/>
              <a:t>is_watched</a:t>
            </a:r>
            <a:r>
              <a:rPr lang="en-GB" sz="1200" dirty="0"/>
              <a:t> movement delay. This code though did come with some issues such has door sprites disappearing despite normal behaviour and </a:t>
            </a:r>
            <a:r>
              <a:rPr lang="en-GB" sz="1200" dirty="0" err="1"/>
              <a:t>Gwibers</a:t>
            </a:r>
            <a:r>
              <a:rPr lang="en-GB" sz="1200" dirty="0"/>
              <a:t> very low chance of going into zone 1.</a:t>
            </a:r>
          </a:p>
          <a:p>
            <a:endParaRPr lang="en-GB" sz="1200" dirty="0"/>
          </a:p>
          <a:p>
            <a:r>
              <a:rPr lang="en-GB" sz="1200" dirty="0"/>
              <a:t>The best part is that Gwiber has basically 1% relation to </a:t>
            </a:r>
            <a:r>
              <a:rPr lang="en-GB" sz="1200" dirty="0" err="1"/>
              <a:t>global.current_zone</a:t>
            </a:r>
            <a:r>
              <a:rPr lang="en-GB" sz="1200" dirty="0"/>
              <a:t> which was theorised to be the cause of previous problems.</a:t>
            </a:r>
          </a:p>
        </p:txBody>
      </p:sp>
      <p:sp>
        <p:nvSpPr>
          <p:cNvPr id="6" name="TextBox 5">
            <a:extLst>
              <a:ext uri="{FF2B5EF4-FFF2-40B4-BE49-F238E27FC236}">
                <a16:creationId xmlns:a16="http://schemas.microsoft.com/office/drawing/2014/main" id="{A73144A0-1615-3C12-C65C-A1A0E7AB63BD}"/>
              </a:ext>
            </a:extLst>
          </p:cNvPr>
          <p:cNvSpPr txBox="1"/>
          <p:nvPr/>
        </p:nvSpPr>
        <p:spPr>
          <a:xfrm>
            <a:off x="5651845" y="2283607"/>
            <a:ext cx="3307343" cy="122341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Refine </a:t>
            </a:r>
            <a:r>
              <a:rPr lang="en-GB" sz="1050" dirty="0" err="1"/>
              <a:t>Gwiber’s</a:t>
            </a:r>
            <a:r>
              <a:rPr lang="en-GB" sz="1050" dirty="0"/>
              <a:t> code. Gwiber might be moving but he doesn’t have much in terms of behaviour such as delayed movement in zone 0 before jump scare, sounds and speed.</a:t>
            </a:r>
          </a:p>
          <a:p>
            <a:endParaRPr lang="en-GB" sz="1050" dirty="0"/>
          </a:p>
        </p:txBody>
      </p:sp>
      <p:pic>
        <p:nvPicPr>
          <p:cNvPr id="9" name="Picture 8" descr="A screenshot of a computer program&#10;&#10;AI-generated content may be incorrect.">
            <a:extLst>
              <a:ext uri="{FF2B5EF4-FFF2-40B4-BE49-F238E27FC236}">
                <a16:creationId xmlns:a16="http://schemas.microsoft.com/office/drawing/2014/main" id="{AD60EDFF-9126-A283-EAF4-804EE44BF60D}"/>
              </a:ext>
            </a:extLst>
          </p:cNvPr>
          <p:cNvPicPr>
            <a:picLocks noChangeAspect="1"/>
          </p:cNvPicPr>
          <p:nvPr/>
        </p:nvPicPr>
        <p:blipFill>
          <a:blip r:embed="rId2"/>
          <a:stretch>
            <a:fillRect/>
          </a:stretch>
        </p:blipFill>
        <p:spPr>
          <a:xfrm>
            <a:off x="244928" y="3525028"/>
            <a:ext cx="4378585" cy="3112201"/>
          </a:xfrm>
          <a:prstGeom prst="rect">
            <a:avLst/>
          </a:prstGeom>
        </p:spPr>
      </p:pic>
      <p:pic>
        <p:nvPicPr>
          <p:cNvPr id="11" name="Picture 10" descr="A screen shot of a computer program&#10;&#10;AI-generated content may be incorrect.">
            <a:extLst>
              <a:ext uri="{FF2B5EF4-FFF2-40B4-BE49-F238E27FC236}">
                <a16:creationId xmlns:a16="http://schemas.microsoft.com/office/drawing/2014/main" id="{A47FE8C5-CF31-C1D5-DF77-CFA577455A30}"/>
              </a:ext>
            </a:extLst>
          </p:cNvPr>
          <p:cNvPicPr>
            <a:picLocks noChangeAspect="1"/>
          </p:cNvPicPr>
          <p:nvPr/>
        </p:nvPicPr>
        <p:blipFill>
          <a:blip r:embed="rId3"/>
          <a:stretch>
            <a:fillRect/>
          </a:stretch>
        </p:blipFill>
        <p:spPr>
          <a:xfrm>
            <a:off x="4814143" y="3607856"/>
            <a:ext cx="4182059" cy="3029373"/>
          </a:xfrm>
          <a:prstGeom prst="rect">
            <a:avLst/>
          </a:prstGeom>
        </p:spPr>
      </p:pic>
      <p:pic>
        <p:nvPicPr>
          <p:cNvPr id="14" name="Picture 13" descr="A screen shot of a computer program&#10;&#10;AI-generated content may be incorrect.">
            <a:extLst>
              <a:ext uri="{FF2B5EF4-FFF2-40B4-BE49-F238E27FC236}">
                <a16:creationId xmlns:a16="http://schemas.microsoft.com/office/drawing/2014/main" id="{491A1334-62CA-420F-5DFA-15FC4F8B56E6}"/>
              </a:ext>
            </a:extLst>
          </p:cNvPr>
          <p:cNvPicPr>
            <a:picLocks noChangeAspect="1"/>
          </p:cNvPicPr>
          <p:nvPr/>
        </p:nvPicPr>
        <p:blipFill>
          <a:blip r:embed="rId4"/>
          <a:stretch>
            <a:fillRect/>
          </a:stretch>
        </p:blipFill>
        <p:spPr>
          <a:xfrm>
            <a:off x="9074180" y="2334702"/>
            <a:ext cx="3005168" cy="2667800"/>
          </a:xfrm>
          <a:prstGeom prst="rect">
            <a:avLst/>
          </a:prstGeom>
        </p:spPr>
      </p:pic>
      <p:pic>
        <p:nvPicPr>
          <p:cNvPr id="16" name="Picture 15" descr="A computer screen shot of a program code&#10;&#10;AI-generated content may be incorrect.">
            <a:extLst>
              <a:ext uri="{FF2B5EF4-FFF2-40B4-BE49-F238E27FC236}">
                <a16:creationId xmlns:a16="http://schemas.microsoft.com/office/drawing/2014/main" id="{C010A13C-B8AE-9B62-017A-4F5D37539CA9}"/>
              </a:ext>
            </a:extLst>
          </p:cNvPr>
          <p:cNvPicPr>
            <a:picLocks noChangeAspect="1"/>
          </p:cNvPicPr>
          <p:nvPr/>
        </p:nvPicPr>
        <p:blipFill>
          <a:blip r:embed="rId5"/>
          <a:srcRect t="5113" r="1600" b="18002"/>
          <a:stretch>
            <a:fillRect/>
          </a:stretch>
        </p:blipFill>
        <p:spPr>
          <a:xfrm>
            <a:off x="5651845" y="476261"/>
            <a:ext cx="5671229" cy="1779815"/>
          </a:xfrm>
          <a:prstGeom prst="rect">
            <a:avLst/>
          </a:prstGeom>
        </p:spPr>
      </p:pic>
      <p:sp>
        <p:nvSpPr>
          <p:cNvPr id="17" name="TextBox 16">
            <a:extLst>
              <a:ext uri="{FF2B5EF4-FFF2-40B4-BE49-F238E27FC236}">
                <a16:creationId xmlns:a16="http://schemas.microsoft.com/office/drawing/2014/main" id="{BB773F2C-1740-6DB8-CE63-90FE5236C780}"/>
              </a:ext>
            </a:extLst>
          </p:cNvPr>
          <p:cNvSpPr txBox="1"/>
          <p:nvPr/>
        </p:nvSpPr>
        <p:spPr>
          <a:xfrm>
            <a:off x="9035191" y="5002502"/>
            <a:ext cx="3083145" cy="17081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 2</a:t>
            </a:r>
          </a:p>
          <a:p>
            <a:endParaRPr lang="en-GB" sz="1050" dirty="0"/>
          </a:p>
          <a:p>
            <a:r>
              <a:rPr lang="en-GB" sz="1050" dirty="0"/>
              <a:t>Create SFX for objects</a:t>
            </a:r>
          </a:p>
          <a:p>
            <a:endParaRPr lang="en-GB" sz="1050" dirty="0"/>
          </a:p>
          <a:p>
            <a:r>
              <a:rPr lang="en-GB" sz="1050" dirty="0"/>
              <a:t>Begin writing Script for Game Start</a:t>
            </a:r>
          </a:p>
          <a:p>
            <a:endParaRPr lang="en-GB" sz="1050" dirty="0"/>
          </a:p>
          <a:p>
            <a:r>
              <a:rPr lang="en-GB" sz="1050" dirty="0"/>
              <a:t>Death Screen</a:t>
            </a:r>
          </a:p>
          <a:p>
            <a:endParaRPr lang="en-GB" sz="1050" dirty="0"/>
          </a:p>
          <a:p>
            <a:r>
              <a:rPr lang="en-GB" sz="1050" dirty="0"/>
              <a:t>Make more zones if possible.</a:t>
            </a:r>
          </a:p>
          <a:p>
            <a:endParaRPr lang="en-GB" sz="1050" dirty="0"/>
          </a:p>
        </p:txBody>
      </p:sp>
    </p:spTree>
    <p:extLst>
      <p:ext uri="{BB962C8B-B14F-4D97-AF65-F5344CB8AC3E}">
        <p14:creationId xmlns:p14="http://schemas.microsoft.com/office/powerpoint/2010/main" val="389105326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82D8A3-7B8F-3B4D-A44A-3B98A99A907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05A0D19-4D0C-4B2A-4958-31A0624144EB}"/>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16/01/2026</a:t>
            </a:r>
          </a:p>
        </p:txBody>
      </p:sp>
      <p:sp>
        <p:nvSpPr>
          <p:cNvPr id="2" name="TextBox 1">
            <a:extLst>
              <a:ext uri="{FF2B5EF4-FFF2-40B4-BE49-F238E27FC236}">
                <a16:creationId xmlns:a16="http://schemas.microsoft.com/office/drawing/2014/main" id="{B990C352-E552-B533-904D-3E71A0C206A4}"/>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a:t>
            </a:r>
          </a:p>
        </p:txBody>
      </p:sp>
      <p:sp>
        <p:nvSpPr>
          <p:cNvPr id="3" name="TextBox 2">
            <a:extLst>
              <a:ext uri="{FF2B5EF4-FFF2-40B4-BE49-F238E27FC236}">
                <a16:creationId xmlns:a16="http://schemas.microsoft.com/office/drawing/2014/main" id="{E71E81A6-2768-2FB0-A3B9-0F0338062350}"/>
              </a:ext>
            </a:extLst>
          </p:cNvPr>
          <p:cNvSpPr txBox="1"/>
          <p:nvPr/>
        </p:nvSpPr>
        <p:spPr>
          <a:xfrm>
            <a:off x="0" y="152027"/>
            <a:ext cx="5576207" cy="304698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In this session I begun creating voice-lines for my newly made characters for the first part of the game, the introduction.</a:t>
            </a:r>
          </a:p>
          <a:p>
            <a:endParaRPr lang="en-GB" sz="1200" dirty="0"/>
          </a:p>
          <a:p>
            <a:r>
              <a:rPr lang="en-GB" sz="1200" dirty="0"/>
              <a:t>I’ve also researched throughout the internet for smaller SFX such as Camera Opening, clicking and basic door sounds. I’ve already added a clicking sound to my Camera buttons.</a:t>
            </a:r>
          </a:p>
          <a:p>
            <a:endParaRPr lang="en-GB" sz="1200" dirty="0"/>
          </a:p>
          <a:p>
            <a:r>
              <a:rPr lang="en-GB" sz="1200" dirty="0"/>
              <a:t>The new characters are Rob and ESA.</a:t>
            </a:r>
          </a:p>
          <a:p>
            <a:endParaRPr lang="en-GB" sz="1200" dirty="0"/>
          </a:p>
          <a:p>
            <a:r>
              <a:rPr lang="en-GB" sz="1200" dirty="0"/>
              <a:t>Rob is the now retired security guard who helps settle you into your job role.</a:t>
            </a:r>
          </a:p>
          <a:p>
            <a:endParaRPr lang="en-GB" sz="1200" dirty="0"/>
          </a:p>
          <a:p>
            <a:r>
              <a:rPr lang="en-GB" sz="1200" dirty="0"/>
              <a:t>ESA is an unlikely Ai companion after the devastating Critical Failure affecting the entire facility. ESA stands for Evacuation Safety Assistant.</a:t>
            </a:r>
          </a:p>
          <a:p>
            <a:endParaRPr lang="en-GB" sz="1200" dirty="0"/>
          </a:p>
          <a:p>
            <a:r>
              <a:rPr lang="en-GB" sz="1200" dirty="0"/>
              <a:t>I have also written a word document, a script for the first part of the game, the intro. This is to help future plan animations and storytelling.</a:t>
            </a:r>
          </a:p>
        </p:txBody>
      </p:sp>
      <p:sp>
        <p:nvSpPr>
          <p:cNvPr id="6" name="TextBox 5">
            <a:extLst>
              <a:ext uri="{FF2B5EF4-FFF2-40B4-BE49-F238E27FC236}">
                <a16:creationId xmlns:a16="http://schemas.microsoft.com/office/drawing/2014/main" id="{A73144A0-1615-3C12-C65C-A1A0E7AB63BD}"/>
              </a:ext>
            </a:extLst>
          </p:cNvPr>
          <p:cNvSpPr txBox="1"/>
          <p:nvPr/>
        </p:nvSpPr>
        <p:spPr>
          <a:xfrm>
            <a:off x="8215430" y="971482"/>
            <a:ext cx="3307343" cy="122341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Refine </a:t>
            </a:r>
            <a:r>
              <a:rPr lang="en-GB" sz="1050" dirty="0" err="1"/>
              <a:t>Gwiber’s</a:t>
            </a:r>
            <a:r>
              <a:rPr lang="en-GB" sz="1050" dirty="0"/>
              <a:t> code. Gwiber might be moving but he doesn’t have much in terms of behaviour such as delayed movement in zone 0 before jump scare, sounds and speed.</a:t>
            </a:r>
          </a:p>
          <a:p>
            <a:endParaRPr lang="en-GB" sz="1050" dirty="0"/>
          </a:p>
        </p:txBody>
      </p:sp>
      <p:pic>
        <p:nvPicPr>
          <p:cNvPr id="7" name="Picture 6">
            <a:extLst>
              <a:ext uri="{FF2B5EF4-FFF2-40B4-BE49-F238E27FC236}">
                <a16:creationId xmlns:a16="http://schemas.microsoft.com/office/drawing/2014/main" id="{0D1459EC-013F-C194-16B8-D3B62BC01385}"/>
              </a:ext>
            </a:extLst>
          </p:cNvPr>
          <p:cNvPicPr>
            <a:picLocks noChangeAspect="1"/>
          </p:cNvPicPr>
          <p:nvPr/>
        </p:nvPicPr>
        <p:blipFill>
          <a:blip r:embed="rId2"/>
          <a:stretch>
            <a:fillRect/>
          </a:stretch>
        </p:blipFill>
        <p:spPr>
          <a:xfrm>
            <a:off x="0" y="3257549"/>
            <a:ext cx="3136974" cy="3510643"/>
          </a:xfrm>
          <a:prstGeom prst="rect">
            <a:avLst/>
          </a:prstGeom>
        </p:spPr>
      </p:pic>
      <p:pic>
        <p:nvPicPr>
          <p:cNvPr id="10" name="Picture 9">
            <a:extLst>
              <a:ext uri="{FF2B5EF4-FFF2-40B4-BE49-F238E27FC236}">
                <a16:creationId xmlns:a16="http://schemas.microsoft.com/office/drawing/2014/main" id="{38A5E218-F8C7-3B61-5121-1017DAE4C403}"/>
              </a:ext>
            </a:extLst>
          </p:cNvPr>
          <p:cNvPicPr>
            <a:picLocks noChangeAspect="1"/>
          </p:cNvPicPr>
          <p:nvPr/>
        </p:nvPicPr>
        <p:blipFill>
          <a:blip r:embed="rId3"/>
          <a:stretch>
            <a:fillRect/>
          </a:stretch>
        </p:blipFill>
        <p:spPr>
          <a:xfrm>
            <a:off x="3279473" y="3322864"/>
            <a:ext cx="2007980" cy="3168739"/>
          </a:xfrm>
          <a:prstGeom prst="rect">
            <a:avLst/>
          </a:prstGeom>
        </p:spPr>
      </p:pic>
      <p:pic>
        <p:nvPicPr>
          <p:cNvPr id="13" name="Picture 12">
            <a:extLst>
              <a:ext uri="{FF2B5EF4-FFF2-40B4-BE49-F238E27FC236}">
                <a16:creationId xmlns:a16="http://schemas.microsoft.com/office/drawing/2014/main" id="{FE3E36C1-B5A8-9987-ED52-8ADDEA0B7227}"/>
              </a:ext>
            </a:extLst>
          </p:cNvPr>
          <p:cNvPicPr>
            <a:picLocks noChangeAspect="1"/>
          </p:cNvPicPr>
          <p:nvPr/>
        </p:nvPicPr>
        <p:blipFill>
          <a:blip r:embed="rId4"/>
          <a:stretch>
            <a:fillRect/>
          </a:stretch>
        </p:blipFill>
        <p:spPr>
          <a:xfrm>
            <a:off x="5576207" y="4663107"/>
            <a:ext cx="5153744" cy="1686160"/>
          </a:xfrm>
          <a:prstGeom prst="rect">
            <a:avLst/>
          </a:prstGeom>
        </p:spPr>
      </p:pic>
      <p:pic>
        <p:nvPicPr>
          <p:cNvPr id="18" name="Picture 17">
            <a:extLst>
              <a:ext uri="{FF2B5EF4-FFF2-40B4-BE49-F238E27FC236}">
                <a16:creationId xmlns:a16="http://schemas.microsoft.com/office/drawing/2014/main" id="{8756A3F4-4507-03E6-68D7-47AD98CE3B1F}"/>
              </a:ext>
            </a:extLst>
          </p:cNvPr>
          <p:cNvPicPr>
            <a:picLocks noChangeAspect="1"/>
          </p:cNvPicPr>
          <p:nvPr/>
        </p:nvPicPr>
        <p:blipFill>
          <a:blip r:embed="rId5"/>
          <a:stretch>
            <a:fillRect/>
          </a:stretch>
        </p:blipFill>
        <p:spPr>
          <a:xfrm>
            <a:off x="5429952" y="3683479"/>
            <a:ext cx="6716062" cy="704948"/>
          </a:xfrm>
          <a:prstGeom prst="rect">
            <a:avLst/>
          </a:prstGeom>
        </p:spPr>
      </p:pic>
      <p:sp>
        <p:nvSpPr>
          <p:cNvPr id="19" name="TextBox 18">
            <a:extLst>
              <a:ext uri="{FF2B5EF4-FFF2-40B4-BE49-F238E27FC236}">
                <a16:creationId xmlns:a16="http://schemas.microsoft.com/office/drawing/2014/main" id="{44C16819-E7A4-D348-653C-D9D934529CBE}"/>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8" name="Picture 7" descr="A screenshot of a computer screen&#10;&#10;AI-generated content may be incorrect.">
            <a:extLst>
              <a:ext uri="{FF2B5EF4-FFF2-40B4-BE49-F238E27FC236}">
                <a16:creationId xmlns:a16="http://schemas.microsoft.com/office/drawing/2014/main" id="{B7A6EDD6-433A-1B4B-50AF-8D3B71F79BF1}"/>
              </a:ext>
            </a:extLst>
          </p:cNvPr>
          <p:cNvPicPr>
            <a:picLocks noChangeAspect="1"/>
          </p:cNvPicPr>
          <p:nvPr/>
        </p:nvPicPr>
        <p:blipFill>
          <a:blip r:embed="rId6"/>
          <a:stretch>
            <a:fillRect/>
          </a:stretch>
        </p:blipFill>
        <p:spPr>
          <a:xfrm>
            <a:off x="5677991" y="2447811"/>
            <a:ext cx="2114845" cy="809738"/>
          </a:xfrm>
          <a:prstGeom prst="rect">
            <a:avLst/>
          </a:prstGeom>
        </p:spPr>
      </p:pic>
    </p:spTree>
    <p:extLst>
      <p:ext uri="{BB962C8B-B14F-4D97-AF65-F5344CB8AC3E}">
        <p14:creationId xmlns:p14="http://schemas.microsoft.com/office/powerpoint/2010/main" val="325832002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EC2B3A-BEBF-F44B-2678-AD12220052B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CBB28B7-F361-995F-947D-001C40ECDFBF}"/>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17/01/2026</a:t>
            </a:r>
          </a:p>
        </p:txBody>
      </p:sp>
      <p:sp>
        <p:nvSpPr>
          <p:cNvPr id="2" name="TextBox 1">
            <a:extLst>
              <a:ext uri="{FF2B5EF4-FFF2-40B4-BE49-F238E27FC236}">
                <a16:creationId xmlns:a16="http://schemas.microsoft.com/office/drawing/2014/main" id="{AA92E289-B709-C849-297B-8FC5D01C2DD2}"/>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V.0.6.1</a:t>
            </a:r>
          </a:p>
        </p:txBody>
      </p:sp>
      <p:sp>
        <p:nvSpPr>
          <p:cNvPr id="3" name="TextBox 2">
            <a:extLst>
              <a:ext uri="{FF2B5EF4-FFF2-40B4-BE49-F238E27FC236}">
                <a16:creationId xmlns:a16="http://schemas.microsoft.com/office/drawing/2014/main" id="{0F1E3482-7F5A-4FDE-7C91-37D302F5BFB7}"/>
              </a:ext>
            </a:extLst>
          </p:cNvPr>
          <p:cNvSpPr txBox="1"/>
          <p:nvPr/>
        </p:nvSpPr>
        <p:spPr>
          <a:xfrm>
            <a:off x="0" y="152027"/>
            <a:ext cx="55762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This Build Is the finished refined code for Enemy </a:t>
            </a:r>
            <a:r>
              <a:rPr lang="en-GB" sz="1200" dirty="0" err="1"/>
              <a:t>Gwiber</a:t>
            </a:r>
            <a:r>
              <a:rPr lang="en-GB" sz="1200" dirty="0"/>
              <a:t>.</a:t>
            </a:r>
          </a:p>
          <a:p>
            <a:r>
              <a:rPr lang="en-GB" sz="1200" dirty="0"/>
              <a:t>Mainly what he does while inside of zone 0, the main office.</a:t>
            </a:r>
          </a:p>
          <a:p>
            <a:endParaRPr lang="en-GB" sz="1200" dirty="0"/>
          </a:p>
          <a:p>
            <a:r>
              <a:rPr lang="en-GB" sz="1200" dirty="0"/>
              <a:t>This was done by using timed alarms for when </a:t>
            </a:r>
            <a:r>
              <a:rPr lang="en-GB" sz="1200" dirty="0" err="1"/>
              <a:t>Gwiber</a:t>
            </a:r>
            <a:r>
              <a:rPr lang="en-GB" sz="1200" dirty="0"/>
              <a:t> is in zone 0. Alarm one only triggers when </a:t>
            </a:r>
            <a:r>
              <a:rPr lang="en-GB" sz="1200" dirty="0" err="1"/>
              <a:t>Gwiberpos</a:t>
            </a:r>
            <a:r>
              <a:rPr lang="en-GB" sz="1200" dirty="0"/>
              <a:t> = 0 and </a:t>
            </a:r>
            <a:r>
              <a:rPr lang="en-GB" sz="1200" dirty="0" err="1"/>
              <a:t>door_left_open</a:t>
            </a:r>
            <a:r>
              <a:rPr lang="en-GB" sz="1200" dirty="0"/>
              <a:t> = true same goes for alarm 3 but with the door = false. Alarm 1 triggers after 500 frames and then jump-scares the player. Alarm 3 triggers after 300 frames to then have </a:t>
            </a:r>
            <a:r>
              <a:rPr lang="en-GB" sz="1200" dirty="0" err="1"/>
              <a:t>Gwiber</a:t>
            </a:r>
            <a:r>
              <a:rPr lang="en-GB" sz="1200" dirty="0"/>
              <a:t> change to zone 2.</a:t>
            </a:r>
          </a:p>
          <a:p>
            <a:endParaRPr lang="en-GB" sz="1200" dirty="0"/>
          </a:p>
          <a:p>
            <a:r>
              <a:rPr lang="en-GB" sz="1200" dirty="0"/>
              <a:t>I also finished all of ESA’s voice lines and all of Rob’s Voice Lines using a Text to Speech AI software. I also had to convert them to MP3 to work in Gamemaker.</a:t>
            </a:r>
          </a:p>
        </p:txBody>
      </p:sp>
      <p:sp>
        <p:nvSpPr>
          <p:cNvPr id="6" name="TextBox 5">
            <a:extLst>
              <a:ext uri="{FF2B5EF4-FFF2-40B4-BE49-F238E27FC236}">
                <a16:creationId xmlns:a16="http://schemas.microsoft.com/office/drawing/2014/main" id="{7BFDDCD7-356A-BBD7-B72D-2284BED1C08B}"/>
              </a:ext>
            </a:extLst>
          </p:cNvPr>
          <p:cNvSpPr txBox="1"/>
          <p:nvPr/>
        </p:nvSpPr>
        <p:spPr>
          <a:xfrm>
            <a:off x="8542002" y="612254"/>
            <a:ext cx="3307343" cy="122341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Create sounds for objects.</a:t>
            </a:r>
          </a:p>
          <a:p>
            <a:endParaRPr lang="en-GB" sz="1050" dirty="0"/>
          </a:p>
          <a:p>
            <a:r>
              <a:rPr lang="en-GB" sz="1050" dirty="0"/>
              <a:t>Begin storyboarding intro sequence.</a:t>
            </a:r>
          </a:p>
          <a:p>
            <a:endParaRPr lang="en-GB" sz="1050" dirty="0"/>
          </a:p>
          <a:p>
            <a:r>
              <a:rPr lang="en-GB" sz="1050" dirty="0"/>
              <a:t>Start Designing Zones.</a:t>
            </a:r>
          </a:p>
        </p:txBody>
      </p:sp>
      <p:sp>
        <p:nvSpPr>
          <p:cNvPr id="19" name="TextBox 18">
            <a:extLst>
              <a:ext uri="{FF2B5EF4-FFF2-40B4-BE49-F238E27FC236}">
                <a16:creationId xmlns:a16="http://schemas.microsoft.com/office/drawing/2014/main" id="{20CFE538-1D18-0E62-7F8D-669AF94CD9B9}"/>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7" name="Picture 6" descr="A computer screen shot of a program&#10;&#10;AI-generated content may be incorrect.">
            <a:extLst>
              <a:ext uri="{FF2B5EF4-FFF2-40B4-BE49-F238E27FC236}">
                <a16:creationId xmlns:a16="http://schemas.microsoft.com/office/drawing/2014/main" id="{B6635DDA-8CA4-E3AF-0C47-AAEC60C373C0}"/>
              </a:ext>
            </a:extLst>
          </p:cNvPr>
          <p:cNvPicPr>
            <a:picLocks noChangeAspect="1"/>
          </p:cNvPicPr>
          <p:nvPr/>
        </p:nvPicPr>
        <p:blipFill>
          <a:blip r:embed="rId2"/>
          <a:stretch>
            <a:fillRect/>
          </a:stretch>
        </p:blipFill>
        <p:spPr>
          <a:xfrm>
            <a:off x="146561" y="2277031"/>
            <a:ext cx="5677692" cy="1781424"/>
          </a:xfrm>
          <a:prstGeom prst="rect">
            <a:avLst/>
          </a:prstGeom>
        </p:spPr>
      </p:pic>
      <p:pic>
        <p:nvPicPr>
          <p:cNvPr id="9" name="Picture 8" descr="A screen shot of a computer&#10;&#10;AI-generated content may be incorrect.">
            <a:extLst>
              <a:ext uri="{FF2B5EF4-FFF2-40B4-BE49-F238E27FC236}">
                <a16:creationId xmlns:a16="http://schemas.microsoft.com/office/drawing/2014/main" id="{77A6A3ED-31F2-6841-7C87-BF39035034EA}"/>
              </a:ext>
            </a:extLst>
          </p:cNvPr>
          <p:cNvPicPr>
            <a:picLocks noChangeAspect="1"/>
          </p:cNvPicPr>
          <p:nvPr/>
        </p:nvPicPr>
        <p:blipFill>
          <a:blip r:embed="rId3"/>
          <a:stretch>
            <a:fillRect/>
          </a:stretch>
        </p:blipFill>
        <p:spPr>
          <a:xfrm>
            <a:off x="411331" y="4156242"/>
            <a:ext cx="4086795" cy="847843"/>
          </a:xfrm>
          <a:prstGeom prst="rect">
            <a:avLst/>
          </a:prstGeom>
        </p:spPr>
      </p:pic>
      <p:pic>
        <p:nvPicPr>
          <p:cNvPr id="11" name="Picture 10">
            <a:extLst>
              <a:ext uri="{FF2B5EF4-FFF2-40B4-BE49-F238E27FC236}">
                <a16:creationId xmlns:a16="http://schemas.microsoft.com/office/drawing/2014/main" id="{7545EF03-9520-CFB0-9439-35A969F7ECE7}"/>
              </a:ext>
            </a:extLst>
          </p:cNvPr>
          <p:cNvPicPr>
            <a:picLocks noChangeAspect="1"/>
          </p:cNvPicPr>
          <p:nvPr/>
        </p:nvPicPr>
        <p:blipFill>
          <a:blip r:embed="rId4"/>
          <a:stretch>
            <a:fillRect/>
          </a:stretch>
        </p:blipFill>
        <p:spPr>
          <a:xfrm>
            <a:off x="546189" y="5359906"/>
            <a:ext cx="1971950" cy="466790"/>
          </a:xfrm>
          <a:prstGeom prst="rect">
            <a:avLst/>
          </a:prstGeom>
        </p:spPr>
      </p:pic>
      <p:sp>
        <p:nvSpPr>
          <p:cNvPr id="12" name="TextBox 11">
            <a:extLst>
              <a:ext uri="{FF2B5EF4-FFF2-40B4-BE49-F238E27FC236}">
                <a16:creationId xmlns:a16="http://schemas.microsoft.com/office/drawing/2014/main" id="{737B9E21-4748-3E51-38B6-B5CC6E836728}"/>
              </a:ext>
            </a:extLst>
          </p:cNvPr>
          <p:cNvSpPr txBox="1"/>
          <p:nvPr/>
        </p:nvSpPr>
        <p:spPr>
          <a:xfrm>
            <a:off x="527957" y="5061439"/>
            <a:ext cx="1004207" cy="369332"/>
          </a:xfrm>
          <a:prstGeom prst="rect">
            <a:avLst/>
          </a:prstGeom>
          <a:noFill/>
        </p:spPr>
        <p:txBody>
          <a:bodyPr wrap="square" rtlCol="0">
            <a:spAutoFit/>
          </a:bodyPr>
          <a:lstStyle/>
          <a:p>
            <a:r>
              <a:rPr lang="en-GB" dirty="0"/>
              <a:t>Alarm 3</a:t>
            </a:r>
          </a:p>
        </p:txBody>
      </p:sp>
      <p:pic>
        <p:nvPicPr>
          <p:cNvPr id="8" name="Picture 7" descr="A screenshot of a computer&#10;&#10;AI-generated content may be incorrect.">
            <a:extLst>
              <a:ext uri="{FF2B5EF4-FFF2-40B4-BE49-F238E27FC236}">
                <a16:creationId xmlns:a16="http://schemas.microsoft.com/office/drawing/2014/main" id="{9E47A17C-0154-1827-6834-5A639929311E}"/>
              </a:ext>
            </a:extLst>
          </p:cNvPr>
          <p:cNvPicPr>
            <a:picLocks noChangeAspect="1"/>
          </p:cNvPicPr>
          <p:nvPr/>
        </p:nvPicPr>
        <p:blipFill>
          <a:blip r:embed="rId5"/>
          <a:stretch>
            <a:fillRect/>
          </a:stretch>
        </p:blipFill>
        <p:spPr>
          <a:xfrm>
            <a:off x="6171653" y="2646503"/>
            <a:ext cx="5677692" cy="3547976"/>
          </a:xfrm>
          <a:prstGeom prst="rect">
            <a:avLst/>
          </a:prstGeom>
        </p:spPr>
      </p:pic>
    </p:spTree>
    <p:extLst>
      <p:ext uri="{BB962C8B-B14F-4D97-AF65-F5344CB8AC3E}">
        <p14:creationId xmlns:p14="http://schemas.microsoft.com/office/powerpoint/2010/main" val="264402636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CCDCD7CC-FF07-70A3-611E-3D7FC910C776}"/>
              </a:ext>
            </a:extLst>
          </p:cNvPr>
          <p:cNvGraphicFramePr>
            <a:graphicFrameLocks noGrp="1"/>
          </p:cNvGraphicFramePr>
          <p:nvPr>
            <p:extLst>
              <p:ext uri="{D42A27DB-BD31-4B8C-83A1-F6EECF244321}">
                <p14:modId xmlns:p14="http://schemas.microsoft.com/office/powerpoint/2010/main" val="3281645487"/>
              </p:ext>
            </p:extLst>
          </p:nvPr>
        </p:nvGraphicFramePr>
        <p:xfrm>
          <a:off x="97155" y="84201"/>
          <a:ext cx="11988463" cy="9726150"/>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572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1 – Build V.0.3</a:t>
                      </a:r>
                    </a:p>
                  </a:txBody>
                  <a:tcPr/>
                </a:tc>
                <a:tc>
                  <a:txBody>
                    <a:bodyPr/>
                    <a:lstStyle/>
                    <a:p>
                      <a:r>
                        <a:rPr lang="en-GB" sz="1100" dirty="0"/>
                        <a:t>rm_office/</a:t>
                      </a:r>
                      <a:r>
                        <a:rPr lang="en-GB" sz="1100" dirty="0" err="1"/>
                        <a:t>rm_start_up_screen_init</a:t>
                      </a:r>
                      <a:endParaRPr lang="en-GB" sz="1100" dirty="0"/>
                    </a:p>
                  </a:txBody>
                  <a:tcPr/>
                </a:tc>
                <a:tc>
                  <a:txBody>
                    <a:bodyPr/>
                    <a:lstStyle/>
                    <a:p>
                      <a:r>
                        <a:rPr lang="en-GB" sz="1100" dirty="0" err="1"/>
                        <a:t>obj_camera</a:t>
                      </a:r>
                      <a:r>
                        <a:rPr lang="en-GB" sz="1100" dirty="0"/>
                        <a:t>, </a:t>
                      </a:r>
                      <a:r>
                        <a:rPr lang="en-GB" sz="1100" dirty="0" err="1"/>
                        <a:t>scr_change_camera</a:t>
                      </a:r>
                      <a:r>
                        <a:rPr lang="en-GB" sz="1100" dirty="0"/>
                        <a:t>, </a:t>
                      </a:r>
                      <a:r>
                        <a:rPr lang="en-GB" sz="1100" dirty="0" err="1"/>
                        <a:t>obj_office</a:t>
                      </a:r>
                      <a:r>
                        <a:rPr lang="en-GB" sz="1100" dirty="0"/>
                        <a:t>, </a:t>
                      </a:r>
                      <a:r>
                        <a:rPr lang="en-GB" sz="1100" dirty="0" err="1"/>
                        <a:t>obj_cam_zone</a:t>
                      </a:r>
                      <a:r>
                        <a:rPr lang="en-GB" sz="1100" dirty="0"/>
                        <a:t> 1-8, Close Up scene zones.</a:t>
                      </a:r>
                    </a:p>
                  </a:txBody>
                  <a:tcPr/>
                </a:tc>
                <a:tc>
                  <a:txBody>
                    <a:bodyPr/>
                    <a:lstStyle/>
                    <a:p>
                      <a:r>
                        <a:rPr lang="en-GB" sz="1100" dirty="0"/>
                        <a:t>When the game runs, the camera goes to the office zone from there the player can click on the doors to move to the close-up door zones. In addition, when Pressing Key C, they change camera view to the Camera Hud Zone where they can interact with the obj_cam_1-8 to change cameras. They can press C again to return to camera Hud or press V to return to office.</a:t>
                      </a:r>
                    </a:p>
                  </a:txBody>
                  <a:tcPr/>
                </a:tc>
                <a:tc>
                  <a:txBody>
                    <a:bodyPr/>
                    <a:lstStyle/>
                    <a:p>
                      <a:r>
                        <a:rPr lang="en-GB" sz="1100" dirty="0"/>
                        <a:t>When the game starts I am taken to the office zone and are able to interact with the buttons and they all go to their respective zones and all keys function properly.</a:t>
                      </a:r>
                    </a:p>
                  </a:txBody>
                  <a:tcPr/>
                </a:tc>
                <a:tc>
                  <a:txBody>
                    <a:bodyPr/>
                    <a:lstStyle/>
                    <a:p>
                      <a:r>
                        <a:rPr lang="en-GB" sz="1100" dirty="0"/>
                        <a:t>During practise with this code I did have to correct the co-ordinates due to them not being accurate, in addition I had issues due to my background being off which caused Duplicates of the zones to appear.</a:t>
                      </a:r>
                    </a:p>
                    <a:p>
                      <a:endParaRPr lang="en-GB" sz="1100" dirty="0"/>
                    </a:p>
                    <a:p>
                      <a:r>
                        <a:rPr lang="en-GB" sz="1100" dirty="0"/>
                        <a:t>Both were fixed by changing the Co-ordinates and turning on background.</a:t>
                      </a:r>
                    </a:p>
                  </a:txBody>
                  <a:tcPr/>
                </a:tc>
                <a:extLst>
                  <a:ext uri="{0D108BD9-81ED-4DB2-BD59-A6C34878D82A}">
                    <a16:rowId xmlns:a16="http://schemas.microsoft.com/office/drawing/2014/main" val="4028166049"/>
                  </a:ext>
                </a:extLst>
              </a:tr>
              <a:tr h="595728">
                <a:tc>
                  <a:txBody>
                    <a:bodyPr/>
                    <a:lstStyle/>
                    <a:p>
                      <a:r>
                        <a:rPr lang="en-GB" sz="1100" dirty="0"/>
                        <a:t>2 – Build V.0.4</a:t>
                      </a:r>
                    </a:p>
                  </a:txBody>
                  <a:tcPr/>
                </a:tc>
                <a:tc>
                  <a:txBody>
                    <a:bodyPr/>
                    <a:lstStyle/>
                    <a:p>
                      <a:r>
                        <a:rPr lang="en-GB" sz="1100" dirty="0"/>
                        <a:t>rm_office</a:t>
                      </a:r>
                    </a:p>
                  </a:txBody>
                  <a:tcPr/>
                </a:tc>
                <a:tc>
                  <a:txBody>
                    <a:bodyPr/>
                    <a:lstStyle/>
                    <a:p>
                      <a:r>
                        <a:rPr lang="en-GB" sz="1100" dirty="0"/>
                        <a:t>Door and vent objects </a:t>
                      </a:r>
                      <a:r>
                        <a:rPr lang="en-GB" sz="1100" b="1" dirty="0"/>
                        <a:t>open/closed</a:t>
                      </a:r>
                      <a:r>
                        <a:rPr lang="en-GB" sz="1100" dirty="0"/>
                        <a:t>, </a:t>
                      </a:r>
                      <a:r>
                        <a:rPr lang="en-GB" sz="1100" dirty="0" err="1"/>
                        <a:t>obj_oxygen_door_controller</a:t>
                      </a:r>
                      <a:endParaRPr lang="en-GB" sz="1100" dirty="0"/>
                    </a:p>
                  </a:txBody>
                  <a:tcPr/>
                </a:tc>
                <a:tc>
                  <a:txBody>
                    <a:bodyPr/>
                    <a:lstStyle/>
                    <a:p>
                      <a:r>
                        <a:rPr lang="en-GB" sz="1100" dirty="0"/>
                        <a:t>When doors/vents are open oxygen increases, when doors/vents are closed oxygen decreases. When door/button is pressed the doors/vents of both main view and up-close will open and close according to the players selection. In addition, if multiple doors/vents are open or closed the oxygen rate increases or decreases. The text displaying oxygen will change its percentage based on oxygen amount.</a:t>
                      </a:r>
                    </a:p>
                  </a:txBody>
                  <a:tcPr/>
                </a:tc>
                <a:tc>
                  <a:txBody>
                    <a:bodyPr/>
                    <a:lstStyle/>
                    <a:p>
                      <a:r>
                        <a:rPr lang="en-GB" sz="1100" dirty="0"/>
                        <a:t>The game starts with all doors closed so oxygen is 0%. When two doors are opened nothing happens, but when the back vent opens the oxygen rapidly increases but reaches 100% despite one vent still being closed.</a:t>
                      </a:r>
                    </a:p>
                    <a:p>
                      <a:endParaRPr lang="en-GB" sz="1100" dirty="0"/>
                    </a:p>
                    <a:p>
                      <a:r>
                        <a:rPr lang="en-GB" sz="1100" dirty="0"/>
                        <a:t>The doors/vents buttons work and the vents/doors open and close correctly.</a:t>
                      </a:r>
                    </a:p>
                    <a:p>
                      <a:endParaRPr lang="en-GB" sz="1100" dirty="0"/>
                    </a:p>
                    <a:p>
                      <a:r>
                        <a:rPr lang="en-GB" sz="1100" dirty="0"/>
                        <a:t>The code works, just have an issue with the front vent not being open at start.</a:t>
                      </a:r>
                    </a:p>
                  </a:txBody>
                  <a:tcPr/>
                </a:tc>
                <a:tc>
                  <a:txBody>
                    <a:bodyPr/>
                    <a:lstStyle/>
                    <a:p>
                      <a:r>
                        <a:rPr lang="en-GB" sz="1100" dirty="0"/>
                        <a:t>I changed the controllers code to have all the doors and vents set to open upon starting the game. This allows for the game to start with 100% oxygen.</a:t>
                      </a:r>
                    </a:p>
                    <a:p>
                      <a:endParaRPr lang="en-GB" sz="1100" dirty="0"/>
                    </a:p>
                    <a:p>
                      <a:r>
                        <a:rPr lang="en-GB" sz="1100" dirty="0"/>
                        <a:t>I have solved the issue with oxygen rate increasing and decreasing incorrectly. So, now if more than 1 door or vent is open, based on the amount open/closed the oxygens rate will Increase/decrease.</a:t>
                      </a:r>
                    </a:p>
                    <a:p>
                      <a:endParaRPr lang="en-GB" sz="1100" dirty="0"/>
                    </a:p>
                    <a:p>
                      <a:r>
                        <a:rPr lang="en-GB" sz="1100" dirty="0"/>
                        <a:t>Only issue is that the front vent for some reason starts with the closed variant of its sprite but that can be easily solved next session.</a:t>
                      </a:r>
                    </a:p>
                    <a:p>
                      <a:endParaRPr lang="en-GB" sz="1100" dirty="0"/>
                    </a:p>
                    <a:p>
                      <a:endParaRPr lang="en-GB" sz="1100" dirty="0"/>
                    </a:p>
                  </a:txBody>
                  <a:tcPr/>
                </a:tc>
                <a:extLst>
                  <a:ext uri="{0D108BD9-81ED-4DB2-BD59-A6C34878D82A}">
                    <a16:rowId xmlns:a16="http://schemas.microsoft.com/office/drawing/2014/main" val="2721134836"/>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3824402784"/>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3098605140"/>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215744234"/>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2606308168"/>
                  </a:ext>
                </a:extLst>
              </a:tr>
            </a:tbl>
          </a:graphicData>
        </a:graphic>
      </p:graphicFrame>
    </p:spTree>
    <p:extLst>
      <p:ext uri="{BB962C8B-B14F-4D97-AF65-F5344CB8AC3E}">
        <p14:creationId xmlns:p14="http://schemas.microsoft.com/office/powerpoint/2010/main" val="70165298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B2AC58-2574-8815-0827-A939B508173F}"/>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49E38888-3476-8917-8812-7E849684F7AB}"/>
              </a:ext>
            </a:extLst>
          </p:cNvPr>
          <p:cNvGraphicFramePr>
            <a:graphicFrameLocks noGrp="1"/>
          </p:cNvGraphicFramePr>
          <p:nvPr>
            <p:extLst>
              <p:ext uri="{D42A27DB-BD31-4B8C-83A1-F6EECF244321}">
                <p14:modId xmlns:p14="http://schemas.microsoft.com/office/powerpoint/2010/main" val="2775184045"/>
              </p:ext>
            </p:extLst>
          </p:nvPr>
        </p:nvGraphicFramePr>
        <p:xfrm>
          <a:off x="97155" y="84201"/>
          <a:ext cx="11988463" cy="667582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3. Build V.0.5.4</a:t>
                      </a:r>
                    </a:p>
                    <a:p>
                      <a:r>
                        <a:rPr lang="en-GB" sz="1100" dirty="0"/>
                        <a:t>(Note: there was a test for build V.0.4.5 however I accidently overwritten this PowerPoint causing me to lose it. However, that test was for the amcd’s movement which worked and this test is for the new updated enemy movement.</a:t>
                      </a:r>
                    </a:p>
                  </a:txBody>
                  <a:tcPr/>
                </a:tc>
                <a:tc>
                  <a:txBody>
                    <a:bodyPr/>
                    <a:lstStyle/>
                    <a:p>
                      <a:r>
                        <a:rPr lang="en-GB" sz="1100" dirty="0" err="1"/>
                        <a:t>Rm_office</a:t>
                      </a:r>
                      <a:endParaRPr lang="en-GB" sz="1100" dirty="0"/>
                    </a:p>
                  </a:txBody>
                  <a:tcPr/>
                </a:tc>
                <a:tc>
                  <a:txBody>
                    <a:bodyPr/>
                    <a:lstStyle/>
                    <a:p>
                      <a:r>
                        <a:rPr lang="en-GB" sz="1100" dirty="0" err="1"/>
                        <a:t>Obj_amcd_gwiber</a:t>
                      </a:r>
                      <a:endParaRPr lang="en-GB" sz="1100" dirty="0"/>
                    </a:p>
                  </a:txBody>
                  <a:tcPr/>
                </a:tc>
                <a:tc>
                  <a:txBody>
                    <a:bodyPr/>
                    <a:lstStyle/>
                    <a:p>
                      <a:r>
                        <a:rPr lang="en-GB" sz="1100" dirty="0"/>
                        <a:t>Gwiber is to change zones based on what zone its currently in and whether or not it is currently able to go to zone 0 from zone 2. Gwiber should also have its movement delayed when </a:t>
                      </a:r>
                      <a:r>
                        <a:rPr lang="en-GB" sz="1100" dirty="0" err="1"/>
                        <a:t>global.gwiberpos</a:t>
                      </a:r>
                      <a:r>
                        <a:rPr lang="en-GB" sz="1100" dirty="0"/>
                        <a:t> = </a:t>
                      </a:r>
                      <a:r>
                        <a:rPr lang="en-GB" sz="1100" dirty="0" err="1"/>
                        <a:t>global.current_zone</a:t>
                      </a:r>
                      <a:r>
                        <a:rPr lang="en-GB" sz="1100" dirty="0"/>
                        <a:t>.</a:t>
                      </a:r>
                    </a:p>
                  </a:txBody>
                  <a:tcPr/>
                </a:tc>
                <a:tc>
                  <a:txBody>
                    <a:bodyPr/>
                    <a:lstStyle/>
                    <a:p>
                      <a:r>
                        <a:rPr lang="en-GB" sz="1100" dirty="0"/>
                        <a:t>Gwiber moved from zone 1 to zone 5 but remained their, it didn’t move back to zone 1 for it to move to zone 2 </a:t>
                      </a:r>
                      <a:r>
                        <a:rPr lang="en-GB" sz="1100" dirty="0" err="1"/>
                        <a:t>ect</a:t>
                      </a:r>
                      <a:r>
                        <a:rPr lang="en-GB" sz="1100" dirty="0"/>
                        <a:t>. Due to this I couldn’t confirm if the watched mechanic was working or not.</a:t>
                      </a:r>
                    </a:p>
                  </a:txBody>
                  <a:tcPr/>
                </a:tc>
                <a:tc>
                  <a:txBody>
                    <a:bodyPr/>
                    <a:lstStyle/>
                    <a:p>
                      <a:r>
                        <a:rPr lang="en-GB" sz="1100" dirty="0"/>
                        <a:t>At the time of this test, I have not made any changes besides trying to give Gwiber a draw GUI to see if he is in fact moving or not.</a:t>
                      </a:r>
                    </a:p>
                    <a:p>
                      <a:endParaRPr lang="en-GB" sz="1100" dirty="0"/>
                    </a:p>
                    <a:p>
                      <a:r>
                        <a:rPr lang="en-GB" sz="1100" dirty="0"/>
                        <a:t>Update: got a GUI draw and I can confirm that Gwiber doesn’t move from zone 1.</a:t>
                      </a:r>
                    </a:p>
                    <a:p>
                      <a:endParaRPr lang="en-GB" sz="1100" dirty="0"/>
                    </a:p>
                    <a:p>
                      <a:r>
                        <a:rPr lang="en-GB" sz="1100" dirty="0"/>
                        <a:t>Also, using debug show I can confirm that Gwiber is running its step event but alarm 0 is not, meaning that the step event is having problems triggering alarm [0].</a:t>
                      </a:r>
                    </a:p>
                  </a:txBody>
                  <a:tcPr/>
                </a:tc>
                <a:extLst>
                  <a:ext uri="{0D108BD9-81ED-4DB2-BD59-A6C34878D82A}">
                    <a16:rowId xmlns:a16="http://schemas.microsoft.com/office/drawing/2014/main" val="4028166049"/>
                  </a:ext>
                </a:extLst>
              </a:tr>
              <a:tr h="595728">
                <a:tc>
                  <a:txBody>
                    <a:bodyPr/>
                    <a:lstStyle/>
                    <a:p>
                      <a:r>
                        <a:rPr lang="en-GB" sz="1100" dirty="0"/>
                        <a:t>4. Build V.0.5.5</a:t>
                      </a:r>
                    </a:p>
                  </a:txBody>
                  <a:tcPr/>
                </a:tc>
                <a:tc>
                  <a:txBody>
                    <a:bodyPr/>
                    <a:lstStyle/>
                    <a:p>
                      <a:r>
                        <a:rPr lang="en-GB" sz="1100" dirty="0" err="1"/>
                        <a:t>Rm_office</a:t>
                      </a:r>
                      <a:endParaRPr lang="en-GB" sz="1100" dirty="0"/>
                    </a:p>
                  </a:txBody>
                  <a:tcPr/>
                </a:tc>
                <a:tc>
                  <a:txBody>
                    <a:bodyPr/>
                    <a:lstStyle/>
                    <a:p>
                      <a:r>
                        <a:rPr lang="en-GB" sz="1100" dirty="0" err="1"/>
                        <a:t>Obj_gwiber</a:t>
                      </a:r>
                      <a:r>
                        <a:rPr lang="en-GB" sz="1100" dirty="0"/>
                        <a:t>, </a:t>
                      </a:r>
                      <a:r>
                        <a:rPr lang="en-GB" sz="1100" dirty="0" err="1"/>
                        <a:t>obj_oxygen_door_controller</a:t>
                      </a:r>
                      <a:endParaRPr lang="en-GB" sz="1100" dirty="0"/>
                    </a:p>
                  </a:txBody>
                  <a:tcPr/>
                </a:tc>
                <a:tc>
                  <a:txBody>
                    <a:bodyPr/>
                    <a:lstStyle/>
                    <a:p>
                      <a:r>
                        <a:rPr lang="en-GB" sz="1100" dirty="0"/>
                        <a:t>Gwiber has a move timer that when it reaches 0, will reset to 600. when it goes 0 Gwiber does a zone check and determines based on a 50/50 chance which zone it can move two. Specifically for zone 2, Gwiber must understand if the door is In an open or closed state before moving into zone 0 (The Office).</a:t>
                      </a:r>
                    </a:p>
                  </a:txBody>
                  <a:tcPr/>
                </a:tc>
                <a:tc>
                  <a:txBody>
                    <a:bodyPr/>
                    <a:lstStyle/>
                    <a:p>
                      <a:r>
                        <a:rPr lang="en-GB" sz="1100" dirty="0"/>
                        <a:t>Gwiber does move between zones based on the timers. However, Gwiber moves from zone 1 straight to zone 0 when it should only be able to go to zone 2 or 5. Also, for some reason the code that tells Gwiber if the doors are open or closed had caused the door sprites to disappear in addition to teleporting the other enemy objects when button is pressed. Gwiber does not go into zone 0 when </a:t>
                      </a:r>
                      <a:r>
                        <a:rPr lang="en-GB" sz="1100" dirty="0" err="1"/>
                        <a:t>left_door_state</a:t>
                      </a:r>
                      <a:r>
                        <a:rPr lang="en-GB" sz="1100" dirty="0"/>
                        <a:t>  is closed.</a:t>
                      </a:r>
                    </a:p>
                  </a:txBody>
                  <a:tcPr/>
                </a:tc>
                <a:tc>
                  <a:txBody>
                    <a:bodyPr/>
                    <a:lstStyle/>
                    <a:p>
                      <a:r>
                        <a:rPr lang="en-GB" sz="1100" dirty="0"/>
                        <a:t>This code causes the doors sprites disappearing</a:t>
                      </a:r>
                    </a:p>
                    <a:p>
                      <a:endParaRPr lang="en-GB" sz="1100" dirty="0"/>
                    </a:p>
                    <a:p>
                      <a:endParaRPr lang="en-GB" sz="1100" dirty="0"/>
                    </a:p>
                    <a:p>
                      <a:endParaRPr lang="en-GB" sz="1100" dirty="0"/>
                    </a:p>
                    <a:p>
                      <a:endParaRPr lang="en-GB" sz="1100" dirty="0"/>
                    </a:p>
                    <a:p>
                      <a:endParaRPr lang="en-GB" sz="1100" dirty="0"/>
                    </a:p>
                    <a:p>
                      <a:endParaRPr lang="en-GB" sz="1100" dirty="0"/>
                    </a:p>
                    <a:p>
                      <a:endParaRPr lang="en-GB" sz="1100" dirty="0"/>
                    </a:p>
                    <a:p>
                      <a:endParaRPr lang="en-GB" sz="1100" dirty="0"/>
                    </a:p>
                    <a:p>
                      <a:endParaRPr lang="en-GB" sz="1100" dirty="0"/>
                    </a:p>
                    <a:p>
                      <a:r>
                        <a:rPr lang="en-GB" sz="1100" dirty="0"/>
                        <a:t>But it is also needed to give Gwiber information in whether the door is in an open state.</a:t>
                      </a:r>
                    </a:p>
                    <a:p>
                      <a:r>
                        <a:rPr lang="en-GB" sz="1100" dirty="0"/>
                        <a:t>(Ok don’t know why or how but the doors are fixed?)</a:t>
                      </a:r>
                    </a:p>
                  </a:txBody>
                  <a:tcPr/>
                </a:tc>
                <a:extLst>
                  <a:ext uri="{0D108BD9-81ED-4DB2-BD59-A6C34878D82A}">
                    <a16:rowId xmlns:a16="http://schemas.microsoft.com/office/drawing/2014/main" val="2721134836"/>
                  </a:ext>
                </a:extLst>
              </a:tr>
            </a:tbl>
          </a:graphicData>
        </a:graphic>
      </p:graphicFrame>
      <p:pic>
        <p:nvPicPr>
          <p:cNvPr id="3" name="Picture 2" descr="A screen shot of a computer code&#10;&#10;AI-generated content may be incorrect.">
            <a:extLst>
              <a:ext uri="{FF2B5EF4-FFF2-40B4-BE49-F238E27FC236}">
                <a16:creationId xmlns:a16="http://schemas.microsoft.com/office/drawing/2014/main" id="{F214B762-8CA8-0BB1-6864-D871DB33B96D}"/>
              </a:ext>
            </a:extLst>
          </p:cNvPr>
          <p:cNvPicPr>
            <a:picLocks noChangeAspect="1"/>
          </p:cNvPicPr>
          <p:nvPr/>
        </p:nvPicPr>
        <p:blipFill>
          <a:blip r:embed="rId2"/>
          <a:stretch>
            <a:fillRect/>
          </a:stretch>
        </p:blipFill>
        <p:spPr>
          <a:xfrm>
            <a:off x="10165310" y="4212771"/>
            <a:ext cx="1645897" cy="1429609"/>
          </a:xfrm>
          <a:prstGeom prst="rect">
            <a:avLst/>
          </a:prstGeom>
        </p:spPr>
      </p:pic>
    </p:spTree>
    <p:extLst>
      <p:ext uri="{BB962C8B-B14F-4D97-AF65-F5344CB8AC3E}">
        <p14:creationId xmlns:p14="http://schemas.microsoft.com/office/powerpoint/2010/main" val="353285438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B2AC58-2574-8815-0827-A939B508173F}"/>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49E38888-3476-8917-8812-7E849684F7AB}"/>
              </a:ext>
            </a:extLst>
          </p:cNvPr>
          <p:cNvGraphicFramePr>
            <a:graphicFrameLocks noGrp="1"/>
          </p:cNvGraphicFramePr>
          <p:nvPr>
            <p:extLst>
              <p:ext uri="{D42A27DB-BD31-4B8C-83A1-F6EECF244321}">
                <p14:modId xmlns:p14="http://schemas.microsoft.com/office/powerpoint/2010/main" val="3791948444"/>
              </p:ext>
            </p:extLst>
          </p:nvPr>
        </p:nvGraphicFramePr>
        <p:xfrm>
          <a:off x="0" y="0"/>
          <a:ext cx="11988463" cy="566998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5. Build V.0.6</a:t>
                      </a:r>
                    </a:p>
                  </a:txBody>
                  <a:tcPr/>
                </a:tc>
                <a:tc>
                  <a:txBody>
                    <a:bodyPr/>
                    <a:lstStyle/>
                    <a:p>
                      <a:r>
                        <a:rPr lang="en-GB" sz="1100" dirty="0" err="1"/>
                        <a:t>rm_office</a:t>
                      </a:r>
                      <a:endParaRPr lang="en-GB" sz="1100" dirty="0"/>
                    </a:p>
                  </a:txBody>
                  <a:tcPr/>
                </a:tc>
                <a:tc>
                  <a:txBody>
                    <a:bodyPr/>
                    <a:lstStyle/>
                    <a:p>
                      <a:r>
                        <a:rPr lang="en-GB" sz="1100" dirty="0"/>
                        <a:t>Obj_cam_1</a:t>
                      </a:r>
                    </a:p>
                  </a:txBody>
                  <a:tcPr/>
                </a:tc>
                <a:tc>
                  <a:txBody>
                    <a:bodyPr/>
                    <a:lstStyle/>
                    <a:p>
                      <a:r>
                        <a:rPr lang="en-GB" sz="1100" dirty="0"/>
                        <a:t>When player clicks on obj_cam_1 sound </a:t>
                      </a:r>
                      <a:r>
                        <a:rPr lang="en-GB" sz="1100" dirty="0" err="1"/>
                        <a:t>snd_click_camera</a:t>
                      </a:r>
                      <a:r>
                        <a:rPr lang="en-GB" sz="1100" dirty="0"/>
                        <a:t> plays.</a:t>
                      </a:r>
                    </a:p>
                  </a:txBody>
                  <a:tcPr/>
                </a:tc>
                <a:tc>
                  <a:txBody>
                    <a:bodyPr/>
                    <a:lstStyle/>
                    <a:p>
                      <a:r>
                        <a:rPr lang="en-GB" sz="1100" dirty="0"/>
                        <a:t>The sound does not player when player clicks on </a:t>
                      </a:r>
                      <a:r>
                        <a:rPr lang="en-GB" sz="1100" dirty="0" err="1"/>
                        <a:t>obj_click_camera</a:t>
                      </a:r>
                      <a:r>
                        <a:rPr lang="en-GB" sz="1100" dirty="0"/>
                        <a:t>.</a:t>
                      </a:r>
                    </a:p>
                  </a:txBody>
                  <a:tcPr/>
                </a:tc>
                <a:tc>
                  <a:txBody>
                    <a:bodyPr/>
                    <a:lstStyle/>
                    <a:p>
                      <a:r>
                        <a:rPr lang="en-GB" sz="1100" dirty="0"/>
                        <a:t>To fix I made some adjustments and chose a different sound code and now it works, the sound code that works is </a:t>
                      </a:r>
                      <a:r>
                        <a:rPr lang="en-GB" sz="1100" dirty="0" err="1"/>
                        <a:t>audio_play_sound_ext</a:t>
                      </a:r>
                      <a:r>
                        <a:rPr lang="en-GB" sz="1100" dirty="0"/>
                        <a:t>({ sound: </a:t>
                      </a:r>
                      <a:r>
                        <a:rPr lang="en-GB" sz="1100" dirty="0" err="1"/>
                        <a:t>snd_click_camera</a:t>
                      </a:r>
                      <a:r>
                        <a:rPr lang="en-GB" sz="1100" dirty="0"/>
                        <a:t> }); which replaced, </a:t>
                      </a:r>
                      <a:r>
                        <a:rPr lang="en-GB" sz="1100" dirty="0" err="1"/>
                        <a:t>audio_play_sound</a:t>
                      </a:r>
                      <a:r>
                        <a:rPr lang="en-GB" sz="1100" dirty="0"/>
                        <a:t>(</a:t>
                      </a:r>
                      <a:r>
                        <a:rPr lang="en-GB" sz="1100" dirty="0" err="1"/>
                        <a:t>snd_click_camera</a:t>
                      </a:r>
                      <a:r>
                        <a:rPr lang="en-GB" sz="1100" dirty="0"/>
                        <a:t>, 1, 1, 1, 7336,10,100).</a:t>
                      </a:r>
                    </a:p>
                  </a:txBody>
                  <a:tcPr/>
                </a:tc>
                <a:extLst>
                  <a:ext uri="{0D108BD9-81ED-4DB2-BD59-A6C34878D82A}">
                    <a16:rowId xmlns:a16="http://schemas.microsoft.com/office/drawing/2014/main" val="4028166049"/>
                  </a:ext>
                </a:extLst>
              </a:tr>
              <a:tr h="595728">
                <a:tc>
                  <a:txBody>
                    <a:bodyPr/>
                    <a:lstStyle/>
                    <a:p>
                      <a:r>
                        <a:rPr lang="en-GB" sz="1100" dirty="0"/>
                        <a:t>6. Build V.0.6.1</a:t>
                      </a:r>
                    </a:p>
                  </a:txBody>
                  <a:tcPr/>
                </a:tc>
                <a:tc>
                  <a:txBody>
                    <a:bodyPr/>
                    <a:lstStyle/>
                    <a:p>
                      <a:r>
                        <a:rPr lang="en-GB" sz="1100" dirty="0" err="1"/>
                        <a:t>Rm_office</a:t>
                      </a:r>
                      <a:endParaRPr lang="en-GB" sz="1100" dirty="0"/>
                    </a:p>
                  </a:txBody>
                  <a:tcPr/>
                </a:tc>
                <a:tc>
                  <a:txBody>
                    <a:bodyPr/>
                    <a:lstStyle/>
                    <a:p>
                      <a:r>
                        <a:rPr lang="en-GB" sz="1100" dirty="0" err="1"/>
                        <a:t>Obj_gwiber</a:t>
                      </a:r>
                      <a:r>
                        <a:rPr lang="en-GB" sz="1100" dirty="0"/>
                        <a:t>, object doors</a:t>
                      </a:r>
                    </a:p>
                  </a:txBody>
                  <a:tcPr/>
                </a:tc>
                <a:tc>
                  <a:txBody>
                    <a:bodyPr/>
                    <a:lstStyle/>
                    <a:p>
                      <a:r>
                        <a:rPr lang="en-GB" sz="1100" dirty="0"/>
                        <a:t>When Gwiber is in zone zero wait for a certain amount of time before triggering a </a:t>
                      </a:r>
                      <a:r>
                        <a:rPr lang="en-GB" sz="1100" dirty="0" err="1"/>
                        <a:t>jumpscare</a:t>
                      </a:r>
                      <a:r>
                        <a:rPr lang="en-GB" sz="1100" dirty="0"/>
                        <a:t>, if door is closed while Gwiber is in zone 0 before the wait timer runs out, retreat back to zone 2.</a:t>
                      </a:r>
                    </a:p>
                  </a:txBody>
                  <a:tcPr/>
                </a:tc>
                <a:tc>
                  <a:txBody>
                    <a:bodyPr/>
                    <a:lstStyle/>
                    <a:p>
                      <a:r>
                        <a:rPr lang="en-GB" sz="1100" dirty="0"/>
                        <a:t>When Gwiber moves from zone 4, to zone 3, then to zone 2, when he enters zone 0 the wait timer doesn’t trigger and jump scare sprite doesn’t trigger before room restart.</a:t>
                      </a:r>
                    </a:p>
                  </a:txBody>
                  <a:tcPr/>
                </a:tc>
                <a:tc>
                  <a:txBody>
                    <a:bodyPr/>
                    <a:lstStyle/>
                    <a:p>
                      <a:r>
                        <a:rPr lang="en-GB" sz="1100" dirty="0"/>
                        <a:t>Solution was to create a alarm timers and have </a:t>
                      </a:r>
                      <a:r>
                        <a:rPr lang="en-GB" sz="1100" dirty="0" err="1"/>
                        <a:t>Gwibers</a:t>
                      </a:r>
                      <a:r>
                        <a:rPr lang="en-GB" sz="1100" dirty="0"/>
                        <a:t> movement from Zone 0 not be related to his forward and !forward code. So, now he is working as intended, jump-scaring only when the door is open and if he’s in zone zero, if he’s in zone 0 and door is closed then alarm 3 will trigger for 500 frames then have him move back to zone 2. If door is open trigger alarm 1 after 500 frames, then jump-scare unless door is closed during that time.</a:t>
                      </a:r>
                    </a:p>
                  </a:txBody>
                  <a:tcPr/>
                </a:tc>
                <a:extLst>
                  <a:ext uri="{0D108BD9-81ED-4DB2-BD59-A6C34878D82A}">
                    <a16:rowId xmlns:a16="http://schemas.microsoft.com/office/drawing/2014/main" val="2721134836"/>
                  </a:ext>
                </a:extLst>
              </a:tr>
            </a:tbl>
          </a:graphicData>
        </a:graphic>
      </p:graphicFrame>
    </p:spTree>
    <p:extLst>
      <p:ext uri="{BB962C8B-B14F-4D97-AF65-F5344CB8AC3E}">
        <p14:creationId xmlns:p14="http://schemas.microsoft.com/office/powerpoint/2010/main" val="420202285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1561</TotalTime>
  <Words>4085</Words>
  <Application>Microsoft Office PowerPoint</Application>
  <PresentationFormat>Widescreen</PresentationFormat>
  <Paragraphs>351</Paragraphs>
  <Slides>16</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16</vt:i4>
      </vt:variant>
    </vt:vector>
  </HeadingPairs>
  <TitlesOfParts>
    <vt:vector size="20"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ieuan Jarvis</dc:creator>
  <cp:lastModifiedBy>JAR24887099 (Ieuan Jarvis)</cp:lastModifiedBy>
  <cp:revision>177</cp:revision>
  <dcterms:created xsi:type="dcterms:W3CDTF">2025-10-10T09:00:53Z</dcterms:created>
  <dcterms:modified xsi:type="dcterms:W3CDTF">2026-01-19T12:28:15Z</dcterms:modified>
</cp:coreProperties>
</file>