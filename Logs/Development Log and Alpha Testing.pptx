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93" r:id="rId31"/>
    <p:sldId id="294" r:id="rId32"/>
    <p:sldId id="295" r:id="rId33"/>
    <p:sldId id="296" r:id="rId34"/>
    <p:sldId id="297" r:id="rId35"/>
    <p:sldId id="257" r:id="rId36"/>
    <p:sldId id="267" r:id="rId37"/>
    <p:sldId id="270" r:id="rId38"/>
    <p:sldId id="272" r:id="rId39"/>
    <p:sldId id="276" r:id="rId40"/>
    <p:sldId id="278" r:id="rId41"/>
    <p:sldId id="284" r:id="rId42"/>
    <p:sldId id="299" r:id="rId43"/>
    <p:sldId id="300" r:id="rId44"/>
    <p:sldId id="301" r:id="rId45"/>
    <p:sldId id="302" r:id="rId46"/>
    <p:sldId id="303" r:id="rId47"/>
    <p:sldId id="304" r:id="rId48"/>
    <p:sldId id="305" r:id="rId49"/>
    <p:sldId id="306" r:id="rId50"/>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8/10/relationships/authors" Target="authors.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24/02/2026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24/02/2026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24/02/2026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24/02/2026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24/02/2026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24/02/2026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24/02/2026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24/02/2026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24/02/2026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24/02/2026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24/02/2026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24/02/2026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Gwiber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a:t>Gwiber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BAA7-7F44-F9F3-9424-C0010C550B1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3134BE-59EF-5D80-3127-3B2BF32DE3E7}"/>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3/02/2026</a:t>
            </a:r>
          </a:p>
        </p:txBody>
      </p:sp>
      <p:sp>
        <p:nvSpPr>
          <p:cNvPr id="2" name="TextBox 1">
            <a:extLst>
              <a:ext uri="{FF2B5EF4-FFF2-40B4-BE49-F238E27FC236}">
                <a16:creationId xmlns:a16="http://schemas.microsoft.com/office/drawing/2014/main" id="{C2FED3F3-5484-58D8-A667-E41109861B87}"/>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45552579-2D3F-D93B-FD25-557A695335B5}"/>
              </a:ext>
            </a:extLst>
          </p:cNvPr>
          <p:cNvSpPr txBox="1"/>
          <p:nvPr/>
        </p:nvSpPr>
        <p:spPr>
          <a:xfrm>
            <a:off x="0" y="121250"/>
            <a:ext cx="5576207" cy="249299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adjusted the enemies and all of the timers to giver critical failure more appropriate gameplay. I also fixed the Cam 7 problem and adjusted the oxygen depletion.</a:t>
            </a:r>
          </a:p>
          <a:p>
            <a:endParaRPr lang="en-GB" sz="1200" dirty="0"/>
          </a:p>
          <a:p>
            <a:r>
              <a:rPr lang="en-GB" sz="1200" dirty="0"/>
              <a:t>I also, added some more sounds into the game such as for cameras and enemy movement.</a:t>
            </a:r>
          </a:p>
          <a:p>
            <a:endParaRPr lang="en-GB" sz="1200" dirty="0"/>
          </a:p>
          <a:p>
            <a:r>
              <a:rPr lang="en-GB" sz="1200" dirty="0"/>
              <a:t>I also Started Drawing in the enemy versions of my now designed zones. In addition, I’ve made a new category of zones in which if 2 or more enemies are in the same zone then they’ll both appear.</a:t>
            </a:r>
          </a:p>
          <a:p>
            <a:endParaRPr lang="en-GB" sz="1200" dirty="0"/>
          </a:p>
          <a:p>
            <a:r>
              <a:rPr lang="en-GB" sz="1200" dirty="0"/>
              <a:t>I also made a small fix and that was to remove the oxygen flash sprite after death for it continued to persist throughout all rooms.</a:t>
            </a:r>
          </a:p>
        </p:txBody>
      </p:sp>
      <p:sp>
        <p:nvSpPr>
          <p:cNvPr id="12" name="TextBox 11">
            <a:extLst>
              <a:ext uri="{FF2B5EF4-FFF2-40B4-BE49-F238E27FC236}">
                <a16:creationId xmlns:a16="http://schemas.microsoft.com/office/drawing/2014/main" id="{CFEDDD55-0318-0FCA-A5C1-B75438787764}"/>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Continue with enemy sprite zones.</a:t>
            </a:r>
          </a:p>
          <a:p>
            <a:endParaRPr lang="en-GB" sz="1400" dirty="0"/>
          </a:p>
          <a:p>
            <a:r>
              <a:rPr lang="en-GB" sz="1400" dirty="0"/>
              <a:t>Adjust timers</a:t>
            </a:r>
          </a:p>
          <a:p>
            <a:endParaRPr lang="en-GB" sz="1400" dirty="0"/>
          </a:p>
          <a:p>
            <a:r>
              <a:rPr lang="en-GB" sz="1400" dirty="0"/>
              <a:t>Refine mechanics</a:t>
            </a:r>
          </a:p>
          <a:p>
            <a:endParaRPr lang="en-GB" sz="1400" dirty="0"/>
          </a:p>
          <a:p>
            <a:r>
              <a:rPr lang="en-GB" sz="1400" dirty="0"/>
              <a:t>Add remaining sounds.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C12717CB-D8ED-885B-B386-78C6AAE29FCE}"/>
              </a:ext>
            </a:extLst>
          </p:cNvPr>
          <p:cNvPicPr>
            <a:picLocks noChangeAspect="1"/>
          </p:cNvPicPr>
          <p:nvPr/>
        </p:nvPicPr>
        <p:blipFill>
          <a:blip r:embed="rId2"/>
          <a:stretch>
            <a:fillRect/>
          </a:stretch>
        </p:blipFill>
        <p:spPr>
          <a:xfrm>
            <a:off x="422362" y="2914450"/>
            <a:ext cx="2524477" cy="2857899"/>
          </a:xfrm>
          <a:prstGeom prst="rect">
            <a:avLst/>
          </a:prstGeom>
        </p:spPr>
      </p:pic>
    </p:spTree>
    <p:extLst>
      <p:ext uri="{BB962C8B-B14F-4D97-AF65-F5344CB8AC3E}">
        <p14:creationId xmlns:p14="http://schemas.microsoft.com/office/powerpoint/2010/main" val="893523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3298-BB00-65B0-448E-7520EEF1DC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B5E39-8B55-EA9A-B8F4-E78BBBF1B99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5/02/2026</a:t>
            </a:r>
          </a:p>
        </p:txBody>
      </p:sp>
      <p:sp>
        <p:nvSpPr>
          <p:cNvPr id="2" name="TextBox 1">
            <a:extLst>
              <a:ext uri="{FF2B5EF4-FFF2-40B4-BE49-F238E27FC236}">
                <a16:creationId xmlns:a16="http://schemas.microsoft.com/office/drawing/2014/main" id="{925C303A-F07E-A65A-E11E-195022AD4B23}"/>
              </a:ext>
            </a:extLst>
          </p:cNvPr>
          <p:cNvSpPr txBox="1"/>
          <p:nvPr/>
        </p:nvSpPr>
        <p:spPr>
          <a:xfrm>
            <a:off x="7894620" y="607618"/>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a:t>
            </a:r>
          </a:p>
        </p:txBody>
      </p:sp>
      <p:sp>
        <p:nvSpPr>
          <p:cNvPr id="3" name="TextBox 2">
            <a:extLst>
              <a:ext uri="{FF2B5EF4-FFF2-40B4-BE49-F238E27FC236}">
                <a16:creationId xmlns:a16="http://schemas.microsoft.com/office/drawing/2014/main" id="{6810E88E-1EEF-282F-4F0B-5E9C2F3EEC62}"/>
              </a:ext>
            </a:extLst>
          </p:cNvPr>
          <p:cNvSpPr txBox="1"/>
          <p:nvPr/>
        </p:nvSpPr>
        <p:spPr>
          <a:xfrm>
            <a:off x="0" y="121250"/>
            <a:ext cx="7829550"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I’ve made big changes and I apologies to moderators about not mentioning them separately since this happened across multiple days.</a:t>
            </a:r>
          </a:p>
          <a:p>
            <a:endParaRPr lang="en-GB" sz="1200" dirty="0"/>
          </a:p>
          <a:p>
            <a:r>
              <a:rPr lang="en-GB" sz="1200" dirty="0"/>
              <a:t>So, what did I do.</a:t>
            </a:r>
          </a:p>
          <a:p>
            <a:endParaRPr lang="en-GB" sz="1200" dirty="0"/>
          </a:p>
          <a:p>
            <a:r>
              <a:rPr lang="en-GB" sz="1200" dirty="0"/>
              <a:t>I finished searching for sounds and began implementing them into my Game. There is also directional audio for the left and right sides of the map.</a:t>
            </a:r>
          </a:p>
          <a:p>
            <a:endParaRPr lang="en-GB" sz="1200" dirty="0"/>
          </a:p>
          <a:p>
            <a:r>
              <a:rPr lang="en-GB" sz="1200" dirty="0"/>
              <a:t>Enemies now trigger left/right versions of footstep sounds that play whether an enemy is in Camera zone 2 or 7.</a:t>
            </a:r>
          </a:p>
          <a:p>
            <a:endParaRPr lang="en-GB" sz="1200" dirty="0"/>
          </a:p>
          <a:p>
            <a:r>
              <a:rPr lang="en-GB" sz="1200" dirty="0"/>
              <a:t>I have finished designing the enemy versions </a:t>
            </a:r>
            <a:r>
              <a:rPr lang="en-GB" sz="1200" b="1" dirty="0"/>
              <a:t>(Besides Arach for he doesn’t need one) </a:t>
            </a:r>
            <a:r>
              <a:rPr lang="en-GB" sz="1200" dirty="0"/>
              <a:t>of the Camera zone and the mechanic of the zones changing based on the </a:t>
            </a:r>
            <a:r>
              <a:rPr lang="en-GB" sz="1200" dirty="0" err="1"/>
              <a:t>enenmypos</a:t>
            </a:r>
            <a:r>
              <a:rPr lang="en-GB" sz="1200" dirty="0"/>
              <a:t>. However, my original code didn’t reset the sprites after the enemy leaves it, so I have had to experiment with different methods, one of these methods is having the enemies when they change zone and are in a particular zone, reset the previous one instead of  automatically doing it as soon as it leaves it.</a:t>
            </a:r>
          </a:p>
          <a:p>
            <a:r>
              <a:rPr lang="en-GB" sz="1200" dirty="0"/>
              <a:t>I finished Implementing all the code for the zone change.</a:t>
            </a:r>
          </a:p>
          <a:p>
            <a:endParaRPr lang="en-GB" sz="1200" dirty="0"/>
          </a:p>
          <a:p>
            <a:r>
              <a:rPr lang="en-GB" sz="1200" dirty="0"/>
              <a:t>I properly adjusted the enemies and room timers to be more appropriate.</a:t>
            </a:r>
          </a:p>
          <a:p>
            <a:endParaRPr lang="en-GB" sz="1200" dirty="0"/>
          </a:p>
          <a:p>
            <a:r>
              <a:rPr lang="en-GB" sz="1200" dirty="0"/>
              <a:t>I have also doubled the oxygens decreasing rate for I found that the player could survive the night by having all the doors closed.</a:t>
            </a:r>
          </a:p>
          <a:p>
            <a:endParaRPr lang="en-GB" sz="1200" dirty="0"/>
          </a:p>
          <a:p>
            <a:r>
              <a:rPr lang="en-GB" sz="1200" dirty="0"/>
              <a:t>I also added a debug tool that allows me infinite oxygen for me to check that the enemies are moving correctly and the zones change appropriately. O-on F-off. NOTE: This is for development purposes and will not be a feature.</a:t>
            </a:r>
          </a:p>
        </p:txBody>
      </p:sp>
      <p:sp>
        <p:nvSpPr>
          <p:cNvPr id="12" name="TextBox 11">
            <a:extLst>
              <a:ext uri="{FF2B5EF4-FFF2-40B4-BE49-F238E27FC236}">
                <a16:creationId xmlns:a16="http://schemas.microsoft.com/office/drawing/2014/main" id="{7F9D5535-CF98-86FB-053E-9485F86D9A2C}"/>
              </a:ext>
            </a:extLst>
          </p:cNvPr>
          <p:cNvSpPr txBox="1"/>
          <p:nvPr/>
        </p:nvSpPr>
        <p:spPr>
          <a:xfrm>
            <a:off x="8090807" y="2361528"/>
            <a:ext cx="2073729"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zone change sprite controller.</a:t>
            </a:r>
          </a:p>
          <a:p>
            <a:endParaRPr lang="en-GB" sz="1400" dirty="0"/>
          </a:p>
          <a:p>
            <a:r>
              <a:rPr lang="en-GB" sz="1400" dirty="0"/>
              <a:t>Design Double Zones for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shot of a computer&#10;&#10;AI-generated content may be incorrect.">
            <a:extLst>
              <a:ext uri="{FF2B5EF4-FFF2-40B4-BE49-F238E27FC236}">
                <a16:creationId xmlns:a16="http://schemas.microsoft.com/office/drawing/2014/main" id="{EE31987A-FF7B-63FA-8884-5D41D9D5559C}"/>
              </a:ext>
            </a:extLst>
          </p:cNvPr>
          <p:cNvPicPr>
            <a:picLocks noChangeAspect="1"/>
          </p:cNvPicPr>
          <p:nvPr/>
        </p:nvPicPr>
        <p:blipFill>
          <a:blip r:embed="rId2"/>
          <a:stretch>
            <a:fillRect/>
          </a:stretch>
        </p:blipFill>
        <p:spPr>
          <a:xfrm>
            <a:off x="108702" y="4793379"/>
            <a:ext cx="11974596" cy="1943371"/>
          </a:xfrm>
          <a:prstGeom prst="rect">
            <a:avLst/>
          </a:prstGeom>
        </p:spPr>
      </p:pic>
      <p:pic>
        <p:nvPicPr>
          <p:cNvPr id="9" name="Picture 8" descr="A screen shot of a computer">
            <a:extLst>
              <a:ext uri="{FF2B5EF4-FFF2-40B4-BE49-F238E27FC236}">
                <a16:creationId xmlns:a16="http://schemas.microsoft.com/office/drawing/2014/main" id="{E8B401EE-600A-8E6E-DC76-F553F175CDE5}"/>
              </a:ext>
            </a:extLst>
          </p:cNvPr>
          <p:cNvPicPr>
            <a:picLocks noChangeAspect="1"/>
          </p:cNvPicPr>
          <p:nvPr/>
        </p:nvPicPr>
        <p:blipFill>
          <a:blip r:embed="rId3"/>
          <a:stretch>
            <a:fillRect/>
          </a:stretch>
        </p:blipFill>
        <p:spPr>
          <a:xfrm>
            <a:off x="8144955" y="1390256"/>
            <a:ext cx="2400635" cy="771633"/>
          </a:xfrm>
          <a:prstGeom prst="rect">
            <a:avLst/>
          </a:prstGeom>
        </p:spPr>
      </p:pic>
    </p:spTree>
    <p:extLst>
      <p:ext uri="{BB962C8B-B14F-4D97-AF65-F5344CB8AC3E}">
        <p14:creationId xmlns:p14="http://schemas.microsoft.com/office/powerpoint/2010/main" val="5139640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DECF1-DA48-4B67-A7A6-DE398EF4ED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29FFFD-FA54-2184-B750-40D60A7B7016}"/>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9/02/2026</a:t>
            </a:r>
          </a:p>
        </p:txBody>
      </p:sp>
      <p:sp>
        <p:nvSpPr>
          <p:cNvPr id="2" name="TextBox 1">
            <a:extLst>
              <a:ext uri="{FF2B5EF4-FFF2-40B4-BE49-F238E27FC236}">
                <a16:creationId xmlns:a16="http://schemas.microsoft.com/office/drawing/2014/main" id="{E123AF8E-C573-278C-31F7-DEF436DA3087}"/>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B02B0936-5426-F729-E947-C7D9B8AEEA64}"/>
              </a:ext>
            </a:extLst>
          </p:cNvPr>
          <p:cNvSpPr txBox="1"/>
          <p:nvPr/>
        </p:nvSpPr>
        <p:spPr>
          <a:xfrm>
            <a:off x="0" y="121250"/>
            <a:ext cx="4906736" cy="674030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apologies for this gap in my development log and me not mentioning the two previous versions before V.0.9.3.</a:t>
            </a:r>
          </a:p>
          <a:p>
            <a:endParaRPr lang="en-GB" sz="1200" dirty="0"/>
          </a:p>
          <a:p>
            <a:r>
              <a:rPr lang="en-GB" sz="1200" dirty="0"/>
              <a:t>To catch things up V.0.9.1 to V.0.9.2 were my attempts in making the zone sprite change controller. Unfortunately, I failed in both versions to create a working version of the zone sprite change mechanic.</a:t>
            </a:r>
          </a:p>
          <a:p>
            <a:endParaRPr lang="en-GB" sz="1200" dirty="0"/>
          </a:p>
          <a:p>
            <a:r>
              <a:rPr lang="en-GB" sz="1200" dirty="0"/>
              <a:t>I started by giving each individual zone object code telling them to change their sprites based on if an enemy or enemies are in it. The zones changed sprites but didn’t return to normal and was separate from the enemies' movement.</a:t>
            </a:r>
          </a:p>
          <a:p>
            <a:endParaRPr lang="en-GB" sz="1200" dirty="0"/>
          </a:p>
          <a:p>
            <a:r>
              <a:rPr lang="en-GB" sz="1200" dirty="0"/>
              <a:t>In, V.0.9.2 I tried adding the zone sprite change into the enemy's movement code using </a:t>
            </a:r>
            <a:r>
              <a:rPr lang="en-GB" sz="1200" dirty="0" err="1"/>
              <a:t>object_set_sprite</a:t>
            </a:r>
            <a:r>
              <a:rPr lang="en-GB" sz="1200" dirty="0"/>
              <a:t>(). This also didn’t work same as V.0.9.1. The issue seemed to lie with the fact that the zones couldn’t revert to their original sprite.</a:t>
            </a:r>
          </a:p>
          <a:p>
            <a:endParaRPr lang="en-GB" sz="1200" dirty="0"/>
          </a:p>
          <a:p>
            <a:r>
              <a:rPr lang="en-GB" sz="1200" dirty="0"/>
              <a:t>V.0.9.3 is where I have a working change zone mechanic. A Friend of mine gave me guidance and explained to me that instead of using </a:t>
            </a:r>
            <a:r>
              <a:rPr lang="en-GB" sz="1200" dirty="0" err="1"/>
              <a:t>object_set_sprite</a:t>
            </a:r>
            <a:r>
              <a:rPr lang="en-GB" sz="1200" dirty="0"/>
              <a:t>, I instead make the alternate zone sprite versions into objects and use </a:t>
            </a:r>
            <a:r>
              <a:rPr lang="en-GB" sz="1200" dirty="0" err="1"/>
              <a:t>instance_layer</a:t>
            </a:r>
            <a:r>
              <a:rPr lang="en-GB" sz="1200" dirty="0"/>
              <a:t> to create the object zones and destroy them. </a:t>
            </a:r>
          </a:p>
          <a:p>
            <a:endParaRPr lang="en-GB" sz="1200" dirty="0"/>
          </a:p>
          <a:p>
            <a:r>
              <a:rPr lang="en-GB" sz="1200" dirty="0"/>
              <a:t>The way it works is quite simple. What the </a:t>
            </a:r>
            <a:r>
              <a:rPr lang="en-GB" sz="1200" dirty="0" err="1"/>
              <a:t>instance_layer</a:t>
            </a:r>
            <a:r>
              <a:rPr lang="en-GB" sz="1200" dirty="0"/>
              <a:t> does is guarantee that the zone object is removed and then replaced. This code was used inside of Level 1 </a:t>
            </a:r>
            <a:r>
              <a:rPr lang="en-GB" sz="1200" dirty="0" err="1"/>
              <a:t>Gwibers</a:t>
            </a:r>
            <a:r>
              <a:rPr lang="en-GB" sz="1200" dirty="0"/>
              <a:t> movement code. The code checks if </a:t>
            </a:r>
            <a:r>
              <a:rPr lang="en-GB" sz="1200" dirty="0" err="1"/>
              <a:t>Gwibers</a:t>
            </a:r>
            <a:r>
              <a:rPr lang="en-GB" sz="1200" dirty="0"/>
              <a:t> next zone, the one he’s moving to is or isn’t occupied by K9. This allows Gwiber to destroy the next zones instance layer and replace it with the correct one based on if K9 is or isn’t in it. This also works the other way around and if Gwiber moves to lets say 1 from 2, </a:t>
            </a:r>
            <a:r>
              <a:rPr lang="en-GB" sz="1200" dirty="0" err="1"/>
              <a:t>Giwber</a:t>
            </a:r>
            <a:r>
              <a:rPr lang="en-GB" sz="1200" dirty="0"/>
              <a:t> will check if K9 is or isn’t in Zone 2 and Replace Zones 2 object accordingly.</a:t>
            </a:r>
          </a:p>
          <a:p>
            <a:endParaRPr lang="en-GB" sz="1200" dirty="0"/>
          </a:p>
          <a:p>
            <a:r>
              <a:rPr lang="en-GB" sz="1200" dirty="0"/>
              <a:t>Note: Only Level 1 and Level 1 Gwiber have this code.</a:t>
            </a:r>
          </a:p>
          <a:p>
            <a:endParaRPr lang="en-GB" sz="1200" dirty="0"/>
          </a:p>
          <a:p>
            <a:r>
              <a:rPr lang="en-GB" sz="1200" dirty="0"/>
              <a:t>I also designed the Double Zones for when enemies are in the same zone together.</a:t>
            </a:r>
          </a:p>
        </p:txBody>
      </p:sp>
      <p:sp>
        <p:nvSpPr>
          <p:cNvPr id="12" name="TextBox 11">
            <a:extLst>
              <a:ext uri="{FF2B5EF4-FFF2-40B4-BE49-F238E27FC236}">
                <a16:creationId xmlns:a16="http://schemas.microsoft.com/office/drawing/2014/main" id="{83339772-E0CC-C0C2-7CD9-7328158EA734}"/>
              </a:ext>
            </a:extLst>
          </p:cNvPr>
          <p:cNvSpPr txBox="1"/>
          <p:nvPr/>
        </p:nvSpPr>
        <p:spPr>
          <a:xfrm>
            <a:off x="7537550" y="107525"/>
            <a:ext cx="4286175" cy="4401205"/>
          </a:xfrm>
          <a:prstGeom prst="rect">
            <a:avLst/>
          </a:prstGeom>
          <a:noFill/>
        </p:spPr>
        <p:txBody>
          <a:bodyPr wrap="square" rtlCol="0">
            <a:spAutoFit/>
          </a:bodyPr>
          <a:lstStyle/>
          <a:p>
            <a:r>
              <a:rPr lang="en-GB" sz="1400" dirty="0"/>
              <a:t>What to Do next session</a:t>
            </a:r>
          </a:p>
          <a:p>
            <a:endParaRPr lang="en-GB" sz="1400" dirty="0"/>
          </a:p>
          <a:p>
            <a:r>
              <a:rPr lang="en-GB" sz="1400" dirty="0"/>
              <a:t>Finish level 1 enemies zone change mechanic</a:t>
            </a:r>
          </a:p>
          <a:p>
            <a:endParaRPr lang="en-GB" sz="1400" dirty="0"/>
          </a:p>
          <a:p>
            <a:r>
              <a:rPr lang="en-GB" sz="1400" dirty="0"/>
              <a:t>Design jump-scares</a:t>
            </a:r>
          </a:p>
          <a:p>
            <a:endParaRPr lang="en-GB" sz="1400" dirty="0"/>
          </a:p>
          <a:p>
            <a:r>
              <a:rPr lang="en-GB" sz="1400" dirty="0"/>
              <a:t>Implement Jump-scares into the game.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45C09BB4-6063-9416-F5F4-473ED8B94638}"/>
              </a:ext>
            </a:extLst>
          </p:cNvPr>
          <p:cNvPicPr>
            <a:picLocks noChangeAspect="1"/>
          </p:cNvPicPr>
          <p:nvPr/>
        </p:nvPicPr>
        <p:blipFill>
          <a:blip r:embed="rId2"/>
          <a:stretch>
            <a:fillRect/>
          </a:stretch>
        </p:blipFill>
        <p:spPr>
          <a:xfrm>
            <a:off x="5316789" y="2113037"/>
            <a:ext cx="6096883" cy="4484159"/>
          </a:xfrm>
          <a:prstGeom prst="rect">
            <a:avLst/>
          </a:prstGeom>
        </p:spPr>
      </p:pic>
      <p:sp>
        <p:nvSpPr>
          <p:cNvPr id="8" name="TextBox 7">
            <a:extLst>
              <a:ext uri="{FF2B5EF4-FFF2-40B4-BE49-F238E27FC236}">
                <a16:creationId xmlns:a16="http://schemas.microsoft.com/office/drawing/2014/main" id="{88E7019B-9FB6-BEDE-7214-5C543DB0234D}"/>
              </a:ext>
            </a:extLst>
          </p:cNvPr>
          <p:cNvSpPr txBox="1"/>
          <p:nvPr/>
        </p:nvSpPr>
        <p:spPr>
          <a:xfrm>
            <a:off x="5015350" y="1028700"/>
            <a:ext cx="1875307" cy="830997"/>
          </a:xfrm>
          <a:prstGeom prst="rect">
            <a:avLst/>
          </a:prstGeom>
          <a:noFill/>
        </p:spPr>
        <p:txBody>
          <a:bodyPr wrap="square" rtlCol="0">
            <a:spAutoFit/>
          </a:bodyPr>
          <a:lstStyle/>
          <a:p>
            <a:r>
              <a:rPr lang="en-GB" sz="1200" dirty="0"/>
              <a:t>Last thing, I made a sound controller to make it easier to manage the sounds in the game.</a:t>
            </a:r>
          </a:p>
        </p:txBody>
      </p:sp>
    </p:spTree>
    <p:extLst>
      <p:ext uri="{BB962C8B-B14F-4D97-AF65-F5344CB8AC3E}">
        <p14:creationId xmlns:p14="http://schemas.microsoft.com/office/powerpoint/2010/main" val="329305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52D63-0913-40A3-A082-16F5A498D5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2472B1-828A-C8FC-269C-59E5229378E0}"/>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10/02/2026</a:t>
            </a:r>
          </a:p>
        </p:txBody>
      </p:sp>
      <p:sp>
        <p:nvSpPr>
          <p:cNvPr id="2" name="TextBox 1">
            <a:extLst>
              <a:ext uri="{FF2B5EF4-FFF2-40B4-BE49-F238E27FC236}">
                <a16:creationId xmlns:a16="http://schemas.microsoft.com/office/drawing/2014/main" id="{34289866-E8F5-AD39-D6C7-2BD8012A7032}"/>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0C64B911-15FF-5BFC-4CB8-1A785568E084}"/>
              </a:ext>
            </a:extLst>
          </p:cNvPr>
          <p:cNvSpPr txBox="1"/>
          <p:nvPr/>
        </p:nvSpPr>
        <p:spPr>
          <a:xfrm>
            <a:off x="0" y="121250"/>
            <a:ext cx="4906736" cy="489364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implemented to Jump-scares to work similarly to how the enemies change zone.</a:t>
            </a:r>
          </a:p>
          <a:p>
            <a:endParaRPr lang="en-GB" sz="1200" dirty="0"/>
          </a:p>
          <a:p>
            <a:r>
              <a:rPr lang="en-GB" sz="1200" dirty="0"/>
              <a:t>How the jump-scares work is that when dead = true the death screen timer begins, counting down to when the player should change to the death screen room. During this time, the jump-scare happens. What the Jump-scare is, is just the enemies forcing the players camera view to go to the jump-scare zone in which the enemies can then change it into their jump-scare. Scaring the Player :).</a:t>
            </a:r>
          </a:p>
          <a:p>
            <a:endParaRPr lang="en-GB" sz="1200" dirty="0"/>
          </a:p>
          <a:p>
            <a:r>
              <a:rPr lang="en-GB" sz="1200" dirty="0"/>
              <a:t>This was done using a newly added zone that only the enemies can interact with. This will be the jump-scare zone. The enemies can change this zone as they please into the version related to the enemy that killed you.</a:t>
            </a:r>
          </a:p>
          <a:p>
            <a:endParaRPr lang="en-GB" sz="1200" dirty="0"/>
          </a:p>
          <a:p>
            <a:r>
              <a:rPr lang="en-GB" sz="1200" dirty="0"/>
              <a:t>I have run into a problem concerning the aftermath of player death. The door and vent controller is persistent meaning that even after dying the doors/vents that are closed, remain that way after death. The issue with the doors/vents is that their code isn’t as simple as making </a:t>
            </a:r>
            <a:r>
              <a:rPr lang="en-GB" sz="1200" dirty="0" err="1"/>
              <a:t>global.door_open</a:t>
            </a:r>
            <a:r>
              <a:rPr lang="en-GB" sz="1200" dirty="0"/>
              <a:t> = true. The doors and vents are synced with each other and require themselves to change sprite as well as know what state they are in for the oxygen count. I’m going to try and find a solution to this.</a:t>
            </a:r>
          </a:p>
          <a:p>
            <a:endParaRPr lang="en-GB" sz="1200" dirty="0"/>
          </a:p>
          <a:p>
            <a:r>
              <a:rPr lang="en-GB" sz="1200" dirty="0"/>
              <a:t>Zone change code didn’t work in the sense that the enemies did change the camera zones sprite but didn’t revert it back to normal.</a:t>
            </a:r>
          </a:p>
        </p:txBody>
      </p:sp>
      <p:sp>
        <p:nvSpPr>
          <p:cNvPr id="12" name="TextBox 11">
            <a:extLst>
              <a:ext uri="{FF2B5EF4-FFF2-40B4-BE49-F238E27FC236}">
                <a16:creationId xmlns:a16="http://schemas.microsoft.com/office/drawing/2014/main" id="{98A250EB-DC51-5D1D-5E2C-D7A3E200CF2F}"/>
              </a:ext>
            </a:extLst>
          </p:cNvPr>
          <p:cNvSpPr txBox="1"/>
          <p:nvPr/>
        </p:nvSpPr>
        <p:spPr>
          <a:xfrm>
            <a:off x="7537550" y="107525"/>
            <a:ext cx="4286175"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Doors and Vents be in an open state after death.</a:t>
            </a:r>
          </a:p>
          <a:p>
            <a:endParaRPr lang="en-GB" sz="1400" dirty="0"/>
          </a:p>
          <a:p>
            <a:r>
              <a:rPr lang="en-GB" sz="1400" dirty="0"/>
              <a:t>Find a solution to the zone change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1411057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04C35-6ED1-743F-B9F5-53D7F97EF80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06680A-C841-E60D-9D87-A953C732C8A2}"/>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12/02/2026</a:t>
            </a:r>
          </a:p>
        </p:txBody>
      </p:sp>
      <p:sp>
        <p:nvSpPr>
          <p:cNvPr id="2" name="TextBox 1">
            <a:extLst>
              <a:ext uri="{FF2B5EF4-FFF2-40B4-BE49-F238E27FC236}">
                <a16:creationId xmlns:a16="http://schemas.microsoft.com/office/drawing/2014/main" id="{35D3F74D-E071-E5CB-206F-9CAB5CD06E57}"/>
              </a:ext>
            </a:extLst>
          </p:cNvPr>
          <p:cNvSpPr txBox="1"/>
          <p:nvPr/>
        </p:nvSpPr>
        <p:spPr>
          <a:xfrm>
            <a:off x="5015350" y="542303"/>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V.0.10 and V.0.10.1</a:t>
            </a:r>
          </a:p>
        </p:txBody>
      </p:sp>
      <p:sp>
        <p:nvSpPr>
          <p:cNvPr id="3" name="TextBox 2">
            <a:extLst>
              <a:ext uri="{FF2B5EF4-FFF2-40B4-BE49-F238E27FC236}">
                <a16:creationId xmlns:a16="http://schemas.microsoft.com/office/drawing/2014/main" id="{CA48F9F1-982B-72B8-84E8-53C6CD510847}"/>
              </a:ext>
            </a:extLst>
          </p:cNvPr>
          <p:cNvSpPr txBox="1"/>
          <p:nvPr/>
        </p:nvSpPr>
        <p:spPr>
          <a:xfrm>
            <a:off x="0" y="121250"/>
            <a:ext cx="4906736"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found a solution to the zone change and made sure to test it constantly to ensure full functionality.</a:t>
            </a:r>
          </a:p>
          <a:p>
            <a:endParaRPr lang="en-GB" sz="1200" dirty="0"/>
          </a:p>
          <a:p>
            <a:r>
              <a:rPr lang="en-GB" sz="1200" dirty="0"/>
              <a:t>The Camera zones now do change based on whether an enemy is or isn’t in the zone.</a:t>
            </a:r>
          </a:p>
          <a:p>
            <a:endParaRPr lang="en-GB" sz="1200" dirty="0"/>
          </a:p>
          <a:p>
            <a:r>
              <a:rPr lang="en-GB" sz="1200" dirty="0"/>
              <a:t>This was done by changing and destroying the zones instances every time the enemy is about move.</a:t>
            </a:r>
          </a:p>
          <a:p>
            <a:endParaRPr lang="en-GB" sz="1200" dirty="0"/>
          </a:p>
          <a:p>
            <a:r>
              <a:rPr lang="en-GB" sz="1200" dirty="0"/>
              <a:t>Instead of changing the sprite I decided to change the object instead. This did come with some challenges, mainly because this code is extremely fragile. If I were to name 1 variable wrong, the entire code collapses. To ensure full functionality, I made sure to focus primarily on Level 1 Gwiber before adding the code to level 1 K9 and so on so forth.</a:t>
            </a:r>
          </a:p>
          <a:p>
            <a:endParaRPr lang="en-GB" sz="1200" dirty="0"/>
          </a:p>
          <a:p>
            <a:r>
              <a:rPr lang="en-GB" sz="1200" dirty="0"/>
              <a:t>I’ve added the zone change code into K9 by copying </a:t>
            </a:r>
            <a:r>
              <a:rPr lang="en-GB" sz="1200" dirty="0" err="1"/>
              <a:t>Gwibers</a:t>
            </a:r>
            <a:r>
              <a:rPr lang="en-GB" sz="1200" dirty="0"/>
              <a:t> version. However, I needed to be careful about using the correct naming.</a:t>
            </a:r>
          </a:p>
          <a:p>
            <a:endParaRPr lang="en-GB" sz="1200" dirty="0"/>
          </a:p>
          <a:p>
            <a:r>
              <a:rPr lang="en-GB" sz="1200" dirty="0"/>
              <a:t>Level 1 is now fully playable, and I also made it so that you automatically move onto the next night after finishing the current one. </a:t>
            </a:r>
          </a:p>
          <a:p>
            <a:r>
              <a:rPr lang="en-GB" sz="1200" dirty="0"/>
              <a:t>Level 2 is </a:t>
            </a:r>
            <a:r>
              <a:rPr lang="en-GB" sz="1200"/>
              <a:t>also complete.</a:t>
            </a:r>
            <a:endParaRPr lang="en-GB" sz="1200" dirty="0"/>
          </a:p>
          <a:p>
            <a:endParaRPr lang="en-GB" sz="1200" dirty="0"/>
          </a:p>
          <a:p>
            <a:r>
              <a:rPr lang="en-GB" sz="1200" dirty="0"/>
              <a:t>Also, vent/door open state after death was a very easy fix and it was just the fact that my controller was persistent and only existed in 1 room. After, turning persistent off and placing 1 in each level the vents/doors return to normal since room restarts itself after the player leaves it.</a:t>
            </a:r>
          </a:p>
          <a:p>
            <a:endParaRPr lang="en-GB" sz="1200" dirty="0"/>
          </a:p>
          <a:p>
            <a:r>
              <a:rPr lang="en-GB" sz="1200" dirty="0"/>
              <a:t>I want to mention the steps for the zone change. Step 1, the enemy checks what zone they are leaving, then step to they check what zone they are moving to. This is the core of the code and one I must follow if I wish to have my enemies change zones correctly.</a:t>
            </a:r>
          </a:p>
          <a:p>
            <a:endParaRPr lang="en-GB" sz="1200" dirty="0"/>
          </a:p>
          <a:p>
            <a:r>
              <a:rPr lang="en-GB" sz="1200" dirty="0"/>
              <a:t>I also gave the enemies a room start event that changes their zone as soon as the room begins, this just makes them visible before they move.</a:t>
            </a:r>
          </a:p>
          <a:p>
            <a:endParaRPr lang="en-GB" sz="1200" dirty="0"/>
          </a:p>
          <a:p>
            <a:endParaRPr lang="en-GB" sz="1200" dirty="0"/>
          </a:p>
          <a:p>
            <a:endParaRPr lang="en-GB" sz="1200" dirty="0"/>
          </a:p>
        </p:txBody>
      </p:sp>
      <p:sp>
        <p:nvSpPr>
          <p:cNvPr id="12" name="TextBox 11">
            <a:extLst>
              <a:ext uri="{FF2B5EF4-FFF2-40B4-BE49-F238E27FC236}">
                <a16:creationId xmlns:a16="http://schemas.microsoft.com/office/drawing/2014/main" id="{BA6CF913-F102-27E5-5822-7BF46B018CD8}"/>
              </a:ext>
            </a:extLst>
          </p:cNvPr>
          <p:cNvSpPr txBox="1"/>
          <p:nvPr/>
        </p:nvSpPr>
        <p:spPr>
          <a:xfrm>
            <a:off x="7537550" y="107525"/>
            <a:ext cx="4286175" cy="3323987"/>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computer screen shot of a program code&#10;&#10;AI-generated content may be incorrect.">
            <a:extLst>
              <a:ext uri="{FF2B5EF4-FFF2-40B4-BE49-F238E27FC236}">
                <a16:creationId xmlns:a16="http://schemas.microsoft.com/office/drawing/2014/main" id="{23742B60-2768-1334-B776-CE154C91B9CE}"/>
              </a:ext>
            </a:extLst>
          </p:cNvPr>
          <p:cNvPicPr>
            <a:picLocks noChangeAspect="1"/>
          </p:cNvPicPr>
          <p:nvPr/>
        </p:nvPicPr>
        <p:blipFill>
          <a:blip r:embed="rId2"/>
          <a:stretch>
            <a:fillRect/>
          </a:stretch>
        </p:blipFill>
        <p:spPr>
          <a:xfrm>
            <a:off x="5015350" y="1124614"/>
            <a:ext cx="5946316" cy="3560357"/>
          </a:xfrm>
          <a:prstGeom prst="rect">
            <a:avLst/>
          </a:prstGeom>
        </p:spPr>
      </p:pic>
    </p:spTree>
    <p:extLst>
      <p:ext uri="{BB962C8B-B14F-4D97-AF65-F5344CB8AC3E}">
        <p14:creationId xmlns:p14="http://schemas.microsoft.com/office/powerpoint/2010/main" val="27577908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68EF3-E610-32D5-33E5-8C4A934B8F0C}"/>
              </a:ext>
            </a:extLst>
          </p:cNvPr>
          <p:cNvSpPr>
            <a:spLocks noGrp="1"/>
          </p:cNvSpPr>
          <p:nvPr>
            <p:ph type="title"/>
          </p:nvPr>
        </p:nvSpPr>
        <p:spPr>
          <a:xfrm>
            <a:off x="838200" y="1916339"/>
            <a:ext cx="10515600" cy="1325563"/>
          </a:xfrm>
        </p:spPr>
        <p:txBody>
          <a:bodyPr>
            <a:normAutofit fontScale="90000"/>
          </a:bodyPr>
          <a:lstStyle/>
          <a:p>
            <a:pPr algn="ctr"/>
            <a:r>
              <a:rPr lang="en-GB" dirty="0"/>
              <a:t>The Next Slides are the tests made for Build</a:t>
            </a:r>
            <a:br>
              <a:rPr lang="en-GB" dirty="0"/>
            </a:br>
            <a:r>
              <a:rPr lang="en-GB" dirty="0"/>
              <a:t>V.1.0 of</a:t>
            </a:r>
            <a:br>
              <a:rPr lang="en-GB" dirty="0"/>
            </a:br>
            <a:r>
              <a:rPr lang="en-GB" dirty="0"/>
              <a:t>Critical Failure</a:t>
            </a:r>
            <a:br>
              <a:rPr lang="en-GB" dirty="0"/>
            </a:br>
            <a:br>
              <a:rPr lang="en-GB" dirty="0"/>
            </a:br>
            <a:r>
              <a:rPr lang="en-GB" dirty="0"/>
              <a:t>Testing</a:t>
            </a:r>
            <a:br>
              <a:rPr lang="en-GB" dirty="0"/>
            </a:br>
            <a:br>
              <a:rPr lang="en-GB" dirty="0"/>
            </a:br>
            <a:r>
              <a:rPr lang="en-GB" dirty="0"/>
              <a:t>The each test will have a video to it at the end</a:t>
            </a:r>
            <a:br>
              <a:rPr lang="en-GB" dirty="0"/>
            </a:br>
            <a:r>
              <a:rPr lang="en-GB" dirty="0"/>
              <a:t>of this PowerPoint, showing the mechanic being tested.</a:t>
            </a:r>
          </a:p>
        </p:txBody>
      </p:sp>
      <p:sp>
        <p:nvSpPr>
          <p:cNvPr id="4" name="TextBox 3">
            <a:extLst>
              <a:ext uri="{FF2B5EF4-FFF2-40B4-BE49-F238E27FC236}">
                <a16:creationId xmlns:a16="http://schemas.microsoft.com/office/drawing/2014/main" id="{0BAA3E30-BFBB-8003-BB5B-D1D448CDCBBE}"/>
              </a:ext>
            </a:extLst>
          </p:cNvPr>
          <p:cNvSpPr txBox="1"/>
          <p:nvPr/>
        </p:nvSpPr>
        <p:spPr>
          <a:xfrm>
            <a:off x="0" y="6211669"/>
            <a:ext cx="10793186" cy="646331"/>
          </a:xfrm>
          <a:prstGeom prst="rect">
            <a:avLst/>
          </a:prstGeom>
          <a:noFill/>
        </p:spPr>
        <p:txBody>
          <a:bodyPr wrap="square">
            <a:spAutoFit/>
          </a:bodyPr>
          <a:lstStyle/>
          <a:p>
            <a:r>
              <a:rPr lang="en-GB" sz="1800" b="1" dirty="0">
                <a:latin typeface="Arial Narrow" panose="020B0606020202030204" pitchFamily="34" charset="0"/>
              </a:rPr>
              <a:t>Note: Each Level has different versions of the zones: Cam_zone_lvl1, Cam_zone_lvl2 etc. Level versions of the enemies and othe</a:t>
            </a:r>
            <a:r>
              <a:rPr lang="en-GB" b="1" dirty="0">
                <a:latin typeface="Arial Narrow" panose="020B0606020202030204" pitchFamily="34" charset="0"/>
              </a:rPr>
              <a:t>r objects follow the </a:t>
            </a:r>
            <a:r>
              <a:rPr lang="en-GB" b="1" dirty="0" err="1">
                <a:latin typeface="Arial Narrow" panose="020B0606020202030204" pitchFamily="34" charset="0"/>
              </a:rPr>
              <a:t>Cam_zone</a:t>
            </a:r>
            <a:r>
              <a:rPr lang="en-GB" b="1" dirty="0">
                <a:latin typeface="Arial Narrow" panose="020B0606020202030204" pitchFamily="34" charset="0"/>
              </a:rPr>
              <a:t> matching the level they are in not ones from other levels.</a:t>
            </a:r>
            <a:endParaRPr lang="en-GB" sz="1800" b="1" dirty="0">
              <a:latin typeface="Arial Narrow" panose="020B0606020202030204" pitchFamily="34" charset="0"/>
            </a:endParaRPr>
          </a:p>
        </p:txBody>
      </p:sp>
    </p:spTree>
    <p:extLst>
      <p:ext uri="{BB962C8B-B14F-4D97-AF65-F5344CB8AC3E}">
        <p14:creationId xmlns:p14="http://schemas.microsoft.com/office/powerpoint/2010/main" val="17745523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22315289"/>
              </p:ext>
            </p:extLst>
          </p:nvPr>
        </p:nvGraphicFramePr>
        <p:xfrm>
          <a:off x="38100" y="391885"/>
          <a:ext cx="12115800" cy="6218272"/>
        </p:xfrm>
        <a:graphic>
          <a:graphicData uri="http://schemas.openxmlformats.org/drawingml/2006/table">
            <a:tbl>
              <a:tblPr firstRow="1" bandRow="1">
                <a:tableStyleId>{5C22544A-7EE6-4342-B048-85BDC9FD1C3A}</a:tableStyleId>
              </a:tblPr>
              <a:tblGrid>
                <a:gridCol w="800101">
                  <a:extLst>
                    <a:ext uri="{9D8B030D-6E8A-4147-A177-3AD203B41FA5}">
                      <a16:colId xmlns:a16="http://schemas.microsoft.com/office/drawing/2014/main" val="2041145262"/>
                    </a:ext>
                  </a:extLst>
                </a:gridCol>
                <a:gridCol w="2587189">
                  <a:extLst>
                    <a:ext uri="{9D8B030D-6E8A-4147-A177-3AD203B41FA5}">
                      <a16:colId xmlns:a16="http://schemas.microsoft.com/office/drawing/2014/main" val="3102287305"/>
                    </a:ext>
                  </a:extLst>
                </a:gridCol>
                <a:gridCol w="814089">
                  <a:extLst>
                    <a:ext uri="{9D8B030D-6E8A-4147-A177-3AD203B41FA5}">
                      <a16:colId xmlns:a16="http://schemas.microsoft.com/office/drawing/2014/main" val="4080696647"/>
                    </a:ext>
                  </a:extLst>
                </a:gridCol>
                <a:gridCol w="1350336">
                  <a:extLst>
                    <a:ext uri="{9D8B030D-6E8A-4147-A177-3AD203B41FA5}">
                      <a16:colId xmlns:a16="http://schemas.microsoft.com/office/drawing/2014/main" val="132880537"/>
                    </a:ext>
                  </a:extLst>
                </a:gridCol>
                <a:gridCol w="4248695">
                  <a:extLst>
                    <a:ext uri="{9D8B030D-6E8A-4147-A177-3AD203B41FA5}">
                      <a16:colId xmlns:a16="http://schemas.microsoft.com/office/drawing/2014/main" val="786884226"/>
                    </a:ext>
                  </a:extLst>
                </a:gridCol>
                <a:gridCol w="2315390">
                  <a:extLst>
                    <a:ext uri="{9D8B030D-6E8A-4147-A177-3AD203B41FA5}">
                      <a16:colId xmlns:a16="http://schemas.microsoft.com/office/drawing/2014/main" val="259252547"/>
                    </a:ext>
                  </a:extLst>
                </a:gridCol>
              </a:tblGrid>
              <a:tr h="353746">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0">
                <a:tc>
                  <a:txBody>
                    <a:bodyPr/>
                    <a:lstStyle/>
                    <a:p>
                      <a:r>
                        <a:rPr lang="en-GB" sz="800" dirty="0"/>
                        <a:t>1.</a:t>
                      </a:r>
                    </a:p>
                  </a:txBody>
                  <a:tcPr/>
                </a:tc>
                <a:tc>
                  <a:txBody>
                    <a:bodyPr/>
                    <a:lstStyle/>
                    <a:p>
                      <a:r>
                        <a:rPr lang="en-GB" sz="800" dirty="0" err="1"/>
                        <a:t>Gwiber</a:t>
                      </a:r>
                      <a:r>
                        <a:rPr lang="en-GB" sz="800" dirty="0"/>
                        <a:t> level 1 Enemy Movement Test</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err="1"/>
                        <a:t>Gwiber</a:t>
                      </a:r>
                      <a:r>
                        <a:rPr lang="en-GB" sz="800" dirty="0"/>
                        <a:t> starts in camera zone 4 then makes his way towards the left door which is camera zone 2. His movement chances are 50/50 to go forwards or backwards. He can only access Camera Zones 4,3,2,1,5. if door is in a closed state and </a:t>
                      </a:r>
                      <a:r>
                        <a:rPr lang="en-GB" sz="800" dirty="0" err="1"/>
                        <a:t>Gwiber</a:t>
                      </a:r>
                      <a:r>
                        <a:rPr lang="en-GB" sz="800" dirty="0"/>
                        <a:t> is in Camera zone 2, then he moves away from the door to Camera Zone 1 or 3. </a:t>
                      </a:r>
                      <a:r>
                        <a:rPr lang="en-GB" sz="800" dirty="0" err="1"/>
                        <a:t>Gwiber</a:t>
                      </a:r>
                      <a:r>
                        <a:rPr lang="en-GB" sz="800" dirty="0"/>
                        <a:t> moves as a normal speed. When watched his movement is delayed slightly</a:t>
                      </a:r>
                    </a:p>
                  </a:txBody>
                  <a:tcPr/>
                </a:tc>
                <a:tc>
                  <a:txBody>
                    <a:bodyPr/>
                    <a:lstStyle/>
                    <a:p>
                      <a:endParaRPr lang="en-GB" sz="800" dirty="0"/>
                    </a:p>
                  </a:txBody>
                  <a:tcPr/>
                </a:tc>
                <a:extLst>
                  <a:ext uri="{0D108BD9-81ED-4DB2-BD59-A6C34878D82A}">
                    <a16:rowId xmlns:a16="http://schemas.microsoft.com/office/drawing/2014/main" val="1068541384"/>
                  </a:ext>
                </a:extLst>
              </a:tr>
              <a:tr h="585303">
                <a:tc>
                  <a:txBody>
                    <a:bodyPr/>
                    <a:lstStyle/>
                    <a:p>
                      <a:r>
                        <a:rPr lang="en-GB" sz="800"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2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starts in camera zone 4 then makes his way towards the left door which is camera zone 2. His movement chances are 50/50 to go forwards or backwards. He can only access Camera Zones 4,3,2,1,5. if door is in a closed state and </a:t>
                      </a:r>
                      <a:r>
                        <a:rPr lang="en-GB" sz="800" dirty="0" err="1"/>
                        <a:t>Gwiber</a:t>
                      </a:r>
                      <a:r>
                        <a:rPr lang="en-GB" sz="800" dirty="0"/>
                        <a:t> is in Camera zone 2, then he moves away from the door to Camera Zone 1 or 3. </a:t>
                      </a:r>
                      <a:r>
                        <a:rPr lang="en-GB" sz="800" dirty="0" err="1"/>
                        <a:t>Gwiber</a:t>
                      </a:r>
                      <a:r>
                        <a:rPr lang="en-GB" sz="800" dirty="0"/>
                        <a:t> moves as a normal speed. When watched his movement is delayed slightly</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585303">
                <a:tc>
                  <a:txBody>
                    <a:bodyPr/>
                    <a:lstStyle/>
                    <a:p>
                      <a:r>
                        <a:rPr lang="en-GB" sz="800" dirty="0"/>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3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r>
                        <a:rPr lang="en-GB" sz="800" dirty="0"/>
                        <a:t>Obj_amcd_gwiber_lvl3</a:t>
                      </a:r>
                    </a:p>
                  </a:txBody>
                  <a:tcPr/>
                </a:tc>
                <a:tc>
                  <a:txBody>
                    <a:bodyPr/>
                    <a:lstStyle/>
                    <a:p>
                      <a:r>
                        <a:rPr lang="en-GB" sz="800" dirty="0"/>
                        <a:t>In Level 3 </a:t>
                      </a:r>
                      <a:r>
                        <a:rPr lang="en-GB" sz="800" dirty="0" err="1"/>
                        <a:t>Gwiber</a:t>
                      </a:r>
                      <a:r>
                        <a:rPr lang="en-GB" sz="800" dirty="0"/>
                        <a:t> starts in Camera Zone 17 then makes his way to Camera Zone 2. His code is like the two previous versions of him with the addition of zones 17,13,16 and 12 at his disposal. he moves from Camera Zone. Moves as normal speed.</a:t>
                      </a:r>
                    </a:p>
                  </a:txBody>
                  <a:tcPr/>
                </a:tc>
                <a:tc>
                  <a:txBody>
                    <a:bodyPr/>
                    <a:lstStyle/>
                    <a:p>
                      <a:endParaRPr lang="en-GB" sz="800" dirty="0"/>
                    </a:p>
                  </a:txBody>
                  <a:tcPr/>
                </a:tc>
                <a:extLst>
                  <a:ext uri="{0D108BD9-81ED-4DB2-BD59-A6C34878D82A}">
                    <a16:rowId xmlns:a16="http://schemas.microsoft.com/office/drawing/2014/main" val="4058717911"/>
                  </a:ext>
                </a:extLst>
              </a:tr>
              <a:tr h="585303">
                <a:tc>
                  <a:txBody>
                    <a:bodyPr/>
                    <a:lstStyle/>
                    <a:p>
                      <a:r>
                        <a:rPr lang="en-GB" sz="800" dirty="0"/>
                        <a:t>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5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r>
                        <a:rPr lang="en-GB" sz="800" dirty="0"/>
                        <a:t>Obj_amcd_gwiber_lvl5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In Level 5 </a:t>
                      </a:r>
                      <a:r>
                        <a:rPr lang="en-GB" sz="800" dirty="0" err="1"/>
                        <a:t>Gwiber</a:t>
                      </a:r>
                      <a:r>
                        <a:rPr lang="en-GB" sz="800" dirty="0"/>
                        <a:t> starts in Camera Zone 17 then makes his way to Camera Zone 2. His code is like the two previous versions of him with the addition of zones 17,13,16 and 12 at his disposal. he moves from Camera Zone. Moves as normal speed.</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585303">
                <a:tc>
                  <a:txBody>
                    <a:bodyPr/>
                    <a:lstStyle/>
                    <a:p>
                      <a:r>
                        <a:rPr lang="en-GB" sz="800" dirty="0"/>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1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r>
                        <a:rPr lang="en-GB" sz="800" dirty="0"/>
                        <a:t>Obj_amcd_k9</a:t>
                      </a:r>
                    </a:p>
                  </a:txBody>
                  <a:tcPr/>
                </a:tc>
                <a:tc>
                  <a:txBody>
                    <a:bodyPr/>
                    <a:lstStyle/>
                    <a:p>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txBody>
                  <a:tcPr/>
                </a:tc>
                <a:tc>
                  <a:txBody>
                    <a:bodyPr/>
                    <a:lstStyle/>
                    <a:p>
                      <a:endParaRPr lang="en-GB" sz="800" dirty="0"/>
                    </a:p>
                  </a:txBody>
                  <a:tcPr/>
                </a:tc>
                <a:extLst>
                  <a:ext uri="{0D108BD9-81ED-4DB2-BD59-A6C34878D82A}">
                    <a16:rowId xmlns:a16="http://schemas.microsoft.com/office/drawing/2014/main" val="1242589453"/>
                  </a:ext>
                </a:extLst>
              </a:tr>
              <a:tr h="585303">
                <a:tc>
                  <a:txBody>
                    <a:bodyPr/>
                    <a:lstStyle/>
                    <a:p>
                      <a:r>
                        <a:rPr lang="en-GB" sz="800" dirty="0"/>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2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Obj_amcd_k9_lvl2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585303">
                <a:tc>
                  <a:txBody>
                    <a:bodyPr/>
                    <a:lstStyle/>
                    <a:p>
                      <a:r>
                        <a:rPr lang="en-GB" sz="800" dirty="0"/>
                        <a:t>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3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r>
                        <a:rPr lang="en-GB" sz="800" dirty="0"/>
                        <a:t>Obj_amcd_k9_lvl3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585303">
                <a:tc>
                  <a:txBody>
                    <a:bodyPr/>
                    <a:lstStyle/>
                    <a:p>
                      <a:r>
                        <a:rPr lang="en-GB" sz="800" dirty="0"/>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5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r>
                        <a:rPr lang="en-GB" sz="800" dirty="0"/>
                        <a:t>Obj_amcd_k9_lvl5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3698927783"/>
                  </a:ext>
                </a:extLst>
              </a:tr>
            </a:tbl>
          </a:graphicData>
        </a:graphic>
      </p:graphicFrame>
      <p:sp>
        <p:nvSpPr>
          <p:cNvPr id="2" name="TextBox 1">
            <a:extLst>
              <a:ext uri="{FF2B5EF4-FFF2-40B4-BE49-F238E27FC236}">
                <a16:creationId xmlns:a16="http://schemas.microsoft.com/office/drawing/2014/main" id="{F9129CF1-E1CC-4A65-2531-AC82C7C0D75D}"/>
              </a:ext>
            </a:extLst>
          </p:cNvPr>
          <p:cNvSpPr txBox="1"/>
          <p:nvPr/>
        </p:nvSpPr>
        <p:spPr>
          <a:xfrm>
            <a:off x="0" y="22553"/>
            <a:ext cx="1601592"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24688705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2675186991"/>
              </p:ext>
            </p:extLst>
          </p:nvPr>
        </p:nvGraphicFramePr>
        <p:xfrm>
          <a:off x="0" y="391886"/>
          <a:ext cx="12034157" cy="6266361"/>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536104">
                  <a:extLst>
                    <a:ext uri="{9D8B030D-6E8A-4147-A177-3AD203B41FA5}">
                      <a16:colId xmlns:a16="http://schemas.microsoft.com/office/drawing/2014/main" val="3102287305"/>
                    </a:ext>
                  </a:extLst>
                </a:gridCol>
                <a:gridCol w="84698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9.</a:t>
                      </a:r>
                    </a:p>
                  </a:txBody>
                  <a:tcPr/>
                </a:tc>
                <a:tc>
                  <a:txBody>
                    <a:bodyPr/>
                    <a:lstStyle/>
                    <a:p>
                      <a:r>
                        <a:rPr lang="en-GB" sz="800" dirty="0"/>
                        <a:t>Bulker Level 2 Enemy Movement Test</a:t>
                      </a:r>
                    </a:p>
                  </a:txBody>
                  <a:tcPr/>
                </a:tc>
                <a:tc>
                  <a:txBody>
                    <a:bodyPr/>
                    <a:lstStyle/>
                    <a:p>
                      <a:r>
                        <a:rPr lang="en-GB" sz="800" dirty="0"/>
                        <a:t>Rm_level2</a:t>
                      </a:r>
                    </a:p>
                  </a:txBody>
                  <a:tcPr/>
                </a:tc>
                <a:tc>
                  <a:txBody>
                    <a:bodyPr/>
                    <a:lstStyle/>
                    <a:p>
                      <a:r>
                        <a:rPr lang="en-GB" sz="800" dirty="0"/>
                        <a:t>Obj_amcd_bulker_level2</a:t>
                      </a:r>
                    </a:p>
                  </a:txBody>
                  <a:tcPr/>
                </a:tc>
                <a:tc>
                  <a:txBody>
                    <a:bodyPr/>
                    <a:lstStyle/>
                    <a:p>
                      <a:r>
                        <a:rPr lang="en-GB" sz="800" dirty="0"/>
                        <a:t>Bulker starts in Camera Zone 11 then makes his way towards the office. He can access zones 20,11,10,9,8,7.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a:t>
                      </a:r>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10.</a:t>
                      </a:r>
                    </a:p>
                  </a:txBody>
                  <a:tcPr/>
                </a:tc>
                <a:tc>
                  <a:txBody>
                    <a:bodyPr/>
                    <a:lstStyle/>
                    <a:p>
                      <a:r>
                        <a:rPr lang="en-GB" sz="800" dirty="0"/>
                        <a:t>Bulker Level 3 Enemy Movement Test</a:t>
                      </a:r>
                    </a:p>
                  </a:txBody>
                  <a:tcPr/>
                </a:tc>
                <a:tc>
                  <a:txBody>
                    <a:bodyPr/>
                    <a:lstStyle/>
                    <a:p>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starts in Camera Zone 11 then makes his way towards the office. He can access zones 20,11,10,9,8,7,18,19.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 Also on start he can choose between starting in zone 11 or 19.</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11.</a:t>
                      </a:r>
                    </a:p>
                  </a:txBody>
                  <a:tcPr/>
                </a:tc>
                <a:tc>
                  <a:txBody>
                    <a:bodyPr/>
                    <a:lstStyle/>
                    <a:p>
                      <a:r>
                        <a:rPr lang="en-GB" sz="800" dirty="0"/>
                        <a:t>Bulker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starts in Camera Zone 11 then makes his way towards the office. He can access zones 20,11,10,9,8,7,18,19.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 Also on start he can choose between starting in zone 11 or 19.</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12.</a:t>
                      </a:r>
                    </a:p>
                  </a:txBody>
                  <a:tcPr/>
                </a:tc>
                <a:tc>
                  <a:txBody>
                    <a:bodyPr/>
                    <a:lstStyle/>
                    <a:p>
                      <a:r>
                        <a:rPr lang="en-GB" sz="800" dirty="0" err="1"/>
                        <a:t>Arach</a:t>
                      </a:r>
                      <a:r>
                        <a:rPr lang="en-GB" sz="800" dirty="0"/>
                        <a:t> Level 4 Enemy Movement Test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Obj_amcd_arach_level4</a:t>
                      </a:r>
                    </a:p>
                    <a:p>
                      <a:endParaRPr lang="en-GB" sz="800" dirty="0"/>
                    </a:p>
                  </a:txBody>
                  <a:tcPr/>
                </a:tc>
                <a:tc>
                  <a:txBody>
                    <a:bodyPr/>
                    <a:lstStyle/>
                    <a:p>
                      <a:r>
                        <a:rPr lang="en-GB" sz="800" dirty="0" err="1"/>
                        <a:t>Arach</a:t>
                      </a:r>
                      <a:r>
                        <a:rPr lang="en-GB" sz="800" dirty="0"/>
                        <a:t> starts in Camera Zone 5. </a:t>
                      </a:r>
                      <a:r>
                        <a:rPr lang="en-GB" sz="800" dirty="0" err="1"/>
                        <a:t>Arach</a:t>
                      </a:r>
                      <a:r>
                        <a:rPr lang="en-GB" sz="800" dirty="0"/>
                        <a:t> works by changing between camera zone 5 and 8 (front vent and back vent) to then move into zone 0. If the front vent is closed as </a:t>
                      </a:r>
                      <a:r>
                        <a:rPr lang="en-GB" sz="800" dirty="0" err="1"/>
                        <a:t>Arach</a:t>
                      </a:r>
                      <a:r>
                        <a:rPr lang="en-GB" sz="800" dirty="0"/>
                        <a:t> is in Camera Zone 5, he cannot attack, same works for Camera zone 8. If he fails an attack he rolls a 50/50 on whether he stays in 5 or moves to 8.</a:t>
                      </a:r>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13.</a:t>
                      </a:r>
                    </a:p>
                  </a:txBody>
                  <a:tcPr/>
                </a:tc>
                <a:tc>
                  <a:txBody>
                    <a:bodyPr/>
                    <a:lstStyle/>
                    <a:p>
                      <a:r>
                        <a:rPr lang="en-GB" sz="800" dirty="0" err="1"/>
                        <a:t>Arach</a:t>
                      </a:r>
                      <a:r>
                        <a:rPr lang="en-GB" sz="800" dirty="0"/>
                        <a:t>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Obj_amcd_arach_level5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Arach</a:t>
                      </a:r>
                      <a:r>
                        <a:rPr lang="en-GB" sz="800" dirty="0"/>
                        <a:t> starts in Camera Zone 5. </a:t>
                      </a:r>
                      <a:r>
                        <a:rPr lang="en-GB" sz="800" dirty="0" err="1"/>
                        <a:t>Arach</a:t>
                      </a:r>
                      <a:r>
                        <a:rPr lang="en-GB" sz="800" dirty="0"/>
                        <a:t> works by changing between camera zone 5 and 8 (front vent and back vent) to then move into zone 0. If the front vent is closed as </a:t>
                      </a:r>
                      <a:r>
                        <a:rPr lang="en-GB" sz="800" dirty="0" err="1"/>
                        <a:t>Arach</a:t>
                      </a:r>
                      <a:r>
                        <a:rPr lang="en-GB" sz="800" dirty="0"/>
                        <a:t> is in Camera Zone 5, he cannot attack, same works for Camera zone 8. If he fails an attack he rolls a 50/50 on whether he stays in 5 or moves to 8.</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14.</a:t>
                      </a:r>
                    </a:p>
                  </a:txBody>
                  <a:tcPr/>
                </a:tc>
                <a:tc>
                  <a:txBody>
                    <a:bodyPr/>
                    <a:lstStyle/>
                    <a:p>
                      <a:r>
                        <a:rPr lang="en-GB" sz="800" dirty="0"/>
                        <a:t>Prototype Level 4 Enemy  Movement Test</a:t>
                      </a:r>
                    </a:p>
                  </a:txBody>
                  <a:tcPr/>
                </a:tc>
                <a:tc>
                  <a:txBody>
                    <a:bodyPr/>
                    <a:lstStyle/>
                    <a:p>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Obj_amcd_prototype_level4</a:t>
                      </a:r>
                    </a:p>
                    <a:p>
                      <a:endParaRPr lang="en-GB" sz="800" dirty="0"/>
                    </a:p>
                  </a:txBody>
                  <a:tcPr/>
                </a:tc>
                <a:tc>
                  <a:txBody>
                    <a:bodyPr/>
                    <a:lstStyle/>
                    <a:p>
                      <a:r>
                        <a:rPr lang="en-GB" sz="800" dirty="0"/>
                        <a:t>Prototype is a full deck, a combination of every enemies behaviours. When he’s at the door, he stays for a long time, he’s silent like </a:t>
                      </a:r>
                      <a:r>
                        <a:rPr lang="en-GB" sz="800" dirty="0" err="1"/>
                        <a:t>Gwiber</a:t>
                      </a:r>
                      <a:r>
                        <a:rPr lang="en-GB" sz="800" dirty="0"/>
                        <a:t> and his main behaviour which is related to K9. Prototype can move from any Camera zone. When he leaves the door he chooses what camera zone he wants to go to between 1,20 (all of them besides the zone he’s currently in). This makes him unpredictable.</a:t>
                      </a:r>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r>
                        <a:rPr lang="en-GB" sz="800" dirty="0"/>
                        <a:t>15.</a:t>
                      </a:r>
                    </a:p>
                  </a:txBody>
                  <a:tcPr/>
                </a:tc>
                <a:tc>
                  <a:txBody>
                    <a:bodyPr/>
                    <a:lstStyle/>
                    <a:p>
                      <a:r>
                        <a:rPr lang="en-GB" sz="800" dirty="0"/>
                        <a:t>Prototype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is a full deck, a combination of every enemies behaviours. When he’s at the door, he stays for a long time, he’s silent like </a:t>
                      </a:r>
                      <a:r>
                        <a:rPr lang="en-GB" sz="800" dirty="0" err="1"/>
                        <a:t>Gwiber</a:t>
                      </a:r>
                      <a:r>
                        <a:rPr lang="en-GB" sz="800" dirty="0"/>
                        <a:t> and his main behaviour which is related to K9. Prototype can move from any Camera zone. When he leaves the door he chooses what camera zone he wants to go to between 1,20 (all of them besides the zone he’s currently in). This makes him unpredictable.</a:t>
                      </a:r>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01592"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838271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2518163840"/>
              </p:ext>
            </p:extLst>
          </p:nvPr>
        </p:nvGraphicFramePr>
        <p:xfrm>
          <a:off x="0" y="391886"/>
          <a:ext cx="12034157" cy="574977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16.</a:t>
                      </a:r>
                    </a:p>
                  </a:txBody>
                  <a:tcPr/>
                </a:tc>
                <a:tc>
                  <a:txBody>
                    <a:bodyPr/>
                    <a:lstStyle/>
                    <a:p>
                      <a:r>
                        <a:rPr lang="en-GB" sz="800" dirty="0" err="1"/>
                        <a:t>Gwiber</a:t>
                      </a:r>
                      <a:r>
                        <a:rPr lang="en-GB" sz="800" dirty="0"/>
                        <a:t> Level 1 watched</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18.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19.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20.</a:t>
                      </a:r>
                    </a:p>
                  </a:txBody>
                  <a:tcPr/>
                </a:tc>
                <a:tc>
                  <a:txBody>
                    <a:bodyPr/>
                    <a:lstStyle/>
                    <a:p>
                      <a:r>
                        <a:rPr lang="en-GB" sz="800" dirty="0"/>
                        <a:t>K9 level 1 watched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r>
                        <a:rPr lang="en-GB" sz="800" dirty="0"/>
                        <a:t>22.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648831">
                <a:tc>
                  <a:txBody>
                    <a:bodyPr/>
                    <a:lstStyle/>
                    <a:p>
                      <a:r>
                        <a:rPr lang="en-GB" sz="800" dirty="0"/>
                        <a:t>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48080"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38023037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948560174"/>
              </p:ext>
            </p:extLst>
          </p:nvPr>
        </p:nvGraphicFramePr>
        <p:xfrm>
          <a:off x="0" y="391886"/>
          <a:ext cx="12034157" cy="574977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24.</a:t>
                      </a:r>
                    </a:p>
                  </a:txBody>
                  <a:tcPr/>
                </a:tc>
                <a:tc>
                  <a:txBody>
                    <a:bodyPr/>
                    <a:lstStyle/>
                    <a:p>
                      <a:r>
                        <a:rPr lang="en-GB" sz="800" dirty="0"/>
                        <a:t>Bulker Level 1 watched</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25.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26.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27.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28.</a:t>
                      </a:r>
                    </a:p>
                  </a:txBody>
                  <a:tcPr/>
                </a:tc>
                <a:tc>
                  <a:txBody>
                    <a:bodyPr/>
                    <a:lstStyle/>
                    <a:p>
                      <a:r>
                        <a:rPr lang="en-GB" sz="800" dirty="0"/>
                        <a:t>Prototype level 4 watched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Prototype, Prototype‘s movement timer slows down. To be more specific his normal movement timer is -3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29.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level 5 watched</a:t>
                      </a:r>
                    </a:p>
                    <a:p>
                      <a:endParaRPr lang="en-GB" sz="800" dirty="0"/>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-3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648831">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48080"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36938127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228830394"/>
              </p:ext>
            </p:extLst>
          </p:nvPr>
        </p:nvGraphicFramePr>
        <p:xfrm>
          <a:off x="0" y="391886"/>
          <a:ext cx="12034157" cy="602673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1428750">
                  <a:extLst>
                    <a:ext uri="{9D8B030D-6E8A-4147-A177-3AD203B41FA5}">
                      <a16:colId xmlns:a16="http://schemas.microsoft.com/office/drawing/2014/main" val="3102287305"/>
                    </a:ext>
                  </a:extLst>
                </a:gridCol>
                <a:gridCol w="677635">
                  <a:extLst>
                    <a:ext uri="{9D8B030D-6E8A-4147-A177-3AD203B41FA5}">
                      <a16:colId xmlns:a16="http://schemas.microsoft.com/office/drawing/2014/main" val="4080696647"/>
                    </a:ext>
                  </a:extLst>
                </a:gridCol>
                <a:gridCol w="1306286">
                  <a:extLst>
                    <a:ext uri="{9D8B030D-6E8A-4147-A177-3AD203B41FA5}">
                      <a16:colId xmlns:a16="http://schemas.microsoft.com/office/drawing/2014/main" val="132880537"/>
                    </a:ext>
                  </a:extLst>
                </a:gridCol>
                <a:gridCol w="7143750">
                  <a:extLst>
                    <a:ext uri="{9D8B030D-6E8A-4147-A177-3AD203B41FA5}">
                      <a16:colId xmlns:a16="http://schemas.microsoft.com/office/drawing/2014/main" val="786884226"/>
                    </a:ext>
                  </a:extLst>
                </a:gridCol>
                <a:gridCol w="775607">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648831">
                <a:tc>
                  <a:txBody>
                    <a:bodyPr/>
                    <a:lstStyle/>
                    <a:p>
                      <a:r>
                        <a:rPr lang="en-GB" sz="800" dirty="0"/>
                        <a:t>30.</a:t>
                      </a:r>
                    </a:p>
                  </a:txBody>
                  <a:tcPr/>
                </a:tc>
                <a:tc>
                  <a:txBody>
                    <a:bodyPr/>
                    <a:lstStyle/>
                    <a:p>
                      <a:r>
                        <a:rPr lang="en-GB" sz="800" dirty="0" err="1"/>
                        <a:t>Gwiber</a:t>
                      </a:r>
                      <a:r>
                        <a:rPr lang="en-GB" sz="800" dirty="0"/>
                        <a:t> zone change level 1</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txBody>
                  <a:tcPr/>
                </a:tc>
                <a:tc>
                  <a:txBody>
                    <a:bodyPr/>
                    <a:lstStyle/>
                    <a:p>
                      <a:endParaRPr lang="en-GB" sz="800" dirty="0"/>
                    </a:p>
                  </a:txBody>
                  <a:tcPr/>
                </a:tc>
                <a:extLst>
                  <a:ext uri="{0D108BD9-81ED-4DB2-BD59-A6C34878D82A}">
                    <a16:rowId xmlns:a16="http://schemas.microsoft.com/office/drawing/2014/main" val="2541011158"/>
                  </a:ext>
                </a:extLst>
              </a:tr>
              <a:tr h="548322">
                <a:tc>
                  <a:txBody>
                    <a:bodyPr/>
                    <a:lstStyle/>
                    <a:p>
                      <a:r>
                        <a:rPr lang="en-GB" sz="800" dirty="0"/>
                        <a:t>31.</a:t>
                      </a:r>
                    </a:p>
                  </a:txBody>
                  <a:tcPr/>
                </a:tc>
                <a:tc>
                  <a:txBody>
                    <a:bodyPr/>
                    <a:lstStyle/>
                    <a:p>
                      <a:r>
                        <a:rPr lang="en-GB" sz="800" dirty="0" err="1"/>
                        <a:t>Gwiber</a:t>
                      </a:r>
                      <a:r>
                        <a:rPr lang="en-GB" sz="800" dirty="0"/>
                        <a:t> zone change level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4133394058"/>
                  </a:ext>
                </a:extLst>
              </a:tr>
              <a:tr h="648831">
                <a:tc>
                  <a:txBody>
                    <a:bodyPr/>
                    <a:lstStyle/>
                    <a:p>
                      <a:r>
                        <a:rPr lang="en-GB" sz="800" dirty="0"/>
                        <a:t>32.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3113226149"/>
                  </a:ext>
                </a:extLst>
              </a:tr>
              <a:tr h="685312">
                <a:tc>
                  <a:txBody>
                    <a:bodyPr/>
                    <a:lstStyle/>
                    <a:p>
                      <a:r>
                        <a:rPr lang="en-GB" sz="800" dirty="0"/>
                        <a:t>33.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156842521"/>
                  </a:ext>
                </a:extLst>
              </a:tr>
              <a:tr h="648831">
                <a:tc>
                  <a:txBody>
                    <a:bodyPr/>
                    <a:lstStyle/>
                    <a:p>
                      <a:r>
                        <a:rPr lang="en-GB" sz="800" dirty="0"/>
                        <a:t>34.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3341429027"/>
                  </a:ext>
                </a:extLst>
              </a:tr>
              <a:tr h="648831">
                <a:tc>
                  <a:txBody>
                    <a:bodyPr/>
                    <a:lstStyle/>
                    <a:p>
                      <a:r>
                        <a:rPr lang="en-GB" sz="800" dirty="0"/>
                        <a:t>35.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830951609"/>
                  </a:ext>
                </a:extLst>
              </a:tr>
              <a:tr h="648831">
                <a:tc>
                  <a:txBody>
                    <a:bodyPr/>
                    <a:lstStyle/>
                    <a:p>
                      <a:r>
                        <a:rPr lang="en-GB" sz="800" dirty="0"/>
                        <a:t>36.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951929266"/>
                  </a:ext>
                </a:extLst>
              </a:tr>
              <a:tr h="648831">
                <a:tc>
                  <a:txBody>
                    <a:bodyPr/>
                    <a:lstStyle/>
                    <a:p>
                      <a:r>
                        <a:rPr lang="en-GB" sz="800" dirty="0"/>
                        <a:t>37.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2263943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2957669" cy="369332"/>
          </a:xfrm>
          <a:prstGeom prst="rect">
            <a:avLst/>
          </a:prstGeom>
          <a:noFill/>
        </p:spPr>
        <p:txBody>
          <a:bodyPr wrap="none" rtlCol="0">
            <a:spAutoFit/>
          </a:bodyPr>
          <a:lstStyle/>
          <a:p>
            <a:r>
              <a:rPr lang="en-GB" dirty="0"/>
              <a:t>Enemy Zone Change Testing</a:t>
            </a:r>
          </a:p>
        </p:txBody>
      </p:sp>
    </p:spTree>
    <p:extLst>
      <p:ext uri="{BB962C8B-B14F-4D97-AF65-F5344CB8AC3E}">
        <p14:creationId xmlns:p14="http://schemas.microsoft.com/office/powerpoint/2010/main" val="10043919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433890630"/>
              </p:ext>
            </p:extLst>
          </p:nvPr>
        </p:nvGraphicFramePr>
        <p:xfrm>
          <a:off x="0" y="391886"/>
          <a:ext cx="12034157" cy="4585423"/>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5337328">
                  <a:extLst>
                    <a:ext uri="{9D8B030D-6E8A-4147-A177-3AD203B41FA5}">
                      <a16:colId xmlns:a16="http://schemas.microsoft.com/office/drawing/2014/main" val="786884226"/>
                    </a:ext>
                  </a:extLst>
                </a:gridCol>
                <a:gridCol w="1094014">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648831">
                <a:tc>
                  <a:txBody>
                    <a:bodyPr/>
                    <a:lstStyle/>
                    <a:p>
                      <a:r>
                        <a:rPr lang="en-GB" sz="800" dirty="0"/>
                        <a:t>38.</a:t>
                      </a:r>
                    </a:p>
                  </a:txBody>
                  <a:tcPr/>
                </a:tc>
                <a:tc>
                  <a:txBody>
                    <a:bodyPr/>
                    <a:lstStyle/>
                    <a:p>
                      <a:r>
                        <a:rPr lang="en-GB" sz="800" dirty="0"/>
                        <a:t> Bulker zone change level 2</a:t>
                      </a:r>
                    </a:p>
                  </a:txBody>
                  <a:tcPr/>
                </a:tc>
                <a:tc>
                  <a:txBody>
                    <a:bodyPr/>
                    <a:lstStyle/>
                    <a:p>
                      <a:r>
                        <a:rPr lang="en-GB" sz="800" dirty="0"/>
                        <a:t>Rm_level2</a:t>
                      </a:r>
                    </a:p>
                  </a:txBody>
                  <a:tcPr/>
                </a:tc>
                <a:tc>
                  <a:txBody>
                    <a:bodyPr/>
                    <a:lstStyle/>
                    <a:p>
                      <a:r>
                        <a:rPr lang="en-GB" sz="800" dirty="0"/>
                        <a:t>Obj_amcd_bulker_lvl2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r h="648831">
                <a:tc>
                  <a:txBody>
                    <a:bodyPr/>
                    <a:lstStyle/>
                    <a:p>
                      <a:r>
                        <a:rPr lang="en-GB" sz="800" dirty="0"/>
                        <a:t>39.</a:t>
                      </a:r>
                    </a:p>
                  </a:txBody>
                  <a:tcPr/>
                </a:tc>
                <a:tc>
                  <a:txBody>
                    <a:bodyPr/>
                    <a:lstStyle/>
                    <a:p>
                      <a:r>
                        <a:rPr lang="en-GB" sz="800" dirty="0"/>
                        <a:t>Bulker zone change level 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4133394058"/>
                  </a:ext>
                </a:extLst>
              </a:tr>
              <a:tr h="648831">
                <a:tc>
                  <a:txBody>
                    <a:bodyPr/>
                    <a:lstStyle/>
                    <a:p>
                      <a:r>
                        <a:rPr lang="en-GB" sz="800"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3113226149"/>
                  </a:ext>
                </a:extLst>
              </a:tr>
              <a:tr h="685312">
                <a:tc>
                  <a:txBody>
                    <a:bodyPr/>
                    <a:lstStyle/>
                    <a:p>
                      <a:r>
                        <a:rPr lang="en-GB" sz="800" dirty="0"/>
                        <a:t>41.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zone change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Prototype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Prototype is moving to, then the zone Prototype is moving to, will change its object to display the zone with both Prototype and K9. If Prototype moves to a zone, then the previous zone he was in, will return to normal, or if K9 was in the same zone, it will only display the K9 zone after Prototype leaves it. If Prototype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156842521"/>
                  </a:ext>
                </a:extLst>
              </a:tr>
              <a:tr h="734786">
                <a:tc>
                  <a:txBody>
                    <a:bodyPr/>
                    <a:lstStyle/>
                    <a:p>
                      <a:r>
                        <a:rPr lang="en-GB" sz="800" dirty="0"/>
                        <a:t>42.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Prototype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Prototype is moving to, then the zone Prototype is moving to, will change its object to display the zone with both Prototype and K9. If Prototype moves to a zone, then the previous zone he was in, will return to normal, or if K9 was in the same zone, it will only display the K9 zone after Prototype leaves it. If Prototype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3341429027"/>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2957669" cy="369332"/>
          </a:xfrm>
          <a:prstGeom prst="rect">
            <a:avLst/>
          </a:prstGeom>
          <a:noFill/>
        </p:spPr>
        <p:txBody>
          <a:bodyPr wrap="none" rtlCol="0">
            <a:spAutoFit/>
          </a:bodyPr>
          <a:lstStyle/>
          <a:p>
            <a:r>
              <a:rPr lang="en-GB" dirty="0"/>
              <a:t>Enemy Zone Change Testing</a:t>
            </a:r>
          </a:p>
        </p:txBody>
      </p:sp>
    </p:spTree>
    <p:extLst>
      <p:ext uri="{BB962C8B-B14F-4D97-AF65-F5344CB8AC3E}">
        <p14:creationId xmlns:p14="http://schemas.microsoft.com/office/powerpoint/2010/main" val="29519168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AFED8-8070-9576-7EC6-AE635117491B}"/>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85D6642C-B464-D525-3EB5-3AAB8B4ACC80}"/>
              </a:ext>
            </a:extLst>
          </p:cNvPr>
          <p:cNvGraphicFramePr>
            <a:graphicFrameLocks noGrp="1"/>
          </p:cNvGraphicFramePr>
          <p:nvPr>
            <p:extLst>
              <p:ext uri="{D42A27DB-BD31-4B8C-83A1-F6EECF244321}">
                <p14:modId xmlns:p14="http://schemas.microsoft.com/office/powerpoint/2010/main" val="3968526221"/>
              </p:ext>
            </p:extLst>
          </p:nvPr>
        </p:nvGraphicFramePr>
        <p:xfrm>
          <a:off x="0" y="391886"/>
          <a:ext cx="12034157" cy="4067263"/>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5337328">
                  <a:extLst>
                    <a:ext uri="{9D8B030D-6E8A-4147-A177-3AD203B41FA5}">
                      <a16:colId xmlns:a16="http://schemas.microsoft.com/office/drawing/2014/main" val="786884226"/>
                    </a:ext>
                  </a:extLst>
                </a:gridCol>
                <a:gridCol w="1094014">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43.</a:t>
                      </a:r>
                    </a:p>
                  </a:txBody>
                  <a:tcPr/>
                </a:tc>
                <a:tc>
                  <a:txBody>
                    <a:bodyPr/>
                    <a:lstStyle/>
                    <a:p>
                      <a:r>
                        <a:rPr lang="en-GB" sz="800" dirty="0"/>
                        <a:t>Oxygen Door/vent controller</a:t>
                      </a:r>
                    </a:p>
                  </a:txBody>
                  <a:tcPr/>
                </a:tc>
                <a:tc>
                  <a:txBody>
                    <a:bodyPr/>
                    <a:lstStyle/>
                    <a:p>
                      <a:r>
                        <a:rPr lang="en-GB" sz="800" dirty="0"/>
                        <a:t>Rm_level1 - 5</a:t>
                      </a:r>
                    </a:p>
                  </a:txBody>
                  <a:tcPr/>
                </a:tc>
                <a:tc>
                  <a:txBody>
                    <a:bodyPr/>
                    <a:lstStyle/>
                    <a:p>
                      <a:r>
                        <a:rPr lang="en-GB" sz="800" dirty="0" err="1"/>
                        <a:t>obj_oxygen_door_controller</a:t>
                      </a:r>
                      <a:endParaRPr lang="en-GB" sz="800" dirty="0"/>
                    </a:p>
                  </a:txBody>
                  <a:tcPr/>
                </a:tc>
                <a:tc>
                  <a:txBody>
                    <a:bodyPr/>
                    <a:lstStyle/>
                    <a:p>
                      <a:r>
                        <a:rPr lang="en-GB" sz="800" dirty="0"/>
                        <a:t>The Oxygen controller is very unique so discussing its function may take a bit, so I will break down its function into its key functions. </a:t>
                      </a:r>
                    </a:p>
                    <a:p>
                      <a:endParaRPr lang="en-GB" sz="800" dirty="0"/>
                    </a:p>
                    <a:p>
                      <a:r>
                        <a:rPr lang="en-GB" sz="800" dirty="0"/>
                        <a:t>The oxygen controller has 5 primary functions</a:t>
                      </a:r>
                    </a:p>
                    <a:p>
                      <a:endParaRPr lang="en-GB" sz="800" dirty="0"/>
                    </a:p>
                    <a:p>
                      <a:pPr marL="228600" indent="-228600">
                        <a:buAutoNum type="arabicPeriod"/>
                      </a:pPr>
                      <a:r>
                        <a:rPr lang="en-GB" sz="800" dirty="0"/>
                        <a:t>Sync Doors and Vents together</a:t>
                      </a:r>
                    </a:p>
                    <a:p>
                      <a:pPr marL="228600" indent="-228600">
                        <a:buAutoNum type="arabicPeriod"/>
                      </a:pPr>
                      <a:endParaRPr lang="en-GB" sz="800" dirty="0"/>
                    </a:p>
                    <a:p>
                      <a:pPr marL="228600" indent="-228600">
                        <a:buAutoNum type="arabicPeriod"/>
                      </a:pPr>
                      <a:r>
                        <a:rPr lang="en-GB" sz="800" dirty="0"/>
                        <a:t>Decrease Oxygen faster when more vents/doors are closed and increase it when less or none are closed (the oxygens speed is determined by the number of doors open and closed</a:t>
                      </a:r>
                    </a:p>
                    <a:p>
                      <a:pPr marL="228600" indent="-228600">
                        <a:buAutoNum type="arabicPeriod"/>
                      </a:pPr>
                      <a:endParaRPr lang="en-GB" sz="800" dirty="0"/>
                    </a:p>
                    <a:p>
                      <a:pPr marL="228600" indent="-228600">
                        <a:buAutoNum type="arabicPeriod"/>
                      </a:pPr>
                      <a:r>
                        <a:rPr lang="en-GB" sz="800" dirty="0"/>
                        <a:t>Acknowledge when oxygen = 0, and decrease HP</a:t>
                      </a:r>
                    </a:p>
                    <a:p>
                      <a:pPr marL="228600" indent="-228600">
                        <a:buAutoNum type="arabicPeriod"/>
                      </a:pPr>
                      <a:endParaRPr lang="en-GB" sz="800" dirty="0"/>
                    </a:p>
                    <a:p>
                      <a:pPr marL="228600" indent="-228600">
                        <a:buAutoNum type="arabicPeriod"/>
                      </a:pPr>
                      <a:r>
                        <a:rPr lang="en-GB" sz="800" dirty="0"/>
                        <a:t>If HP = 0, </a:t>
                      </a:r>
                      <a:r>
                        <a:rPr lang="en-GB" sz="800" dirty="0" err="1"/>
                        <a:t>global.dead</a:t>
                      </a:r>
                      <a:r>
                        <a:rPr lang="en-GB" sz="800" dirty="0"/>
                        <a:t> = true</a:t>
                      </a:r>
                    </a:p>
                    <a:p>
                      <a:pPr marL="228600" indent="-228600">
                        <a:buAutoNum type="arabicPeriod"/>
                      </a:pPr>
                      <a:endParaRPr lang="en-GB" sz="800" dirty="0"/>
                    </a:p>
                    <a:p>
                      <a:pPr marL="228600" indent="-228600">
                        <a:buAutoNum type="arabicPeriod"/>
                      </a:pPr>
                      <a:r>
                        <a:rPr lang="en-GB" sz="800" dirty="0"/>
                        <a:t>Change the doors/vents sprites based on whether the doors/vents are in an open or closed state.</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44.</a:t>
                      </a:r>
                    </a:p>
                  </a:txBody>
                  <a:tcPr/>
                </a:tc>
                <a:tc>
                  <a:txBody>
                    <a:bodyPr/>
                    <a:lstStyle/>
                    <a:p>
                      <a:r>
                        <a:rPr lang="en-GB" sz="800" dirty="0"/>
                        <a:t>Camera movement</a:t>
                      </a:r>
                    </a:p>
                  </a:txBody>
                  <a:tcPr/>
                </a:tc>
                <a:tc>
                  <a:txBody>
                    <a:bodyPr/>
                    <a:lstStyle/>
                    <a:p>
                      <a:r>
                        <a:rPr lang="en-GB" sz="800" dirty="0"/>
                        <a:t>Rm_level1</a:t>
                      </a:r>
                    </a:p>
                  </a:txBody>
                  <a:tcPr/>
                </a:tc>
                <a:tc>
                  <a:txBody>
                    <a:bodyPr/>
                    <a:lstStyle/>
                    <a:p>
                      <a:r>
                        <a:rPr lang="en-GB" sz="800" dirty="0"/>
                        <a:t>obj_camera_controller_lvl1</a:t>
                      </a:r>
                    </a:p>
                  </a:txBody>
                  <a:tcPr/>
                </a:tc>
                <a:tc>
                  <a:txBody>
                    <a:bodyPr/>
                    <a:lstStyle/>
                    <a:p>
                      <a:pPr marL="0" indent="0">
                        <a:buNone/>
                      </a:pPr>
                      <a:r>
                        <a:rPr lang="en-GB" sz="800" dirty="0"/>
                        <a:t>The camera controller is to change the player view to what ever button the player presses, utilizing a script to identify what zone to look at. In addition, the controller itself in its create code contains all the co-ordinates of every zone in level 1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pPr marL="0" indent="0">
                        <a:buNone/>
                      </a:pPr>
                      <a:endParaRPr lang="en-GB" sz="800" dirty="0"/>
                    </a:p>
                    <a:p>
                      <a:pPr marL="0" indent="0">
                        <a:buNone/>
                      </a:pPr>
                      <a:endParaRPr lang="en-GB" sz="800" dirty="0"/>
                    </a:p>
                  </a:txBody>
                  <a:tcPr/>
                </a:tc>
                <a:tc>
                  <a:txBody>
                    <a:bodyPr/>
                    <a:lstStyle/>
                    <a:p>
                      <a:endParaRPr lang="en-GB" sz="800" dirty="0"/>
                    </a:p>
                  </a:txBody>
                  <a:tcPr/>
                </a:tc>
                <a:extLst>
                  <a:ext uri="{0D108BD9-81ED-4DB2-BD59-A6C34878D82A}">
                    <a16:rowId xmlns:a16="http://schemas.microsoft.com/office/drawing/2014/main" val="4163288784"/>
                  </a:ext>
                </a:extLst>
              </a:tr>
            </a:tbl>
          </a:graphicData>
        </a:graphic>
      </p:graphicFrame>
      <p:sp>
        <p:nvSpPr>
          <p:cNvPr id="2" name="TextBox 1">
            <a:extLst>
              <a:ext uri="{FF2B5EF4-FFF2-40B4-BE49-F238E27FC236}">
                <a16:creationId xmlns:a16="http://schemas.microsoft.com/office/drawing/2014/main" id="{D6904CAE-3462-802B-2A36-A942CF4E9F87}"/>
              </a:ext>
            </a:extLst>
          </p:cNvPr>
          <p:cNvSpPr txBox="1"/>
          <p:nvPr/>
        </p:nvSpPr>
        <p:spPr>
          <a:xfrm>
            <a:off x="0" y="22553"/>
            <a:ext cx="1301382" cy="369332"/>
          </a:xfrm>
          <a:prstGeom prst="rect">
            <a:avLst/>
          </a:prstGeom>
          <a:noFill/>
        </p:spPr>
        <p:txBody>
          <a:bodyPr wrap="none" rtlCol="0">
            <a:spAutoFit/>
          </a:bodyPr>
          <a:lstStyle/>
          <a:p>
            <a:r>
              <a:rPr lang="en-GB" dirty="0"/>
              <a:t>Controllers</a:t>
            </a:r>
          </a:p>
        </p:txBody>
      </p:sp>
    </p:spTree>
    <p:extLst>
      <p:ext uri="{BB962C8B-B14F-4D97-AF65-F5344CB8AC3E}">
        <p14:creationId xmlns:p14="http://schemas.microsoft.com/office/powerpoint/2010/main" val="25956008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4395</TotalTime>
  <Words>15603</Words>
  <Application>Microsoft Office PowerPoint</Application>
  <PresentationFormat>Widescreen</PresentationFormat>
  <Paragraphs>1307</Paragraphs>
  <Slides>49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49</vt:i4>
      </vt:variant>
    </vt:vector>
  </HeadingPairs>
  <TitlesOfParts>
    <vt:vector size="54" baseType="lpstr">
      <vt:lpstr>Aptos</vt:lpstr>
      <vt:lpstr>Aptos Display</vt:lpstr>
      <vt:lpstr>Arial</vt:lpstr>
      <vt:lpstr>Arial Narrow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Next Slides are the tests made for Build V.1.0 of Critical Failure  Testing  The each test will have a video to it at the end of this PowerPoint, showing the mechanic being tested.</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417</cp:revision>
  <dcterms:created xsi:type="dcterms:W3CDTF">2025-10-10T09:00:53Z</dcterms:created>
  <dcterms:modified xsi:type="dcterms:W3CDTF">2026-02-24T10:05:41Z</dcterms:modified>
</cp:coreProperties>
</file>