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73" r:id="rId15"/>
    <p:sldId id="274" r:id="rId16"/>
    <p:sldId id="275" r:id="rId17"/>
    <p:sldId id="277" r:id="rId18"/>
    <p:sldId id="279" r:id="rId19"/>
    <p:sldId id="280" r:id="rId20"/>
    <p:sldId id="281" r:id="rId21"/>
    <p:sldId id="282" r:id="rId22"/>
    <p:sldId id="283" r:id="rId23"/>
    <p:sldId id="285" r:id="rId24"/>
    <p:sldId id="286" r:id="rId25"/>
    <p:sldId id="287" r:id="rId26"/>
    <p:sldId id="288" r:id="rId27"/>
    <p:sldId id="290" r:id="rId28"/>
    <p:sldId id="291" r:id="rId29"/>
    <p:sldId id="292" r:id="rId30"/>
    <p:sldId id="293" r:id="rId31"/>
    <p:sldId id="294" r:id="rId32"/>
    <p:sldId id="295" r:id="rId33"/>
    <p:sldId id="296" r:id="rId34"/>
    <p:sldId id="297" r:id="rId35"/>
    <p:sldId id="257" r:id="rId36"/>
    <p:sldId id="267" r:id="rId37"/>
    <p:sldId id="270" r:id="rId38"/>
    <p:sldId id="272" r:id="rId39"/>
    <p:sldId id="276" r:id="rId40"/>
    <p:sldId id="278" r:id="rId41"/>
    <p:sldId id="284" r:id="rId42"/>
    <p:sldId id="309" r:id="rId43"/>
    <p:sldId id="299" r:id="rId44"/>
    <p:sldId id="300" r:id="rId45"/>
    <p:sldId id="301" r:id="rId46"/>
    <p:sldId id="302" r:id="rId47"/>
    <p:sldId id="303" r:id="rId48"/>
    <p:sldId id="304" r:id="rId49"/>
    <p:sldId id="305" r:id="rId50"/>
    <p:sldId id="306" r:id="rId51"/>
    <p:sldId id="307" r:id="rId52"/>
    <p:sldId id="308" r:id="rId53"/>
    <p:sldId id="310" r:id="rId54"/>
    <p:sldId id="311" r:id="rId55"/>
    <p:sldId id="312" r:id="rId56"/>
    <p:sldId id="313" r:id="rId57"/>
    <p:sldId id="314" r:id="rId58"/>
    <p:sldId id="315" r:id="rId59"/>
    <p:sldId id="316" r:id="rId60"/>
    <p:sldId id="317" r:id="rId61"/>
    <p:sldId id="318" r:id="rId62"/>
    <p:sldId id="319" r:id="rId63"/>
    <p:sldId id="320" r:id="rId64"/>
    <p:sldId id="321" r:id="rId65"/>
    <p:sldId id="322" r:id="rId66"/>
    <p:sldId id="323" r:id="rId67"/>
    <p:sldId id="324" r:id="rId68"/>
    <p:sldId id="325" r:id="rId69"/>
    <p:sldId id="326" r:id="rId70"/>
    <p:sldId id="327" r:id="rId71"/>
    <p:sldId id="328" r:id="rId72"/>
    <p:sldId id="329" r:id="rId73"/>
    <p:sldId id="330" r:id="rId74"/>
    <p:sldId id="331" r:id="rId75"/>
    <p:sldId id="332" r:id="rId76"/>
    <p:sldId id="333" r:id="rId77"/>
    <p:sldId id="334" r:id="rId78"/>
    <p:sldId id="335" r:id="rId79"/>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17" d="100"/>
          <a:sy n="117" d="100"/>
        </p:scale>
        <p:origin x="35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microsoft.com/office/2015/10/relationships/revisionInfo" Target="revisionInfo.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presProps" Target="presProps.xml"/><Relationship Id="rId85" Type="http://schemas.microsoft.com/office/2018/10/relationships/authors" Target="author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26/02/2026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26/02/2026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26/02/2026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26/02/2026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26/02/2026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26/02/2026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26/02/2026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26/02/2026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26/02/2026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26/02/2026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26/02/2026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26/02/2026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53.png"/></Relationships>
</file>

<file path=ppt/slides/_rels/slide1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1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2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2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1.xml"/><Relationship Id="rId5" Type="http://schemas.openxmlformats.org/officeDocument/2006/relationships/image" Target="../media/image74.png"/><Relationship Id="rId4" Type="http://schemas.openxmlformats.org/officeDocument/2006/relationships/image" Target="../media/image73.png"/></Relationships>
</file>

<file path=ppt/slides/_rels/slide22.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6.png"/><Relationship Id="rId7" Type="http://schemas.openxmlformats.org/officeDocument/2006/relationships/image" Target="../media/image80.png"/><Relationship Id="rId2" Type="http://schemas.openxmlformats.org/officeDocument/2006/relationships/image" Target="../media/image75.png"/><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 Id="rId9" Type="http://schemas.openxmlformats.org/officeDocument/2006/relationships/image" Target="../media/image82.png"/></Relationships>
</file>

<file path=ppt/slides/_rels/slide23.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1.xml"/><Relationship Id="rId4" Type="http://schemas.openxmlformats.org/officeDocument/2006/relationships/image" Target="../media/image8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93.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2"/>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3"/>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4"/>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5"/>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6"/>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17/01/2026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Gwiber.</a:t>
            </a:r>
          </a:p>
          <a:p>
            <a:r>
              <a:rPr lang="en-GB" sz="1200" dirty="0"/>
              <a:t>Mainly what he does while inside of zone 0, the main office.</a:t>
            </a:r>
          </a:p>
          <a:p>
            <a:endParaRPr lang="en-GB" sz="1200" dirty="0"/>
          </a:p>
          <a:p>
            <a:r>
              <a:rPr lang="en-GB" sz="1200" dirty="0"/>
              <a:t>This was done by using timed alarms for when Gwiber is in zone 0. Alarm one only triggers when </a:t>
            </a:r>
            <a:r>
              <a:rPr lang="en-GB" sz="1200" dirty="0" err="1"/>
              <a:t>Gwiberpos</a:t>
            </a:r>
            <a:r>
              <a:rPr lang="en-GB" sz="1200" dirty="0"/>
              <a:t> = 0 and </a:t>
            </a:r>
            <a:r>
              <a:rPr lang="en-GB" sz="1200" dirty="0" err="1"/>
              <a:t>door_left_open</a:t>
            </a:r>
            <a:r>
              <a:rPr lang="en-GB" sz="1200" dirty="0"/>
              <a:t> = true same goes for alarm 3 but with the door = false. Alarm 1 triggers after 500 frames and then jump-scares the player. Alarm 3 triggers after 300 frames to then have Gwiber change to zone 2.</a:t>
            </a:r>
          </a:p>
          <a:p>
            <a:endParaRPr lang="en-GB" sz="1200" dirty="0"/>
          </a:p>
          <a:p>
            <a:r>
              <a:rPr lang="en-GB" sz="1200" dirty="0"/>
              <a:t>I also finished all of ESA’s voice lines and all of Rob’s Voice Lines using a Text to Speech AI software. I also had to convert them to MP3 to work in Gamemaker.</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54657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Start Designing Zones.</a:t>
            </a:r>
          </a:p>
          <a:p>
            <a:endParaRPr lang="en-GB" sz="1050" dirty="0"/>
          </a:p>
          <a:p>
            <a:r>
              <a:rPr lang="en-GB" sz="1050" dirty="0"/>
              <a:t>Finish Adding ESA voice-lines to Game-Maker.</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computer screen shot of a program&#10;&#10;AI-generated content may be incorrect.">
            <a:extLst>
              <a:ext uri="{FF2B5EF4-FFF2-40B4-BE49-F238E27FC236}">
                <a16:creationId xmlns:a16="http://schemas.microsoft.com/office/drawing/2014/main" id="{B6635DDA-8CA4-E3AF-0C47-AAEC60C373C0}"/>
              </a:ext>
            </a:extLst>
          </p:cNvPr>
          <p:cNvPicPr>
            <a:picLocks noChangeAspect="1"/>
          </p:cNvPicPr>
          <p:nvPr/>
        </p:nvPicPr>
        <p:blipFill>
          <a:blip r:embed="rId2"/>
          <a:stretch>
            <a:fillRect/>
          </a:stretch>
        </p:blipFill>
        <p:spPr>
          <a:xfrm>
            <a:off x="146561" y="2277031"/>
            <a:ext cx="5677692" cy="1781424"/>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77A6A3ED-31F2-6841-7C87-BF39035034EA}"/>
              </a:ext>
            </a:extLst>
          </p:cNvPr>
          <p:cNvPicPr>
            <a:picLocks noChangeAspect="1"/>
          </p:cNvPicPr>
          <p:nvPr/>
        </p:nvPicPr>
        <p:blipFill>
          <a:blip r:embed="rId3"/>
          <a:stretch>
            <a:fillRect/>
          </a:stretch>
        </p:blipFill>
        <p:spPr>
          <a:xfrm>
            <a:off x="8105205" y="4469433"/>
            <a:ext cx="4086795" cy="847843"/>
          </a:xfrm>
          <a:prstGeom prst="rect">
            <a:avLst/>
          </a:prstGeom>
        </p:spPr>
      </p:pic>
      <p:pic>
        <p:nvPicPr>
          <p:cNvPr id="11" name="Picture 10">
            <a:extLst>
              <a:ext uri="{FF2B5EF4-FFF2-40B4-BE49-F238E27FC236}">
                <a16:creationId xmlns:a16="http://schemas.microsoft.com/office/drawing/2014/main" id="{7545EF03-9520-CFB0-9439-35A969F7ECE7}"/>
              </a:ext>
            </a:extLst>
          </p:cNvPr>
          <p:cNvPicPr>
            <a:picLocks noChangeAspect="1"/>
          </p:cNvPicPr>
          <p:nvPr/>
        </p:nvPicPr>
        <p:blipFill>
          <a:blip r:embed="rId4"/>
          <a:stretch>
            <a:fillRect/>
          </a:stretch>
        </p:blipFill>
        <p:spPr>
          <a:xfrm>
            <a:off x="9255811" y="3195605"/>
            <a:ext cx="1971950" cy="466790"/>
          </a:xfrm>
          <a:prstGeom prst="rect">
            <a:avLst/>
          </a:prstGeom>
        </p:spPr>
      </p:pic>
      <p:sp>
        <p:nvSpPr>
          <p:cNvPr id="12" name="TextBox 11">
            <a:extLst>
              <a:ext uri="{FF2B5EF4-FFF2-40B4-BE49-F238E27FC236}">
                <a16:creationId xmlns:a16="http://schemas.microsoft.com/office/drawing/2014/main" id="{737B9E21-4748-3E51-38B6-B5CC6E836728}"/>
              </a:ext>
            </a:extLst>
          </p:cNvPr>
          <p:cNvSpPr txBox="1"/>
          <p:nvPr/>
        </p:nvSpPr>
        <p:spPr>
          <a:xfrm>
            <a:off x="9704261" y="3662395"/>
            <a:ext cx="1004207" cy="369332"/>
          </a:xfrm>
          <a:prstGeom prst="rect">
            <a:avLst/>
          </a:prstGeom>
          <a:noFill/>
        </p:spPr>
        <p:txBody>
          <a:bodyPr wrap="square" rtlCol="0">
            <a:spAutoFit/>
          </a:bodyPr>
          <a:lstStyle/>
          <a:p>
            <a:r>
              <a:rPr lang="en-GB" dirty="0"/>
              <a:t>Alarm 3</a:t>
            </a:r>
          </a:p>
        </p:txBody>
      </p:sp>
      <p:pic>
        <p:nvPicPr>
          <p:cNvPr id="8" name="Picture 7" descr="A screenshot of a computer&#10;&#10;AI-generated content may be incorrect.">
            <a:extLst>
              <a:ext uri="{FF2B5EF4-FFF2-40B4-BE49-F238E27FC236}">
                <a16:creationId xmlns:a16="http://schemas.microsoft.com/office/drawing/2014/main" id="{9E47A17C-0154-1827-6834-5A639929311E}"/>
              </a:ext>
            </a:extLst>
          </p:cNvPr>
          <p:cNvPicPr>
            <a:picLocks noChangeAspect="1"/>
          </p:cNvPicPr>
          <p:nvPr/>
        </p:nvPicPr>
        <p:blipFill>
          <a:blip r:embed="rId5"/>
          <a:stretch>
            <a:fillRect/>
          </a:stretch>
        </p:blipFill>
        <p:spPr>
          <a:xfrm>
            <a:off x="146561" y="4058455"/>
            <a:ext cx="4449932" cy="2780752"/>
          </a:xfrm>
          <a:prstGeom prst="rect">
            <a:avLst/>
          </a:prstGeom>
        </p:spPr>
      </p:pic>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41FE-B5A8-CF0B-AFF6-BC95DCD029D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2E52E4-7673-A4F1-0E0A-B11C1DE5C0B3}"/>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20/01/2026</a:t>
            </a:r>
          </a:p>
        </p:txBody>
      </p:sp>
      <p:sp>
        <p:nvSpPr>
          <p:cNvPr id="2" name="TextBox 1">
            <a:extLst>
              <a:ext uri="{FF2B5EF4-FFF2-40B4-BE49-F238E27FC236}">
                <a16:creationId xmlns:a16="http://schemas.microsoft.com/office/drawing/2014/main" id="{715B53AE-BD35-971D-0775-5D55E0ABAAA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V.0.6.2</a:t>
            </a:r>
          </a:p>
        </p:txBody>
      </p:sp>
      <p:sp>
        <p:nvSpPr>
          <p:cNvPr id="3" name="TextBox 2">
            <a:extLst>
              <a:ext uri="{FF2B5EF4-FFF2-40B4-BE49-F238E27FC236}">
                <a16:creationId xmlns:a16="http://schemas.microsoft.com/office/drawing/2014/main" id="{59B4515B-38B8-24F2-BFD9-DEAFC931946B}"/>
              </a:ext>
            </a:extLst>
          </p:cNvPr>
          <p:cNvSpPr txBox="1"/>
          <p:nvPr/>
        </p:nvSpPr>
        <p:spPr>
          <a:xfrm>
            <a:off x="0" y="152027"/>
            <a:ext cx="5576207"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finished converting 85% of ESA’s Voice-Lines and put them inside of the Sounds folder.</a:t>
            </a:r>
          </a:p>
          <a:p>
            <a:endParaRPr lang="en-GB" sz="1200" dirty="0"/>
          </a:p>
          <a:p>
            <a:r>
              <a:rPr lang="en-GB" sz="1200" dirty="0"/>
              <a:t>The Attempted zone 0 code for Gwiber from the previous build has caused some issues for the rest of </a:t>
            </a:r>
            <a:r>
              <a:rPr lang="en-GB" sz="1200" dirty="0" err="1"/>
              <a:t>Gwibers</a:t>
            </a:r>
            <a:r>
              <a:rPr lang="en-GB" sz="1200" dirty="0"/>
              <a:t> Movement code and at the time of typing, actively searching for the reason behind the problems. (Visit Build Test 7 in alpha testing table for more details)</a:t>
            </a:r>
          </a:p>
          <a:p>
            <a:endParaRPr lang="en-GB" sz="1200" dirty="0"/>
          </a:p>
          <a:p>
            <a:r>
              <a:rPr lang="en-GB" sz="1200" dirty="0"/>
              <a:t>To help resolve this issue I have made a folder containing Build V.0.6 (Functioning Enemy Movement) then in the same folder added the latest version Build V.0.6.3 Which has the attempted updated code to try and give Gwiber movement behaviour in zone 0+jump-scare, however, this came with some issues.</a:t>
            </a:r>
          </a:p>
        </p:txBody>
      </p:sp>
      <p:sp>
        <p:nvSpPr>
          <p:cNvPr id="6" name="TextBox 5">
            <a:extLst>
              <a:ext uri="{FF2B5EF4-FFF2-40B4-BE49-F238E27FC236}">
                <a16:creationId xmlns:a16="http://schemas.microsoft.com/office/drawing/2014/main" id="{8E2776C1-38CF-1399-C2BB-27CAEC927C99}"/>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Resolve </a:t>
            </a:r>
            <a:r>
              <a:rPr lang="en-GB" sz="1050" dirty="0" err="1"/>
              <a:t>Gwiber’s</a:t>
            </a:r>
            <a:r>
              <a:rPr lang="en-GB" sz="1050" dirty="0"/>
              <a:t> movement Code</a:t>
            </a:r>
          </a:p>
          <a:p>
            <a:endParaRPr lang="en-GB" sz="1050" dirty="0"/>
          </a:p>
          <a:p>
            <a:r>
              <a:rPr lang="en-GB" sz="1050" dirty="0"/>
              <a:t>Design Jump-Scares for AMCD’s</a:t>
            </a:r>
          </a:p>
          <a:p>
            <a:endParaRPr lang="en-GB" sz="1050" dirty="0"/>
          </a:p>
          <a:p>
            <a:r>
              <a:rPr lang="en-GB" sz="1050" dirty="0"/>
              <a:t>Start adding minor mechanics such as end game, game menu, pause menu and control scheme.</a:t>
            </a:r>
          </a:p>
          <a:p>
            <a:endParaRPr lang="en-GB" sz="1050" dirty="0"/>
          </a:p>
          <a:p>
            <a:r>
              <a:rPr lang="en-GB" sz="1050" dirty="0"/>
              <a:t>Finish AMCD’s Designs.</a:t>
            </a:r>
          </a:p>
        </p:txBody>
      </p:sp>
      <p:sp>
        <p:nvSpPr>
          <p:cNvPr id="19" name="TextBox 18">
            <a:extLst>
              <a:ext uri="{FF2B5EF4-FFF2-40B4-BE49-F238E27FC236}">
                <a16:creationId xmlns:a16="http://schemas.microsoft.com/office/drawing/2014/main" id="{465B3F42-895A-AB1A-6047-6DCB76D7E37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15" name="Picture 14" descr="A screenshot of a computer&#10;&#10;AI-generated content may be incorrect.">
            <a:extLst>
              <a:ext uri="{FF2B5EF4-FFF2-40B4-BE49-F238E27FC236}">
                <a16:creationId xmlns:a16="http://schemas.microsoft.com/office/drawing/2014/main" id="{BAA95945-622E-82A3-842D-BC19245DB53F}"/>
              </a:ext>
            </a:extLst>
          </p:cNvPr>
          <p:cNvPicPr>
            <a:picLocks noChangeAspect="1"/>
          </p:cNvPicPr>
          <p:nvPr/>
        </p:nvPicPr>
        <p:blipFill>
          <a:blip r:embed="rId2"/>
          <a:stretch>
            <a:fillRect/>
          </a:stretch>
        </p:blipFill>
        <p:spPr>
          <a:xfrm>
            <a:off x="6047333" y="720049"/>
            <a:ext cx="2248214" cy="4829849"/>
          </a:xfrm>
          <a:prstGeom prst="rect">
            <a:avLst/>
          </a:prstGeom>
        </p:spPr>
      </p:pic>
    </p:spTree>
    <p:extLst>
      <p:ext uri="{BB962C8B-B14F-4D97-AF65-F5344CB8AC3E}">
        <p14:creationId xmlns:p14="http://schemas.microsoft.com/office/powerpoint/2010/main" val="3031119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683C6-9EAB-BF99-A8E9-F70058DB46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ABC83A-2F60-A128-7935-33D69B2019D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21/01/2026</a:t>
            </a:r>
          </a:p>
        </p:txBody>
      </p:sp>
      <p:sp>
        <p:nvSpPr>
          <p:cNvPr id="2" name="TextBox 1">
            <a:extLst>
              <a:ext uri="{FF2B5EF4-FFF2-40B4-BE49-F238E27FC236}">
                <a16:creationId xmlns:a16="http://schemas.microsoft.com/office/drawing/2014/main" id="{3A076CD0-5B22-5B0C-7DEB-EB0030A78E3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V.0.6.3</a:t>
            </a:r>
          </a:p>
        </p:txBody>
      </p:sp>
      <p:sp>
        <p:nvSpPr>
          <p:cNvPr id="3" name="TextBox 2">
            <a:extLst>
              <a:ext uri="{FF2B5EF4-FFF2-40B4-BE49-F238E27FC236}">
                <a16:creationId xmlns:a16="http://schemas.microsoft.com/office/drawing/2014/main" id="{3CE4025F-D7E1-0680-998A-332B9A883D5F}"/>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was able to fix </a:t>
            </a:r>
            <a:r>
              <a:rPr lang="en-GB" sz="1200" dirty="0" err="1"/>
              <a:t>Gwibers</a:t>
            </a:r>
            <a:r>
              <a:rPr lang="en-GB" sz="1200" dirty="0"/>
              <a:t> Movement code and now his movement is more concrete.</a:t>
            </a:r>
          </a:p>
          <a:p>
            <a:endParaRPr lang="en-GB" sz="1200" dirty="0"/>
          </a:p>
          <a:p>
            <a:r>
              <a:rPr lang="en-GB" sz="1200" dirty="0"/>
              <a:t>The issue before was that my original code was made on light scaffolding, so when I tried adding zone 0, the whole movement code broke.</a:t>
            </a:r>
          </a:p>
          <a:p>
            <a:endParaRPr lang="en-GB" sz="1200" dirty="0"/>
          </a:p>
          <a:p>
            <a:r>
              <a:rPr lang="en-GB" sz="1200" dirty="0"/>
              <a:t>Having some assistance from a friend, we were able to discover the flaws and now Gwiber moves correctly and his behaviour is working 100%. We did remove </a:t>
            </a:r>
            <a:r>
              <a:rPr lang="en-GB" sz="1200" dirty="0" err="1"/>
              <a:t>gwiberpos</a:t>
            </a:r>
            <a:r>
              <a:rPr lang="en-GB" sz="1200" dirty="0"/>
              <a:t> zone 0 from his code due to the realisation that it wasn’t needed for his movement.</a:t>
            </a:r>
          </a:p>
          <a:p>
            <a:endParaRPr lang="en-GB" sz="1200" dirty="0"/>
          </a:p>
          <a:p>
            <a:r>
              <a:rPr lang="en-GB" sz="1200" dirty="0"/>
              <a:t>The jump-scare is also working, however for some reason the </a:t>
            </a:r>
            <a:r>
              <a:rPr lang="en-GB" sz="1200" dirty="0" err="1"/>
              <a:t>instance_create</a:t>
            </a:r>
            <a:r>
              <a:rPr lang="en-GB" sz="1200" dirty="0"/>
              <a:t> isn’t creating the </a:t>
            </a:r>
            <a:r>
              <a:rPr lang="en-GB" sz="1200" dirty="0" err="1"/>
              <a:t>jump_scare</a:t>
            </a:r>
            <a:r>
              <a:rPr lang="en-GB" sz="1200" dirty="0"/>
              <a:t> object for Gwiber.</a:t>
            </a:r>
          </a:p>
          <a:p>
            <a:endParaRPr lang="en-GB" sz="1200" dirty="0"/>
          </a:p>
          <a:p>
            <a:r>
              <a:rPr lang="en-GB" sz="1200" dirty="0"/>
              <a:t>Also, with Gwiber finished, I moved onto K9 in which I altered the original camera layout to have K9 attack both the left and right doors. He, is also extremely quick but the enemy's speeds will be adjusted once all of them are completed.</a:t>
            </a:r>
          </a:p>
          <a:p>
            <a:endParaRPr lang="en-GB" sz="1200" dirty="0"/>
          </a:p>
          <a:p>
            <a:r>
              <a:rPr lang="en-GB" sz="1200" dirty="0"/>
              <a:t>Lastly, instead of the watched code making the enemies movement timers longer, it instead makes the movement countdown slower when watched and faster when not watched, since the original code caused some problems with other timers.</a:t>
            </a:r>
          </a:p>
          <a:p>
            <a:endParaRPr lang="en-GB" sz="1200" dirty="0"/>
          </a:p>
          <a:p>
            <a:r>
              <a:rPr lang="en-GB" sz="1200" dirty="0"/>
              <a:t>Also, most of the code in the step event has instead been moved into alarms, for all of </a:t>
            </a:r>
            <a:r>
              <a:rPr lang="en-GB" sz="1200" dirty="0" err="1"/>
              <a:t>Gwiber’s</a:t>
            </a:r>
            <a:r>
              <a:rPr lang="en-GB" sz="1200" dirty="0"/>
              <a:t> code was running off one frame, which caused a lot of issues.</a:t>
            </a:r>
          </a:p>
        </p:txBody>
      </p:sp>
      <p:sp>
        <p:nvSpPr>
          <p:cNvPr id="6" name="TextBox 5">
            <a:extLst>
              <a:ext uri="{FF2B5EF4-FFF2-40B4-BE49-F238E27FC236}">
                <a16:creationId xmlns:a16="http://schemas.microsoft.com/office/drawing/2014/main" id="{FA16B7EC-75FE-9B28-5F3C-34E6D0B29A9A}"/>
              </a:ext>
            </a:extLst>
          </p:cNvPr>
          <p:cNvSpPr txBox="1"/>
          <p:nvPr/>
        </p:nvSpPr>
        <p:spPr>
          <a:xfrm>
            <a:off x="8542002" y="612254"/>
            <a:ext cx="3307343" cy="219290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Complete the rest of the </a:t>
            </a:r>
            <a:r>
              <a:rPr lang="en-GB" sz="1050" dirty="0" err="1"/>
              <a:t>enemie’s</a:t>
            </a:r>
            <a:r>
              <a:rPr lang="en-GB" sz="1050" dirty="0"/>
              <a:t> code.</a:t>
            </a:r>
          </a:p>
          <a:p>
            <a:endParaRPr lang="en-GB" sz="1050" dirty="0"/>
          </a:p>
          <a:p>
            <a:r>
              <a:rPr lang="en-GB" sz="1050" dirty="0"/>
              <a:t>Start making new levels</a:t>
            </a:r>
          </a:p>
          <a:p>
            <a:endParaRPr lang="en-GB" sz="1050" dirty="0"/>
          </a:p>
          <a:p>
            <a:r>
              <a:rPr lang="en-GB" sz="1050" dirty="0"/>
              <a:t>Finish making the death-screen room and menu options.</a:t>
            </a:r>
          </a:p>
          <a:p>
            <a:endParaRPr lang="en-GB" sz="1050" dirty="0"/>
          </a:p>
          <a:p>
            <a:r>
              <a:rPr lang="en-GB" sz="1050" dirty="0"/>
              <a:t>Shrink current zones to 400x200 due to size issues and memory. Then adjust code in Camera controller, Gwiber and K9 to new co-ordinates. This will open the opportunity to add more zones.</a:t>
            </a:r>
          </a:p>
        </p:txBody>
      </p:sp>
      <p:sp>
        <p:nvSpPr>
          <p:cNvPr id="19" name="TextBox 18">
            <a:extLst>
              <a:ext uri="{FF2B5EF4-FFF2-40B4-BE49-F238E27FC236}">
                <a16:creationId xmlns:a16="http://schemas.microsoft.com/office/drawing/2014/main" id="{97D54616-45F4-1EDC-63D8-B9CEF19E3521}"/>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screenshot of a computer&#10;&#10;AI-generated content may be incorrect.">
            <a:extLst>
              <a:ext uri="{FF2B5EF4-FFF2-40B4-BE49-F238E27FC236}">
                <a16:creationId xmlns:a16="http://schemas.microsoft.com/office/drawing/2014/main" id="{67931DB4-D69C-7870-1C86-362938E93E85}"/>
              </a:ext>
            </a:extLst>
          </p:cNvPr>
          <p:cNvPicPr>
            <a:picLocks noChangeAspect="1"/>
          </p:cNvPicPr>
          <p:nvPr/>
        </p:nvPicPr>
        <p:blipFill>
          <a:blip r:embed="rId2"/>
          <a:stretch>
            <a:fillRect/>
          </a:stretch>
        </p:blipFill>
        <p:spPr>
          <a:xfrm>
            <a:off x="5856734" y="546940"/>
            <a:ext cx="2576455" cy="4508796"/>
          </a:xfrm>
          <a:prstGeom prst="rect">
            <a:avLst/>
          </a:prstGeom>
        </p:spPr>
      </p:pic>
      <p:pic>
        <p:nvPicPr>
          <p:cNvPr id="9" name="Picture 8" descr="A screenshot of a computer program&#10;&#10;AI-generated content may be incorrect.">
            <a:extLst>
              <a:ext uri="{FF2B5EF4-FFF2-40B4-BE49-F238E27FC236}">
                <a16:creationId xmlns:a16="http://schemas.microsoft.com/office/drawing/2014/main" id="{10D13559-9A24-1E71-A0B5-1DA41A81AEAD}"/>
              </a:ext>
            </a:extLst>
          </p:cNvPr>
          <p:cNvPicPr>
            <a:picLocks noChangeAspect="1"/>
          </p:cNvPicPr>
          <p:nvPr/>
        </p:nvPicPr>
        <p:blipFill>
          <a:blip r:embed="rId3"/>
          <a:stretch>
            <a:fillRect/>
          </a:stretch>
        </p:blipFill>
        <p:spPr>
          <a:xfrm>
            <a:off x="8822529" y="4014275"/>
            <a:ext cx="2843384" cy="2677213"/>
          </a:xfrm>
          <a:prstGeom prst="rect">
            <a:avLst/>
          </a:prstGeom>
        </p:spPr>
      </p:pic>
      <p:pic>
        <p:nvPicPr>
          <p:cNvPr id="11" name="Picture 10" descr="A screen shot of a computer&#10;&#10;AI-generated content may be incorrect.">
            <a:extLst>
              <a:ext uri="{FF2B5EF4-FFF2-40B4-BE49-F238E27FC236}">
                <a16:creationId xmlns:a16="http://schemas.microsoft.com/office/drawing/2014/main" id="{4C7DB0C1-607E-8B66-D755-44A61F7E5347}"/>
              </a:ext>
            </a:extLst>
          </p:cNvPr>
          <p:cNvPicPr>
            <a:picLocks noChangeAspect="1"/>
          </p:cNvPicPr>
          <p:nvPr/>
        </p:nvPicPr>
        <p:blipFill>
          <a:blip r:embed="rId4"/>
          <a:stretch>
            <a:fillRect/>
          </a:stretch>
        </p:blipFill>
        <p:spPr>
          <a:xfrm>
            <a:off x="4302785" y="5457467"/>
            <a:ext cx="4239217" cy="895475"/>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CBC0D0F0-074B-BBE9-3687-77AF4E303676}"/>
              </a:ext>
            </a:extLst>
          </p:cNvPr>
          <p:cNvPicPr>
            <a:picLocks noChangeAspect="1"/>
          </p:cNvPicPr>
          <p:nvPr/>
        </p:nvPicPr>
        <p:blipFill>
          <a:blip r:embed="rId5"/>
          <a:srcRect b="23587"/>
          <a:stretch>
            <a:fillRect/>
          </a:stretch>
        </p:blipFill>
        <p:spPr>
          <a:xfrm>
            <a:off x="0" y="5310893"/>
            <a:ext cx="1835990" cy="1485181"/>
          </a:xfrm>
          <a:prstGeom prst="rect">
            <a:avLst/>
          </a:prstGeom>
        </p:spPr>
      </p:pic>
      <p:sp>
        <p:nvSpPr>
          <p:cNvPr id="14" name="TextBox 13">
            <a:extLst>
              <a:ext uri="{FF2B5EF4-FFF2-40B4-BE49-F238E27FC236}">
                <a16:creationId xmlns:a16="http://schemas.microsoft.com/office/drawing/2014/main" id="{C1CAFA85-24A1-783C-4821-BC513F34CB45}"/>
              </a:ext>
            </a:extLst>
          </p:cNvPr>
          <p:cNvSpPr txBox="1"/>
          <p:nvPr/>
        </p:nvSpPr>
        <p:spPr>
          <a:xfrm>
            <a:off x="1944803" y="5380672"/>
            <a:ext cx="2466589" cy="1477328"/>
          </a:xfrm>
          <a:prstGeom prst="rect">
            <a:avLst/>
          </a:prstGeom>
          <a:noFill/>
        </p:spPr>
        <p:txBody>
          <a:bodyPr wrap="square" rtlCol="0">
            <a:spAutoFit/>
          </a:bodyPr>
          <a:lstStyle/>
          <a:p>
            <a:r>
              <a:rPr lang="en-GB" dirty="0"/>
              <a:t>K9 follows the same code format as Gwiber just with the addition of the right zones and door.</a:t>
            </a:r>
          </a:p>
        </p:txBody>
      </p:sp>
    </p:spTree>
    <p:extLst>
      <p:ext uri="{BB962C8B-B14F-4D97-AF65-F5344CB8AC3E}">
        <p14:creationId xmlns:p14="http://schemas.microsoft.com/office/powerpoint/2010/main" val="2175222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22/01/2026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378565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decreased the size of the current zones and then made the correct adjustments to the Camera and Enemies co-ordinates for where the zones are.</a:t>
            </a:r>
          </a:p>
          <a:p>
            <a:endParaRPr lang="en-GB" sz="1200" dirty="0"/>
          </a:p>
          <a:p>
            <a:r>
              <a:rPr lang="en-GB" sz="1200" dirty="0"/>
              <a:t>I finished designing the buttons for the menu screen room and finished creating the death-screen room.</a:t>
            </a:r>
          </a:p>
          <a:p>
            <a:endParaRPr lang="en-GB" sz="1200" dirty="0"/>
          </a:p>
          <a:p>
            <a:r>
              <a:rPr lang="en-GB" sz="1200" dirty="0"/>
              <a:t>The new starting room is now the menu screen room with buttons allowing the player to start game. I Have also made a 3</a:t>
            </a:r>
            <a:r>
              <a:rPr lang="en-GB" sz="1200" baseline="30000" dirty="0"/>
              <a:t>rd</a:t>
            </a:r>
            <a:r>
              <a:rPr lang="en-GB" sz="1200" dirty="0"/>
              <a:t> room for displaying the control schemes as an optional button for the player to use while in menu screen room.</a:t>
            </a:r>
          </a:p>
          <a:p>
            <a:endParaRPr lang="en-GB" sz="1200" dirty="0"/>
          </a:p>
          <a:p>
            <a:r>
              <a:rPr lang="en-GB" sz="1200" dirty="0"/>
              <a:t>The Main zones such as the office were tricky to re-size so I did some maths and for the doors/vents to match the size of the new zones 400x225, I will divide their current size by 4.8 which was the divided decrease the camera zones shrunk by. 1920 divided by 400 = 4.8. So, the doors are 1000x1000, so I divide 1000 by 4.8 to get a more accurate measurement. 1000/4.8 is 208.3 to the nearest 10. So, to make it easier I’ll just shrink it to 208. For the main view doors, they are 200x740, however, I don’t need to divide their numbers for I can just use my eyes to size them to the new scales.</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Zones Smaller without breaking the viewports.</a:t>
            </a:r>
          </a:p>
          <a:p>
            <a:endParaRPr lang="en-GB" sz="1050" dirty="0"/>
          </a:p>
          <a:p>
            <a:r>
              <a:rPr lang="en-GB" sz="1050" dirty="0"/>
              <a:t>Safely Remove Smooth Movement.</a:t>
            </a:r>
          </a:p>
          <a:p>
            <a:endParaRPr lang="en-GB" sz="1050" dirty="0"/>
          </a:p>
          <a:p>
            <a:r>
              <a:rPr lang="en-GB" sz="1050" dirty="0"/>
              <a:t>Make Death-Screen</a:t>
            </a:r>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23" name="Picture 22" descr="A screenshot of a computer&#10;&#10;AI-generated content may be incorrect.">
            <a:extLst>
              <a:ext uri="{FF2B5EF4-FFF2-40B4-BE49-F238E27FC236}">
                <a16:creationId xmlns:a16="http://schemas.microsoft.com/office/drawing/2014/main" id="{5C3BAF57-CEBC-E822-3C04-1019C35AF6C4}"/>
              </a:ext>
            </a:extLst>
          </p:cNvPr>
          <p:cNvPicPr>
            <a:picLocks noChangeAspect="1"/>
          </p:cNvPicPr>
          <p:nvPr/>
        </p:nvPicPr>
        <p:blipFill>
          <a:blip r:embed="rId2"/>
          <a:stretch>
            <a:fillRect/>
          </a:stretch>
        </p:blipFill>
        <p:spPr>
          <a:xfrm>
            <a:off x="215994" y="3569566"/>
            <a:ext cx="2572109" cy="1943371"/>
          </a:xfrm>
          <a:prstGeom prst="rect">
            <a:avLst/>
          </a:prstGeom>
        </p:spPr>
      </p:pic>
      <p:pic>
        <p:nvPicPr>
          <p:cNvPr id="25" name="Picture 24" descr="A screenshot of a computer&#10;&#10;AI-generated content may be incorrect.">
            <a:extLst>
              <a:ext uri="{FF2B5EF4-FFF2-40B4-BE49-F238E27FC236}">
                <a16:creationId xmlns:a16="http://schemas.microsoft.com/office/drawing/2014/main" id="{C19EC527-655E-BA37-4AB1-8C1ADFD1B6E6}"/>
              </a:ext>
            </a:extLst>
          </p:cNvPr>
          <p:cNvPicPr>
            <a:picLocks noChangeAspect="1"/>
          </p:cNvPicPr>
          <p:nvPr/>
        </p:nvPicPr>
        <p:blipFill>
          <a:blip r:embed="rId3"/>
          <a:stretch>
            <a:fillRect/>
          </a:stretch>
        </p:blipFill>
        <p:spPr>
          <a:xfrm>
            <a:off x="5706365" y="534613"/>
            <a:ext cx="2705478" cy="2114845"/>
          </a:xfrm>
          <a:prstGeom prst="rect">
            <a:avLst/>
          </a:prstGeom>
        </p:spPr>
      </p:pic>
      <p:pic>
        <p:nvPicPr>
          <p:cNvPr id="27" name="Picture 26" descr="A blue rectangle with white border&#10;&#10;AI-generated content may be incorrect.">
            <a:extLst>
              <a:ext uri="{FF2B5EF4-FFF2-40B4-BE49-F238E27FC236}">
                <a16:creationId xmlns:a16="http://schemas.microsoft.com/office/drawing/2014/main" id="{B55928DA-C613-664F-E7D1-488E62CB1086}"/>
              </a:ext>
            </a:extLst>
          </p:cNvPr>
          <p:cNvPicPr>
            <a:picLocks noChangeAspect="1"/>
          </p:cNvPicPr>
          <p:nvPr/>
        </p:nvPicPr>
        <p:blipFill>
          <a:blip r:embed="rId4"/>
          <a:stretch>
            <a:fillRect/>
          </a:stretch>
        </p:blipFill>
        <p:spPr>
          <a:xfrm>
            <a:off x="2949919" y="3429000"/>
            <a:ext cx="1771897" cy="952633"/>
          </a:xfrm>
          <a:prstGeom prst="rect">
            <a:avLst/>
          </a:prstGeom>
        </p:spPr>
      </p:pic>
      <p:pic>
        <p:nvPicPr>
          <p:cNvPr id="29" name="Picture 28">
            <a:extLst>
              <a:ext uri="{FF2B5EF4-FFF2-40B4-BE49-F238E27FC236}">
                <a16:creationId xmlns:a16="http://schemas.microsoft.com/office/drawing/2014/main" id="{21705148-A5FF-6ED5-9DC6-5C61848F301C}"/>
              </a:ext>
            </a:extLst>
          </p:cNvPr>
          <p:cNvPicPr>
            <a:picLocks noChangeAspect="1"/>
          </p:cNvPicPr>
          <p:nvPr/>
        </p:nvPicPr>
        <p:blipFill>
          <a:blip r:embed="rId5"/>
          <a:stretch>
            <a:fillRect/>
          </a:stretch>
        </p:blipFill>
        <p:spPr>
          <a:xfrm>
            <a:off x="215994" y="5633055"/>
            <a:ext cx="10078857" cy="1009791"/>
          </a:xfrm>
          <a:prstGeom prst="rect">
            <a:avLst/>
          </a:prstGeom>
        </p:spPr>
      </p:pic>
      <p:sp>
        <p:nvSpPr>
          <p:cNvPr id="30" name="TextBox 29">
            <a:extLst>
              <a:ext uri="{FF2B5EF4-FFF2-40B4-BE49-F238E27FC236}">
                <a16:creationId xmlns:a16="http://schemas.microsoft.com/office/drawing/2014/main" id="{1CA8D09C-DF4E-54F0-847D-659B3EBD7337}"/>
              </a:ext>
            </a:extLst>
          </p:cNvPr>
          <p:cNvSpPr txBox="1"/>
          <p:nvPr/>
        </p:nvSpPr>
        <p:spPr>
          <a:xfrm>
            <a:off x="5780314" y="2873829"/>
            <a:ext cx="3307342" cy="2492990"/>
          </a:xfrm>
          <a:prstGeom prst="rect">
            <a:avLst/>
          </a:prstGeom>
          <a:noFill/>
        </p:spPr>
        <p:txBody>
          <a:bodyPr wrap="square" rtlCol="0">
            <a:spAutoFit/>
          </a:bodyPr>
          <a:lstStyle/>
          <a:p>
            <a:r>
              <a:rPr lang="en-GB" sz="1200" dirty="0"/>
              <a:t>The Vents currently are 2000x1050. So, 2000/4.8 and 1050/4.8. 2000/4.8 = 416.7 to the nearest 10 so I’ll round it up to 417. 1050/4,8 = 218.75, so It will be rounded to 219.</a:t>
            </a:r>
          </a:p>
          <a:p>
            <a:endParaRPr lang="en-GB" sz="1200" dirty="0"/>
          </a:p>
          <a:p>
            <a:r>
              <a:rPr lang="en-GB" sz="1200" dirty="0"/>
              <a:t>New vents sizes. Width 417, Height 219. Unfortunately, for no reason, I cannot resize the current vents correctly, so I will re-do them in their new sizes.</a:t>
            </a:r>
          </a:p>
          <a:p>
            <a:endParaRPr lang="en-GB" sz="1200" dirty="0"/>
          </a:p>
          <a:p>
            <a:r>
              <a:rPr lang="en-GB" sz="1200" dirty="0"/>
              <a:t>The enemies have also been scaled down from 1040x1040 to 200x200. Besides Arach because he has a unique size, so for Arach its 200x133.</a:t>
            </a:r>
          </a:p>
        </p:txBody>
      </p:sp>
      <p:pic>
        <p:nvPicPr>
          <p:cNvPr id="32" name="Picture 31" descr="A yellow x on a grey surface&#10;&#10;AI-generated content may be incorrect.">
            <a:extLst>
              <a:ext uri="{FF2B5EF4-FFF2-40B4-BE49-F238E27FC236}">
                <a16:creationId xmlns:a16="http://schemas.microsoft.com/office/drawing/2014/main" id="{2547702E-3E1A-744C-56B9-B7E1EA1B5FBE}"/>
              </a:ext>
            </a:extLst>
          </p:cNvPr>
          <p:cNvPicPr>
            <a:picLocks noChangeAspect="1"/>
          </p:cNvPicPr>
          <p:nvPr/>
        </p:nvPicPr>
        <p:blipFill>
          <a:blip r:embed="rId6"/>
          <a:stretch>
            <a:fillRect/>
          </a:stretch>
        </p:blipFill>
        <p:spPr>
          <a:xfrm>
            <a:off x="3004097" y="4416748"/>
            <a:ext cx="2308281" cy="1181191"/>
          </a:xfrm>
          <a:prstGeom prst="rect">
            <a:avLst/>
          </a:prstGeom>
        </p:spPr>
      </p:pic>
      <p:sp>
        <p:nvSpPr>
          <p:cNvPr id="33" name="TextBox 32">
            <a:extLst>
              <a:ext uri="{FF2B5EF4-FFF2-40B4-BE49-F238E27FC236}">
                <a16:creationId xmlns:a16="http://schemas.microsoft.com/office/drawing/2014/main" id="{D777E7E7-6EAE-DCBD-4553-9625D56A5CC8}"/>
              </a:ext>
            </a:extLst>
          </p:cNvPr>
          <p:cNvSpPr txBox="1"/>
          <p:nvPr/>
        </p:nvSpPr>
        <p:spPr>
          <a:xfrm>
            <a:off x="9242081" y="1799935"/>
            <a:ext cx="2705478" cy="3785652"/>
          </a:xfrm>
          <a:prstGeom prst="rect">
            <a:avLst/>
          </a:prstGeom>
          <a:noFill/>
        </p:spPr>
        <p:txBody>
          <a:bodyPr wrap="square" rtlCol="0">
            <a:spAutoFit/>
          </a:bodyPr>
          <a:lstStyle/>
          <a:p>
            <a:r>
              <a:rPr lang="en-GB" sz="1200" dirty="0"/>
              <a:t>After shrinking everything down and correcting the Co-ordinates of the Camera Positions, I attempted to make the game go full screen while not affecting the viewports size. However, I figured Out that I haven’t defined the size of each </a:t>
            </a:r>
            <a:r>
              <a:rPr lang="en-GB" sz="1200" dirty="0" err="1"/>
              <a:t>camerapos</a:t>
            </a:r>
            <a:r>
              <a:rPr lang="en-GB" sz="1200" dirty="0"/>
              <a:t> since the old code worked fine when everything was 1920x1080 but this time the zones are 400x225 and the viewport is offset. </a:t>
            </a:r>
          </a:p>
          <a:p>
            <a:endParaRPr lang="en-GB" sz="1200" dirty="0"/>
          </a:p>
          <a:p>
            <a:r>
              <a:rPr lang="en-GB" sz="1200" dirty="0"/>
              <a:t>I have also removed smooth transitions and discovered that my camera code was reliant on smooth transition to create variables for the rest of the camera’s code to use. So, removing it caused the cameras to stop working. Visit test 9 for more details.</a:t>
            </a:r>
          </a:p>
        </p:txBody>
      </p:sp>
    </p:spTree>
    <p:extLst>
      <p:ext uri="{BB962C8B-B14F-4D97-AF65-F5344CB8AC3E}">
        <p14:creationId xmlns:p14="http://schemas.microsoft.com/office/powerpoint/2010/main" val="17690432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V.0.6.4.5</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build I went back to Build V.0.6.4 Failed and made it build V.0.6.4.5</a:t>
            </a:r>
          </a:p>
          <a:p>
            <a:endParaRPr lang="en-GB" sz="1200" dirty="0"/>
          </a:p>
          <a:p>
            <a:r>
              <a:rPr lang="en-GB" sz="1200" dirty="0"/>
              <a:t>This time instead of shrinking and resolving the viewports in the current room, I will make a new room in a more appropriate size for more optimization.</a:t>
            </a:r>
          </a:p>
          <a:p>
            <a:endParaRPr lang="en-GB" sz="1200" dirty="0"/>
          </a:p>
          <a:p>
            <a:r>
              <a:rPr lang="en-GB" sz="1200" dirty="0"/>
              <a:t>The new co-ordinates for the zones are…</a:t>
            </a:r>
          </a:p>
          <a:p>
            <a:endParaRPr lang="en-GB" sz="1200" dirty="0"/>
          </a:p>
          <a:p>
            <a:r>
              <a:rPr lang="en-GB" sz="1200" dirty="0"/>
              <a:t>Zone 0 – (30,576)</a:t>
            </a:r>
          </a:p>
          <a:p>
            <a:r>
              <a:rPr lang="en-GB" sz="1200" dirty="0"/>
              <a:t>Zone 1 – (479,575)</a:t>
            </a:r>
          </a:p>
          <a:p>
            <a:r>
              <a:rPr lang="en-GB" sz="1200" dirty="0"/>
              <a:t>Zone 2 – (31,31)</a:t>
            </a:r>
          </a:p>
          <a:p>
            <a:r>
              <a:rPr lang="en-GB" sz="1200" dirty="0"/>
              <a:t>Zone 3 – (479,31)</a:t>
            </a:r>
          </a:p>
          <a:p>
            <a:r>
              <a:rPr lang="en-GB" sz="1200" dirty="0"/>
              <a:t>Zone 4 – (927,31)</a:t>
            </a:r>
          </a:p>
          <a:p>
            <a:r>
              <a:rPr lang="en-GB" sz="1200" dirty="0"/>
              <a:t>Zone 5 – (1375,31)</a:t>
            </a:r>
          </a:p>
          <a:p>
            <a:r>
              <a:rPr lang="en-GB" sz="1200" dirty="0"/>
              <a:t>Zone 6 – (31,319)</a:t>
            </a:r>
          </a:p>
          <a:p>
            <a:r>
              <a:rPr lang="en-GB" sz="1200" dirty="0"/>
              <a:t>Zone 7 – (479, 319)</a:t>
            </a:r>
          </a:p>
          <a:p>
            <a:r>
              <a:rPr lang="en-GB" sz="1200" dirty="0"/>
              <a:t>Zone 8 – (927,319)</a:t>
            </a:r>
          </a:p>
          <a:p>
            <a:r>
              <a:rPr lang="en-GB" sz="1200" dirty="0"/>
              <a:t>Zone 9 – (1375,319)</a:t>
            </a:r>
          </a:p>
          <a:p>
            <a:r>
              <a:rPr lang="en-GB" sz="1200" dirty="0"/>
              <a:t>Zone 10 – (31,831)</a:t>
            </a:r>
          </a:p>
          <a:p>
            <a:r>
              <a:rPr lang="en-GB" sz="1200" dirty="0"/>
              <a:t>Zone 11 – (479,831)</a:t>
            </a:r>
          </a:p>
          <a:p>
            <a:r>
              <a:rPr lang="en-GB" sz="1200" dirty="0"/>
              <a:t>Zone 12 – (927,575)</a:t>
            </a:r>
          </a:p>
          <a:p>
            <a:r>
              <a:rPr lang="en-GB" sz="1200" dirty="0"/>
              <a:t>Zone 13 – (1375,575)</a:t>
            </a:r>
          </a:p>
          <a:p>
            <a:endParaRPr lang="en-GB" sz="1200" dirty="0"/>
          </a:p>
          <a:p>
            <a:r>
              <a:rPr lang="en-GB" sz="1200" dirty="0"/>
              <a:t>I have also re-added the code that allowed </a:t>
            </a:r>
            <a:r>
              <a:rPr lang="en-GB" sz="1200" dirty="0" err="1"/>
              <a:t>Gwibers</a:t>
            </a:r>
            <a:r>
              <a:rPr lang="en-GB" sz="1200" dirty="0"/>
              <a:t> Object to originally move parallel to his movement code. So, then the object appears.</a:t>
            </a:r>
          </a:p>
          <a:p>
            <a:r>
              <a:rPr lang="en-GB" sz="1200" dirty="0"/>
              <a:t>Of course, with the new positions of the zones.</a:t>
            </a:r>
          </a:p>
          <a:p>
            <a:endParaRPr lang="en-GB" sz="1200" dirty="0"/>
          </a:p>
          <a:p>
            <a:r>
              <a:rPr lang="en-GB" sz="1200" dirty="0"/>
              <a:t>This code is also put inside of K9 with the correct variables.</a:t>
            </a:r>
          </a:p>
          <a:p>
            <a:endParaRPr lang="en-GB" sz="1200" dirty="0"/>
          </a:p>
          <a:p>
            <a:r>
              <a:rPr lang="en-GB" sz="1200" dirty="0"/>
              <a:t>Re-adding this code back has offered me the opportunity to have the enemies Jump-scares trigger when they are physically in zone 0 for the current trigger code doesn’t seem to work in the movement code for the enemies..</a:t>
            </a:r>
          </a:p>
          <a:p>
            <a:endParaRPr lang="en-GB" sz="1200" dirty="0"/>
          </a:p>
          <a:p>
            <a:r>
              <a:rPr lang="en-GB" sz="1200" dirty="0"/>
              <a:t>I’m using the door state code for changing sprites based off certain conditions which will help greatly in having the enemies jump-scares appear.</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Death Screen</a:t>
            </a:r>
          </a:p>
          <a:p>
            <a:endParaRPr lang="en-GB" sz="1050" dirty="0"/>
          </a:p>
          <a:p>
            <a:r>
              <a:rPr lang="en-GB" sz="1050" dirty="0"/>
              <a:t>Create Menu Buttons and Death Screen buttons.</a:t>
            </a:r>
          </a:p>
          <a:p>
            <a:endParaRPr lang="en-GB" sz="1050" dirty="0"/>
          </a:p>
          <a:p>
            <a:r>
              <a:rPr lang="en-GB" sz="1050" dirty="0"/>
              <a:t>Begin making Level 2</a:t>
            </a:r>
          </a:p>
          <a:p>
            <a:endParaRPr lang="en-GB" sz="1050" dirty="0"/>
          </a:p>
          <a:p>
            <a:r>
              <a:rPr lang="en-GB" sz="1050" dirty="0"/>
              <a:t>Create Jump-Scares for rest of the enemies.</a:t>
            </a:r>
          </a:p>
          <a:p>
            <a:endParaRPr lang="en-GB" sz="1050" dirty="0"/>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a:extLst>
              <a:ext uri="{FF2B5EF4-FFF2-40B4-BE49-F238E27FC236}">
                <a16:creationId xmlns:a16="http://schemas.microsoft.com/office/drawing/2014/main" id="{37687C7A-2E84-94CC-BC79-FB8627AF33F0}"/>
              </a:ext>
            </a:extLst>
          </p:cNvPr>
          <p:cNvPicPr>
            <a:picLocks noChangeAspect="1"/>
          </p:cNvPicPr>
          <p:nvPr/>
        </p:nvPicPr>
        <p:blipFill>
          <a:blip r:embed="rId2"/>
          <a:stretch>
            <a:fillRect/>
          </a:stretch>
        </p:blipFill>
        <p:spPr>
          <a:xfrm>
            <a:off x="5739708" y="659858"/>
            <a:ext cx="2638793" cy="1657581"/>
          </a:xfrm>
          <a:prstGeom prst="rect">
            <a:avLst/>
          </a:prstGeom>
        </p:spPr>
      </p:pic>
      <p:pic>
        <p:nvPicPr>
          <p:cNvPr id="9" name="Picture 8">
            <a:extLst>
              <a:ext uri="{FF2B5EF4-FFF2-40B4-BE49-F238E27FC236}">
                <a16:creationId xmlns:a16="http://schemas.microsoft.com/office/drawing/2014/main" id="{E616CFFC-457E-A832-986D-F92F2150F1C1}"/>
              </a:ext>
            </a:extLst>
          </p:cNvPr>
          <p:cNvPicPr>
            <a:picLocks noChangeAspect="1"/>
          </p:cNvPicPr>
          <p:nvPr/>
        </p:nvPicPr>
        <p:blipFill>
          <a:blip r:embed="rId3"/>
          <a:stretch>
            <a:fillRect/>
          </a:stretch>
        </p:blipFill>
        <p:spPr>
          <a:xfrm>
            <a:off x="5739708" y="2577684"/>
            <a:ext cx="2446199" cy="2982646"/>
          </a:xfrm>
          <a:prstGeom prst="rect">
            <a:avLst/>
          </a:prstGeom>
        </p:spPr>
      </p:pic>
      <p:pic>
        <p:nvPicPr>
          <p:cNvPr id="11" name="Picture 10">
            <a:extLst>
              <a:ext uri="{FF2B5EF4-FFF2-40B4-BE49-F238E27FC236}">
                <a16:creationId xmlns:a16="http://schemas.microsoft.com/office/drawing/2014/main" id="{8B098DB9-F16B-830A-299C-8E6D322B471D}"/>
              </a:ext>
            </a:extLst>
          </p:cNvPr>
          <p:cNvPicPr>
            <a:picLocks noChangeAspect="1"/>
          </p:cNvPicPr>
          <p:nvPr/>
        </p:nvPicPr>
        <p:blipFill>
          <a:blip r:embed="rId4"/>
          <a:stretch>
            <a:fillRect/>
          </a:stretch>
        </p:blipFill>
        <p:spPr>
          <a:xfrm>
            <a:off x="5739708" y="5737032"/>
            <a:ext cx="4269039" cy="801837"/>
          </a:xfrm>
          <a:prstGeom prst="rect">
            <a:avLst/>
          </a:prstGeom>
        </p:spPr>
      </p:pic>
      <p:sp>
        <p:nvSpPr>
          <p:cNvPr id="12" name="TextBox 11">
            <a:extLst>
              <a:ext uri="{FF2B5EF4-FFF2-40B4-BE49-F238E27FC236}">
                <a16:creationId xmlns:a16="http://schemas.microsoft.com/office/drawing/2014/main" id="{79C5F1C5-069A-7158-3B93-495328A95D36}"/>
              </a:ext>
            </a:extLst>
          </p:cNvPr>
          <p:cNvSpPr txBox="1"/>
          <p:nvPr/>
        </p:nvSpPr>
        <p:spPr>
          <a:xfrm>
            <a:off x="8324338" y="2618108"/>
            <a:ext cx="2983197" cy="1954381"/>
          </a:xfrm>
          <a:prstGeom prst="rect">
            <a:avLst/>
          </a:prstGeom>
          <a:noFill/>
        </p:spPr>
        <p:txBody>
          <a:bodyPr wrap="square" rtlCol="0">
            <a:spAutoFit/>
          </a:bodyPr>
          <a:lstStyle/>
          <a:p>
            <a:r>
              <a:rPr lang="en-GB" sz="1100" dirty="0"/>
              <a:t>I had to make </a:t>
            </a:r>
            <a:r>
              <a:rPr lang="en-GB" sz="1100" dirty="0" err="1"/>
              <a:t>Gwibers</a:t>
            </a:r>
            <a:r>
              <a:rPr lang="en-GB" sz="1100" dirty="0"/>
              <a:t> </a:t>
            </a:r>
            <a:r>
              <a:rPr lang="en-GB" sz="1100" dirty="0" err="1"/>
              <a:t>Killstate</a:t>
            </a:r>
            <a:r>
              <a:rPr lang="en-GB" sz="1100" dirty="0"/>
              <a:t> a global to have the jump-scare have a condition for when it should change </a:t>
            </a:r>
            <a:r>
              <a:rPr lang="en-GB" sz="1100" dirty="0" err="1"/>
              <a:t>Gwibers</a:t>
            </a:r>
            <a:r>
              <a:rPr lang="en-GB" sz="1100" dirty="0"/>
              <a:t> Sprite.</a:t>
            </a:r>
          </a:p>
          <a:p>
            <a:endParaRPr lang="en-GB" sz="1100" dirty="0"/>
          </a:p>
          <a:p>
            <a:r>
              <a:rPr lang="en-GB" sz="1100" dirty="0"/>
              <a:t>I also, re-attempted to re-do my camera code for I no longer wish to have smooth transition and I believe to have found a method that doesn’t require viewports. To ensure that I don’t lose the old code for safety reasons I will make Build V.0.6.5. This new code was tested in test 11 build V.0.6.5.</a:t>
            </a:r>
          </a:p>
        </p:txBody>
      </p:sp>
    </p:spTree>
    <p:extLst>
      <p:ext uri="{BB962C8B-B14F-4D97-AF65-F5344CB8AC3E}">
        <p14:creationId xmlns:p14="http://schemas.microsoft.com/office/powerpoint/2010/main" val="24469449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2C5E8-779C-7113-034F-7329FCC5DC5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DC012F9-0808-A8B2-491D-A16C8FFA92E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72322FD7-25B7-1D72-92EF-2B798F66129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AA725A4-F00C-30FC-D8E4-3F6F95150895}"/>
              </a:ext>
            </a:extLst>
          </p:cNvPr>
          <p:cNvSpPr txBox="1"/>
          <p:nvPr/>
        </p:nvSpPr>
        <p:spPr>
          <a:xfrm>
            <a:off x="0" y="152027"/>
            <a:ext cx="5576207" cy="101566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Build V.0.6.5 has working enemies (Gwiber and K9) and the new camera controller is 100% completed.</a:t>
            </a:r>
          </a:p>
          <a:p>
            <a:r>
              <a:rPr lang="en-GB" sz="1200" dirty="0" err="1"/>
              <a:t>Rm_office</a:t>
            </a:r>
            <a:r>
              <a:rPr lang="en-GB" sz="1200" dirty="0"/>
              <a:t> is now Level 1. (rm_level1)</a:t>
            </a:r>
          </a:p>
          <a:p>
            <a:r>
              <a:rPr lang="en-GB" sz="1200" dirty="0"/>
              <a:t>I have also finished designing the buttons and background for the menu and death screens. The start button takes the player to level one with Gwiber and K9.</a:t>
            </a:r>
          </a:p>
        </p:txBody>
      </p:sp>
      <p:pic>
        <p:nvPicPr>
          <p:cNvPr id="6" name="Picture 5" descr="A screenshot of a video game&#10;&#10;AI-generated content may be incorrect.">
            <a:extLst>
              <a:ext uri="{FF2B5EF4-FFF2-40B4-BE49-F238E27FC236}">
                <a16:creationId xmlns:a16="http://schemas.microsoft.com/office/drawing/2014/main" id="{C234081F-9781-74E4-546E-83D67303384D}"/>
              </a:ext>
            </a:extLst>
          </p:cNvPr>
          <p:cNvPicPr>
            <a:picLocks noChangeAspect="1"/>
          </p:cNvPicPr>
          <p:nvPr/>
        </p:nvPicPr>
        <p:blipFill>
          <a:blip r:embed="rId2"/>
          <a:stretch>
            <a:fillRect/>
          </a:stretch>
        </p:blipFill>
        <p:spPr>
          <a:xfrm>
            <a:off x="269422" y="1275873"/>
            <a:ext cx="9004534" cy="5259902"/>
          </a:xfrm>
          <a:prstGeom prst="rect">
            <a:avLst/>
          </a:prstGeom>
        </p:spPr>
      </p:pic>
      <p:pic>
        <p:nvPicPr>
          <p:cNvPr id="8" name="Picture 7" descr="A close up of a text&#10;&#10;AI-generated content may be incorrect.">
            <a:extLst>
              <a:ext uri="{FF2B5EF4-FFF2-40B4-BE49-F238E27FC236}">
                <a16:creationId xmlns:a16="http://schemas.microsoft.com/office/drawing/2014/main" id="{1393A406-5096-761B-E908-8F1B7D23D32B}"/>
              </a:ext>
            </a:extLst>
          </p:cNvPr>
          <p:cNvPicPr>
            <a:picLocks noChangeAspect="1"/>
          </p:cNvPicPr>
          <p:nvPr/>
        </p:nvPicPr>
        <p:blipFill>
          <a:blip r:embed="rId3"/>
          <a:stretch>
            <a:fillRect/>
          </a:stretch>
        </p:blipFill>
        <p:spPr>
          <a:xfrm>
            <a:off x="5992381" y="567987"/>
            <a:ext cx="2934109" cy="590632"/>
          </a:xfrm>
          <a:prstGeom prst="rect">
            <a:avLst/>
          </a:prstGeom>
        </p:spPr>
      </p:pic>
      <p:sp>
        <p:nvSpPr>
          <p:cNvPr id="9" name="TextBox 8">
            <a:extLst>
              <a:ext uri="{FF2B5EF4-FFF2-40B4-BE49-F238E27FC236}">
                <a16:creationId xmlns:a16="http://schemas.microsoft.com/office/drawing/2014/main" id="{11897B8E-B835-6E46-C041-E0E3C6F112ED}"/>
              </a:ext>
            </a:extLst>
          </p:cNvPr>
          <p:cNvSpPr txBox="1"/>
          <p:nvPr/>
        </p:nvSpPr>
        <p:spPr>
          <a:xfrm>
            <a:off x="9519557" y="1036864"/>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Create Level 2</a:t>
            </a:r>
          </a:p>
          <a:p>
            <a:endParaRPr lang="en-GB" sz="1400" dirty="0"/>
          </a:p>
          <a:p>
            <a:r>
              <a:rPr lang="en-GB" sz="1400" dirty="0"/>
              <a:t>Finish Death Screen</a:t>
            </a:r>
          </a:p>
          <a:p>
            <a:endParaRPr lang="en-GB" sz="1400" dirty="0"/>
          </a:p>
          <a:p>
            <a:r>
              <a:rPr lang="en-GB" sz="1400" dirty="0"/>
              <a:t>Code Bulker and the other enemies for level 2.</a:t>
            </a:r>
          </a:p>
          <a:p>
            <a:endParaRPr lang="en-GB" sz="1400" dirty="0"/>
          </a:p>
          <a:p>
            <a:endParaRPr lang="en-GB" sz="1400" dirty="0"/>
          </a:p>
        </p:txBody>
      </p:sp>
    </p:spTree>
    <p:extLst>
      <p:ext uri="{BB962C8B-B14F-4D97-AF65-F5344CB8AC3E}">
        <p14:creationId xmlns:p14="http://schemas.microsoft.com/office/powerpoint/2010/main" val="33105804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A4C11-FA38-DBC3-860F-01B73BA013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3436AC-4570-BE1E-6AD7-BBD26FF628B4}"/>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ACDF2AE4-8804-15D9-BC33-3E18CE6B1EF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5FB4D45-69BE-38D4-7538-98B5EDBB45A8}"/>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Bulker’s code is a copy of </a:t>
            </a:r>
            <a:r>
              <a:rPr lang="en-GB" sz="1200" dirty="0" err="1"/>
              <a:t>Gwibers</a:t>
            </a:r>
            <a:r>
              <a:rPr lang="en-GB" sz="1200" dirty="0"/>
              <a:t> just with re-named variables and timing.</a:t>
            </a:r>
          </a:p>
          <a:p>
            <a:endParaRPr lang="en-GB" sz="1200" dirty="0"/>
          </a:p>
          <a:p>
            <a:r>
              <a:rPr lang="en-GB" sz="1200" dirty="0"/>
              <a:t>I have begun making Level 2 for my game, expanding off the current zones. Level 2 will introduce Bulker into the roster of enemies.</a:t>
            </a:r>
          </a:p>
          <a:p>
            <a:r>
              <a:rPr lang="en-GB" sz="1200" dirty="0"/>
              <a:t>In total there are 20 zones for level 2. I do need to note that every time I add a new zone, I need to update the script and the value that the buttons represent. 14/20 of these zones are camera zones for both the player and the enemies.</a:t>
            </a:r>
          </a:p>
          <a:p>
            <a:endParaRPr lang="en-GB" sz="1200" dirty="0"/>
          </a:p>
          <a:p>
            <a:r>
              <a:rPr lang="en-GB" sz="1200" dirty="0"/>
              <a:t>Also, the new updated camera </a:t>
            </a:r>
            <a:r>
              <a:rPr lang="en-GB" sz="1200" dirty="0" err="1"/>
              <a:t>hud</a:t>
            </a:r>
            <a:r>
              <a:rPr lang="en-GB" sz="1200" dirty="0"/>
              <a:t> layout is much bigger meaning I will have to try and work around the camera view, at least for zone 1 (Camera Hud).</a:t>
            </a:r>
          </a:p>
          <a:p>
            <a:endParaRPr lang="en-GB" sz="1200" dirty="0"/>
          </a:p>
          <a:p>
            <a:r>
              <a:rPr lang="en-GB" sz="1200" dirty="0"/>
              <a:t>Also, added some Place-holder sound effects to use for key parts of the games like enemy movement and doors closing.</a:t>
            </a:r>
          </a:p>
          <a:p>
            <a:r>
              <a:rPr lang="en-GB" sz="1200" dirty="0"/>
              <a:t>Also, for some reason, when game starts somehow level 2 is affecting level 1 so all I get is a dark screen when I click start.</a:t>
            </a:r>
          </a:p>
        </p:txBody>
      </p:sp>
      <p:pic>
        <p:nvPicPr>
          <p:cNvPr id="7" name="Picture 6" descr="A screen shot of a computer program&#10;&#10;AI-generated content may be incorrect.">
            <a:extLst>
              <a:ext uri="{FF2B5EF4-FFF2-40B4-BE49-F238E27FC236}">
                <a16:creationId xmlns:a16="http://schemas.microsoft.com/office/drawing/2014/main" id="{6C57EF37-7BFA-6462-C4AD-34C9F5FD698D}"/>
              </a:ext>
            </a:extLst>
          </p:cNvPr>
          <p:cNvPicPr>
            <a:picLocks noChangeAspect="1"/>
          </p:cNvPicPr>
          <p:nvPr/>
        </p:nvPicPr>
        <p:blipFill>
          <a:blip r:embed="rId2"/>
          <a:stretch>
            <a:fillRect/>
          </a:stretch>
        </p:blipFill>
        <p:spPr>
          <a:xfrm>
            <a:off x="5992585" y="540352"/>
            <a:ext cx="2960686" cy="2036784"/>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0F9FA7D4-550C-11FA-6D93-E8BACDAE3642}"/>
              </a:ext>
            </a:extLst>
          </p:cNvPr>
          <p:cNvPicPr>
            <a:picLocks noChangeAspect="1"/>
          </p:cNvPicPr>
          <p:nvPr/>
        </p:nvPicPr>
        <p:blipFill>
          <a:blip r:embed="rId3"/>
          <a:stretch>
            <a:fillRect/>
          </a:stretch>
        </p:blipFill>
        <p:spPr>
          <a:xfrm>
            <a:off x="171450" y="2968602"/>
            <a:ext cx="3671000" cy="3531986"/>
          </a:xfrm>
          <a:prstGeom prst="rect">
            <a:avLst/>
          </a:prstGeom>
        </p:spPr>
      </p:pic>
      <p:pic>
        <p:nvPicPr>
          <p:cNvPr id="11" name="Picture 10" descr="A computer screen shot of a network&#10;&#10;AI-generated content may be incorrect.">
            <a:extLst>
              <a:ext uri="{FF2B5EF4-FFF2-40B4-BE49-F238E27FC236}">
                <a16:creationId xmlns:a16="http://schemas.microsoft.com/office/drawing/2014/main" id="{0D560ABB-4855-DD0D-61F6-C6A570725988}"/>
              </a:ext>
            </a:extLst>
          </p:cNvPr>
          <p:cNvPicPr>
            <a:picLocks noChangeAspect="1"/>
          </p:cNvPicPr>
          <p:nvPr/>
        </p:nvPicPr>
        <p:blipFill>
          <a:blip r:embed="rId4"/>
          <a:stretch>
            <a:fillRect/>
          </a:stretch>
        </p:blipFill>
        <p:spPr>
          <a:xfrm>
            <a:off x="4571231" y="2878587"/>
            <a:ext cx="5372850" cy="3858163"/>
          </a:xfrm>
          <a:prstGeom prst="rect">
            <a:avLst/>
          </a:prstGeom>
        </p:spPr>
      </p:pic>
    </p:spTree>
    <p:extLst>
      <p:ext uri="{BB962C8B-B14F-4D97-AF65-F5344CB8AC3E}">
        <p14:creationId xmlns:p14="http://schemas.microsoft.com/office/powerpoint/2010/main" val="13961020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A9345-4628-A3C1-2D0D-7A1BE0C93B4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A7A869-587A-4435-F2BD-37298F2AF70A}"/>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00C0F9FF-1952-A285-05A3-B7251FBE542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CA69D0FE-BAFE-3A86-FFF6-BC078FFB958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an continuation of the previous slide. I have discovered the problem, and it was my lack of care. I was making edits to the same camera controller level 1 was using.</a:t>
            </a:r>
          </a:p>
          <a:p>
            <a:endParaRPr lang="en-GB" sz="1200" dirty="0"/>
          </a:p>
          <a:p>
            <a:r>
              <a:rPr lang="en-GB" sz="1200" dirty="0"/>
              <a:t>I’ve made two controllers now both for their respective rooms and I’ve restored the original Camera Controller.</a:t>
            </a:r>
          </a:p>
          <a:p>
            <a:endParaRPr lang="en-GB" sz="1200" dirty="0"/>
          </a:p>
          <a:p>
            <a:r>
              <a:rPr lang="en-GB" sz="1200" dirty="0"/>
              <a:t>Turns out I need duplicate versions of everything that uses the </a:t>
            </a:r>
            <a:r>
              <a:rPr lang="en-GB" sz="1200" dirty="0" err="1"/>
              <a:t>change_camera_script</a:t>
            </a:r>
            <a:r>
              <a:rPr lang="en-GB" sz="1200" dirty="0"/>
              <a:t> to have the camera work for each new room.</a:t>
            </a:r>
          </a:p>
          <a:p>
            <a:endParaRPr lang="en-GB" sz="1200" dirty="0"/>
          </a:p>
        </p:txBody>
      </p:sp>
      <p:sp>
        <p:nvSpPr>
          <p:cNvPr id="12" name="TextBox 11">
            <a:extLst>
              <a:ext uri="{FF2B5EF4-FFF2-40B4-BE49-F238E27FC236}">
                <a16:creationId xmlns:a16="http://schemas.microsoft.com/office/drawing/2014/main" id="{E4657D6D-732E-851C-6391-3731DE728E98}"/>
              </a:ext>
            </a:extLst>
          </p:cNvPr>
          <p:cNvSpPr txBox="1"/>
          <p:nvPr/>
        </p:nvSpPr>
        <p:spPr>
          <a:xfrm>
            <a:off x="9570683" y="508708"/>
            <a:ext cx="2073729" cy="3754874"/>
          </a:xfrm>
          <a:prstGeom prst="rect">
            <a:avLst/>
          </a:prstGeom>
          <a:noFill/>
        </p:spPr>
        <p:txBody>
          <a:bodyPr wrap="square" rtlCol="0">
            <a:spAutoFit/>
          </a:bodyPr>
          <a:lstStyle/>
          <a:p>
            <a:r>
              <a:rPr lang="en-GB" sz="1400" dirty="0"/>
              <a:t>What to Do next session</a:t>
            </a:r>
          </a:p>
          <a:p>
            <a:endParaRPr lang="en-GB" sz="1400" dirty="0"/>
          </a:p>
          <a:p>
            <a:r>
              <a:rPr lang="en-GB" sz="1400" dirty="0"/>
              <a:t>Finish Enemies code based on new zones.</a:t>
            </a:r>
          </a:p>
          <a:p>
            <a:endParaRPr lang="en-GB" sz="1400" dirty="0"/>
          </a:p>
          <a:p>
            <a:r>
              <a:rPr lang="en-GB" sz="1400" dirty="0"/>
              <a:t>Start on Level 3</a:t>
            </a:r>
          </a:p>
          <a:p>
            <a:endParaRPr lang="en-GB" sz="1400" dirty="0"/>
          </a:p>
          <a:p>
            <a:r>
              <a:rPr lang="en-GB" sz="1400" dirty="0"/>
              <a:t>Code Arach</a:t>
            </a:r>
          </a:p>
          <a:p>
            <a:endParaRPr lang="en-GB" sz="1400" dirty="0"/>
          </a:p>
          <a:p>
            <a:r>
              <a:rPr lang="en-GB" sz="1400" dirty="0"/>
              <a:t>Make player go to death screen when killed.</a:t>
            </a:r>
          </a:p>
          <a:p>
            <a:endParaRPr lang="en-GB" sz="1400" dirty="0"/>
          </a:p>
          <a:p>
            <a:r>
              <a:rPr lang="en-GB" sz="1400" dirty="0"/>
              <a:t>Make about button</a:t>
            </a:r>
          </a:p>
          <a:p>
            <a:endParaRPr lang="en-GB" sz="1400" dirty="0"/>
          </a:p>
          <a:p>
            <a:endParaRPr lang="en-GB" sz="1400" dirty="0"/>
          </a:p>
          <a:p>
            <a:endParaRPr lang="en-GB" sz="1400" dirty="0"/>
          </a:p>
          <a:p>
            <a:endParaRPr lang="en-GB" sz="1400" dirty="0"/>
          </a:p>
        </p:txBody>
      </p:sp>
      <p:pic>
        <p:nvPicPr>
          <p:cNvPr id="6" name="Picture 5" descr="A screenshot of a computer&#10;&#10;AI-generated content may be incorrect.">
            <a:extLst>
              <a:ext uri="{FF2B5EF4-FFF2-40B4-BE49-F238E27FC236}">
                <a16:creationId xmlns:a16="http://schemas.microsoft.com/office/drawing/2014/main" id="{662060B5-0FB4-40CF-4218-4D8024EBE90C}"/>
              </a:ext>
            </a:extLst>
          </p:cNvPr>
          <p:cNvPicPr>
            <a:picLocks noChangeAspect="1"/>
          </p:cNvPicPr>
          <p:nvPr/>
        </p:nvPicPr>
        <p:blipFill>
          <a:blip r:embed="rId2"/>
          <a:stretch>
            <a:fillRect/>
          </a:stretch>
        </p:blipFill>
        <p:spPr>
          <a:xfrm>
            <a:off x="547588" y="2610492"/>
            <a:ext cx="2019582" cy="543001"/>
          </a:xfrm>
          <a:prstGeom prst="rect">
            <a:avLst/>
          </a:prstGeom>
        </p:spPr>
      </p:pic>
      <p:pic>
        <p:nvPicPr>
          <p:cNvPr id="10" name="Picture 9">
            <a:extLst>
              <a:ext uri="{FF2B5EF4-FFF2-40B4-BE49-F238E27FC236}">
                <a16:creationId xmlns:a16="http://schemas.microsoft.com/office/drawing/2014/main" id="{E9603090-F2BE-8DAF-A1C6-06B389A2D6DF}"/>
              </a:ext>
            </a:extLst>
          </p:cNvPr>
          <p:cNvPicPr>
            <a:picLocks noChangeAspect="1"/>
          </p:cNvPicPr>
          <p:nvPr/>
        </p:nvPicPr>
        <p:blipFill>
          <a:blip r:embed="rId3"/>
          <a:stretch>
            <a:fillRect/>
          </a:stretch>
        </p:blipFill>
        <p:spPr>
          <a:xfrm>
            <a:off x="662512" y="3771884"/>
            <a:ext cx="2229161" cy="228632"/>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7AAF0E6D-B186-0978-16A8-40F8067C20B9}"/>
              </a:ext>
            </a:extLst>
          </p:cNvPr>
          <p:cNvPicPr>
            <a:picLocks noChangeAspect="1"/>
          </p:cNvPicPr>
          <p:nvPr/>
        </p:nvPicPr>
        <p:blipFill>
          <a:blip r:embed="rId4"/>
          <a:stretch>
            <a:fillRect/>
          </a:stretch>
        </p:blipFill>
        <p:spPr>
          <a:xfrm>
            <a:off x="3174544" y="3400882"/>
            <a:ext cx="4039164" cy="1438476"/>
          </a:xfrm>
          <a:prstGeom prst="rect">
            <a:avLst/>
          </a:prstGeom>
        </p:spPr>
      </p:pic>
    </p:spTree>
    <p:extLst>
      <p:ext uri="{BB962C8B-B14F-4D97-AF65-F5344CB8AC3E}">
        <p14:creationId xmlns:p14="http://schemas.microsoft.com/office/powerpoint/2010/main" val="3270231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D2625D-F1E3-37EE-DD87-D5E1D0DBEE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0ABAE57-1604-5296-2401-1A924AA5EFE1}"/>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76734B0F-95AE-27E0-5BB9-9877C7FA708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3FE027C8-FF0C-B56F-752D-F73E66BA5C9B}"/>
              </a:ext>
            </a:extLst>
          </p:cNvPr>
          <p:cNvSpPr txBox="1"/>
          <p:nvPr/>
        </p:nvSpPr>
        <p:spPr>
          <a:xfrm>
            <a:off x="0" y="152027"/>
            <a:ext cx="5576207" cy="32316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changed the options button to be an about me page which basically just me talking about why the game was made.</a:t>
            </a:r>
          </a:p>
          <a:p>
            <a:endParaRPr lang="en-GB" sz="1200" dirty="0"/>
          </a:p>
          <a:p>
            <a:r>
              <a:rPr lang="en-GB" sz="1200" dirty="0"/>
              <a:t>I also made ait so that when the player dies either from an enemy or due to low oxygen, they get teleported to the death screen room.</a:t>
            </a:r>
          </a:p>
          <a:p>
            <a:endParaRPr lang="en-GB" sz="1200" dirty="0"/>
          </a:p>
          <a:p>
            <a:r>
              <a:rPr lang="en-GB" sz="1200" dirty="0"/>
              <a:t>Made Multiple new rooms, including a level selector for the player to choose what level they wish to begin in.</a:t>
            </a:r>
          </a:p>
          <a:p>
            <a:endParaRPr lang="en-GB" sz="1200" dirty="0"/>
          </a:p>
          <a:p>
            <a:r>
              <a:rPr lang="en-GB" sz="1200" dirty="0"/>
              <a:t>For the enemies, they will have duplicate versions of themselves per level. Mainly due to the problem of them containing future zone code in the first level but breaking if they tried access a non-existent zone.</a:t>
            </a:r>
          </a:p>
          <a:p>
            <a:endParaRPr lang="en-GB" sz="1200" dirty="0"/>
          </a:p>
          <a:p>
            <a:r>
              <a:rPr lang="en-GB" sz="1200" dirty="0"/>
              <a:t>Altering their code is very simple, for all I need to do is just add the extra zones to their pre-existing movement.</a:t>
            </a:r>
          </a:p>
          <a:p>
            <a:endParaRPr lang="en-GB" sz="1200" dirty="0"/>
          </a:p>
          <a:p>
            <a:endParaRPr lang="en-GB" sz="1200" dirty="0"/>
          </a:p>
        </p:txBody>
      </p:sp>
      <p:pic>
        <p:nvPicPr>
          <p:cNvPr id="7" name="Picture 6" descr="A screen shot of a computer&#10;&#10;AI-generated content may be incorrect.">
            <a:extLst>
              <a:ext uri="{FF2B5EF4-FFF2-40B4-BE49-F238E27FC236}">
                <a16:creationId xmlns:a16="http://schemas.microsoft.com/office/drawing/2014/main" id="{D562636A-310A-95F9-3800-C3558D751CF7}"/>
              </a:ext>
            </a:extLst>
          </p:cNvPr>
          <p:cNvPicPr>
            <a:picLocks noChangeAspect="1"/>
          </p:cNvPicPr>
          <p:nvPr/>
        </p:nvPicPr>
        <p:blipFill>
          <a:blip r:embed="rId2"/>
          <a:stretch>
            <a:fillRect/>
          </a:stretch>
        </p:blipFill>
        <p:spPr>
          <a:xfrm>
            <a:off x="216829" y="2973759"/>
            <a:ext cx="2924583" cy="1171739"/>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5C8EA18A-6B10-7535-B098-75BF335D3BF7}"/>
              </a:ext>
            </a:extLst>
          </p:cNvPr>
          <p:cNvPicPr>
            <a:picLocks noChangeAspect="1"/>
          </p:cNvPicPr>
          <p:nvPr/>
        </p:nvPicPr>
        <p:blipFill>
          <a:blip r:embed="rId3"/>
          <a:stretch>
            <a:fillRect/>
          </a:stretch>
        </p:blipFill>
        <p:spPr>
          <a:xfrm>
            <a:off x="136930" y="4158978"/>
            <a:ext cx="4992381" cy="2546995"/>
          </a:xfrm>
          <a:prstGeom prst="rect">
            <a:avLst/>
          </a:prstGeom>
        </p:spPr>
      </p:pic>
      <p:pic>
        <p:nvPicPr>
          <p:cNvPr id="13" name="Picture 12" descr="A computer screen shot of a program&#10;&#10;AI-generated content may be incorrect.">
            <a:extLst>
              <a:ext uri="{FF2B5EF4-FFF2-40B4-BE49-F238E27FC236}">
                <a16:creationId xmlns:a16="http://schemas.microsoft.com/office/drawing/2014/main" id="{F17C99F0-37EF-1E4C-553C-C4FE89C93B0D}"/>
              </a:ext>
            </a:extLst>
          </p:cNvPr>
          <p:cNvPicPr>
            <a:picLocks noChangeAspect="1"/>
          </p:cNvPicPr>
          <p:nvPr/>
        </p:nvPicPr>
        <p:blipFill>
          <a:blip r:embed="rId4"/>
          <a:stretch>
            <a:fillRect/>
          </a:stretch>
        </p:blipFill>
        <p:spPr>
          <a:xfrm>
            <a:off x="5925410" y="1276169"/>
            <a:ext cx="3677163" cy="2591162"/>
          </a:xfrm>
          <a:prstGeom prst="rect">
            <a:avLst/>
          </a:prstGeom>
        </p:spPr>
      </p:pic>
      <p:pic>
        <p:nvPicPr>
          <p:cNvPr id="16" name="Picture 15" descr="A computer screen shot of a computer&#10;&#10;AI-generated content may be incorrect.">
            <a:extLst>
              <a:ext uri="{FF2B5EF4-FFF2-40B4-BE49-F238E27FC236}">
                <a16:creationId xmlns:a16="http://schemas.microsoft.com/office/drawing/2014/main" id="{8C8D8E10-C46D-09FF-9576-EEFF9D15491D}"/>
              </a:ext>
            </a:extLst>
          </p:cNvPr>
          <p:cNvPicPr>
            <a:picLocks noChangeAspect="1"/>
          </p:cNvPicPr>
          <p:nvPr/>
        </p:nvPicPr>
        <p:blipFill>
          <a:blip r:embed="rId5"/>
          <a:stretch>
            <a:fillRect/>
          </a:stretch>
        </p:blipFill>
        <p:spPr>
          <a:xfrm>
            <a:off x="6226150" y="4030616"/>
            <a:ext cx="3476314" cy="2457673"/>
          </a:xfrm>
          <a:prstGeom prst="rect">
            <a:avLst/>
          </a:prstGeom>
        </p:spPr>
      </p:pic>
    </p:spTree>
    <p:extLst>
      <p:ext uri="{BB962C8B-B14F-4D97-AF65-F5344CB8AC3E}">
        <p14:creationId xmlns:p14="http://schemas.microsoft.com/office/powerpoint/2010/main" val="3766735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29C88-0599-9A43-9145-341E9145CDF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0EFC79D-BB55-F205-BF9B-81A79A16132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DCDAF045-3BB1-1CA7-73DA-1B093AF47E9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55AC8A76-26E2-6D0D-F18E-5F33536DC810}"/>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Extension of previous slide. I want to mention how Bulker remain at the door longer than the other enemies do.</a:t>
            </a:r>
          </a:p>
          <a:p>
            <a:r>
              <a:rPr lang="en-GB" sz="1200" dirty="0"/>
              <a:t> its simply this code</a:t>
            </a:r>
          </a:p>
          <a:p>
            <a:r>
              <a:rPr lang="en-GB" sz="1200" dirty="0"/>
              <a:t>In alarm 6. </a:t>
            </a:r>
          </a:p>
          <a:p>
            <a:r>
              <a:rPr lang="en-GB" sz="1200" dirty="0"/>
              <a:t>When the office right door is closed his movement time increases from 1500 to 2000. (Adjustments may be made in the future)</a:t>
            </a:r>
          </a:p>
          <a:p>
            <a:endParaRPr lang="en-GB" sz="1200" dirty="0"/>
          </a:p>
          <a:p>
            <a:r>
              <a:rPr lang="en-GB" sz="1200" dirty="0"/>
              <a:t>Now all the enemies in my game at least for level 2 move correctly and have the correct behaviour.</a:t>
            </a:r>
          </a:p>
          <a:p>
            <a:endParaRPr lang="en-GB" sz="1200" dirty="0"/>
          </a:p>
          <a:p>
            <a:r>
              <a:rPr lang="en-GB" sz="1200" dirty="0"/>
              <a:t>To solve the size difference for camera Hud zone I just changed the set size view for when you both exit and open the camera.</a:t>
            </a:r>
          </a:p>
          <a:p>
            <a:endParaRPr lang="en-GB" sz="1200" dirty="0"/>
          </a:p>
          <a:p>
            <a:r>
              <a:rPr lang="en-GB" sz="1200" dirty="0"/>
              <a:t>Next with the death screen finished, coded for the player to change room to </a:t>
            </a:r>
            <a:r>
              <a:rPr lang="en-GB" sz="1200" dirty="0" err="1"/>
              <a:t>rm_death_screen</a:t>
            </a:r>
            <a:r>
              <a:rPr lang="en-GB" sz="1200" dirty="0"/>
              <a:t> when oxygen = 0 or when enemy jump-scares. To do this I gave each enemy a </a:t>
            </a:r>
            <a:r>
              <a:rPr lang="en-GB" sz="1200" dirty="0" err="1"/>
              <a:t>deathscreentimer</a:t>
            </a:r>
            <a:r>
              <a:rPr lang="en-GB" sz="1200" dirty="0"/>
              <a:t>. This timer is to give time for the jump-scare to finish before the player moves to the death screen room. </a:t>
            </a:r>
          </a:p>
          <a:p>
            <a:endParaRPr lang="en-GB" sz="1200" dirty="0"/>
          </a:p>
          <a:p>
            <a:r>
              <a:rPr lang="en-GB" sz="1200" dirty="0"/>
              <a:t>For oxygen, I added a somewhat new mechanic, I had this mechanic originally but removed it for I didn’t see a need for it is the health bar. When oxygen = 0 the health bar goes down by 0.5 and cannot be restored.</a:t>
            </a:r>
          </a:p>
        </p:txBody>
      </p:sp>
      <p:pic>
        <p:nvPicPr>
          <p:cNvPr id="10" name="Picture 9">
            <a:extLst>
              <a:ext uri="{FF2B5EF4-FFF2-40B4-BE49-F238E27FC236}">
                <a16:creationId xmlns:a16="http://schemas.microsoft.com/office/drawing/2014/main" id="{31A709FD-52CC-69FE-CC07-23F8B9BB779B}"/>
              </a:ext>
            </a:extLst>
          </p:cNvPr>
          <p:cNvPicPr>
            <a:picLocks noChangeAspect="1"/>
          </p:cNvPicPr>
          <p:nvPr/>
        </p:nvPicPr>
        <p:blipFill>
          <a:blip r:embed="rId2"/>
          <a:stretch>
            <a:fillRect/>
          </a:stretch>
        </p:blipFill>
        <p:spPr>
          <a:xfrm>
            <a:off x="1432034" y="577787"/>
            <a:ext cx="1686160" cy="266737"/>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D4D1E843-F525-D20E-1198-1DA885633E10}"/>
              </a:ext>
            </a:extLst>
          </p:cNvPr>
          <p:cNvPicPr>
            <a:picLocks noChangeAspect="1"/>
          </p:cNvPicPr>
          <p:nvPr/>
        </p:nvPicPr>
        <p:blipFill>
          <a:blip r:embed="rId3"/>
          <a:stretch>
            <a:fillRect/>
          </a:stretch>
        </p:blipFill>
        <p:spPr>
          <a:xfrm>
            <a:off x="5836411" y="577787"/>
            <a:ext cx="3961101" cy="3139424"/>
          </a:xfrm>
          <a:prstGeom prst="rect">
            <a:avLst/>
          </a:prstGeom>
        </p:spPr>
      </p:pic>
      <p:pic>
        <p:nvPicPr>
          <p:cNvPr id="19" name="Picture 18" descr="A screen shot of a computer&#10;&#10;AI-generated content may be incorrect.">
            <a:extLst>
              <a:ext uri="{FF2B5EF4-FFF2-40B4-BE49-F238E27FC236}">
                <a16:creationId xmlns:a16="http://schemas.microsoft.com/office/drawing/2014/main" id="{DC67ADB5-A443-9964-296D-F14A58425929}"/>
              </a:ext>
            </a:extLst>
          </p:cNvPr>
          <p:cNvPicPr>
            <a:picLocks noChangeAspect="1"/>
          </p:cNvPicPr>
          <p:nvPr/>
        </p:nvPicPr>
        <p:blipFill>
          <a:blip r:embed="rId4"/>
          <a:stretch>
            <a:fillRect/>
          </a:stretch>
        </p:blipFill>
        <p:spPr>
          <a:xfrm>
            <a:off x="8507186" y="3835195"/>
            <a:ext cx="3555823" cy="1359828"/>
          </a:xfrm>
          <a:prstGeom prst="rect">
            <a:avLst/>
          </a:prstGeom>
        </p:spPr>
      </p:pic>
      <p:pic>
        <p:nvPicPr>
          <p:cNvPr id="21" name="Picture 20" descr="A black background with colorful text&#10;&#10;AI-generated content may be incorrect.">
            <a:extLst>
              <a:ext uri="{FF2B5EF4-FFF2-40B4-BE49-F238E27FC236}">
                <a16:creationId xmlns:a16="http://schemas.microsoft.com/office/drawing/2014/main" id="{FB730EDF-438D-3CAC-35C6-C5CEB705698B}"/>
              </a:ext>
            </a:extLst>
          </p:cNvPr>
          <p:cNvPicPr>
            <a:picLocks noChangeAspect="1"/>
          </p:cNvPicPr>
          <p:nvPr/>
        </p:nvPicPr>
        <p:blipFill>
          <a:blip r:embed="rId5"/>
          <a:stretch>
            <a:fillRect/>
          </a:stretch>
        </p:blipFill>
        <p:spPr>
          <a:xfrm>
            <a:off x="66423" y="4422573"/>
            <a:ext cx="4143953" cy="647790"/>
          </a:xfrm>
          <a:prstGeom prst="rect">
            <a:avLst/>
          </a:prstGeom>
        </p:spPr>
      </p:pic>
      <p:pic>
        <p:nvPicPr>
          <p:cNvPr id="25" name="Picture 24">
            <a:extLst>
              <a:ext uri="{FF2B5EF4-FFF2-40B4-BE49-F238E27FC236}">
                <a16:creationId xmlns:a16="http://schemas.microsoft.com/office/drawing/2014/main" id="{D6577D31-EFBC-0275-A429-A944A2808245}"/>
              </a:ext>
            </a:extLst>
          </p:cNvPr>
          <p:cNvPicPr>
            <a:picLocks noChangeAspect="1"/>
          </p:cNvPicPr>
          <p:nvPr/>
        </p:nvPicPr>
        <p:blipFill>
          <a:blip r:embed="rId6"/>
          <a:stretch>
            <a:fillRect/>
          </a:stretch>
        </p:blipFill>
        <p:spPr>
          <a:xfrm>
            <a:off x="66423" y="4218414"/>
            <a:ext cx="1914792" cy="181000"/>
          </a:xfrm>
          <a:prstGeom prst="rect">
            <a:avLst/>
          </a:prstGeom>
        </p:spPr>
      </p:pic>
      <p:pic>
        <p:nvPicPr>
          <p:cNvPr id="27" name="Picture 26">
            <a:extLst>
              <a:ext uri="{FF2B5EF4-FFF2-40B4-BE49-F238E27FC236}">
                <a16:creationId xmlns:a16="http://schemas.microsoft.com/office/drawing/2014/main" id="{0C263AFF-0270-CD3A-C702-D0E6CE2754AB}"/>
              </a:ext>
            </a:extLst>
          </p:cNvPr>
          <p:cNvPicPr>
            <a:picLocks noChangeAspect="1"/>
          </p:cNvPicPr>
          <p:nvPr/>
        </p:nvPicPr>
        <p:blipFill>
          <a:blip r:embed="rId7"/>
          <a:stretch>
            <a:fillRect/>
          </a:stretch>
        </p:blipFill>
        <p:spPr>
          <a:xfrm>
            <a:off x="66423" y="5480610"/>
            <a:ext cx="1409897" cy="181000"/>
          </a:xfrm>
          <a:prstGeom prst="rect">
            <a:avLst/>
          </a:prstGeom>
        </p:spPr>
      </p:pic>
      <p:pic>
        <p:nvPicPr>
          <p:cNvPr id="29" name="Picture 28" descr="A screenshot of a computer program&#10;&#10;AI-generated content may be incorrect.">
            <a:extLst>
              <a:ext uri="{FF2B5EF4-FFF2-40B4-BE49-F238E27FC236}">
                <a16:creationId xmlns:a16="http://schemas.microsoft.com/office/drawing/2014/main" id="{F962A779-271C-426C-1975-2608A7747F33}"/>
              </a:ext>
            </a:extLst>
          </p:cNvPr>
          <p:cNvPicPr>
            <a:picLocks noChangeAspect="1"/>
          </p:cNvPicPr>
          <p:nvPr/>
        </p:nvPicPr>
        <p:blipFill>
          <a:blip r:embed="rId8"/>
          <a:stretch>
            <a:fillRect/>
          </a:stretch>
        </p:blipFill>
        <p:spPr>
          <a:xfrm>
            <a:off x="75949" y="5726467"/>
            <a:ext cx="2800741" cy="1066949"/>
          </a:xfrm>
          <a:prstGeom prst="rect">
            <a:avLst/>
          </a:prstGeom>
        </p:spPr>
      </p:pic>
      <p:pic>
        <p:nvPicPr>
          <p:cNvPr id="31" name="Picture 30" descr="A screenshot of a computer program&#10;&#10;AI-generated content may be incorrect.">
            <a:extLst>
              <a:ext uri="{FF2B5EF4-FFF2-40B4-BE49-F238E27FC236}">
                <a16:creationId xmlns:a16="http://schemas.microsoft.com/office/drawing/2014/main" id="{8D902745-7EBB-E42D-2E4F-E8C14E9BA457}"/>
              </a:ext>
            </a:extLst>
          </p:cNvPr>
          <p:cNvPicPr>
            <a:picLocks noChangeAspect="1"/>
          </p:cNvPicPr>
          <p:nvPr/>
        </p:nvPicPr>
        <p:blipFill>
          <a:blip r:embed="rId9"/>
          <a:stretch>
            <a:fillRect/>
          </a:stretch>
        </p:blipFill>
        <p:spPr>
          <a:xfrm>
            <a:off x="4407299" y="4218414"/>
            <a:ext cx="3986129" cy="2537202"/>
          </a:xfrm>
          <a:prstGeom prst="rect">
            <a:avLst/>
          </a:prstGeom>
        </p:spPr>
      </p:pic>
    </p:spTree>
    <p:extLst>
      <p:ext uri="{BB962C8B-B14F-4D97-AF65-F5344CB8AC3E}">
        <p14:creationId xmlns:p14="http://schemas.microsoft.com/office/powerpoint/2010/main" val="13655470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This is just to mention the player health mechanic.</a:t>
            </a:r>
          </a:p>
          <a:p>
            <a:endParaRPr lang="en-GB" sz="1200" dirty="0"/>
          </a:p>
          <a:p>
            <a:r>
              <a:rPr lang="en-GB" sz="1200" dirty="0"/>
              <a:t>When oxygen = 0, player health goes down by 0.5. When player health = 0, go to death screen room. Then the timer resets itself back to 100.</a:t>
            </a:r>
          </a:p>
          <a:p>
            <a:endParaRPr lang="en-GB" sz="1200" dirty="0"/>
          </a:p>
          <a:p>
            <a:r>
              <a:rPr lang="en-GB" sz="1200" dirty="0"/>
              <a:t>I also copied over the GUI code for the oxygen to get a status bar that decreases and increases. However, the player Health cannot be restored if oxygen is restored.</a:t>
            </a:r>
          </a:p>
        </p:txBody>
      </p:sp>
      <p:sp>
        <p:nvSpPr>
          <p:cNvPr id="12" name="TextBox 11">
            <a:extLst>
              <a:ext uri="{FF2B5EF4-FFF2-40B4-BE49-F238E27FC236}">
                <a16:creationId xmlns:a16="http://schemas.microsoft.com/office/drawing/2014/main" id="{AC84ABBC-F0AD-4A94-2998-F05AAA42C866}"/>
              </a:ext>
            </a:extLst>
          </p:cNvPr>
          <p:cNvSpPr txBox="1"/>
          <p:nvPr/>
        </p:nvSpPr>
        <p:spPr>
          <a:xfrm>
            <a:off x="8815512" y="753345"/>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Code </a:t>
            </a:r>
            <a:r>
              <a:rPr lang="en-GB" sz="1400" dirty="0" err="1"/>
              <a:t>Arach</a:t>
            </a:r>
            <a:endParaRPr lang="en-GB" sz="1400" dirty="0"/>
          </a:p>
          <a:p>
            <a:endParaRPr lang="en-GB" sz="1400" dirty="0"/>
          </a:p>
          <a:p>
            <a:r>
              <a:rPr lang="en-GB" sz="1400" dirty="0"/>
              <a:t>Create Level 3</a:t>
            </a:r>
          </a:p>
          <a:p>
            <a:endParaRPr lang="en-GB" sz="1400" dirty="0"/>
          </a:p>
          <a:p>
            <a:r>
              <a:rPr lang="en-GB" sz="1400" dirty="0"/>
              <a:t>Create more zones</a:t>
            </a:r>
          </a:p>
          <a:p>
            <a:endParaRPr lang="en-GB" sz="1400" dirty="0"/>
          </a:p>
          <a:p>
            <a:endParaRPr lang="en-GB" sz="1400" dirty="0"/>
          </a:p>
          <a:p>
            <a:endParaRPr lang="en-GB" sz="1400" dirty="0"/>
          </a:p>
          <a:p>
            <a:endParaRPr lang="en-GB" sz="1400" dirty="0"/>
          </a:p>
        </p:txBody>
      </p:sp>
      <p:pic>
        <p:nvPicPr>
          <p:cNvPr id="8" name="Picture 7" descr="A screenshot of a computer program&#10;&#10;AI-generated content may be incorrect.">
            <a:extLst>
              <a:ext uri="{FF2B5EF4-FFF2-40B4-BE49-F238E27FC236}">
                <a16:creationId xmlns:a16="http://schemas.microsoft.com/office/drawing/2014/main" id="{2001273F-305B-C176-64BC-2DC71D923DE8}"/>
              </a:ext>
            </a:extLst>
          </p:cNvPr>
          <p:cNvPicPr>
            <a:picLocks noChangeAspect="1"/>
          </p:cNvPicPr>
          <p:nvPr/>
        </p:nvPicPr>
        <p:blipFill>
          <a:blip r:embed="rId2"/>
          <a:stretch>
            <a:fillRect/>
          </a:stretch>
        </p:blipFill>
        <p:spPr>
          <a:xfrm>
            <a:off x="97972" y="2448256"/>
            <a:ext cx="6230219" cy="4134427"/>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482D21FF-7080-2E9A-A1C0-AE31D040268B}"/>
              </a:ext>
            </a:extLst>
          </p:cNvPr>
          <p:cNvPicPr>
            <a:picLocks noChangeAspect="1"/>
          </p:cNvPicPr>
          <p:nvPr/>
        </p:nvPicPr>
        <p:blipFill>
          <a:blip r:embed="rId3"/>
          <a:stretch>
            <a:fillRect/>
          </a:stretch>
        </p:blipFill>
        <p:spPr>
          <a:xfrm>
            <a:off x="6230219" y="1733781"/>
            <a:ext cx="1857634" cy="714475"/>
          </a:xfrm>
          <a:prstGeom prst="rect">
            <a:avLst/>
          </a:prstGeom>
        </p:spPr>
      </p:pic>
    </p:spTree>
    <p:extLst>
      <p:ext uri="{BB962C8B-B14F-4D97-AF65-F5344CB8AC3E}">
        <p14:creationId xmlns:p14="http://schemas.microsoft.com/office/powerpoint/2010/main" val="5412096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Arach’s code allows him to move between zones 5 and 8. During this, if the front vent is open while he’s in camera 5, he will proceed to go on the offensive but just a second after the attack timer begins Arach plays a vent sound so the player can have time to react fast enough to close the vent. This plays the same for when he is in camera 8.</a:t>
            </a:r>
          </a:p>
          <a:p>
            <a:endParaRPr lang="en-GB" sz="1200" dirty="0"/>
          </a:p>
          <a:p>
            <a:r>
              <a:rPr lang="en-GB" sz="1200" dirty="0"/>
              <a:t>I can now move onto my next build V.0.7.1 where I’ll begin designing the prototype and begin transferring the level 3 objects into level 4 which is easier for, I do not plan to add more zones at this time.</a:t>
            </a:r>
          </a:p>
          <a:p>
            <a:endParaRPr lang="en-GB" sz="1200" dirty="0"/>
          </a:p>
          <a:p>
            <a:r>
              <a:rPr lang="en-GB" sz="1200" dirty="0"/>
              <a:t>Also, making Level 4 was a breeze since I didn’t need any more new zones meaning I could just copy level 3 without needing to change much besides variable names.</a:t>
            </a:r>
          </a:p>
          <a:p>
            <a:endParaRPr lang="en-GB" sz="1200" dirty="0"/>
          </a:p>
          <a:p>
            <a:r>
              <a:rPr lang="en-GB" sz="1200" dirty="0"/>
              <a:t>If you are looking through my versions, you might have noticed that I recently started using </a:t>
            </a:r>
            <a:r>
              <a:rPr lang="en-GB" sz="1200" dirty="0" err="1"/>
              <a:t>lvl</a:t>
            </a:r>
            <a:r>
              <a:rPr lang="en-GB" sz="1200" dirty="0"/>
              <a:t> instead of level. This was done just to safe time and make naming much easier to do. So, </a:t>
            </a:r>
            <a:r>
              <a:rPr lang="en-GB" sz="1200" dirty="0" err="1"/>
              <a:t>lvl</a:t>
            </a:r>
            <a:r>
              <a:rPr lang="en-GB" sz="1200" dirty="0"/>
              <a:t> is just Level.</a:t>
            </a:r>
          </a:p>
          <a:p>
            <a:endParaRPr lang="en-GB" sz="1200" dirty="0"/>
          </a:p>
          <a:p>
            <a:r>
              <a:rPr lang="en-GB" sz="1200" dirty="0"/>
              <a:t>To make Prototype I will use level 3 K9 as the foundation for the prototypes code.</a:t>
            </a:r>
          </a:p>
          <a:p>
            <a:endParaRPr lang="en-GB" sz="1200" dirty="0"/>
          </a:p>
          <a:p>
            <a:r>
              <a:rPr lang="en-GB" sz="1200" dirty="0"/>
              <a:t>Finally Prototypes design is completed.</a:t>
            </a:r>
          </a:p>
          <a:p>
            <a:r>
              <a:rPr lang="en-GB" sz="1200" dirty="0"/>
              <a:t>I always planned for him to me a fusion</a:t>
            </a:r>
          </a:p>
          <a:p>
            <a:r>
              <a:rPr lang="en-GB" sz="1200" dirty="0"/>
              <a:t>Of the other AMCD’s and I think it came</a:t>
            </a:r>
          </a:p>
          <a:p>
            <a:r>
              <a:rPr lang="en-GB" sz="1200" dirty="0"/>
              <a:t>Out perfectly.</a:t>
            </a:r>
          </a:p>
        </p:txBody>
      </p:sp>
      <p:pic>
        <p:nvPicPr>
          <p:cNvPr id="11" name="Picture 10" descr="A screen shot of a computer&#10;&#10;AI-generated content may be incorrect.">
            <a:extLst>
              <a:ext uri="{FF2B5EF4-FFF2-40B4-BE49-F238E27FC236}">
                <a16:creationId xmlns:a16="http://schemas.microsoft.com/office/drawing/2014/main" id="{4560D85E-4DCB-4F35-6ADC-A6787A918037}"/>
              </a:ext>
            </a:extLst>
          </p:cNvPr>
          <p:cNvPicPr>
            <a:picLocks noChangeAspect="1"/>
          </p:cNvPicPr>
          <p:nvPr/>
        </p:nvPicPr>
        <p:blipFill>
          <a:blip r:embed="rId2"/>
          <a:stretch>
            <a:fillRect/>
          </a:stretch>
        </p:blipFill>
        <p:spPr>
          <a:xfrm>
            <a:off x="6533679" y="5709053"/>
            <a:ext cx="4991797" cy="676369"/>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E1164DD6-C6E7-C4EB-CACF-C7BB87978DDB}"/>
              </a:ext>
            </a:extLst>
          </p:cNvPr>
          <p:cNvPicPr>
            <a:picLocks noChangeAspect="1"/>
          </p:cNvPicPr>
          <p:nvPr/>
        </p:nvPicPr>
        <p:blipFill>
          <a:blip r:embed="rId3"/>
          <a:stretch>
            <a:fillRect/>
          </a:stretch>
        </p:blipFill>
        <p:spPr>
          <a:xfrm>
            <a:off x="6407670" y="1439343"/>
            <a:ext cx="4553585" cy="4039164"/>
          </a:xfrm>
          <a:prstGeom prst="rect">
            <a:avLst/>
          </a:prstGeom>
        </p:spPr>
      </p:pic>
      <p:pic>
        <p:nvPicPr>
          <p:cNvPr id="6" name="Picture 5" descr="A screenshot of a computer screen&#10;&#10;AI-generated content may be incorrect.">
            <a:extLst>
              <a:ext uri="{FF2B5EF4-FFF2-40B4-BE49-F238E27FC236}">
                <a16:creationId xmlns:a16="http://schemas.microsoft.com/office/drawing/2014/main" id="{722DC87C-C839-85D9-FAF5-F2BF44603B15}"/>
              </a:ext>
            </a:extLst>
          </p:cNvPr>
          <p:cNvPicPr>
            <a:picLocks noChangeAspect="1"/>
          </p:cNvPicPr>
          <p:nvPr/>
        </p:nvPicPr>
        <p:blipFill>
          <a:blip r:embed="rId4"/>
          <a:stretch>
            <a:fillRect/>
          </a:stretch>
        </p:blipFill>
        <p:spPr>
          <a:xfrm>
            <a:off x="2694874" y="3985262"/>
            <a:ext cx="2963448" cy="2751488"/>
          </a:xfrm>
          <a:prstGeom prst="rect">
            <a:avLst/>
          </a:prstGeom>
        </p:spPr>
      </p:pic>
    </p:spTree>
    <p:extLst>
      <p:ext uri="{BB962C8B-B14F-4D97-AF65-F5344CB8AC3E}">
        <p14:creationId xmlns:p14="http://schemas.microsoft.com/office/powerpoint/2010/main" val="41472154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The Prototype or AMCD 00 will just like its design take attributes from the other AMCD’s into itself.</a:t>
            </a:r>
          </a:p>
          <a:p>
            <a:endParaRPr lang="en-GB" sz="1200" dirty="0"/>
          </a:p>
          <a:p>
            <a:r>
              <a:rPr lang="en-GB" sz="1200" u="sng" dirty="0"/>
              <a:t>Prototype will have…</a:t>
            </a:r>
          </a:p>
          <a:p>
            <a:r>
              <a:rPr lang="en-GB" sz="1200" dirty="0"/>
              <a:t>K9 speed</a:t>
            </a:r>
          </a:p>
          <a:p>
            <a:r>
              <a:rPr lang="en-GB" sz="1200" dirty="0"/>
              <a:t>Bulker waiting Time</a:t>
            </a:r>
          </a:p>
          <a:p>
            <a:r>
              <a:rPr lang="en-GB" sz="1200" dirty="0" err="1"/>
              <a:t>Gwiber’s</a:t>
            </a:r>
            <a:r>
              <a:rPr lang="en-GB" sz="1200" dirty="0"/>
              <a:t> low </a:t>
            </a:r>
            <a:r>
              <a:rPr lang="en-GB" sz="1200"/>
              <a:t>sound movement.</a:t>
            </a:r>
          </a:p>
          <a:p>
            <a:r>
              <a:rPr lang="en-GB" sz="1200" dirty="0"/>
              <a:t>Arach Audio </a:t>
            </a:r>
          </a:p>
          <a:p>
            <a:r>
              <a:rPr lang="en-GB" sz="1200" dirty="0"/>
              <a:t>For coding the Prototypes code will be setup similarly to K9 with adjustments made of all the AMCD’s behaviours into Prototype.</a:t>
            </a:r>
          </a:p>
          <a:p>
            <a:endParaRPr lang="en-GB" sz="1200" dirty="0"/>
          </a:p>
          <a:p>
            <a:r>
              <a:rPr lang="en-GB" sz="1200" dirty="0"/>
              <a:t>there will also be 2 special features for the prototype to increase its difficulty.</a:t>
            </a:r>
          </a:p>
          <a:p>
            <a:endParaRPr lang="en-GB" sz="1200" dirty="0"/>
          </a:p>
          <a:p>
            <a:pPr marL="228600" indent="-228600">
              <a:buAutoNum type="arabicPeriod"/>
            </a:pPr>
            <a:r>
              <a:rPr lang="en-GB" sz="1200" dirty="0"/>
              <a:t>Random movement times. This will make Prototype unpredictable and require you to be constantly active on the camera’s or else he’ll reach your office while your distracted by Arach.</a:t>
            </a:r>
          </a:p>
          <a:p>
            <a:pPr marL="228600" indent="-228600">
              <a:buAutoNum type="arabicPeriod"/>
            </a:pPr>
            <a:r>
              <a:rPr lang="en-GB" sz="1200" dirty="0"/>
              <a:t>Fake sounds. The Prototype will sometimes make fake sounds, tricking the player into thinking he’s moved or is about to attack.</a:t>
            </a:r>
          </a:p>
          <a:p>
            <a:endParaRPr lang="en-GB" sz="1200" dirty="0"/>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5909310"/>
          </a:xfrm>
          <a:prstGeom prst="rect">
            <a:avLst/>
          </a:prstGeom>
          <a:noFill/>
        </p:spPr>
        <p:txBody>
          <a:bodyPr wrap="square" rtlCol="0">
            <a:spAutoFit/>
          </a:bodyPr>
          <a:lstStyle/>
          <a:p>
            <a:r>
              <a:rPr lang="en-GB" sz="1400" dirty="0"/>
              <a:t>What to Do next session</a:t>
            </a:r>
          </a:p>
          <a:p>
            <a:endParaRPr lang="en-GB" sz="1400" dirty="0"/>
          </a:p>
          <a:p>
            <a:r>
              <a:rPr lang="en-GB" sz="1400" dirty="0"/>
              <a:t>Design Zones</a:t>
            </a:r>
          </a:p>
          <a:p>
            <a:endParaRPr lang="en-GB" sz="1400" dirty="0"/>
          </a:p>
          <a:p>
            <a:r>
              <a:rPr lang="en-GB" sz="1400" dirty="0"/>
              <a:t>Find suitable Place Holder sounds</a:t>
            </a:r>
          </a:p>
          <a:p>
            <a:endParaRPr lang="en-GB" sz="1400" dirty="0"/>
          </a:p>
          <a:p>
            <a:r>
              <a:rPr lang="en-GB" sz="1400" dirty="0"/>
              <a:t>Make level 5 with all the AMCD’s.</a:t>
            </a:r>
          </a:p>
          <a:p>
            <a:endParaRPr lang="en-GB" sz="1400" dirty="0"/>
          </a:p>
          <a:p>
            <a:r>
              <a:rPr lang="en-GB" sz="1400" dirty="0"/>
              <a:t>Adjust enemies code for more balanced gameplay.</a:t>
            </a:r>
          </a:p>
          <a:p>
            <a:endParaRPr lang="en-GB" sz="1400" dirty="0"/>
          </a:p>
          <a:p>
            <a:r>
              <a:rPr lang="en-GB" sz="1400" dirty="0"/>
              <a:t>Display level timer.</a:t>
            </a:r>
          </a:p>
          <a:p>
            <a:endParaRPr lang="en-GB" sz="1400" dirty="0"/>
          </a:p>
          <a:p>
            <a:r>
              <a:rPr lang="en-GB" sz="1400" dirty="0"/>
              <a:t>Re-do Health Bar.</a:t>
            </a:r>
          </a:p>
          <a:p>
            <a:endParaRPr lang="en-GB" sz="1400" dirty="0"/>
          </a:p>
          <a:p>
            <a:r>
              <a:rPr lang="en-GB" sz="1400" dirty="0"/>
              <a:t>Finally, in the main menu add the Soundtrack I created for Critical Failure.</a:t>
            </a:r>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20784053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30/01/2026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V.0.7.2</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21250"/>
            <a:ext cx="5576207" cy="63709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part is the next big step In completing all the code for my game and refining it to full functionality.</a:t>
            </a:r>
          </a:p>
          <a:p>
            <a:endParaRPr lang="en-GB" sz="1200" dirty="0"/>
          </a:p>
          <a:p>
            <a:r>
              <a:rPr lang="en-GB" sz="1200" dirty="0"/>
              <a:t>This session, I implemented Bulkers long waiting time at door to the Prototype.</a:t>
            </a:r>
          </a:p>
          <a:p>
            <a:endParaRPr lang="en-GB" sz="1200" dirty="0"/>
          </a:p>
          <a:p>
            <a:r>
              <a:rPr lang="en-GB" sz="1200" dirty="0"/>
              <a:t>The Game will Run at 60fps. Doing this allows me to get the correct amount of time in seconds or minutes in game by using the equation (frames = minutes x 60 x </a:t>
            </a:r>
            <a:r>
              <a:rPr lang="en-GB" sz="1200" dirty="0" err="1"/>
              <a:t>room_speed</a:t>
            </a:r>
            <a:r>
              <a:rPr lang="en-GB" sz="1200" dirty="0"/>
              <a:t>). This will allow me to properly adjust the timers used by objects in each level. </a:t>
            </a:r>
          </a:p>
          <a:p>
            <a:endParaRPr lang="en-GB" sz="1200" dirty="0"/>
          </a:p>
          <a:p>
            <a:r>
              <a:rPr lang="en-GB" sz="1200" dirty="0"/>
              <a:t>I have also implemented a Pause screen during the levels, just in case the player wishes to go back to main menu or take a break.</a:t>
            </a:r>
          </a:p>
          <a:p>
            <a:endParaRPr lang="en-GB" sz="1200" dirty="0"/>
          </a:p>
          <a:p>
            <a:r>
              <a:rPr lang="en-GB" sz="1200" dirty="0"/>
              <a:t>Narratively, the game would take the main character 12 hours to survive until 12pm. However, that time doesn’t translate well in terms of gameplay. So, the level will be 7 minutes and 30 seconds long and the level timer will change its sprite based off what stage the timer is at. So, using the equation  frames for 7min and 30sec minutes of gameplay per level is 27,000 frames.</a:t>
            </a:r>
          </a:p>
          <a:p>
            <a:endParaRPr lang="en-GB" sz="1200" dirty="0"/>
          </a:p>
          <a:p>
            <a:r>
              <a:rPr lang="en-GB" sz="1200" dirty="0"/>
              <a:t>I’ve also added new rooms for the levels for when the player completes a night that has a transition into the next room.</a:t>
            </a:r>
          </a:p>
          <a:p>
            <a:endParaRPr lang="en-GB" sz="1200" dirty="0"/>
          </a:p>
          <a:p>
            <a:endParaRPr lang="en-GB" sz="1200" dirty="0"/>
          </a:p>
          <a:p>
            <a:r>
              <a:rPr lang="en-GB" sz="1200" dirty="0"/>
              <a:t>I did run into an issue and that was having the Enemies physically move alongside their movement code. They do, but they are so offset you can’t see them. Despite me using the same exact co-ordinates as the camera controller, it turns out the enemies don’t follow the top left co-ordinate like the camera. So, I’ve spent over an hour getting the right co-ordinates and adjusting the enemy’s sprite origin to centre middle.</a:t>
            </a:r>
          </a:p>
          <a:p>
            <a:endParaRPr lang="en-GB" sz="1200" dirty="0"/>
          </a:p>
          <a:p>
            <a:r>
              <a:rPr lang="en-GB" sz="1200" dirty="0"/>
              <a:t>This has proven to be very time consuming for I need to constantly start up the game check An AMCD’s physically position and adjust their code, rinse and repeat for all variants of the enemies in all the levels. I was only able to do lvl1 Gwiber and K9 and lvl2 Bulker, the other level 2’s have been difficult.</a:t>
            </a:r>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2677656"/>
          </a:xfrm>
          <a:prstGeom prst="rect">
            <a:avLst/>
          </a:prstGeom>
          <a:noFill/>
        </p:spPr>
        <p:txBody>
          <a:bodyPr wrap="square" rtlCol="0">
            <a:spAutoFit/>
          </a:bodyPr>
          <a:lstStyle/>
          <a:p>
            <a:r>
              <a:rPr lang="en-GB" sz="1400" dirty="0"/>
              <a:t>What to Do next session</a:t>
            </a:r>
          </a:p>
          <a:p>
            <a:endParaRPr lang="en-GB" sz="1400" dirty="0"/>
          </a:p>
          <a:p>
            <a:endParaRPr lang="en-GB" sz="1400" dirty="0"/>
          </a:p>
          <a:p>
            <a:r>
              <a:rPr lang="en-GB" sz="1400" dirty="0"/>
              <a:t>Fix offset enemies.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34281728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46527-0379-7DCB-AEDE-EA081D39C56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B58B659-D1A5-6243-A490-07CA1D78C6E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31/01/2026</a:t>
            </a:r>
          </a:p>
        </p:txBody>
      </p:sp>
      <p:sp>
        <p:nvSpPr>
          <p:cNvPr id="2" name="TextBox 1">
            <a:extLst>
              <a:ext uri="{FF2B5EF4-FFF2-40B4-BE49-F238E27FC236}">
                <a16:creationId xmlns:a16="http://schemas.microsoft.com/office/drawing/2014/main" id="{ED540E2B-C8CB-73FF-E64D-B1300659E93B}"/>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a:t>
            </a:r>
          </a:p>
        </p:txBody>
      </p:sp>
      <p:sp>
        <p:nvSpPr>
          <p:cNvPr id="3" name="TextBox 2">
            <a:extLst>
              <a:ext uri="{FF2B5EF4-FFF2-40B4-BE49-F238E27FC236}">
                <a16:creationId xmlns:a16="http://schemas.microsoft.com/office/drawing/2014/main" id="{9A4FCE44-D8B6-B201-EED5-51307B1B2674}"/>
              </a:ext>
            </a:extLst>
          </p:cNvPr>
          <p:cNvSpPr txBox="1"/>
          <p:nvPr/>
        </p:nvSpPr>
        <p:spPr>
          <a:xfrm>
            <a:off x="0" y="121250"/>
            <a:ext cx="5576207"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made the soundtrack for the intro part of my game. When the player clicks the button to go to the next level, the sound stops.</a:t>
            </a:r>
          </a:p>
          <a:p>
            <a:endParaRPr lang="en-GB" sz="1200" dirty="0"/>
          </a:p>
          <a:p>
            <a:r>
              <a:rPr lang="en-GB" sz="1200" dirty="0"/>
              <a:t>I’m </a:t>
            </a:r>
            <a:r>
              <a:rPr lang="en-GB" sz="1200" dirty="0" err="1"/>
              <a:t>gonna</a:t>
            </a:r>
            <a:r>
              <a:rPr lang="en-GB" sz="1200" dirty="0"/>
              <a:t> use the Windows XP error </a:t>
            </a:r>
            <a:r>
              <a:rPr lang="en-GB" sz="1200" dirty="0" err="1"/>
              <a:t>sfx</a:t>
            </a:r>
            <a:r>
              <a:rPr lang="en-GB" sz="1200" dirty="0"/>
              <a:t> for when Prototype makes a fake noise. I also want to add lots of small rare easter eggs in my game, just to bring some more life into the game. These are extremely rare and probably won’t happen on most peoples first playthrough.</a:t>
            </a:r>
          </a:p>
          <a:p>
            <a:endParaRPr lang="en-GB" sz="1200" dirty="0"/>
          </a:p>
          <a:p>
            <a:endParaRPr lang="en-GB" sz="1200" dirty="0"/>
          </a:p>
        </p:txBody>
      </p:sp>
      <p:sp>
        <p:nvSpPr>
          <p:cNvPr id="12" name="TextBox 11">
            <a:extLst>
              <a:ext uri="{FF2B5EF4-FFF2-40B4-BE49-F238E27FC236}">
                <a16:creationId xmlns:a16="http://schemas.microsoft.com/office/drawing/2014/main" id="{BD93A3B1-0749-37C1-9A50-2EE1EA46B84D}"/>
              </a:ext>
            </a:extLst>
          </p:cNvPr>
          <p:cNvSpPr txBox="1"/>
          <p:nvPr/>
        </p:nvSpPr>
        <p:spPr>
          <a:xfrm>
            <a:off x="8555487" y="722845"/>
            <a:ext cx="2073729" cy="3108543"/>
          </a:xfrm>
          <a:prstGeom prst="rect">
            <a:avLst/>
          </a:prstGeom>
          <a:noFill/>
        </p:spPr>
        <p:txBody>
          <a:bodyPr wrap="square" rtlCol="0">
            <a:spAutoFit/>
          </a:bodyPr>
          <a:lstStyle/>
          <a:p>
            <a:r>
              <a:rPr lang="en-GB" sz="1400" dirty="0"/>
              <a:t>What to Do next session</a:t>
            </a:r>
          </a:p>
          <a:p>
            <a:endParaRPr lang="en-GB" sz="1400" dirty="0"/>
          </a:p>
          <a:p>
            <a:endParaRPr lang="en-GB" sz="1400" dirty="0"/>
          </a:p>
          <a:p>
            <a:r>
              <a:rPr lang="en-GB" sz="1400" dirty="0"/>
              <a:t>Fix offset enemies.</a:t>
            </a:r>
          </a:p>
          <a:p>
            <a:endParaRPr lang="en-GB" sz="1400" dirty="0"/>
          </a:p>
          <a:p>
            <a:r>
              <a:rPr lang="en-GB" sz="1400" dirty="0"/>
              <a:t>Design Zones.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39030598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E589B-990F-8860-4638-237B5862F03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2F2269E-3881-5A24-4B03-5C9AF405D81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1/02/2026</a:t>
            </a:r>
          </a:p>
        </p:txBody>
      </p:sp>
      <p:sp>
        <p:nvSpPr>
          <p:cNvPr id="2" name="TextBox 1">
            <a:extLst>
              <a:ext uri="{FF2B5EF4-FFF2-40B4-BE49-F238E27FC236}">
                <a16:creationId xmlns:a16="http://schemas.microsoft.com/office/drawing/2014/main" id="{DA40A170-E1C7-DC9A-6D71-A7C690245B1E}"/>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V.0.8.1</a:t>
            </a:r>
          </a:p>
        </p:txBody>
      </p:sp>
      <p:sp>
        <p:nvSpPr>
          <p:cNvPr id="3" name="TextBox 2">
            <a:extLst>
              <a:ext uri="{FF2B5EF4-FFF2-40B4-BE49-F238E27FC236}">
                <a16:creationId xmlns:a16="http://schemas.microsoft.com/office/drawing/2014/main" id="{369DC118-DC4C-CDC2-2775-7F44EFE4262C}"/>
              </a:ext>
            </a:extLst>
          </p:cNvPr>
          <p:cNvSpPr txBox="1"/>
          <p:nvPr/>
        </p:nvSpPr>
        <p:spPr>
          <a:xfrm>
            <a:off x="0" y="121250"/>
            <a:ext cx="5576207"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designed all the zones and have also found a solution to the offset issue.</a:t>
            </a:r>
          </a:p>
          <a:p>
            <a:endParaRPr lang="en-GB" sz="1200" dirty="0"/>
          </a:p>
          <a:p>
            <a:r>
              <a:rPr lang="en-GB" sz="1200" dirty="0"/>
              <a:t>I plan to make the zones sprites change when the enemies enter them. This means I won’t need my enemies to have sprites and provides me full customisability within each zone.</a:t>
            </a:r>
          </a:p>
          <a:p>
            <a:endParaRPr lang="en-GB" sz="1200" dirty="0"/>
          </a:p>
          <a:p>
            <a:r>
              <a:rPr lang="en-GB" sz="1200" dirty="0"/>
              <a:t>The way it works is that I have my current zones with no enemies, I will duplicate these and add the AMCD’s into them separate. So, Gwiber Zones, Bulker Zones and K9 Zones etc.</a:t>
            </a:r>
          </a:p>
          <a:p>
            <a:endParaRPr lang="en-GB" sz="1200" dirty="0"/>
          </a:p>
          <a:p>
            <a:r>
              <a:rPr lang="en-GB" sz="1200" dirty="0"/>
              <a:t>To have the zones change sprite I will create a Zone Controller that basically acts as a way for the Zones to know when to change sprites based off certain conditions. (This will also be good for sounds).</a:t>
            </a:r>
          </a:p>
          <a:p>
            <a:endParaRPr lang="en-GB" sz="1200" dirty="0"/>
          </a:p>
        </p:txBody>
      </p:sp>
      <p:sp>
        <p:nvSpPr>
          <p:cNvPr id="12" name="TextBox 11">
            <a:extLst>
              <a:ext uri="{FF2B5EF4-FFF2-40B4-BE49-F238E27FC236}">
                <a16:creationId xmlns:a16="http://schemas.microsoft.com/office/drawing/2014/main" id="{2186328D-9647-E460-1A4B-1B381BCDDD19}"/>
              </a:ext>
            </a:extLst>
          </p:cNvPr>
          <p:cNvSpPr txBox="1"/>
          <p:nvPr/>
        </p:nvSpPr>
        <p:spPr>
          <a:xfrm>
            <a:off x="8555487" y="722845"/>
            <a:ext cx="2073729" cy="5047536"/>
          </a:xfrm>
          <a:prstGeom prst="rect">
            <a:avLst/>
          </a:prstGeom>
          <a:noFill/>
        </p:spPr>
        <p:txBody>
          <a:bodyPr wrap="square" rtlCol="0">
            <a:spAutoFit/>
          </a:bodyPr>
          <a:lstStyle/>
          <a:p>
            <a:r>
              <a:rPr lang="en-GB" sz="1400" dirty="0"/>
              <a:t>What to Do next session</a:t>
            </a:r>
          </a:p>
          <a:p>
            <a:endParaRPr lang="en-GB" sz="1400" dirty="0"/>
          </a:p>
          <a:p>
            <a:r>
              <a:rPr lang="en-GB" sz="1400" dirty="0"/>
              <a:t>Make Zone Controller</a:t>
            </a:r>
          </a:p>
          <a:p>
            <a:endParaRPr lang="en-GB" sz="1400" dirty="0"/>
          </a:p>
          <a:p>
            <a:r>
              <a:rPr lang="en-GB" sz="1400" dirty="0"/>
              <a:t>Make Level lock (stop the player from going to level 2 unless level 1 is beaten.</a:t>
            </a:r>
          </a:p>
          <a:p>
            <a:endParaRPr lang="en-GB" sz="1400" dirty="0"/>
          </a:p>
          <a:p>
            <a:r>
              <a:rPr lang="en-GB" sz="1400" dirty="0"/>
              <a:t>Make AMCD versions of zone sprites.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shot of a video game&#10;&#10;AI-generated content may be incorrect.">
            <a:extLst>
              <a:ext uri="{FF2B5EF4-FFF2-40B4-BE49-F238E27FC236}">
                <a16:creationId xmlns:a16="http://schemas.microsoft.com/office/drawing/2014/main" id="{520155B2-5599-6697-A30B-9678C2EC53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6829" y="2654634"/>
            <a:ext cx="3810000" cy="2143125"/>
          </a:xfrm>
          <a:prstGeom prst="rect">
            <a:avLst/>
          </a:prstGeom>
        </p:spPr>
      </p:pic>
      <p:pic>
        <p:nvPicPr>
          <p:cNvPr id="8" name="Picture 7" descr="A black rectangular object with a brown x&#10;&#10;AI-generated content may be incorrect.">
            <a:extLst>
              <a:ext uri="{FF2B5EF4-FFF2-40B4-BE49-F238E27FC236}">
                <a16:creationId xmlns:a16="http://schemas.microsoft.com/office/drawing/2014/main" id="{2ADC7D25-A6AC-DF0A-67C2-500B45F6DE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50279" y="3059566"/>
            <a:ext cx="3810000" cy="2143125"/>
          </a:xfrm>
          <a:prstGeom prst="rect">
            <a:avLst/>
          </a:prstGeom>
        </p:spPr>
      </p:pic>
    </p:spTree>
    <p:extLst>
      <p:ext uri="{BB962C8B-B14F-4D97-AF65-F5344CB8AC3E}">
        <p14:creationId xmlns:p14="http://schemas.microsoft.com/office/powerpoint/2010/main" val="24469474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69338-87C8-E82E-2624-E0CCAAE75B2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A4C7ED0-0115-43C8-8149-B6FFD54450A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2/02/2026</a:t>
            </a:r>
          </a:p>
        </p:txBody>
      </p:sp>
      <p:sp>
        <p:nvSpPr>
          <p:cNvPr id="2" name="TextBox 1">
            <a:extLst>
              <a:ext uri="{FF2B5EF4-FFF2-40B4-BE49-F238E27FC236}">
                <a16:creationId xmlns:a16="http://schemas.microsoft.com/office/drawing/2014/main" id="{AFEBC780-BA62-793A-4C81-DCA14DD778CE}"/>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V.0.8.2</a:t>
            </a:r>
          </a:p>
        </p:txBody>
      </p:sp>
      <p:sp>
        <p:nvSpPr>
          <p:cNvPr id="3" name="TextBox 2">
            <a:extLst>
              <a:ext uri="{FF2B5EF4-FFF2-40B4-BE49-F238E27FC236}">
                <a16:creationId xmlns:a16="http://schemas.microsoft.com/office/drawing/2014/main" id="{A6A304AE-9C3F-5240-DD1D-BEC7360FB613}"/>
              </a:ext>
            </a:extLst>
          </p:cNvPr>
          <p:cNvSpPr txBox="1"/>
          <p:nvPr/>
        </p:nvSpPr>
        <p:spPr>
          <a:xfrm>
            <a:off x="0" y="121250"/>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All zones are fully designed and have duplicate variants for each AMCD.</a:t>
            </a:r>
          </a:p>
          <a:p>
            <a:endParaRPr lang="en-GB" sz="1200" dirty="0"/>
          </a:p>
          <a:p>
            <a:r>
              <a:rPr lang="en-GB" sz="1200" dirty="0"/>
              <a:t>The way this works is that the camera zones change their sprites based off whether an enemy is inside of them or not.</a:t>
            </a:r>
          </a:p>
          <a:p>
            <a:endParaRPr lang="en-GB" sz="1200" dirty="0"/>
          </a:p>
          <a:p>
            <a:r>
              <a:rPr lang="en-GB" sz="1200" dirty="0"/>
              <a:t>Here’s a flow chart of what I want the mechanic to do.</a:t>
            </a:r>
          </a:p>
          <a:p>
            <a:endParaRPr lang="en-GB" sz="1200" dirty="0"/>
          </a:p>
          <a:p>
            <a:pPr marL="228600" indent="-228600">
              <a:buAutoNum type="arabicPeriod"/>
            </a:pPr>
            <a:r>
              <a:rPr lang="en-GB" sz="1200" dirty="0"/>
              <a:t>Gwiber moves to Cam 1</a:t>
            </a:r>
          </a:p>
          <a:p>
            <a:pPr marL="228600" indent="-228600">
              <a:buAutoNum type="arabicPeriod"/>
            </a:pPr>
            <a:r>
              <a:rPr lang="en-GB" sz="1200" dirty="0" err="1"/>
              <a:t>Gwiberpos</a:t>
            </a:r>
            <a:r>
              <a:rPr lang="en-GB" sz="1200" dirty="0"/>
              <a:t> = 1</a:t>
            </a:r>
          </a:p>
          <a:p>
            <a:pPr marL="228600" indent="-228600">
              <a:buAutoNum type="arabicPeriod"/>
            </a:pPr>
            <a:r>
              <a:rPr lang="en-GB" sz="1200" dirty="0"/>
              <a:t>If </a:t>
            </a:r>
            <a:r>
              <a:rPr lang="en-GB" sz="1200" dirty="0" err="1"/>
              <a:t>gwiberpos</a:t>
            </a:r>
            <a:r>
              <a:rPr lang="en-GB" sz="1200" dirty="0"/>
              <a:t> = 1 (inside zone object)</a:t>
            </a:r>
          </a:p>
          <a:p>
            <a:pPr marL="228600" indent="-228600">
              <a:buAutoNum type="arabicPeriod"/>
            </a:pPr>
            <a:r>
              <a:rPr lang="en-GB" sz="1200" dirty="0"/>
              <a:t>Change obj_cam_zone_1 sprite to spr_zone_1_gwiber</a:t>
            </a:r>
          </a:p>
          <a:p>
            <a:pPr marL="228600" indent="-228600">
              <a:buAutoNum type="arabicPeriod"/>
            </a:pPr>
            <a:r>
              <a:rPr lang="en-GB" sz="1200" dirty="0"/>
              <a:t>If !</a:t>
            </a:r>
            <a:r>
              <a:rPr lang="en-GB" sz="1200" dirty="0" err="1"/>
              <a:t>gwiberpos</a:t>
            </a:r>
            <a:r>
              <a:rPr lang="en-GB" sz="1200" dirty="0"/>
              <a:t> = 1</a:t>
            </a:r>
          </a:p>
          <a:p>
            <a:pPr marL="228600" indent="-228600">
              <a:buAutoNum type="arabicPeriod"/>
            </a:pPr>
            <a:r>
              <a:rPr lang="en-GB" sz="1200" dirty="0"/>
              <a:t>Change obj_cam_zone_1 sprite to spr_zone_1</a:t>
            </a:r>
          </a:p>
          <a:p>
            <a:pPr marL="228600" indent="-228600">
              <a:buAutoNum type="arabicPeriod"/>
            </a:pPr>
            <a:endParaRPr lang="en-GB" sz="1200" dirty="0"/>
          </a:p>
          <a:p>
            <a:r>
              <a:rPr lang="en-GB" sz="1200" dirty="0"/>
              <a:t>That’s the flow of how this mechanic will work.</a:t>
            </a:r>
          </a:p>
          <a:p>
            <a:pPr marL="228600" indent="-228600">
              <a:buAutoNum type="arabicPeriod"/>
            </a:pPr>
            <a:endParaRPr lang="en-GB" sz="1200" dirty="0"/>
          </a:p>
        </p:txBody>
      </p:sp>
      <p:sp>
        <p:nvSpPr>
          <p:cNvPr id="12" name="TextBox 11">
            <a:extLst>
              <a:ext uri="{FF2B5EF4-FFF2-40B4-BE49-F238E27FC236}">
                <a16:creationId xmlns:a16="http://schemas.microsoft.com/office/drawing/2014/main" id="{AB36E85F-0529-201D-1AC6-2134890FE3A8}"/>
              </a:ext>
            </a:extLst>
          </p:cNvPr>
          <p:cNvSpPr txBox="1"/>
          <p:nvPr/>
        </p:nvSpPr>
        <p:spPr>
          <a:xfrm>
            <a:off x="8555487" y="722845"/>
            <a:ext cx="2073729" cy="6986528"/>
          </a:xfrm>
          <a:prstGeom prst="rect">
            <a:avLst/>
          </a:prstGeom>
          <a:noFill/>
        </p:spPr>
        <p:txBody>
          <a:bodyPr wrap="square" rtlCol="0">
            <a:spAutoFit/>
          </a:bodyPr>
          <a:lstStyle/>
          <a:p>
            <a:r>
              <a:rPr lang="en-GB" sz="1400" dirty="0"/>
              <a:t>What to Do next session</a:t>
            </a:r>
          </a:p>
          <a:p>
            <a:endParaRPr lang="en-GB" sz="1400" dirty="0"/>
          </a:p>
          <a:p>
            <a:r>
              <a:rPr lang="en-GB" sz="1400" dirty="0"/>
              <a:t>Draw enemies inside the same zone as their position to show they are in it.</a:t>
            </a:r>
          </a:p>
          <a:p>
            <a:endParaRPr lang="en-GB" sz="1400" dirty="0"/>
          </a:p>
          <a:p>
            <a:endParaRPr lang="en-GB" sz="1400" dirty="0"/>
          </a:p>
          <a:p>
            <a:r>
              <a:rPr lang="en-GB" sz="1400" dirty="0"/>
              <a:t>Fix Cam 7 on Level 3.</a:t>
            </a:r>
          </a:p>
          <a:p>
            <a:endParaRPr lang="en-GB" sz="1400" dirty="0"/>
          </a:p>
          <a:p>
            <a:r>
              <a:rPr lang="en-GB" sz="1400" dirty="0"/>
              <a:t>Finish adding place-holder sounds.</a:t>
            </a:r>
          </a:p>
          <a:p>
            <a:endParaRPr lang="en-GB" sz="1400" dirty="0"/>
          </a:p>
          <a:p>
            <a:r>
              <a:rPr lang="en-GB" sz="1400" dirty="0"/>
              <a:t>Adjust Enemy movement timers</a:t>
            </a:r>
          </a:p>
          <a:p>
            <a:endParaRPr lang="en-GB" sz="1400" dirty="0"/>
          </a:p>
          <a:p>
            <a:r>
              <a:rPr lang="en-GB" sz="1400" dirty="0"/>
              <a:t>Adjust level timer</a:t>
            </a:r>
          </a:p>
          <a:p>
            <a:endParaRPr lang="en-GB" sz="1400" dirty="0"/>
          </a:p>
          <a:p>
            <a:r>
              <a:rPr lang="en-GB" sz="1400" dirty="0"/>
              <a:t>Adjust oxygen depletion</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7" name="Picture 6" descr="A screen shot of a computer program&#10;&#10;AI-generated content may be incorrect.">
            <a:extLst>
              <a:ext uri="{FF2B5EF4-FFF2-40B4-BE49-F238E27FC236}">
                <a16:creationId xmlns:a16="http://schemas.microsoft.com/office/drawing/2014/main" id="{31911AB7-DD4B-BFA6-125D-ACA98465190B}"/>
              </a:ext>
            </a:extLst>
          </p:cNvPr>
          <p:cNvPicPr>
            <a:picLocks noChangeAspect="1"/>
          </p:cNvPicPr>
          <p:nvPr/>
        </p:nvPicPr>
        <p:blipFill>
          <a:blip r:embed="rId2"/>
          <a:stretch>
            <a:fillRect/>
          </a:stretch>
        </p:blipFill>
        <p:spPr>
          <a:xfrm>
            <a:off x="87547" y="3913990"/>
            <a:ext cx="3134162" cy="1495634"/>
          </a:xfrm>
          <a:prstGeom prst="rect">
            <a:avLst/>
          </a:prstGeom>
        </p:spPr>
      </p:pic>
      <p:sp>
        <p:nvSpPr>
          <p:cNvPr id="9" name="TextBox 8">
            <a:extLst>
              <a:ext uri="{FF2B5EF4-FFF2-40B4-BE49-F238E27FC236}">
                <a16:creationId xmlns:a16="http://schemas.microsoft.com/office/drawing/2014/main" id="{1CDF575A-4919-5A0B-064D-D3EA7E33611B}"/>
              </a:ext>
            </a:extLst>
          </p:cNvPr>
          <p:cNvSpPr txBox="1"/>
          <p:nvPr/>
        </p:nvSpPr>
        <p:spPr>
          <a:xfrm>
            <a:off x="-14969" y="3233336"/>
            <a:ext cx="3339193" cy="738664"/>
          </a:xfrm>
          <a:prstGeom prst="rect">
            <a:avLst/>
          </a:prstGeom>
          <a:noFill/>
        </p:spPr>
        <p:txBody>
          <a:bodyPr wrap="square" rtlCol="0">
            <a:spAutoFit/>
          </a:bodyPr>
          <a:lstStyle/>
          <a:p>
            <a:r>
              <a:rPr lang="en-GB" sz="1400" dirty="0"/>
              <a:t>This is all the code needed per position. This is done for all AMCD’s. The code is done inside of the object zones.</a:t>
            </a:r>
          </a:p>
        </p:txBody>
      </p:sp>
      <p:pic>
        <p:nvPicPr>
          <p:cNvPr id="11" name="Picture 10" descr="A screen shot of a computer program&#10;&#10;AI-generated content may be incorrect.">
            <a:extLst>
              <a:ext uri="{FF2B5EF4-FFF2-40B4-BE49-F238E27FC236}">
                <a16:creationId xmlns:a16="http://schemas.microsoft.com/office/drawing/2014/main" id="{4C83D34A-A7D7-DD06-E841-148D37809D23}"/>
              </a:ext>
            </a:extLst>
          </p:cNvPr>
          <p:cNvPicPr>
            <a:picLocks noChangeAspect="1"/>
          </p:cNvPicPr>
          <p:nvPr/>
        </p:nvPicPr>
        <p:blipFill>
          <a:blip r:embed="rId3"/>
          <a:stretch>
            <a:fillRect/>
          </a:stretch>
        </p:blipFill>
        <p:spPr>
          <a:xfrm>
            <a:off x="4164926" y="4517470"/>
            <a:ext cx="3143689" cy="1448002"/>
          </a:xfrm>
          <a:prstGeom prst="rect">
            <a:avLst/>
          </a:prstGeom>
        </p:spPr>
      </p:pic>
    </p:spTree>
    <p:extLst>
      <p:ext uri="{BB962C8B-B14F-4D97-AF65-F5344CB8AC3E}">
        <p14:creationId xmlns:p14="http://schemas.microsoft.com/office/powerpoint/2010/main" val="15771460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BAA7-7F44-F9F3-9424-C0010C550B1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C3134BE-59EF-5D80-3127-3B2BF32DE3E7}"/>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3/02/2026</a:t>
            </a:r>
          </a:p>
        </p:txBody>
      </p:sp>
      <p:sp>
        <p:nvSpPr>
          <p:cNvPr id="2" name="TextBox 1">
            <a:extLst>
              <a:ext uri="{FF2B5EF4-FFF2-40B4-BE49-F238E27FC236}">
                <a16:creationId xmlns:a16="http://schemas.microsoft.com/office/drawing/2014/main" id="{C2FED3F3-5484-58D8-A667-E41109861B87}"/>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V.0.8.2</a:t>
            </a:r>
          </a:p>
        </p:txBody>
      </p:sp>
      <p:sp>
        <p:nvSpPr>
          <p:cNvPr id="3" name="TextBox 2">
            <a:extLst>
              <a:ext uri="{FF2B5EF4-FFF2-40B4-BE49-F238E27FC236}">
                <a16:creationId xmlns:a16="http://schemas.microsoft.com/office/drawing/2014/main" id="{45552579-2D3F-D93B-FD25-557A695335B5}"/>
              </a:ext>
            </a:extLst>
          </p:cNvPr>
          <p:cNvSpPr txBox="1"/>
          <p:nvPr/>
        </p:nvSpPr>
        <p:spPr>
          <a:xfrm>
            <a:off x="0" y="121250"/>
            <a:ext cx="5576207" cy="249299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adjusted the enemies and all of the timers to giver critical failure more appropriate gameplay. I also fixed the Cam 7 problem and adjusted the oxygen depletion.</a:t>
            </a:r>
          </a:p>
          <a:p>
            <a:endParaRPr lang="en-GB" sz="1200" dirty="0"/>
          </a:p>
          <a:p>
            <a:r>
              <a:rPr lang="en-GB" sz="1200" dirty="0"/>
              <a:t>I also, added some more sounds into the game such as for cameras and enemy movement.</a:t>
            </a:r>
          </a:p>
          <a:p>
            <a:endParaRPr lang="en-GB" sz="1200" dirty="0"/>
          </a:p>
          <a:p>
            <a:r>
              <a:rPr lang="en-GB" sz="1200" dirty="0"/>
              <a:t>I also Started Drawing in the enemy versions of my now designed zones. In addition, I’ve made a new category of zones in which if 2 or more enemies are in the same zone then they’ll both appear.</a:t>
            </a:r>
          </a:p>
          <a:p>
            <a:endParaRPr lang="en-GB" sz="1200" dirty="0"/>
          </a:p>
          <a:p>
            <a:r>
              <a:rPr lang="en-GB" sz="1200" dirty="0"/>
              <a:t>I also made a small fix and that was to remove the oxygen flash sprite after death for it continued to persist throughout all rooms.</a:t>
            </a:r>
          </a:p>
        </p:txBody>
      </p:sp>
      <p:sp>
        <p:nvSpPr>
          <p:cNvPr id="12" name="TextBox 11">
            <a:extLst>
              <a:ext uri="{FF2B5EF4-FFF2-40B4-BE49-F238E27FC236}">
                <a16:creationId xmlns:a16="http://schemas.microsoft.com/office/drawing/2014/main" id="{CFEDDD55-0318-0FCA-A5C1-B75438787764}"/>
              </a:ext>
            </a:extLst>
          </p:cNvPr>
          <p:cNvSpPr txBox="1"/>
          <p:nvPr/>
        </p:nvSpPr>
        <p:spPr>
          <a:xfrm>
            <a:off x="8555487" y="722845"/>
            <a:ext cx="2073729" cy="5047536"/>
          </a:xfrm>
          <a:prstGeom prst="rect">
            <a:avLst/>
          </a:prstGeom>
          <a:noFill/>
        </p:spPr>
        <p:txBody>
          <a:bodyPr wrap="square" rtlCol="0">
            <a:spAutoFit/>
          </a:bodyPr>
          <a:lstStyle/>
          <a:p>
            <a:r>
              <a:rPr lang="en-GB" sz="1400" dirty="0"/>
              <a:t>What to Do next session</a:t>
            </a:r>
          </a:p>
          <a:p>
            <a:endParaRPr lang="en-GB" sz="1400" dirty="0"/>
          </a:p>
          <a:p>
            <a:r>
              <a:rPr lang="en-GB" sz="1400" dirty="0"/>
              <a:t>Continue with enemy sprite zones.</a:t>
            </a:r>
          </a:p>
          <a:p>
            <a:endParaRPr lang="en-GB" sz="1400" dirty="0"/>
          </a:p>
          <a:p>
            <a:r>
              <a:rPr lang="en-GB" sz="1400" dirty="0"/>
              <a:t>Adjust timers</a:t>
            </a:r>
          </a:p>
          <a:p>
            <a:endParaRPr lang="en-GB" sz="1400" dirty="0"/>
          </a:p>
          <a:p>
            <a:r>
              <a:rPr lang="en-GB" sz="1400" dirty="0"/>
              <a:t>Refine mechanics</a:t>
            </a:r>
          </a:p>
          <a:p>
            <a:endParaRPr lang="en-GB" sz="1400" dirty="0"/>
          </a:p>
          <a:p>
            <a:r>
              <a:rPr lang="en-GB" sz="1400" dirty="0"/>
              <a:t>Add remaining sounds.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 shot of a computer program&#10;&#10;AI-generated content may be incorrect.">
            <a:extLst>
              <a:ext uri="{FF2B5EF4-FFF2-40B4-BE49-F238E27FC236}">
                <a16:creationId xmlns:a16="http://schemas.microsoft.com/office/drawing/2014/main" id="{C12717CB-D8ED-885B-B386-78C6AAE29FCE}"/>
              </a:ext>
            </a:extLst>
          </p:cNvPr>
          <p:cNvPicPr>
            <a:picLocks noChangeAspect="1"/>
          </p:cNvPicPr>
          <p:nvPr/>
        </p:nvPicPr>
        <p:blipFill>
          <a:blip r:embed="rId2"/>
          <a:stretch>
            <a:fillRect/>
          </a:stretch>
        </p:blipFill>
        <p:spPr>
          <a:xfrm>
            <a:off x="422362" y="2914450"/>
            <a:ext cx="2524477" cy="2857899"/>
          </a:xfrm>
          <a:prstGeom prst="rect">
            <a:avLst/>
          </a:prstGeom>
        </p:spPr>
      </p:pic>
    </p:spTree>
    <p:extLst>
      <p:ext uri="{BB962C8B-B14F-4D97-AF65-F5344CB8AC3E}">
        <p14:creationId xmlns:p14="http://schemas.microsoft.com/office/powerpoint/2010/main" val="8935232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D3298-BB00-65B0-448E-7520EEF1DC4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2FB5E39-8B55-EA9A-B8F4-E78BBBF1B99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5/02/2026</a:t>
            </a:r>
          </a:p>
        </p:txBody>
      </p:sp>
      <p:sp>
        <p:nvSpPr>
          <p:cNvPr id="2" name="TextBox 1">
            <a:extLst>
              <a:ext uri="{FF2B5EF4-FFF2-40B4-BE49-F238E27FC236}">
                <a16:creationId xmlns:a16="http://schemas.microsoft.com/office/drawing/2014/main" id="{925C303A-F07E-A65A-E11E-195022AD4B23}"/>
              </a:ext>
            </a:extLst>
          </p:cNvPr>
          <p:cNvSpPr txBox="1"/>
          <p:nvPr/>
        </p:nvSpPr>
        <p:spPr>
          <a:xfrm>
            <a:off x="7894620" y="607618"/>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V.0.9</a:t>
            </a:r>
          </a:p>
        </p:txBody>
      </p:sp>
      <p:sp>
        <p:nvSpPr>
          <p:cNvPr id="3" name="TextBox 2">
            <a:extLst>
              <a:ext uri="{FF2B5EF4-FFF2-40B4-BE49-F238E27FC236}">
                <a16:creationId xmlns:a16="http://schemas.microsoft.com/office/drawing/2014/main" id="{6810E88E-1EEF-282F-4F0B-5E9C2F3EEC62}"/>
              </a:ext>
            </a:extLst>
          </p:cNvPr>
          <p:cNvSpPr txBox="1"/>
          <p:nvPr/>
        </p:nvSpPr>
        <p:spPr>
          <a:xfrm>
            <a:off x="0" y="121250"/>
            <a:ext cx="7829550"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I’ve made big changes and I apologies to moderators about not mentioning them separately since this happened across multiple days.</a:t>
            </a:r>
          </a:p>
          <a:p>
            <a:endParaRPr lang="en-GB" sz="1200" dirty="0"/>
          </a:p>
          <a:p>
            <a:r>
              <a:rPr lang="en-GB" sz="1200" dirty="0"/>
              <a:t>So, what did I do.</a:t>
            </a:r>
          </a:p>
          <a:p>
            <a:endParaRPr lang="en-GB" sz="1200" dirty="0"/>
          </a:p>
          <a:p>
            <a:r>
              <a:rPr lang="en-GB" sz="1200" dirty="0"/>
              <a:t>I finished searching for sounds and began implementing them into my Game. There is also directional audio for the left and right sides of the map.</a:t>
            </a:r>
          </a:p>
          <a:p>
            <a:endParaRPr lang="en-GB" sz="1200" dirty="0"/>
          </a:p>
          <a:p>
            <a:r>
              <a:rPr lang="en-GB" sz="1200" dirty="0"/>
              <a:t>Enemies now trigger left/right versions of footstep sounds that play whether an enemy is in Camera zone 2 or 7.</a:t>
            </a:r>
          </a:p>
          <a:p>
            <a:endParaRPr lang="en-GB" sz="1200" dirty="0"/>
          </a:p>
          <a:p>
            <a:r>
              <a:rPr lang="en-GB" sz="1200" dirty="0"/>
              <a:t>I have finished designing the enemy versions </a:t>
            </a:r>
            <a:r>
              <a:rPr lang="en-GB" sz="1200" b="1" dirty="0"/>
              <a:t>(Besides Arach for he doesn’t need one) </a:t>
            </a:r>
            <a:r>
              <a:rPr lang="en-GB" sz="1200" dirty="0"/>
              <a:t>of the Camera zone and the mechanic of the zones changing based on the </a:t>
            </a:r>
            <a:r>
              <a:rPr lang="en-GB" sz="1200" dirty="0" err="1"/>
              <a:t>enenmypos</a:t>
            </a:r>
            <a:r>
              <a:rPr lang="en-GB" sz="1200" dirty="0"/>
              <a:t>. However, my original code didn’t reset the sprites after the enemy leaves it, so I have had to experiment with different methods, one of these methods is having the enemies when they change zone and are in a particular zone, reset the previous one instead of  automatically doing it as soon as it leaves it.</a:t>
            </a:r>
          </a:p>
          <a:p>
            <a:r>
              <a:rPr lang="en-GB" sz="1200" dirty="0"/>
              <a:t>I finished Implementing all the code for the zone change.</a:t>
            </a:r>
          </a:p>
          <a:p>
            <a:endParaRPr lang="en-GB" sz="1200" dirty="0"/>
          </a:p>
          <a:p>
            <a:r>
              <a:rPr lang="en-GB" sz="1200" dirty="0"/>
              <a:t>I properly adjusted the enemies and room timers to be more appropriate.</a:t>
            </a:r>
          </a:p>
          <a:p>
            <a:endParaRPr lang="en-GB" sz="1200" dirty="0"/>
          </a:p>
          <a:p>
            <a:r>
              <a:rPr lang="en-GB" sz="1200" dirty="0"/>
              <a:t>I have also doubled the oxygens decreasing rate for I found that the player could survive the night by having all the doors closed.</a:t>
            </a:r>
          </a:p>
          <a:p>
            <a:endParaRPr lang="en-GB" sz="1200" dirty="0"/>
          </a:p>
          <a:p>
            <a:r>
              <a:rPr lang="en-GB" sz="1200" dirty="0"/>
              <a:t>I also added a debug tool that allows me infinite oxygen for me to check that the enemies are moving correctly and the zones change appropriately. O-on F-off. NOTE: This is for development purposes and will not be a feature.</a:t>
            </a:r>
          </a:p>
        </p:txBody>
      </p:sp>
      <p:sp>
        <p:nvSpPr>
          <p:cNvPr id="12" name="TextBox 11">
            <a:extLst>
              <a:ext uri="{FF2B5EF4-FFF2-40B4-BE49-F238E27FC236}">
                <a16:creationId xmlns:a16="http://schemas.microsoft.com/office/drawing/2014/main" id="{7F9D5535-CF98-86FB-053E-9485F86D9A2C}"/>
              </a:ext>
            </a:extLst>
          </p:cNvPr>
          <p:cNvSpPr txBox="1"/>
          <p:nvPr/>
        </p:nvSpPr>
        <p:spPr>
          <a:xfrm>
            <a:off x="8090807" y="2361528"/>
            <a:ext cx="2073729" cy="4185761"/>
          </a:xfrm>
          <a:prstGeom prst="rect">
            <a:avLst/>
          </a:prstGeom>
          <a:noFill/>
        </p:spPr>
        <p:txBody>
          <a:bodyPr wrap="square" rtlCol="0">
            <a:spAutoFit/>
          </a:bodyPr>
          <a:lstStyle/>
          <a:p>
            <a:r>
              <a:rPr lang="en-GB" sz="1400" dirty="0"/>
              <a:t>What to Do next session</a:t>
            </a:r>
          </a:p>
          <a:p>
            <a:endParaRPr lang="en-GB" sz="1400" dirty="0"/>
          </a:p>
          <a:p>
            <a:r>
              <a:rPr lang="en-GB" sz="1400" dirty="0"/>
              <a:t>Make zone change sprite controller.</a:t>
            </a:r>
          </a:p>
          <a:p>
            <a:endParaRPr lang="en-GB" sz="1400" dirty="0"/>
          </a:p>
          <a:p>
            <a:r>
              <a:rPr lang="en-GB" sz="1400" dirty="0"/>
              <a:t>Design Double Zones for enemies.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7" name="Picture 6" descr="A screenshot of a computer&#10;&#10;AI-generated content may be incorrect.">
            <a:extLst>
              <a:ext uri="{FF2B5EF4-FFF2-40B4-BE49-F238E27FC236}">
                <a16:creationId xmlns:a16="http://schemas.microsoft.com/office/drawing/2014/main" id="{EE31987A-FF7B-63FA-8884-5D41D9D5559C}"/>
              </a:ext>
            </a:extLst>
          </p:cNvPr>
          <p:cNvPicPr>
            <a:picLocks noChangeAspect="1"/>
          </p:cNvPicPr>
          <p:nvPr/>
        </p:nvPicPr>
        <p:blipFill>
          <a:blip r:embed="rId2"/>
          <a:stretch>
            <a:fillRect/>
          </a:stretch>
        </p:blipFill>
        <p:spPr>
          <a:xfrm>
            <a:off x="108702" y="4793379"/>
            <a:ext cx="11974596" cy="1943371"/>
          </a:xfrm>
          <a:prstGeom prst="rect">
            <a:avLst/>
          </a:prstGeom>
        </p:spPr>
      </p:pic>
      <p:pic>
        <p:nvPicPr>
          <p:cNvPr id="9" name="Picture 8" descr="A screen shot of a computer">
            <a:extLst>
              <a:ext uri="{FF2B5EF4-FFF2-40B4-BE49-F238E27FC236}">
                <a16:creationId xmlns:a16="http://schemas.microsoft.com/office/drawing/2014/main" id="{E8B401EE-600A-8E6E-DC76-F553F175CDE5}"/>
              </a:ext>
            </a:extLst>
          </p:cNvPr>
          <p:cNvPicPr>
            <a:picLocks noChangeAspect="1"/>
          </p:cNvPicPr>
          <p:nvPr/>
        </p:nvPicPr>
        <p:blipFill>
          <a:blip r:embed="rId3"/>
          <a:stretch>
            <a:fillRect/>
          </a:stretch>
        </p:blipFill>
        <p:spPr>
          <a:xfrm>
            <a:off x="8144955" y="1390256"/>
            <a:ext cx="2400635" cy="771633"/>
          </a:xfrm>
          <a:prstGeom prst="rect">
            <a:avLst/>
          </a:prstGeom>
        </p:spPr>
      </p:pic>
    </p:spTree>
    <p:extLst>
      <p:ext uri="{BB962C8B-B14F-4D97-AF65-F5344CB8AC3E}">
        <p14:creationId xmlns:p14="http://schemas.microsoft.com/office/powerpoint/2010/main" val="5139640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EDECF1-DA48-4B67-A7A6-DE398EF4ED1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29FFFD-FA54-2184-B750-40D60A7B7016}"/>
              </a:ext>
            </a:extLst>
          </p:cNvPr>
          <p:cNvSpPr txBox="1"/>
          <p:nvPr/>
        </p:nvSpPr>
        <p:spPr>
          <a:xfrm>
            <a:off x="5015350" y="107525"/>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9/02/2026</a:t>
            </a:r>
          </a:p>
        </p:txBody>
      </p:sp>
      <p:sp>
        <p:nvSpPr>
          <p:cNvPr id="2" name="TextBox 1">
            <a:extLst>
              <a:ext uri="{FF2B5EF4-FFF2-40B4-BE49-F238E27FC236}">
                <a16:creationId xmlns:a16="http://schemas.microsoft.com/office/drawing/2014/main" id="{E123AF8E-C573-278C-31F7-DEF436DA3087}"/>
              </a:ext>
            </a:extLst>
          </p:cNvPr>
          <p:cNvSpPr txBox="1"/>
          <p:nvPr/>
        </p:nvSpPr>
        <p:spPr>
          <a:xfrm>
            <a:off x="5015350" y="542303"/>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V.0.9.3</a:t>
            </a:r>
          </a:p>
        </p:txBody>
      </p:sp>
      <p:sp>
        <p:nvSpPr>
          <p:cNvPr id="3" name="TextBox 2">
            <a:extLst>
              <a:ext uri="{FF2B5EF4-FFF2-40B4-BE49-F238E27FC236}">
                <a16:creationId xmlns:a16="http://schemas.microsoft.com/office/drawing/2014/main" id="{B02B0936-5426-F729-E947-C7D9B8AEEA64}"/>
              </a:ext>
            </a:extLst>
          </p:cNvPr>
          <p:cNvSpPr txBox="1"/>
          <p:nvPr/>
        </p:nvSpPr>
        <p:spPr>
          <a:xfrm>
            <a:off x="0" y="121250"/>
            <a:ext cx="4906736" cy="674030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apologies for this gap in my development log and me not mentioning the two previous versions before V.0.9.3.</a:t>
            </a:r>
          </a:p>
          <a:p>
            <a:endParaRPr lang="en-GB" sz="1200" dirty="0"/>
          </a:p>
          <a:p>
            <a:r>
              <a:rPr lang="en-GB" sz="1200" dirty="0"/>
              <a:t>To catch things up V.0.9.1 to V.0.9.2 were my attempts in making the zone sprite change controller. Unfortunately, I failed in both versions to create a working version of the zone sprite change mechanic.</a:t>
            </a:r>
          </a:p>
          <a:p>
            <a:endParaRPr lang="en-GB" sz="1200" dirty="0"/>
          </a:p>
          <a:p>
            <a:r>
              <a:rPr lang="en-GB" sz="1200" dirty="0"/>
              <a:t>I started by giving each individual zone object code telling them to change their sprites based on if an enemy or enemies are in it. The zones changed sprites but didn’t return to normal and was separate from the enemies' movement.</a:t>
            </a:r>
          </a:p>
          <a:p>
            <a:endParaRPr lang="en-GB" sz="1200" dirty="0"/>
          </a:p>
          <a:p>
            <a:r>
              <a:rPr lang="en-GB" sz="1200" dirty="0"/>
              <a:t>In, V.0.9.2 I tried adding the zone sprite change into the enemy's movement code using </a:t>
            </a:r>
            <a:r>
              <a:rPr lang="en-GB" sz="1200" dirty="0" err="1"/>
              <a:t>object_set_sprite</a:t>
            </a:r>
            <a:r>
              <a:rPr lang="en-GB" sz="1200" dirty="0"/>
              <a:t>(). This also didn’t work same as V.0.9.1. The issue seemed to lie with the fact that the zones couldn’t revert to their original sprite.</a:t>
            </a:r>
          </a:p>
          <a:p>
            <a:endParaRPr lang="en-GB" sz="1200" dirty="0"/>
          </a:p>
          <a:p>
            <a:r>
              <a:rPr lang="en-GB" sz="1200" dirty="0"/>
              <a:t>V.0.9.3 is where I have a working change zone mechanic. A Friend of mine gave me guidance and explained to me that instead of using </a:t>
            </a:r>
            <a:r>
              <a:rPr lang="en-GB" sz="1200" dirty="0" err="1"/>
              <a:t>object_set_sprite</a:t>
            </a:r>
            <a:r>
              <a:rPr lang="en-GB" sz="1200" dirty="0"/>
              <a:t>, I instead make the alternate zone sprite versions into objects and use </a:t>
            </a:r>
            <a:r>
              <a:rPr lang="en-GB" sz="1200" dirty="0" err="1"/>
              <a:t>instance_layer</a:t>
            </a:r>
            <a:r>
              <a:rPr lang="en-GB" sz="1200" dirty="0"/>
              <a:t> to create the object zones and destroy them. </a:t>
            </a:r>
          </a:p>
          <a:p>
            <a:endParaRPr lang="en-GB" sz="1200" dirty="0"/>
          </a:p>
          <a:p>
            <a:r>
              <a:rPr lang="en-GB" sz="1200" dirty="0"/>
              <a:t>The way it works is quite simple. What the </a:t>
            </a:r>
            <a:r>
              <a:rPr lang="en-GB" sz="1200" dirty="0" err="1"/>
              <a:t>instance_layer</a:t>
            </a:r>
            <a:r>
              <a:rPr lang="en-GB" sz="1200" dirty="0"/>
              <a:t> does is guarantee that the zone object is removed and then replaced. This code was used inside of Level 1 </a:t>
            </a:r>
            <a:r>
              <a:rPr lang="en-GB" sz="1200" dirty="0" err="1"/>
              <a:t>Gwibers</a:t>
            </a:r>
            <a:r>
              <a:rPr lang="en-GB" sz="1200" dirty="0"/>
              <a:t> movement code. The code checks if </a:t>
            </a:r>
            <a:r>
              <a:rPr lang="en-GB" sz="1200" dirty="0" err="1"/>
              <a:t>Gwibers</a:t>
            </a:r>
            <a:r>
              <a:rPr lang="en-GB" sz="1200" dirty="0"/>
              <a:t> next zone, the one he’s moving to is or isn’t occupied by K9. This allows Gwiber to destroy the next zones instance layer and replace it with the correct one based on if K9 is or isn’t in it. This also works the other way around and if Gwiber moves to lets say 1 from 2, </a:t>
            </a:r>
            <a:r>
              <a:rPr lang="en-GB" sz="1200" dirty="0" err="1"/>
              <a:t>Giwber</a:t>
            </a:r>
            <a:r>
              <a:rPr lang="en-GB" sz="1200" dirty="0"/>
              <a:t> will check if K9 is or isn’t in Zone 2 and Replace Zones 2 object accordingly.</a:t>
            </a:r>
          </a:p>
          <a:p>
            <a:endParaRPr lang="en-GB" sz="1200" dirty="0"/>
          </a:p>
          <a:p>
            <a:r>
              <a:rPr lang="en-GB" sz="1200" dirty="0"/>
              <a:t>Note: Only Level 1 and Level 1 Gwiber have this code.</a:t>
            </a:r>
          </a:p>
          <a:p>
            <a:endParaRPr lang="en-GB" sz="1200" dirty="0"/>
          </a:p>
          <a:p>
            <a:r>
              <a:rPr lang="en-GB" sz="1200" dirty="0"/>
              <a:t>I also designed the Double Zones for when enemies are in the same zone together.</a:t>
            </a:r>
          </a:p>
        </p:txBody>
      </p:sp>
      <p:sp>
        <p:nvSpPr>
          <p:cNvPr id="12" name="TextBox 11">
            <a:extLst>
              <a:ext uri="{FF2B5EF4-FFF2-40B4-BE49-F238E27FC236}">
                <a16:creationId xmlns:a16="http://schemas.microsoft.com/office/drawing/2014/main" id="{83339772-E0CC-C0C2-7CD9-7328158EA734}"/>
              </a:ext>
            </a:extLst>
          </p:cNvPr>
          <p:cNvSpPr txBox="1"/>
          <p:nvPr/>
        </p:nvSpPr>
        <p:spPr>
          <a:xfrm>
            <a:off x="7537550" y="107525"/>
            <a:ext cx="4286175" cy="4401205"/>
          </a:xfrm>
          <a:prstGeom prst="rect">
            <a:avLst/>
          </a:prstGeom>
          <a:noFill/>
        </p:spPr>
        <p:txBody>
          <a:bodyPr wrap="square" rtlCol="0">
            <a:spAutoFit/>
          </a:bodyPr>
          <a:lstStyle/>
          <a:p>
            <a:r>
              <a:rPr lang="en-GB" sz="1400" dirty="0"/>
              <a:t>What to Do next session</a:t>
            </a:r>
          </a:p>
          <a:p>
            <a:endParaRPr lang="en-GB" sz="1400" dirty="0"/>
          </a:p>
          <a:p>
            <a:r>
              <a:rPr lang="en-GB" sz="1400" dirty="0"/>
              <a:t>Finish level 1 enemies zone change mechanic</a:t>
            </a:r>
          </a:p>
          <a:p>
            <a:endParaRPr lang="en-GB" sz="1400" dirty="0"/>
          </a:p>
          <a:p>
            <a:r>
              <a:rPr lang="en-GB" sz="1400" dirty="0"/>
              <a:t>Design jump-scares</a:t>
            </a:r>
          </a:p>
          <a:p>
            <a:endParaRPr lang="en-GB" sz="1400" dirty="0"/>
          </a:p>
          <a:p>
            <a:r>
              <a:rPr lang="en-GB" sz="1400" dirty="0"/>
              <a:t>Implement Jump-scares into the game.</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 shot of a computer program&#10;&#10;AI-generated content may be incorrect.">
            <a:extLst>
              <a:ext uri="{FF2B5EF4-FFF2-40B4-BE49-F238E27FC236}">
                <a16:creationId xmlns:a16="http://schemas.microsoft.com/office/drawing/2014/main" id="{45C09BB4-6063-9416-F5F4-473ED8B94638}"/>
              </a:ext>
            </a:extLst>
          </p:cNvPr>
          <p:cNvPicPr>
            <a:picLocks noChangeAspect="1"/>
          </p:cNvPicPr>
          <p:nvPr/>
        </p:nvPicPr>
        <p:blipFill>
          <a:blip r:embed="rId2"/>
          <a:stretch>
            <a:fillRect/>
          </a:stretch>
        </p:blipFill>
        <p:spPr>
          <a:xfrm>
            <a:off x="5316789" y="2113037"/>
            <a:ext cx="6096883" cy="4484159"/>
          </a:xfrm>
          <a:prstGeom prst="rect">
            <a:avLst/>
          </a:prstGeom>
        </p:spPr>
      </p:pic>
      <p:sp>
        <p:nvSpPr>
          <p:cNvPr id="8" name="TextBox 7">
            <a:extLst>
              <a:ext uri="{FF2B5EF4-FFF2-40B4-BE49-F238E27FC236}">
                <a16:creationId xmlns:a16="http://schemas.microsoft.com/office/drawing/2014/main" id="{88E7019B-9FB6-BEDE-7214-5C543DB0234D}"/>
              </a:ext>
            </a:extLst>
          </p:cNvPr>
          <p:cNvSpPr txBox="1"/>
          <p:nvPr/>
        </p:nvSpPr>
        <p:spPr>
          <a:xfrm>
            <a:off x="5015350" y="1028700"/>
            <a:ext cx="1875307" cy="830997"/>
          </a:xfrm>
          <a:prstGeom prst="rect">
            <a:avLst/>
          </a:prstGeom>
          <a:noFill/>
        </p:spPr>
        <p:txBody>
          <a:bodyPr wrap="square" rtlCol="0">
            <a:spAutoFit/>
          </a:bodyPr>
          <a:lstStyle/>
          <a:p>
            <a:r>
              <a:rPr lang="en-GB" sz="1200" dirty="0"/>
              <a:t>Last thing, I made a sound controller to make it easier to manage the sounds in the game.</a:t>
            </a:r>
          </a:p>
        </p:txBody>
      </p:sp>
    </p:spTree>
    <p:extLst>
      <p:ext uri="{BB962C8B-B14F-4D97-AF65-F5344CB8AC3E}">
        <p14:creationId xmlns:p14="http://schemas.microsoft.com/office/powerpoint/2010/main" val="329305649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952D63-0913-40A3-A082-16F5A498D5D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32472B1-828A-C8FC-269C-59E5229378E0}"/>
              </a:ext>
            </a:extLst>
          </p:cNvPr>
          <p:cNvSpPr txBox="1"/>
          <p:nvPr/>
        </p:nvSpPr>
        <p:spPr>
          <a:xfrm>
            <a:off x="5015350" y="107525"/>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10/02/2026</a:t>
            </a:r>
          </a:p>
        </p:txBody>
      </p:sp>
      <p:sp>
        <p:nvSpPr>
          <p:cNvPr id="2" name="TextBox 1">
            <a:extLst>
              <a:ext uri="{FF2B5EF4-FFF2-40B4-BE49-F238E27FC236}">
                <a16:creationId xmlns:a16="http://schemas.microsoft.com/office/drawing/2014/main" id="{34289866-E8F5-AD39-D6C7-2BD8012A7032}"/>
              </a:ext>
            </a:extLst>
          </p:cNvPr>
          <p:cNvSpPr txBox="1"/>
          <p:nvPr/>
        </p:nvSpPr>
        <p:spPr>
          <a:xfrm>
            <a:off x="5015350" y="542303"/>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V.0.9.3</a:t>
            </a:r>
          </a:p>
        </p:txBody>
      </p:sp>
      <p:sp>
        <p:nvSpPr>
          <p:cNvPr id="3" name="TextBox 2">
            <a:extLst>
              <a:ext uri="{FF2B5EF4-FFF2-40B4-BE49-F238E27FC236}">
                <a16:creationId xmlns:a16="http://schemas.microsoft.com/office/drawing/2014/main" id="{0C64B911-15FF-5BFC-4CB8-1A785568E084}"/>
              </a:ext>
            </a:extLst>
          </p:cNvPr>
          <p:cNvSpPr txBox="1"/>
          <p:nvPr/>
        </p:nvSpPr>
        <p:spPr>
          <a:xfrm>
            <a:off x="0" y="121250"/>
            <a:ext cx="4906736" cy="489364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implemented to Jump-scares to work similarly to how the enemies change zone.</a:t>
            </a:r>
          </a:p>
          <a:p>
            <a:endParaRPr lang="en-GB" sz="1200" dirty="0"/>
          </a:p>
          <a:p>
            <a:r>
              <a:rPr lang="en-GB" sz="1200" dirty="0"/>
              <a:t>How the jump-scares work is that when dead = true the death screen timer begins, counting down to when the player should change to the death screen room. During this time, the jump-scare happens. What the Jump-scare is, is just the enemies forcing the players camera view to go to the jump-scare zone in which the enemies can then change it into their jump-scare. Scaring the Player :).</a:t>
            </a:r>
          </a:p>
          <a:p>
            <a:endParaRPr lang="en-GB" sz="1200" dirty="0"/>
          </a:p>
          <a:p>
            <a:r>
              <a:rPr lang="en-GB" sz="1200" dirty="0"/>
              <a:t>This was done using a newly added zone that only the enemies can interact with. This will be the jump-scare zone. The enemies can change this zone as they please into the version related to the enemy that killed you.</a:t>
            </a:r>
          </a:p>
          <a:p>
            <a:endParaRPr lang="en-GB" sz="1200" dirty="0"/>
          </a:p>
          <a:p>
            <a:r>
              <a:rPr lang="en-GB" sz="1200" dirty="0"/>
              <a:t>I have run into a problem concerning the aftermath of player death. The door and vent controller is persistent meaning that even after dying the doors/vents that are closed, remain that way after death. The issue with the doors/vents is that their code isn’t as simple as making </a:t>
            </a:r>
            <a:r>
              <a:rPr lang="en-GB" sz="1200" dirty="0" err="1"/>
              <a:t>global.door_open</a:t>
            </a:r>
            <a:r>
              <a:rPr lang="en-GB" sz="1200" dirty="0"/>
              <a:t> = true. The doors and vents are synced with each other and require themselves to change sprite as well as know what state they are in for the oxygen count. I’m going to try and find a solution to this.</a:t>
            </a:r>
          </a:p>
          <a:p>
            <a:endParaRPr lang="en-GB" sz="1200" dirty="0"/>
          </a:p>
          <a:p>
            <a:r>
              <a:rPr lang="en-GB" sz="1200" dirty="0"/>
              <a:t>Zone change code didn’t work in the sense that the enemies did change the camera zones sprite but didn’t revert it back to normal.</a:t>
            </a:r>
          </a:p>
        </p:txBody>
      </p:sp>
      <p:sp>
        <p:nvSpPr>
          <p:cNvPr id="12" name="TextBox 11">
            <a:extLst>
              <a:ext uri="{FF2B5EF4-FFF2-40B4-BE49-F238E27FC236}">
                <a16:creationId xmlns:a16="http://schemas.microsoft.com/office/drawing/2014/main" id="{98A250EB-DC51-5D1D-5E2C-D7A3E200CF2F}"/>
              </a:ext>
            </a:extLst>
          </p:cNvPr>
          <p:cNvSpPr txBox="1"/>
          <p:nvPr/>
        </p:nvSpPr>
        <p:spPr>
          <a:xfrm>
            <a:off x="7537550" y="107525"/>
            <a:ext cx="4286175" cy="4185761"/>
          </a:xfrm>
          <a:prstGeom prst="rect">
            <a:avLst/>
          </a:prstGeom>
          <a:noFill/>
        </p:spPr>
        <p:txBody>
          <a:bodyPr wrap="square" rtlCol="0">
            <a:spAutoFit/>
          </a:bodyPr>
          <a:lstStyle/>
          <a:p>
            <a:r>
              <a:rPr lang="en-GB" sz="1400" dirty="0"/>
              <a:t>What to Do next session</a:t>
            </a:r>
          </a:p>
          <a:p>
            <a:endParaRPr lang="en-GB" sz="1400" dirty="0"/>
          </a:p>
          <a:p>
            <a:r>
              <a:rPr lang="en-GB" sz="1400" dirty="0"/>
              <a:t>Make Doors and Vents be in an open state after death.</a:t>
            </a:r>
          </a:p>
          <a:p>
            <a:endParaRPr lang="en-GB" sz="1400" dirty="0"/>
          </a:p>
          <a:p>
            <a:r>
              <a:rPr lang="en-GB" sz="1400" dirty="0"/>
              <a:t>Find a solution to the zone change</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141105763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04C35-6ED1-743F-B9F5-53D7F97EF80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E06680A-C841-E60D-9D87-A953C732C8A2}"/>
              </a:ext>
            </a:extLst>
          </p:cNvPr>
          <p:cNvSpPr txBox="1"/>
          <p:nvPr/>
        </p:nvSpPr>
        <p:spPr>
          <a:xfrm>
            <a:off x="5015350" y="107525"/>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12/02/2026</a:t>
            </a:r>
          </a:p>
        </p:txBody>
      </p:sp>
      <p:sp>
        <p:nvSpPr>
          <p:cNvPr id="2" name="TextBox 1">
            <a:extLst>
              <a:ext uri="{FF2B5EF4-FFF2-40B4-BE49-F238E27FC236}">
                <a16:creationId xmlns:a16="http://schemas.microsoft.com/office/drawing/2014/main" id="{35D3F74D-E071-E5CB-206F-9CAB5CD06E57}"/>
              </a:ext>
            </a:extLst>
          </p:cNvPr>
          <p:cNvSpPr txBox="1"/>
          <p:nvPr/>
        </p:nvSpPr>
        <p:spPr>
          <a:xfrm>
            <a:off x="5015350" y="542303"/>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V.0.10 and V.0.10.1</a:t>
            </a:r>
          </a:p>
        </p:txBody>
      </p:sp>
      <p:sp>
        <p:nvSpPr>
          <p:cNvPr id="3" name="TextBox 2">
            <a:extLst>
              <a:ext uri="{FF2B5EF4-FFF2-40B4-BE49-F238E27FC236}">
                <a16:creationId xmlns:a16="http://schemas.microsoft.com/office/drawing/2014/main" id="{CA48F9F1-982B-72B8-84E8-53C6CD510847}"/>
              </a:ext>
            </a:extLst>
          </p:cNvPr>
          <p:cNvSpPr txBox="1"/>
          <p:nvPr/>
        </p:nvSpPr>
        <p:spPr>
          <a:xfrm>
            <a:off x="0" y="121250"/>
            <a:ext cx="4906736"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found a solution to the zone change and made sure to test it constantly to ensure full functionality.</a:t>
            </a:r>
          </a:p>
          <a:p>
            <a:endParaRPr lang="en-GB" sz="1200" dirty="0"/>
          </a:p>
          <a:p>
            <a:r>
              <a:rPr lang="en-GB" sz="1200" dirty="0"/>
              <a:t>The Camera zones now do change based on whether an enemy is or isn’t in the zone.</a:t>
            </a:r>
          </a:p>
          <a:p>
            <a:endParaRPr lang="en-GB" sz="1200" dirty="0"/>
          </a:p>
          <a:p>
            <a:r>
              <a:rPr lang="en-GB" sz="1200" dirty="0"/>
              <a:t>This was done by changing and destroying the zones instances every time the enemy is about move.</a:t>
            </a:r>
          </a:p>
          <a:p>
            <a:endParaRPr lang="en-GB" sz="1200" dirty="0"/>
          </a:p>
          <a:p>
            <a:r>
              <a:rPr lang="en-GB" sz="1200" dirty="0"/>
              <a:t>Instead of changing the sprite I decided to change the object instead. This did come with some challenges, mainly because this code is extremely fragile. If I were to name 1 variable wrong, the entire code collapses. To ensure full functionality, I made sure to focus primarily on Level 1 Gwiber before adding the code to level 1 K9 and so on so forth.</a:t>
            </a:r>
          </a:p>
          <a:p>
            <a:endParaRPr lang="en-GB" sz="1200" dirty="0"/>
          </a:p>
          <a:p>
            <a:r>
              <a:rPr lang="en-GB" sz="1200" dirty="0"/>
              <a:t>I’ve added the zone change code into K9 by copying </a:t>
            </a:r>
            <a:r>
              <a:rPr lang="en-GB" sz="1200" dirty="0" err="1"/>
              <a:t>Gwibers</a:t>
            </a:r>
            <a:r>
              <a:rPr lang="en-GB" sz="1200" dirty="0"/>
              <a:t> version. However, I needed to be careful about using the correct naming.</a:t>
            </a:r>
          </a:p>
          <a:p>
            <a:endParaRPr lang="en-GB" sz="1200" dirty="0"/>
          </a:p>
          <a:p>
            <a:r>
              <a:rPr lang="en-GB" sz="1200" dirty="0"/>
              <a:t>Level 1 is now fully playable, and I also made it so that you automatically move onto the next night after finishing the current one. </a:t>
            </a:r>
          </a:p>
          <a:p>
            <a:r>
              <a:rPr lang="en-GB" sz="1200" dirty="0"/>
              <a:t>Level 2 is </a:t>
            </a:r>
            <a:r>
              <a:rPr lang="en-GB" sz="1200"/>
              <a:t>also complete.</a:t>
            </a:r>
            <a:endParaRPr lang="en-GB" sz="1200" dirty="0"/>
          </a:p>
          <a:p>
            <a:endParaRPr lang="en-GB" sz="1200" dirty="0"/>
          </a:p>
          <a:p>
            <a:r>
              <a:rPr lang="en-GB" sz="1200" dirty="0"/>
              <a:t>Also, vent/door open state after death was a very easy fix and it was just the fact that my controller was persistent and only existed in 1 room. After, turning persistent off and placing 1 in each level the vents/doors return to normal since room restarts itself after the player leaves it.</a:t>
            </a:r>
          </a:p>
          <a:p>
            <a:endParaRPr lang="en-GB" sz="1200" dirty="0"/>
          </a:p>
          <a:p>
            <a:r>
              <a:rPr lang="en-GB" sz="1200" dirty="0"/>
              <a:t>I want to mention the steps for the zone change. Step 1, the enemy checks what zone they are leaving, then step to they check what zone they are moving to. This is the core of the code and one I must follow if I wish to have my enemies change zones correctly.</a:t>
            </a:r>
          </a:p>
          <a:p>
            <a:endParaRPr lang="en-GB" sz="1200" dirty="0"/>
          </a:p>
          <a:p>
            <a:r>
              <a:rPr lang="en-GB" sz="1200" dirty="0"/>
              <a:t>I also gave the enemies a room start event that changes their zone as soon as the room begins, this just makes them visible before they move.</a:t>
            </a:r>
          </a:p>
          <a:p>
            <a:endParaRPr lang="en-GB" sz="1200" dirty="0"/>
          </a:p>
          <a:p>
            <a:endParaRPr lang="en-GB" sz="1200" dirty="0"/>
          </a:p>
          <a:p>
            <a:endParaRPr lang="en-GB" sz="1200" dirty="0"/>
          </a:p>
        </p:txBody>
      </p:sp>
      <p:sp>
        <p:nvSpPr>
          <p:cNvPr id="12" name="TextBox 11">
            <a:extLst>
              <a:ext uri="{FF2B5EF4-FFF2-40B4-BE49-F238E27FC236}">
                <a16:creationId xmlns:a16="http://schemas.microsoft.com/office/drawing/2014/main" id="{BA6CF913-F102-27E5-5822-7BF46B018CD8}"/>
              </a:ext>
            </a:extLst>
          </p:cNvPr>
          <p:cNvSpPr txBox="1"/>
          <p:nvPr/>
        </p:nvSpPr>
        <p:spPr>
          <a:xfrm>
            <a:off x="7537550" y="107525"/>
            <a:ext cx="4286175" cy="3323987"/>
          </a:xfrm>
          <a:prstGeom prst="rect">
            <a:avLst/>
          </a:prstGeom>
          <a:noFill/>
        </p:spPr>
        <p:txBody>
          <a:bodyPr wrap="square" rtlCol="0">
            <a:spAutoFit/>
          </a:bodyPr>
          <a:lstStyle/>
          <a:p>
            <a:r>
              <a:rPr lang="en-GB" sz="1400" dirty="0"/>
              <a:t>What to Do next session</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computer screen shot of a program code&#10;&#10;AI-generated content may be incorrect.">
            <a:extLst>
              <a:ext uri="{FF2B5EF4-FFF2-40B4-BE49-F238E27FC236}">
                <a16:creationId xmlns:a16="http://schemas.microsoft.com/office/drawing/2014/main" id="{23742B60-2768-1334-B776-CE154C91B9CE}"/>
              </a:ext>
            </a:extLst>
          </p:cNvPr>
          <p:cNvPicPr>
            <a:picLocks noChangeAspect="1"/>
          </p:cNvPicPr>
          <p:nvPr/>
        </p:nvPicPr>
        <p:blipFill>
          <a:blip r:embed="rId2"/>
          <a:stretch>
            <a:fillRect/>
          </a:stretch>
        </p:blipFill>
        <p:spPr>
          <a:xfrm>
            <a:off x="5015350" y="1124614"/>
            <a:ext cx="5946316" cy="3560357"/>
          </a:xfrm>
          <a:prstGeom prst="rect">
            <a:avLst/>
          </a:prstGeom>
        </p:spPr>
      </p:pic>
      <p:sp>
        <p:nvSpPr>
          <p:cNvPr id="5" name="TextBox 4">
            <a:extLst>
              <a:ext uri="{FF2B5EF4-FFF2-40B4-BE49-F238E27FC236}">
                <a16:creationId xmlns:a16="http://schemas.microsoft.com/office/drawing/2014/main" id="{60B7E554-3F43-3C5E-48CF-D28EF2E9287E}"/>
              </a:ext>
            </a:extLst>
          </p:cNvPr>
          <p:cNvSpPr txBox="1"/>
          <p:nvPr/>
        </p:nvSpPr>
        <p:spPr>
          <a:xfrm>
            <a:off x="5110843" y="4972050"/>
            <a:ext cx="6490607" cy="1477328"/>
          </a:xfrm>
          <a:prstGeom prst="rect">
            <a:avLst/>
          </a:prstGeom>
          <a:noFill/>
        </p:spPr>
        <p:txBody>
          <a:bodyPr wrap="square" rtlCol="0">
            <a:spAutoFit/>
          </a:bodyPr>
          <a:lstStyle/>
          <a:p>
            <a:r>
              <a:rPr lang="en-GB" dirty="0"/>
              <a:t>Also want to mention that the rest of the place-holder sounds have been added, but some do not have code to trigger them yet, I will do this once V.1.0 is made to ensure everything is completed, also the rest of the double zones have been designed except for the triple zones. </a:t>
            </a:r>
          </a:p>
        </p:txBody>
      </p:sp>
    </p:spTree>
    <p:extLst>
      <p:ext uri="{BB962C8B-B14F-4D97-AF65-F5344CB8AC3E}">
        <p14:creationId xmlns:p14="http://schemas.microsoft.com/office/powerpoint/2010/main" val="275779086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791948444"/>
              </p:ext>
            </p:extLst>
          </p:nvPr>
        </p:nvGraphicFramePr>
        <p:xfrm>
          <a:off x="0" y="0"/>
          <a:ext cx="11988463" cy="56699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r>
                        <a:rPr lang="en-GB" sz="1100" dirty="0"/>
                        <a:t>Solution was to create a alarm timers and have </a:t>
                      </a:r>
                      <a:r>
                        <a:rPr lang="en-GB" sz="1100" dirty="0" err="1"/>
                        <a:t>Gwibers</a:t>
                      </a:r>
                      <a:r>
                        <a:rPr lang="en-GB" sz="1100" dirty="0"/>
                        <a:t> movement from Zone 0 not be related to his forward and !forward code. So, now he is working as intended, jump-scaring only when the door is open and if he’s in zone zero, if he’s in zone 0 and door is closed then alarm 3 will trigger for 500 frames then have him move back to zone 2. If door is open trigger alarm 1 after 500 frames, then jump-scare unless door is closed during that time.</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15A23-1C0E-B1BD-8CC0-A89FDF2E39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733012D-0A5E-4B70-6048-0094AF001901}"/>
              </a:ext>
            </a:extLst>
          </p:cNvPr>
          <p:cNvGraphicFramePr>
            <a:graphicFrameLocks noGrp="1"/>
          </p:cNvGraphicFramePr>
          <p:nvPr>
            <p:extLst>
              <p:ext uri="{D42A27DB-BD31-4B8C-83A1-F6EECF244321}">
                <p14:modId xmlns:p14="http://schemas.microsoft.com/office/powerpoint/2010/main" val="576041408"/>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7. Build V.0.6.2</a:t>
                      </a:r>
                    </a:p>
                  </a:txBody>
                  <a:tcPr/>
                </a:tc>
                <a:tc>
                  <a:txBody>
                    <a:bodyPr/>
                    <a:lstStyle/>
                    <a:p>
                      <a:r>
                        <a:rPr lang="en-GB" sz="1100" dirty="0" err="1"/>
                        <a:t>Rm_office</a:t>
                      </a:r>
                      <a:endParaRPr lang="en-GB" sz="1100" dirty="0"/>
                    </a:p>
                  </a:txBody>
                  <a:tcPr/>
                </a:tc>
                <a:tc>
                  <a:txBody>
                    <a:bodyPr/>
                    <a:lstStyle/>
                    <a:p>
                      <a:r>
                        <a:rPr lang="en-GB" sz="1100" dirty="0" err="1"/>
                        <a:t>Obj_enemy_gwiber</a:t>
                      </a:r>
                      <a:endParaRPr lang="en-GB" sz="1100" dirty="0"/>
                    </a:p>
                  </a:txBody>
                  <a:tcPr/>
                </a:tc>
                <a:tc>
                  <a:txBody>
                    <a:bodyPr/>
                    <a:lstStyle/>
                    <a:p>
                      <a:r>
                        <a:rPr lang="en-GB" sz="1100" dirty="0"/>
                        <a:t>When Gwiber enters zone 0, if the left door state is open, he triggers alarm 1 which has a count down of 500 frames then jump-scare sound plays and a jump-scare sprite appears (No death Screens Made Yet). If door is not in an open state trigger alarm 3 which runs for 300 frames before executing its code for Gwiber to move back to zone 2.</a:t>
                      </a:r>
                    </a:p>
                  </a:txBody>
                  <a:tcPr/>
                </a:tc>
                <a:tc>
                  <a:txBody>
                    <a:bodyPr/>
                    <a:lstStyle/>
                    <a:p>
                      <a:r>
                        <a:rPr lang="en-GB" sz="1100" dirty="0"/>
                        <a:t>At start of Game Gwiber immediately moves to zone 3 from 4 and all timers are frozen.</a:t>
                      </a:r>
                    </a:p>
                    <a:p>
                      <a:endParaRPr lang="en-GB" sz="1100" dirty="0"/>
                    </a:p>
                    <a:p>
                      <a:r>
                        <a:rPr lang="en-GB" sz="1100" dirty="0"/>
                        <a:t>This is not meant to happen, and it appears that the new zone 0 code may have disrupted the rest of </a:t>
                      </a:r>
                      <a:r>
                        <a:rPr lang="en-GB" sz="1100" dirty="0" err="1"/>
                        <a:t>Gwibers</a:t>
                      </a:r>
                      <a:r>
                        <a:rPr lang="en-GB" sz="1100" dirty="0"/>
                        <a:t> movement code.</a:t>
                      </a:r>
                    </a:p>
                  </a:txBody>
                  <a:tcPr/>
                </a:tc>
                <a:tc>
                  <a:txBody>
                    <a:bodyPr/>
                    <a:lstStyle/>
                    <a:p>
                      <a:r>
                        <a:rPr lang="en-GB" sz="1100" dirty="0"/>
                        <a:t>Fixes will be made in the next session for Build V.0.6.3</a:t>
                      </a:r>
                    </a:p>
                  </a:txBody>
                  <a:tcPr/>
                </a:tc>
                <a:extLst>
                  <a:ext uri="{0D108BD9-81ED-4DB2-BD59-A6C34878D82A}">
                    <a16:rowId xmlns:a16="http://schemas.microsoft.com/office/drawing/2014/main" val="4028166049"/>
                  </a:ext>
                </a:extLst>
              </a:tr>
              <a:tr h="595728">
                <a:tc>
                  <a:txBody>
                    <a:bodyPr/>
                    <a:lstStyle/>
                    <a:p>
                      <a:r>
                        <a:rPr lang="en-GB" sz="1100" dirty="0"/>
                        <a:t>8. Build V.0.6.3</a:t>
                      </a:r>
                    </a:p>
                    <a:p>
                      <a:endParaRPr lang="en-GB" sz="1100" dirty="0"/>
                    </a:p>
                    <a:p>
                      <a:r>
                        <a:rPr lang="en-GB" sz="1100" dirty="0"/>
                        <a:t>The Updated repaired code for enemy movement.</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and K9</a:t>
                      </a:r>
                    </a:p>
                  </a:txBody>
                  <a:tcPr/>
                </a:tc>
                <a:tc>
                  <a:txBody>
                    <a:bodyPr/>
                    <a:lstStyle/>
                    <a:p>
                      <a:r>
                        <a:rPr lang="en-GB" sz="1100" dirty="0"/>
                        <a:t>When game starts Gwiber starts in zone 4 and makes his way to the office. If the office doors are closed Gwiber can’t enter zone 0. If Gwiber is in zone 0 but the door is now closed, he will retreat to zone 2.</a:t>
                      </a:r>
                    </a:p>
                    <a:p>
                      <a:endParaRPr lang="en-GB" sz="1100" dirty="0"/>
                    </a:p>
                    <a:p>
                      <a:r>
                        <a:rPr lang="en-GB" sz="1100" dirty="0"/>
                        <a:t>K9 starts in zone 5 where he decides whether to go left to CAM1 or right to CAM8. K9 only goes forwards, but when he’s at zone 2 (left door) or zone 7 (right door) if the doors are closed, he’ll go back to zone 5 then he will repeat this cycle.</a:t>
                      </a:r>
                    </a:p>
                  </a:txBody>
                  <a:tcPr/>
                </a:tc>
                <a:tc>
                  <a:txBody>
                    <a:bodyPr/>
                    <a:lstStyle/>
                    <a:p>
                      <a:r>
                        <a:rPr lang="en-GB" sz="1100" dirty="0"/>
                        <a:t>Gwiber does exactly what he’s supposed to do and so does K9.</a:t>
                      </a:r>
                    </a:p>
                    <a:p>
                      <a:endParaRPr lang="en-GB" sz="1100" dirty="0"/>
                    </a:p>
                    <a:p>
                      <a:r>
                        <a:rPr lang="en-GB" sz="1100" dirty="0"/>
                        <a:t>There are still no end game screen at this point so soon after jump-scaring from either K9 or Gwiber their movement freezes and they remain stationary.</a:t>
                      </a:r>
                    </a:p>
                  </a:txBody>
                  <a:tcPr/>
                </a:tc>
                <a:tc>
                  <a:txBody>
                    <a:bodyPr/>
                    <a:lstStyle/>
                    <a:p>
                      <a:r>
                        <a:rPr lang="en-GB" sz="1100" dirty="0"/>
                        <a:t>I have added a death-screen room and started creating the buttons for the menu and death-screen.</a:t>
                      </a:r>
                    </a:p>
                    <a:p>
                      <a:endParaRPr lang="en-GB" sz="1100" dirty="0"/>
                    </a:p>
                    <a:p>
                      <a:r>
                        <a:rPr lang="en-GB" sz="1100" dirty="0"/>
                        <a:t>The Jump-scare not appearing was fixed</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215163181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487480933"/>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9. Build V.0.6.4</a:t>
                      </a:r>
                    </a:p>
                  </a:txBody>
                  <a:tcPr/>
                </a:tc>
                <a:tc>
                  <a:txBody>
                    <a:bodyPr/>
                    <a:lstStyle/>
                    <a:p>
                      <a:r>
                        <a:rPr lang="en-GB" sz="1100" dirty="0" err="1"/>
                        <a:t>Rm_office</a:t>
                      </a:r>
                      <a:endParaRPr lang="en-GB" sz="1100" dirty="0"/>
                    </a:p>
                  </a:txBody>
                  <a:tcPr/>
                </a:tc>
                <a:tc>
                  <a:txBody>
                    <a:bodyPr/>
                    <a:lstStyle/>
                    <a:p>
                      <a:r>
                        <a:rPr lang="en-GB" sz="1100" dirty="0" err="1"/>
                        <a:t>Obj_camera_controller</a:t>
                      </a:r>
                      <a:r>
                        <a:rPr lang="en-GB" sz="1100" dirty="0"/>
                        <a:t> and </a:t>
                      </a:r>
                      <a:r>
                        <a:rPr lang="en-GB" sz="1100" dirty="0" err="1"/>
                        <a:t>obj_game_state</a:t>
                      </a:r>
                      <a:r>
                        <a:rPr lang="en-GB" sz="1100" dirty="0"/>
                        <a:t>.</a:t>
                      </a:r>
                    </a:p>
                  </a:txBody>
                  <a:tcPr/>
                </a:tc>
                <a:tc>
                  <a:txBody>
                    <a:bodyPr/>
                    <a:lstStyle/>
                    <a:p>
                      <a:r>
                        <a:rPr lang="en-GB" sz="1100" dirty="0"/>
                        <a:t>When game starts, the game should be set to full screen and with the zones still being 400x225. Also, the smooth transition code has been removed due to that feature not being needed for the cameras.</a:t>
                      </a:r>
                    </a:p>
                  </a:txBody>
                  <a:tcPr/>
                </a:tc>
                <a:tc>
                  <a:txBody>
                    <a:bodyPr/>
                    <a:lstStyle/>
                    <a:p>
                      <a:r>
                        <a:rPr lang="en-GB" sz="1100" dirty="0"/>
                        <a:t>The game doesn’t start in full screen correctly and the screen is blurry.</a:t>
                      </a:r>
                    </a:p>
                    <a:p>
                      <a:endParaRPr lang="en-GB" sz="1100" dirty="0"/>
                    </a:p>
                    <a:p>
                      <a:r>
                        <a:rPr lang="en-GB" sz="1100" dirty="0"/>
                        <a:t>The removal of the smooth code caused the rest of the camera’s code to break. This is because when I first made the code, I considered transitions and made a place-holder one, but accidently made the place-holder also the essential part in creating variables for the camera code</a:t>
                      </a:r>
                    </a:p>
                  </a:txBody>
                  <a:tcPr/>
                </a:tc>
                <a:tc>
                  <a:txBody>
                    <a:bodyPr/>
                    <a:lstStyle/>
                    <a:p>
                      <a:r>
                        <a:rPr lang="en-GB" sz="1100" dirty="0"/>
                        <a:t>I couldn’t fix the camera problem so, everything will return back to its </a:t>
                      </a:r>
                      <a:r>
                        <a:rPr lang="en-GB" sz="1100"/>
                        <a:t>normal size for now.</a:t>
                      </a:r>
                      <a:endParaRPr lang="en-GB" sz="1100" dirty="0"/>
                    </a:p>
                  </a:txBody>
                  <a:tcPr/>
                </a:tc>
                <a:extLst>
                  <a:ext uri="{0D108BD9-81ED-4DB2-BD59-A6C34878D82A}">
                    <a16:rowId xmlns:a16="http://schemas.microsoft.com/office/drawing/2014/main" val="4028166049"/>
                  </a:ext>
                </a:extLst>
              </a:tr>
              <a:tr h="595728">
                <a:tc>
                  <a:txBody>
                    <a:bodyPr/>
                    <a:lstStyle/>
                    <a:p>
                      <a:r>
                        <a:rPr lang="en-GB" sz="1100" dirty="0"/>
                        <a:t>10. Build V.0.6.4.5</a:t>
                      </a:r>
                    </a:p>
                  </a:txBody>
                  <a:tcPr/>
                </a:tc>
                <a:tc>
                  <a:txBody>
                    <a:bodyPr/>
                    <a:lstStyle/>
                    <a:p>
                      <a:r>
                        <a:rPr lang="en-GB" sz="1100" dirty="0"/>
                        <a:t>(new)  </a:t>
                      </a:r>
                      <a:r>
                        <a:rPr lang="en-GB" sz="1100" dirty="0" err="1"/>
                        <a:t>rm_office</a:t>
                      </a:r>
                      <a:endParaRPr lang="en-GB" sz="1100" dirty="0"/>
                    </a:p>
                  </a:txBody>
                  <a:tcPr/>
                </a:tc>
                <a:tc>
                  <a:txBody>
                    <a:bodyPr/>
                    <a:lstStyle/>
                    <a:p>
                      <a:r>
                        <a:rPr lang="en-GB" sz="1100" dirty="0"/>
                        <a:t>All Objects</a:t>
                      </a:r>
                    </a:p>
                  </a:txBody>
                  <a:tcPr/>
                </a:tc>
                <a:tc>
                  <a:txBody>
                    <a:bodyPr/>
                    <a:lstStyle/>
                    <a:p>
                      <a:r>
                        <a:rPr lang="en-GB" sz="1100" dirty="0"/>
                        <a:t>Game now in a room size of 2000x2000 and all objects correctly sized, the game should boot quicker than before and the camera code with the new positions of the zones should function normally. I adjusted the speed of smooth amount to be faster due to the fact that it was a placeholder and I have no need for it but removing it breaks the camera so the plan is just to make it so fast that it’s not noticeable. Gwiber and K9 are the only enemies in the level for this is level 1.</a:t>
                      </a:r>
                    </a:p>
                  </a:txBody>
                  <a:tcPr/>
                </a:tc>
                <a:tc>
                  <a:txBody>
                    <a:bodyPr/>
                    <a:lstStyle/>
                    <a:p>
                      <a:r>
                        <a:rPr lang="en-GB" sz="1100" dirty="0"/>
                        <a:t>The Game runs normally, however, the screen is not full, so I need to enable the game to be full screen.</a:t>
                      </a:r>
                    </a:p>
                    <a:p>
                      <a:endParaRPr lang="en-GB" sz="1100" dirty="0"/>
                    </a:p>
                    <a:p>
                      <a:r>
                        <a:rPr lang="en-GB" sz="1100" dirty="0"/>
                        <a:t>All objects works just like they normally would and in addition, the game starts faster than before making my game more optimized now.</a:t>
                      </a:r>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307756877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1402193734"/>
              </p:ext>
            </p:extLst>
          </p:nvPr>
        </p:nvGraphicFramePr>
        <p:xfrm>
          <a:off x="0" y="0"/>
          <a:ext cx="11988463" cy="63557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11. Build V.0.6.5</a:t>
                      </a:r>
                    </a:p>
                  </a:txBody>
                  <a:tcPr/>
                </a:tc>
                <a:tc>
                  <a:txBody>
                    <a:bodyPr/>
                    <a:lstStyle/>
                    <a:p>
                      <a:r>
                        <a:rPr lang="en-GB" sz="1100" dirty="0" err="1"/>
                        <a:t>Rm_office</a:t>
                      </a:r>
                      <a:endParaRPr lang="en-GB" sz="1100" dirty="0"/>
                    </a:p>
                  </a:txBody>
                  <a:tcPr/>
                </a:tc>
                <a:tc>
                  <a:txBody>
                    <a:bodyPr/>
                    <a:lstStyle/>
                    <a:p>
                      <a:r>
                        <a:rPr lang="en-GB" sz="1100" dirty="0" err="1"/>
                        <a:t>Obj_camera_controller</a:t>
                      </a:r>
                      <a:endParaRPr lang="en-GB" sz="1100" dirty="0"/>
                    </a:p>
                  </a:txBody>
                  <a:tcPr/>
                </a:tc>
                <a:tc>
                  <a:txBody>
                    <a:bodyPr/>
                    <a:lstStyle/>
                    <a:p>
                      <a:r>
                        <a:rPr lang="en-GB" sz="1100" dirty="0"/>
                        <a:t>When the game starts, the view should only be for the main office at the correct size.</a:t>
                      </a:r>
                    </a:p>
                  </a:txBody>
                  <a:tcPr/>
                </a:tc>
                <a:tc>
                  <a:txBody>
                    <a:bodyPr/>
                    <a:lstStyle/>
                    <a:p>
                      <a:r>
                        <a:rPr lang="en-GB" sz="1100" dirty="0"/>
                        <a:t>The view was set, however the view is stretched vertically and no matter that the dimensions are it continues to stretch.</a:t>
                      </a:r>
                    </a:p>
                  </a:txBody>
                  <a:tcPr/>
                </a:tc>
                <a:tc>
                  <a:txBody>
                    <a:bodyPr/>
                    <a:lstStyle/>
                    <a:p>
                      <a:endParaRPr lang="en-GB" sz="1100" dirty="0"/>
                    </a:p>
                  </a:txBody>
                  <a:tcPr/>
                </a:tc>
                <a:extLst>
                  <a:ext uri="{0D108BD9-81ED-4DB2-BD59-A6C34878D82A}">
                    <a16:rowId xmlns:a16="http://schemas.microsoft.com/office/drawing/2014/main" val="4028166049"/>
                  </a:ext>
                </a:extLst>
              </a:tr>
              <a:tr h="595728">
                <a:tc>
                  <a:txBody>
                    <a:bodyPr/>
                    <a:lstStyle/>
                    <a:p>
                      <a:r>
                        <a:rPr lang="en-GB" sz="1100" dirty="0"/>
                        <a:t>12. Build V.0.6.5</a:t>
                      </a:r>
                    </a:p>
                  </a:txBody>
                  <a:tcPr/>
                </a:tc>
                <a:tc>
                  <a:txBody>
                    <a:bodyPr/>
                    <a:lstStyle/>
                    <a:p>
                      <a:r>
                        <a:rPr lang="en-GB" sz="1100" dirty="0"/>
                        <a:t>Rm_level1</a:t>
                      </a:r>
                    </a:p>
                  </a:txBody>
                  <a:tcPr/>
                </a:tc>
                <a:tc>
                  <a:txBody>
                    <a:bodyPr/>
                    <a:lstStyle/>
                    <a:p>
                      <a:r>
                        <a:rPr lang="en-GB" sz="1100" dirty="0" err="1"/>
                        <a:t>Obj_camera_controller</a:t>
                      </a:r>
                      <a:r>
                        <a:rPr lang="en-GB" sz="1100" dirty="0"/>
                        <a:t> and door controller</a:t>
                      </a:r>
                    </a:p>
                  </a:txBody>
                  <a:tcPr/>
                </a:tc>
                <a:tc>
                  <a:txBody>
                    <a:bodyPr/>
                    <a:lstStyle/>
                    <a:p>
                      <a:r>
                        <a:rPr lang="en-GB" sz="1100" dirty="0"/>
                        <a:t>When I close either the left or right door a sound will play signifying the fact the door has been closed.</a:t>
                      </a:r>
                    </a:p>
                  </a:txBody>
                  <a:tcPr/>
                </a:tc>
                <a:tc>
                  <a:txBody>
                    <a:bodyPr/>
                    <a:lstStyle/>
                    <a:p>
                      <a:r>
                        <a:rPr lang="en-GB" sz="1100" dirty="0"/>
                        <a:t>Game breaks when trying to move to an up-close zone but this can just be a simple cause of when I tried altering the camera controllers code incorrectly.</a:t>
                      </a:r>
                    </a:p>
                  </a:txBody>
                  <a:tcPr/>
                </a:tc>
                <a:tc>
                  <a:txBody>
                    <a:bodyPr/>
                    <a:lstStyle/>
                    <a:p>
                      <a:r>
                        <a:rPr lang="en-GB" sz="1100" dirty="0"/>
                        <a:t>Fixed it, it was just because I altered the wrongly, now its fixed and I’m making duplicate Versions Of the Objects to have work in Level 2.</a:t>
                      </a:r>
                    </a:p>
                  </a:txBody>
                  <a:tcPr/>
                </a:tc>
                <a:extLst>
                  <a:ext uri="{0D108BD9-81ED-4DB2-BD59-A6C34878D82A}">
                    <a16:rowId xmlns:a16="http://schemas.microsoft.com/office/drawing/2014/main" val="2721134836"/>
                  </a:ext>
                </a:extLst>
              </a:tr>
              <a:tr h="595728">
                <a:tc>
                  <a:txBody>
                    <a:bodyPr/>
                    <a:lstStyle/>
                    <a:p>
                      <a:r>
                        <a:rPr lang="en-GB" sz="1100" dirty="0"/>
                        <a:t>13. Build V.0.6.5</a:t>
                      </a:r>
                    </a:p>
                  </a:txBody>
                  <a:tcPr/>
                </a:tc>
                <a:tc>
                  <a:txBody>
                    <a:bodyPr/>
                    <a:lstStyle/>
                    <a:p>
                      <a:r>
                        <a:rPr lang="en-GB" sz="1100" dirty="0"/>
                        <a:t>Rm_level2</a:t>
                      </a:r>
                    </a:p>
                  </a:txBody>
                  <a:tcPr/>
                </a:tc>
                <a:tc>
                  <a:txBody>
                    <a:bodyPr/>
                    <a:lstStyle/>
                    <a:p>
                      <a:r>
                        <a:rPr lang="en-GB" sz="1100" dirty="0"/>
                        <a:t>Obj_amcd_bulker_lvl2</a:t>
                      </a:r>
                    </a:p>
                    <a:p>
                      <a:r>
                        <a:rPr lang="en-GB" sz="1100" dirty="0"/>
                        <a:t>Obj_amcd_gwiber_lvl2</a:t>
                      </a:r>
                    </a:p>
                    <a:p>
                      <a:r>
                        <a:rPr lang="en-GB" sz="1100" dirty="0"/>
                        <a:t>Obj_amcd_gwiber_lvl2</a:t>
                      </a:r>
                    </a:p>
                  </a:txBody>
                  <a:tcPr/>
                </a:tc>
                <a:tc>
                  <a:txBody>
                    <a:bodyPr/>
                    <a:lstStyle/>
                    <a:p>
                      <a:r>
                        <a:rPr lang="en-GB" sz="1100" dirty="0"/>
                        <a:t>Gwiber and K9 retain their original movement but now have access to extra zones.</a:t>
                      </a:r>
                    </a:p>
                    <a:p>
                      <a:endParaRPr lang="en-GB" sz="1100" dirty="0"/>
                    </a:p>
                    <a:p>
                      <a:r>
                        <a:rPr lang="en-GB" sz="1100" dirty="0"/>
                        <a:t>Both Gwiber and K9 should know what to do when they are in zones 14,13,12 and original lot.</a:t>
                      </a:r>
                    </a:p>
                    <a:p>
                      <a:endParaRPr lang="en-GB" sz="1100" dirty="0"/>
                    </a:p>
                    <a:p>
                      <a:r>
                        <a:rPr lang="en-GB" sz="1100" dirty="0"/>
                        <a:t>Bulker now fully coded and should move correctly and stop moving when watched.</a:t>
                      </a:r>
                    </a:p>
                  </a:txBody>
                  <a:tcPr/>
                </a:tc>
                <a:tc>
                  <a:txBody>
                    <a:bodyPr/>
                    <a:lstStyle/>
                    <a:p>
                      <a:r>
                        <a:rPr lang="en-GB" sz="1100" dirty="0"/>
                        <a:t>Gwiber and K9 move like normal.</a:t>
                      </a:r>
                    </a:p>
                    <a:p>
                      <a:endParaRPr lang="en-GB" sz="1100" dirty="0"/>
                    </a:p>
                    <a:p>
                      <a:r>
                        <a:rPr lang="en-GB" sz="1100" dirty="0"/>
                        <a:t>Bulker also moves and he does stop moving when watched, however he is a little fast so adjustments will need to be made.</a:t>
                      </a:r>
                    </a:p>
                  </a:txBody>
                  <a:tcPr/>
                </a:tc>
                <a:tc>
                  <a:txBody>
                    <a:bodyPr/>
                    <a:lstStyle/>
                    <a:p>
                      <a:endParaRPr lang="en-GB" sz="1100" dirty="0"/>
                    </a:p>
                  </a:txBody>
                  <a:tcPr/>
                </a:tc>
                <a:extLst>
                  <a:ext uri="{0D108BD9-81ED-4DB2-BD59-A6C34878D82A}">
                    <a16:rowId xmlns:a16="http://schemas.microsoft.com/office/drawing/2014/main" val="421941911"/>
                  </a:ext>
                </a:extLst>
              </a:tr>
              <a:tr h="595728">
                <a:tc>
                  <a:txBody>
                    <a:bodyPr/>
                    <a:lstStyle/>
                    <a:p>
                      <a:r>
                        <a:rPr lang="en-GB" sz="1100" dirty="0"/>
                        <a:t>14. Build V.0.6.5</a:t>
                      </a:r>
                    </a:p>
                  </a:txBody>
                  <a:tcPr/>
                </a:tc>
                <a:tc>
                  <a:txBody>
                    <a:bodyPr/>
                    <a:lstStyle/>
                    <a:p>
                      <a:r>
                        <a:rPr lang="en-GB" sz="1100" dirty="0"/>
                        <a:t>Rm_level2</a:t>
                      </a:r>
                    </a:p>
                  </a:txBody>
                  <a:tcPr/>
                </a:tc>
                <a:tc>
                  <a:txBody>
                    <a:bodyPr/>
                    <a:lstStyle/>
                    <a:p>
                      <a:r>
                        <a:rPr lang="en-GB" sz="1100" dirty="0"/>
                        <a:t>Obj_camera_controller_lvl2</a:t>
                      </a:r>
                    </a:p>
                    <a:p>
                      <a:r>
                        <a:rPr lang="en-GB" sz="1100" dirty="0"/>
                        <a:t>Obj_exit_camera_lvl2</a:t>
                      </a:r>
                    </a:p>
                    <a:p>
                      <a:r>
                        <a:rPr lang="en-GB" sz="1100" dirty="0"/>
                        <a:t>Obj_open_camera_lvl2</a:t>
                      </a:r>
                    </a:p>
                  </a:txBody>
                  <a:tcPr/>
                </a:tc>
                <a:tc>
                  <a:txBody>
                    <a:bodyPr/>
                    <a:lstStyle/>
                    <a:p>
                      <a:r>
                        <a:rPr lang="en-GB" sz="1100" dirty="0"/>
                        <a:t>When the player opens the Camera, the view size changes to the same size as the Camera Hud zone and when the player exits the Camera, the zone returns to its original size.</a:t>
                      </a:r>
                    </a:p>
                  </a:txBody>
                  <a:tcPr/>
                </a:tc>
                <a:tc>
                  <a:txBody>
                    <a:bodyPr/>
                    <a:lstStyle/>
                    <a:p>
                      <a:r>
                        <a:rPr lang="en-GB" sz="1100" dirty="0"/>
                        <a:t>It did exactly what I wanted it to do and there are zero bugs from it.</a:t>
                      </a:r>
                    </a:p>
                    <a:p>
                      <a:endParaRPr lang="en-GB" sz="1100" dirty="0"/>
                    </a:p>
                    <a:p>
                      <a:r>
                        <a:rPr lang="en-GB" sz="1100" dirty="0"/>
                        <a:t>This means I can expand my camera Hud zone even more to have additional zones.</a:t>
                      </a:r>
                    </a:p>
                  </a:txBody>
                  <a:tcPr/>
                </a:tc>
                <a:tc>
                  <a:txBody>
                    <a:bodyPr/>
                    <a:lstStyle/>
                    <a:p>
                      <a:endParaRPr lang="en-GB" sz="1100" dirty="0"/>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73582820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3689435829"/>
              </p:ext>
            </p:extLst>
          </p:nvPr>
        </p:nvGraphicFramePr>
        <p:xfrm>
          <a:off x="0" y="0"/>
          <a:ext cx="11988463" cy="669106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15. Build V.0.6.5</a:t>
                      </a:r>
                    </a:p>
                  </a:txBody>
                  <a:tcPr/>
                </a:tc>
                <a:tc>
                  <a:txBody>
                    <a:bodyPr/>
                    <a:lstStyle/>
                    <a:p>
                      <a:r>
                        <a:rPr lang="en-GB" sz="1100" dirty="0"/>
                        <a:t>Rm_level2, </a:t>
                      </a:r>
                      <a:r>
                        <a:rPr lang="en-GB" sz="1100" dirty="0" err="1"/>
                        <a:t>rm_death_screen</a:t>
                      </a:r>
                      <a:r>
                        <a:rPr lang="en-GB" sz="1100" dirty="0"/>
                        <a:t> and 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a:t>Object enemies</a:t>
                      </a:r>
                    </a:p>
                  </a:txBody>
                  <a:tcPr/>
                </a:tc>
                <a:tc>
                  <a:txBody>
                    <a:bodyPr/>
                    <a:lstStyle/>
                    <a:p>
                      <a:r>
                        <a:rPr lang="en-GB" sz="1100" dirty="0"/>
                        <a:t>When dead = true, </a:t>
                      </a:r>
                      <a:r>
                        <a:rPr lang="en-GB" sz="1100" dirty="0" err="1"/>
                        <a:t>deathscreentimer</a:t>
                      </a:r>
                      <a:r>
                        <a:rPr lang="en-GB" sz="1100" dirty="0"/>
                        <a:t> decreases by -1 and when it reaches 0, moves the player to the death screen room.</a:t>
                      </a:r>
                    </a:p>
                    <a:p>
                      <a:endParaRPr lang="en-GB" sz="1100" dirty="0"/>
                    </a:p>
                  </a:txBody>
                  <a:tcPr/>
                </a:tc>
                <a:tc>
                  <a:txBody>
                    <a:bodyPr/>
                    <a:lstStyle/>
                    <a:p>
                      <a:r>
                        <a:rPr lang="en-GB" sz="1100" dirty="0"/>
                        <a:t>When dead = true, timer goes down and when it hits zero player is taken to rm_death_screen, however, for some reason some assets are appearing in the death room which is not meant to happen. Besides that the code is working.</a:t>
                      </a:r>
                    </a:p>
                  </a:txBody>
                  <a:tcPr/>
                </a:tc>
                <a:tc>
                  <a:txBody>
                    <a:bodyPr/>
                    <a:lstStyle/>
                    <a:p>
                      <a:r>
                        <a:rPr lang="en-GB" sz="1100" dirty="0"/>
                        <a:t>The issue was that they were all persistent. So, to prevent this form happening again, I will disable the persistent objects for they have no connection to any other room.</a:t>
                      </a:r>
                    </a:p>
                  </a:txBody>
                  <a:tcPr/>
                </a:tc>
                <a:extLst>
                  <a:ext uri="{0D108BD9-81ED-4DB2-BD59-A6C34878D82A}">
                    <a16:rowId xmlns:a16="http://schemas.microsoft.com/office/drawing/2014/main" val="4028166049"/>
                  </a:ext>
                </a:extLst>
              </a:tr>
              <a:tr h="595728">
                <a:tc>
                  <a:txBody>
                    <a:bodyPr/>
                    <a:lstStyle/>
                    <a:p>
                      <a:r>
                        <a:rPr lang="en-GB" sz="1100" dirty="0"/>
                        <a:t>16. Build V.0.6.5</a:t>
                      </a:r>
                    </a:p>
                  </a:txBody>
                  <a:tcPr/>
                </a:tc>
                <a:tc>
                  <a:txBody>
                    <a:bodyPr/>
                    <a:lstStyle/>
                    <a:p>
                      <a:r>
                        <a:rPr lang="en-GB" sz="1100" dirty="0"/>
                        <a:t>Rm_level1 and 2.</a:t>
                      </a:r>
                    </a:p>
                  </a:txBody>
                  <a:tcPr/>
                </a:tc>
                <a:tc>
                  <a:txBody>
                    <a:bodyPr/>
                    <a:lstStyle/>
                    <a:p>
                      <a:r>
                        <a:rPr lang="en-GB" sz="1100" dirty="0" err="1"/>
                        <a:t>Obj_oxygen_door_controller</a:t>
                      </a:r>
                      <a:endParaRPr lang="en-GB" sz="1100" dirty="0"/>
                    </a:p>
                  </a:txBody>
                  <a:tcPr/>
                </a:tc>
                <a:tc>
                  <a:txBody>
                    <a:bodyPr/>
                    <a:lstStyle/>
                    <a:p>
                      <a:r>
                        <a:rPr lang="en-GB" sz="1100" dirty="0"/>
                        <a:t>When oxygen 0, </a:t>
                      </a:r>
                      <a:r>
                        <a:rPr lang="en-GB" sz="1100" dirty="0" err="1"/>
                        <a:t>playerhealth</a:t>
                      </a:r>
                      <a:r>
                        <a:rPr lang="en-GB" sz="1100" dirty="0"/>
                        <a:t> decreases by 0.5.</a:t>
                      </a:r>
                    </a:p>
                    <a:p>
                      <a:endParaRPr lang="en-GB" sz="1100" dirty="0"/>
                    </a:p>
                    <a:p>
                      <a:r>
                        <a:rPr lang="en-GB" sz="1100" dirty="0"/>
                        <a:t>When health = 0, go to death screen room.</a:t>
                      </a:r>
                    </a:p>
                  </a:txBody>
                  <a:tcPr/>
                </a:tc>
                <a:tc>
                  <a:txBody>
                    <a:bodyPr/>
                    <a:lstStyle/>
                    <a:p>
                      <a:r>
                        <a:rPr lang="en-GB" sz="1100" dirty="0"/>
                        <a:t>When the oxygen = 0, health goes down and when health = 0, death screen appears. However, the timer continues afterwards which I do not want. It might be because I have the code in the step event which is set to persistent = true.</a:t>
                      </a:r>
                    </a:p>
                  </a:txBody>
                  <a:tcPr/>
                </a:tc>
                <a:tc>
                  <a:txBody>
                    <a:bodyPr/>
                    <a:lstStyle/>
                    <a:p>
                      <a:r>
                        <a:rPr lang="en-GB" sz="1100" dirty="0"/>
                        <a:t>I’m going to try and make the </a:t>
                      </a:r>
                      <a:r>
                        <a:rPr lang="en-GB" sz="1100" dirty="0" err="1"/>
                        <a:t>healthbar</a:t>
                      </a:r>
                      <a:r>
                        <a:rPr lang="en-GB" sz="1100" dirty="0"/>
                        <a:t> a separate object instead of having be persistent in door controller. Also, in addition to this to fix the health bar not resetting, I made it so that if the value of </a:t>
                      </a:r>
                      <a:r>
                        <a:rPr lang="en-GB" sz="1100" dirty="0" err="1"/>
                        <a:t>playerhealthbar</a:t>
                      </a:r>
                      <a:r>
                        <a:rPr lang="en-GB" sz="1100" dirty="0"/>
                        <a:t> is ever less than 0, reset back to 100.</a:t>
                      </a:r>
                    </a:p>
                  </a:txBody>
                  <a:tcPr/>
                </a:tc>
                <a:extLst>
                  <a:ext uri="{0D108BD9-81ED-4DB2-BD59-A6C34878D82A}">
                    <a16:rowId xmlns:a16="http://schemas.microsoft.com/office/drawing/2014/main" val="2721134836"/>
                  </a:ext>
                </a:extLst>
              </a:tr>
              <a:tr h="595728">
                <a:tc>
                  <a:txBody>
                    <a:bodyPr/>
                    <a:lstStyle/>
                    <a:p>
                      <a:r>
                        <a:rPr lang="en-GB" sz="1100" dirty="0"/>
                        <a:t>17. Build V.0.7</a:t>
                      </a:r>
                    </a:p>
                  </a:txBody>
                  <a:tcPr/>
                </a:tc>
                <a:tc>
                  <a:txBody>
                    <a:bodyPr/>
                    <a:lstStyle/>
                    <a:p>
                      <a:r>
                        <a:rPr lang="en-GB" sz="1100" dirty="0"/>
                        <a:t>Rm_level3</a:t>
                      </a:r>
                    </a:p>
                  </a:txBody>
                  <a:tcPr/>
                </a:tc>
                <a:tc>
                  <a:txBody>
                    <a:bodyPr/>
                    <a:lstStyle/>
                    <a:p>
                      <a:r>
                        <a:rPr lang="en-GB" sz="1100" dirty="0" err="1"/>
                        <a:t>Obj_amcd_arach</a:t>
                      </a:r>
                      <a:endParaRPr lang="en-GB" sz="1100" dirty="0"/>
                    </a:p>
                  </a:txBody>
                  <a:tcPr/>
                </a:tc>
                <a:tc>
                  <a:txBody>
                    <a:bodyPr/>
                    <a:lstStyle/>
                    <a:p>
                      <a:r>
                        <a:rPr lang="en-GB" sz="1100" dirty="0"/>
                        <a:t>When Arach is on zone 5 and the front vent is open, Arach will start his attack timer and just a second after play the vent crawling sound. When the attack timer = 0 and the front vent is still open. He jump-scares the player. If the door is closed, he will retreat back to zone 5 or 8.</a:t>
                      </a:r>
                    </a:p>
                  </a:txBody>
                  <a:tcPr/>
                </a:tc>
                <a:tc>
                  <a:txBody>
                    <a:bodyPr/>
                    <a:lstStyle/>
                    <a:p>
                      <a:r>
                        <a:rPr lang="en-GB" sz="1100" dirty="0"/>
                        <a:t>Arach moved instantly from 5  to 8 but remains there and his </a:t>
                      </a:r>
                      <a:r>
                        <a:rPr lang="en-GB" sz="1100" dirty="0" err="1"/>
                        <a:t>attacktimer</a:t>
                      </a:r>
                      <a:r>
                        <a:rPr lang="en-GB" sz="1100" dirty="0"/>
                        <a:t> doesn’t reset. This is most likely due to my poor effort of converting K9’s code for Arach. I will re-attempt Arach by duplicating K9 and just having it be Arach and limited to 2 zones.</a:t>
                      </a:r>
                    </a:p>
                  </a:txBody>
                  <a:tcPr/>
                </a:tc>
                <a:tc>
                  <a:txBody>
                    <a:bodyPr/>
                    <a:lstStyle/>
                    <a:p>
                      <a:r>
                        <a:rPr lang="en-GB" sz="1100" dirty="0"/>
                        <a:t>The fix was easily made. All I did was duplicate K9’s code and re-named the variables to Arach and only gave him two zones to move between. He now functions perfectly, makes a sound when he’s about to attack and he moves between zone 5 and 8.</a:t>
                      </a:r>
                    </a:p>
                  </a:txBody>
                  <a:tcPr/>
                </a:tc>
                <a:extLst>
                  <a:ext uri="{0D108BD9-81ED-4DB2-BD59-A6C34878D82A}">
                    <a16:rowId xmlns:a16="http://schemas.microsoft.com/office/drawing/2014/main" val="421941911"/>
                  </a:ext>
                </a:extLst>
              </a:tr>
              <a:tr h="595728">
                <a:tc>
                  <a:txBody>
                    <a:bodyPr/>
                    <a:lstStyle/>
                    <a:p>
                      <a:r>
                        <a:rPr lang="en-GB" sz="1100" dirty="0"/>
                        <a:t>18. Build V.0.7.1</a:t>
                      </a:r>
                    </a:p>
                  </a:txBody>
                  <a:tcPr/>
                </a:tc>
                <a:tc>
                  <a:txBody>
                    <a:bodyPr/>
                    <a:lstStyle/>
                    <a:p>
                      <a:r>
                        <a:rPr lang="en-GB" sz="1100" dirty="0"/>
                        <a:t>All levels</a:t>
                      </a:r>
                    </a:p>
                  </a:txBody>
                  <a:tcPr/>
                </a:tc>
                <a:tc>
                  <a:txBody>
                    <a:bodyPr/>
                    <a:lstStyle/>
                    <a:p>
                      <a:r>
                        <a:rPr lang="en-GB" sz="1100" dirty="0"/>
                        <a:t>Object buttons</a:t>
                      </a:r>
                    </a:p>
                  </a:txBody>
                  <a:tcPr/>
                </a:tc>
                <a:tc>
                  <a:txBody>
                    <a:bodyPr/>
                    <a:lstStyle/>
                    <a:p>
                      <a:r>
                        <a:rPr lang="en-GB" sz="1100" dirty="0"/>
                        <a:t>When mouse hovers over movement buttons and open/close camera buttons, the buttons events trigger.</a:t>
                      </a:r>
                    </a:p>
                  </a:txBody>
                  <a:tcPr/>
                </a:tc>
                <a:tc>
                  <a:txBody>
                    <a:bodyPr/>
                    <a:lstStyle/>
                    <a:p>
                      <a:r>
                        <a:rPr lang="en-GB" sz="1100" dirty="0"/>
                        <a:t>Yes, the buttons do trigger when mouse enters the objects area.</a:t>
                      </a:r>
                    </a:p>
                  </a:txBody>
                  <a:tcPr/>
                </a:tc>
                <a:tc>
                  <a:txBody>
                    <a:bodyPr/>
                    <a:lstStyle/>
                    <a:p>
                      <a:r>
                        <a:rPr lang="en-GB" sz="1100" dirty="0"/>
                        <a:t>I have decided not to go forward with this idea but I’ll leave this here as evidence of experimentation.</a:t>
                      </a:r>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60632763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AEB23-508D-CA5E-0A87-C314BE90132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6D413D0-D979-C046-99D9-F71794E81797}"/>
              </a:ext>
            </a:extLst>
          </p:cNvPr>
          <p:cNvGraphicFramePr>
            <a:graphicFrameLocks noGrp="1"/>
          </p:cNvGraphicFramePr>
          <p:nvPr>
            <p:extLst>
              <p:ext uri="{D42A27DB-BD31-4B8C-83A1-F6EECF244321}">
                <p14:modId xmlns:p14="http://schemas.microsoft.com/office/powerpoint/2010/main" val="2414108079"/>
              </p:ext>
            </p:extLst>
          </p:nvPr>
        </p:nvGraphicFramePr>
        <p:xfrm>
          <a:off x="0" y="0"/>
          <a:ext cx="11988463" cy="289630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598878">
                <a:tc>
                  <a:txBody>
                    <a:bodyPr/>
                    <a:lstStyle/>
                    <a:p>
                      <a:r>
                        <a:rPr lang="en-GB" sz="1100" dirty="0"/>
                        <a:t>19 – Build V.1.0</a:t>
                      </a:r>
                    </a:p>
                  </a:txBody>
                  <a:tcPr/>
                </a:tc>
                <a:tc>
                  <a:txBody>
                    <a:bodyPr/>
                    <a:lstStyle/>
                    <a:p>
                      <a:r>
                        <a:rPr lang="en-GB" sz="1100" dirty="0"/>
                        <a:t>All rooms</a:t>
                      </a:r>
                    </a:p>
                  </a:txBody>
                  <a:tcPr/>
                </a:tc>
                <a:tc>
                  <a:txBody>
                    <a:bodyPr/>
                    <a:lstStyle/>
                    <a:p>
                      <a:r>
                        <a:rPr lang="en-GB" sz="1100" dirty="0"/>
                        <a:t>Obj_sound_controller_lvl1 - 5</a:t>
                      </a:r>
                    </a:p>
                  </a:txBody>
                  <a:tcPr/>
                </a:tc>
                <a:tc>
                  <a:txBody>
                    <a:bodyPr/>
                    <a:lstStyle/>
                    <a:p>
                      <a:r>
                        <a:rPr lang="en-GB" sz="1100" dirty="0"/>
                        <a:t>The sound controller loads in audio groups and is used to make the sounds for when enemies are in cam 2 or 7. It also plays sounds for enemy movement such as K9’s, for every time he moves. Lastly it plays a remix of my critical failure soundtrack in the background acting as ambience.</a:t>
                      </a:r>
                    </a:p>
                  </a:txBody>
                  <a:tcPr/>
                </a:tc>
                <a:tc>
                  <a:txBody>
                    <a:bodyPr/>
                    <a:lstStyle/>
                    <a:p>
                      <a:r>
                        <a:rPr lang="en-GB" sz="1100" dirty="0"/>
                        <a:t>Left hallway sound plays when enemy is in cam 2. Right hallway sound plays when enemy is in cam 7. Ambience didn’t play or sometimes overwrote the rest of the game sounds such as the doors. Lastly, K9’s footstep sound does play every time he moves.</a:t>
                      </a:r>
                    </a:p>
                  </a:txBody>
                  <a:tcPr/>
                </a:tc>
                <a:tc>
                  <a:txBody>
                    <a:bodyPr/>
                    <a:lstStyle/>
                    <a:p>
                      <a:r>
                        <a:rPr lang="en-GB" sz="1100" dirty="0"/>
                        <a:t>I managed to fix the ambience, and it was just the fact that it was in the incorrect audio group, but moving it to the default one worked, stopping it from overwriting the other sounds.</a:t>
                      </a:r>
                    </a:p>
                  </a:txBody>
                  <a:tcPr/>
                </a:tc>
                <a:extLst>
                  <a:ext uri="{0D108BD9-81ED-4DB2-BD59-A6C34878D82A}">
                    <a16:rowId xmlns:a16="http://schemas.microsoft.com/office/drawing/2014/main" val="4167885046"/>
                  </a:ext>
                </a:extLst>
              </a:tr>
            </a:tbl>
          </a:graphicData>
        </a:graphic>
      </p:graphicFrame>
    </p:spTree>
    <p:extLst>
      <p:ext uri="{BB962C8B-B14F-4D97-AF65-F5344CB8AC3E}">
        <p14:creationId xmlns:p14="http://schemas.microsoft.com/office/powerpoint/2010/main" val="284963415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D68EF3-E610-32D5-33E5-8C4A934B8F0C}"/>
              </a:ext>
            </a:extLst>
          </p:cNvPr>
          <p:cNvSpPr>
            <a:spLocks noGrp="1"/>
          </p:cNvSpPr>
          <p:nvPr>
            <p:ph type="title"/>
          </p:nvPr>
        </p:nvSpPr>
        <p:spPr>
          <a:xfrm>
            <a:off x="838200" y="1916339"/>
            <a:ext cx="10515600" cy="1325563"/>
          </a:xfrm>
        </p:spPr>
        <p:txBody>
          <a:bodyPr>
            <a:normAutofit fontScale="90000"/>
          </a:bodyPr>
          <a:lstStyle/>
          <a:p>
            <a:pPr algn="ctr"/>
            <a:r>
              <a:rPr lang="en-GB" dirty="0"/>
              <a:t>The Next Slides are the tests made for Build</a:t>
            </a:r>
            <a:br>
              <a:rPr lang="en-GB" dirty="0"/>
            </a:br>
            <a:r>
              <a:rPr lang="en-GB" dirty="0"/>
              <a:t>V.1.0 of</a:t>
            </a:r>
            <a:br>
              <a:rPr lang="en-GB" dirty="0"/>
            </a:br>
            <a:r>
              <a:rPr lang="en-GB" dirty="0"/>
              <a:t>Critical Failure</a:t>
            </a:r>
            <a:br>
              <a:rPr lang="en-GB" dirty="0"/>
            </a:br>
            <a:br>
              <a:rPr lang="en-GB" dirty="0"/>
            </a:br>
            <a:r>
              <a:rPr lang="en-GB" dirty="0"/>
              <a:t>Testing</a:t>
            </a:r>
            <a:br>
              <a:rPr lang="en-GB" dirty="0"/>
            </a:br>
            <a:br>
              <a:rPr lang="en-GB" dirty="0"/>
            </a:br>
            <a:r>
              <a:rPr lang="en-GB" dirty="0"/>
              <a:t>Each test will be mentioned in each levels video. </a:t>
            </a:r>
            <a:br>
              <a:rPr lang="en-GB" dirty="0"/>
            </a:br>
            <a:r>
              <a:rPr lang="en-GB" dirty="0"/>
              <a:t>The videos will be added at the end of the table slides.</a:t>
            </a:r>
            <a:br>
              <a:rPr lang="en-GB" dirty="0"/>
            </a:br>
            <a:r>
              <a:rPr lang="en-GB" dirty="0"/>
              <a:t>of this PowerPoint, showing the mechanic being tested.</a:t>
            </a:r>
          </a:p>
        </p:txBody>
      </p:sp>
      <p:sp>
        <p:nvSpPr>
          <p:cNvPr id="4" name="TextBox 3">
            <a:extLst>
              <a:ext uri="{FF2B5EF4-FFF2-40B4-BE49-F238E27FC236}">
                <a16:creationId xmlns:a16="http://schemas.microsoft.com/office/drawing/2014/main" id="{0BAA3E30-BFBB-8003-BB5B-D1D448CDCBBE}"/>
              </a:ext>
            </a:extLst>
          </p:cNvPr>
          <p:cNvSpPr txBox="1"/>
          <p:nvPr/>
        </p:nvSpPr>
        <p:spPr>
          <a:xfrm>
            <a:off x="0" y="6211669"/>
            <a:ext cx="10793186" cy="646331"/>
          </a:xfrm>
          <a:prstGeom prst="rect">
            <a:avLst/>
          </a:prstGeom>
          <a:noFill/>
        </p:spPr>
        <p:txBody>
          <a:bodyPr wrap="square">
            <a:spAutoFit/>
          </a:bodyPr>
          <a:lstStyle/>
          <a:p>
            <a:r>
              <a:rPr lang="en-GB" sz="1800" b="1" dirty="0">
                <a:latin typeface="Arial Narrow" panose="020B0606020202030204" pitchFamily="34" charset="0"/>
              </a:rPr>
              <a:t>Note: Each Level has different versions of the zones: Cam_zone_lvl1, Cam_zone_lvl2 etc. Level versions of the enemies and othe</a:t>
            </a:r>
            <a:r>
              <a:rPr lang="en-GB" b="1" dirty="0">
                <a:latin typeface="Arial Narrow" panose="020B0606020202030204" pitchFamily="34" charset="0"/>
              </a:rPr>
              <a:t>r objects follow the </a:t>
            </a:r>
            <a:r>
              <a:rPr lang="en-GB" b="1" dirty="0" err="1">
                <a:latin typeface="Arial Narrow" panose="020B0606020202030204" pitchFamily="34" charset="0"/>
              </a:rPr>
              <a:t>Cam_zone</a:t>
            </a:r>
            <a:r>
              <a:rPr lang="en-GB" b="1" dirty="0">
                <a:latin typeface="Arial Narrow" panose="020B0606020202030204" pitchFamily="34" charset="0"/>
              </a:rPr>
              <a:t> matching the level they are not from other levels.</a:t>
            </a:r>
            <a:endParaRPr lang="en-GB" sz="1800" b="1" dirty="0">
              <a:latin typeface="Arial Narrow" panose="020B0606020202030204" pitchFamily="34" charset="0"/>
            </a:endParaRPr>
          </a:p>
        </p:txBody>
      </p:sp>
    </p:spTree>
    <p:extLst>
      <p:ext uri="{BB962C8B-B14F-4D97-AF65-F5344CB8AC3E}">
        <p14:creationId xmlns:p14="http://schemas.microsoft.com/office/powerpoint/2010/main" val="177455234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122315289"/>
              </p:ext>
            </p:extLst>
          </p:nvPr>
        </p:nvGraphicFramePr>
        <p:xfrm>
          <a:off x="38100" y="391885"/>
          <a:ext cx="12115800" cy="6218272"/>
        </p:xfrm>
        <a:graphic>
          <a:graphicData uri="http://schemas.openxmlformats.org/drawingml/2006/table">
            <a:tbl>
              <a:tblPr firstRow="1" bandRow="1">
                <a:tableStyleId>{5C22544A-7EE6-4342-B048-85BDC9FD1C3A}</a:tableStyleId>
              </a:tblPr>
              <a:tblGrid>
                <a:gridCol w="800101">
                  <a:extLst>
                    <a:ext uri="{9D8B030D-6E8A-4147-A177-3AD203B41FA5}">
                      <a16:colId xmlns:a16="http://schemas.microsoft.com/office/drawing/2014/main" val="2041145262"/>
                    </a:ext>
                  </a:extLst>
                </a:gridCol>
                <a:gridCol w="2587189">
                  <a:extLst>
                    <a:ext uri="{9D8B030D-6E8A-4147-A177-3AD203B41FA5}">
                      <a16:colId xmlns:a16="http://schemas.microsoft.com/office/drawing/2014/main" val="3102287305"/>
                    </a:ext>
                  </a:extLst>
                </a:gridCol>
                <a:gridCol w="814089">
                  <a:extLst>
                    <a:ext uri="{9D8B030D-6E8A-4147-A177-3AD203B41FA5}">
                      <a16:colId xmlns:a16="http://schemas.microsoft.com/office/drawing/2014/main" val="4080696647"/>
                    </a:ext>
                  </a:extLst>
                </a:gridCol>
                <a:gridCol w="1350336">
                  <a:extLst>
                    <a:ext uri="{9D8B030D-6E8A-4147-A177-3AD203B41FA5}">
                      <a16:colId xmlns:a16="http://schemas.microsoft.com/office/drawing/2014/main" val="132880537"/>
                    </a:ext>
                  </a:extLst>
                </a:gridCol>
                <a:gridCol w="4248695">
                  <a:extLst>
                    <a:ext uri="{9D8B030D-6E8A-4147-A177-3AD203B41FA5}">
                      <a16:colId xmlns:a16="http://schemas.microsoft.com/office/drawing/2014/main" val="786884226"/>
                    </a:ext>
                  </a:extLst>
                </a:gridCol>
                <a:gridCol w="2315390">
                  <a:extLst>
                    <a:ext uri="{9D8B030D-6E8A-4147-A177-3AD203B41FA5}">
                      <a16:colId xmlns:a16="http://schemas.microsoft.com/office/drawing/2014/main" val="259252547"/>
                    </a:ext>
                  </a:extLst>
                </a:gridCol>
              </a:tblGrid>
              <a:tr h="353746">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0">
                <a:tc>
                  <a:txBody>
                    <a:bodyPr/>
                    <a:lstStyle/>
                    <a:p>
                      <a:r>
                        <a:rPr lang="en-GB" sz="800" dirty="0"/>
                        <a:t>1.</a:t>
                      </a:r>
                    </a:p>
                  </a:txBody>
                  <a:tcPr/>
                </a:tc>
                <a:tc>
                  <a:txBody>
                    <a:bodyPr/>
                    <a:lstStyle/>
                    <a:p>
                      <a:r>
                        <a:rPr lang="en-GB" sz="800" dirty="0" err="1"/>
                        <a:t>Gwiber</a:t>
                      </a:r>
                      <a:r>
                        <a:rPr lang="en-GB" sz="800" dirty="0"/>
                        <a:t> level 1 Enemy Movement Test</a:t>
                      </a:r>
                    </a:p>
                  </a:txBody>
                  <a:tcPr/>
                </a:tc>
                <a:tc>
                  <a:txBody>
                    <a:bodyPr/>
                    <a:lstStyle/>
                    <a:p>
                      <a:r>
                        <a:rPr lang="en-GB" sz="800" dirty="0"/>
                        <a:t>Rm_level1</a:t>
                      </a:r>
                    </a:p>
                  </a:txBody>
                  <a:tcPr/>
                </a:tc>
                <a:tc>
                  <a:txBody>
                    <a:bodyPr/>
                    <a:lstStyle/>
                    <a:p>
                      <a:r>
                        <a:rPr lang="en-GB" sz="800" dirty="0" err="1"/>
                        <a:t>Obj_amcd_gwiber</a:t>
                      </a:r>
                      <a:endParaRPr lang="en-GB" sz="800" dirty="0"/>
                    </a:p>
                  </a:txBody>
                  <a:tcPr/>
                </a:tc>
                <a:tc>
                  <a:txBody>
                    <a:bodyPr/>
                    <a:lstStyle/>
                    <a:p>
                      <a:r>
                        <a:rPr lang="en-GB" sz="800" dirty="0" err="1"/>
                        <a:t>Gwiber</a:t>
                      </a:r>
                      <a:r>
                        <a:rPr lang="en-GB" sz="800" dirty="0"/>
                        <a:t> starts in camera zone 4 then makes his way towards the left door which is camera zone 2. His movement chances are 50/50 to go forwards or backwards. He can only access Camera Zones 4,3,2,1,5. if door is in a closed state and </a:t>
                      </a:r>
                      <a:r>
                        <a:rPr lang="en-GB" sz="800" dirty="0" err="1"/>
                        <a:t>Gwiber</a:t>
                      </a:r>
                      <a:r>
                        <a:rPr lang="en-GB" sz="800" dirty="0"/>
                        <a:t> is in Camera zone 2, then he moves away from the door to Camera Zone 1 or 3. </a:t>
                      </a:r>
                      <a:r>
                        <a:rPr lang="en-GB" sz="800" dirty="0" err="1"/>
                        <a:t>Gwiber</a:t>
                      </a:r>
                      <a:r>
                        <a:rPr lang="en-GB" sz="800" dirty="0"/>
                        <a:t> moves as a normal speed. When watched his movement is delayed slightly</a:t>
                      </a:r>
                    </a:p>
                  </a:txBody>
                  <a:tcPr/>
                </a:tc>
                <a:tc>
                  <a:txBody>
                    <a:bodyPr/>
                    <a:lstStyle/>
                    <a:p>
                      <a:endParaRPr lang="en-GB" sz="800" dirty="0"/>
                    </a:p>
                  </a:txBody>
                  <a:tcPr/>
                </a:tc>
                <a:extLst>
                  <a:ext uri="{0D108BD9-81ED-4DB2-BD59-A6C34878D82A}">
                    <a16:rowId xmlns:a16="http://schemas.microsoft.com/office/drawing/2014/main" val="1068541384"/>
                  </a:ext>
                </a:extLst>
              </a:tr>
              <a:tr h="585303">
                <a:tc>
                  <a:txBody>
                    <a:bodyPr/>
                    <a:lstStyle/>
                    <a:p>
                      <a:r>
                        <a:rPr lang="en-GB" sz="800" dirty="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2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r>
                        <a:rPr lang="en-GB" sz="800" dirty="0"/>
                        <a:t>Obj_amcd_gwiber_lvl2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starts in camera zone 4 then makes his way towards the left door which is camera zone 2. His movement chances are 50/50 to go forwards or backwards. He can only access Camera Zones 4,3,2,1,5. if door is in a closed state and </a:t>
                      </a:r>
                      <a:r>
                        <a:rPr lang="en-GB" sz="800" dirty="0" err="1"/>
                        <a:t>Gwiber</a:t>
                      </a:r>
                      <a:r>
                        <a:rPr lang="en-GB" sz="800" dirty="0"/>
                        <a:t> is in Camera zone 2, then he moves away from the door to Camera Zone 1 or 3. </a:t>
                      </a:r>
                      <a:r>
                        <a:rPr lang="en-GB" sz="800" dirty="0" err="1"/>
                        <a:t>Gwiber</a:t>
                      </a:r>
                      <a:r>
                        <a:rPr lang="en-GB" sz="800" dirty="0"/>
                        <a:t> moves as a normal speed. When watched his movement is delayed slightly</a:t>
                      </a:r>
                    </a:p>
                    <a:p>
                      <a:endParaRPr lang="en-GB" sz="800" dirty="0"/>
                    </a:p>
                  </a:txBody>
                  <a:tcPr/>
                </a:tc>
                <a:tc>
                  <a:txBody>
                    <a:bodyPr/>
                    <a:lstStyle/>
                    <a:p>
                      <a:endParaRPr lang="en-GB" sz="800" dirty="0"/>
                    </a:p>
                  </a:txBody>
                  <a:tcPr/>
                </a:tc>
                <a:extLst>
                  <a:ext uri="{0D108BD9-81ED-4DB2-BD59-A6C34878D82A}">
                    <a16:rowId xmlns:a16="http://schemas.microsoft.com/office/drawing/2014/main" val="2215379278"/>
                  </a:ext>
                </a:extLst>
              </a:tr>
              <a:tr h="585303">
                <a:tc>
                  <a:txBody>
                    <a:bodyPr/>
                    <a:lstStyle/>
                    <a:p>
                      <a:r>
                        <a:rPr lang="en-GB" sz="800" dirty="0"/>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3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r>
                        <a:rPr lang="en-GB" sz="800" dirty="0"/>
                        <a:t>Obj_amcd_gwiber_lvl3</a:t>
                      </a:r>
                    </a:p>
                  </a:txBody>
                  <a:tcPr/>
                </a:tc>
                <a:tc>
                  <a:txBody>
                    <a:bodyPr/>
                    <a:lstStyle/>
                    <a:p>
                      <a:r>
                        <a:rPr lang="en-GB" sz="800" dirty="0"/>
                        <a:t>In Level 3 </a:t>
                      </a:r>
                      <a:r>
                        <a:rPr lang="en-GB" sz="800" dirty="0" err="1"/>
                        <a:t>Gwiber</a:t>
                      </a:r>
                      <a:r>
                        <a:rPr lang="en-GB" sz="800" dirty="0"/>
                        <a:t> starts in Camera Zone 17 then makes his way to Camera Zone 2. His code is like the two previous versions of him with the addition of zones 17,13,16 and 12 at his disposal. he moves from Camera Zone. Moves as normal speed.</a:t>
                      </a:r>
                    </a:p>
                  </a:txBody>
                  <a:tcPr/>
                </a:tc>
                <a:tc>
                  <a:txBody>
                    <a:bodyPr/>
                    <a:lstStyle/>
                    <a:p>
                      <a:endParaRPr lang="en-GB" sz="800" dirty="0"/>
                    </a:p>
                  </a:txBody>
                  <a:tcPr/>
                </a:tc>
                <a:extLst>
                  <a:ext uri="{0D108BD9-81ED-4DB2-BD59-A6C34878D82A}">
                    <a16:rowId xmlns:a16="http://schemas.microsoft.com/office/drawing/2014/main" val="4058717911"/>
                  </a:ext>
                </a:extLst>
              </a:tr>
              <a:tr h="585303">
                <a:tc>
                  <a:txBody>
                    <a:bodyPr/>
                    <a:lstStyle/>
                    <a:p>
                      <a:r>
                        <a:rPr lang="en-GB" sz="800" dirty="0"/>
                        <a:t>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5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r>
                        <a:rPr lang="en-GB" sz="800" dirty="0"/>
                        <a:t>Obj_amcd_gwiber_lvl5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In Level 5 </a:t>
                      </a:r>
                      <a:r>
                        <a:rPr lang="en-GB" sz="800" dirty="0" err="1"/>
                        <a:t>Gwiber</a:t>
                      </a:r>
                      <a:r>
                        <a:rPr lang="en-GB" sz="800" dirty="0"/>
                        <a:t> starts in Camera Zone 17 then makes his way to Camera Zone 2. His code is like the two previous versions of him with the addition of zones 17,13,16 and 12 at his disposal. he moves from Camera Zone. Moves as normal speed.</a:t>
                      </a:r>
                    </a:p>
                    <a:p>
                      <a:endParaRPr lang="en-GB" sz="800" dirty="0"/>
                    </a:p>
                  </a:txBody>
                  <a:tcPr/>
                </a:tc>
                <a:tc>
                  <a:txBody>
                    <a:bodyPr/>
                    <a:lstStyle/>
                    <a:p>
                      <a:endParaRPr lang="en-GB" sz="800" dirty="0"/>
                    </a:p>
                  </a:txBody>
                  <a:tcPr/>
                </a:tc>
                <a:extLst>
                  <a:ext uri="{0D108BD9-81ED-4DB2-BD59-A6C34878D82A}">
                    <a16:rowId xmlns:a16="http://schemas.microsoft.com/office/drawing/2014/main" val="3720550943"/>
                  </a:ext>
                </a:extLst>
              </a:tr>
              <a:tr h="585303">
                <a:tc>
                  <a:txBody>
                    <a:bodyPr/>
                    <a:lstStyle/>
                    <a:p>
                      <a:r>
                        <a:rPr lang="en-GB" sz="800" dirty="0"/>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1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Rm_level1</a:t>
                      </a:r>
                    </a:p>
                    <a:p>
                      <a:endParaRPr lang="en-GB" sz="800" dirty="0"/>
                    </a:p>
                  </a:txBody>
                  <a:tcPr/>
                </a:tc>
                <a:tc>
                  <a:txBody>
                    <a:bodyPr/>
                    <a:lstStyle/>
                    <a:p>
                      <a:r>
                        <a:rPr lang="en-GB" sz="800" dirty="0"/>
                        <a:t>Obj_amcd_k9</a:t>
                      </a:r>
                    </a:p>
                  </a:txBody>
                  <a:tcPr/>
                </a:tc>
                <a:tc>
                  <a:txBody>
                    <a:bodyPr/>
                    <a:lstStyle/>
                    <a:p>
                      <a:r>
                        <a:rPr lang="en-GB" sz="800" dirty="0"/>
                        <a:t>K9 starts in Camera Zone 5 and has a 50/50 chance of either going to Camera zone 1(Right) or Camera zone 6(Left). K9 mattering on which side he kicks off from will then make his way to the office. If he’s in Camera Zone 2 and the left door is closed he will reset back to zone 5 and repeat the process. Same goes for Camera zone 7 for the right door. K9 is the second fastest AMCD. K9 can access Camera Zones 5,1,6,7,2. when watched his movement is delayed</a:t>
                      </a:r>
                      <a:endParaRPr lang="en-GB" sz="800" baseline="30000" dirty="0"/>
                    </a:p>
                  </a:txBody>
                  <a:tcPr/>
                </a:tc>
                <a:tc>
                  <a:txBody>
                    <a:bodyPr/>
                    <a:lstStyle/>
                    <a:p>
                      <a:endParaRPr lang="en-GB" sz="800" dirty="0"/>
                    </a:p>
                  </a:txBody>
                  <a:tcPr/>
                </a:tc>
                <a:extLst>
                  <a:ext uri="{0D108BD9-81ED-4DB2-BD59-A6C34878D82A}">
                    <a16:rowId xmlns:a16="http://schemas.microsoft.com/office/drawing/2014/main" val="1242589453"/>
                  </a:ext>
                </a:extLst>
              </a:tr>
              <a:tr h="585303">
                <a:tc>
                  <a:txBody>
                    <a:bodyPr/>
                    <a:lstStyle/>
                    <a:p>
                      <a:r>
                        <a:rPr lang="en-GB" sz="800" dirty="0"/>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2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r>
                        <a:rPr lang="en-GB" sz="800" dirty="0"/>
                        <a:t>Obj_amcd_k9_lvl2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starts in Camera Zone 5 and has a 50/50 chance of either going to Camera zone 1(Right) or Camera zone 6(Left). K9 mattering on which side he kicks off from will then make his way to the office. If he’s in Camera Zone 2 and the left door is closed he will reset back to zone 5 and repeat the process. Same goes for Camera zone 7 for the right door. K9 is the second fastest AMCD. K9 can access Camera Zones 5,1,6,7,2. when watched his movement is delayed</a:t>
                      </a:r>
                      <a:endParaRPr lang="en-GB" sz="800" baseline="30000" dirty="0"/>
                    </a:p>
                    <a:p>
                      <a:endParaRPr lang="en-GB" sz="800" dirty="0"/>
                    </a:p>
                  </a:txBody>
                  <a:tcPr/>
                </a:tc>
                <a:tc>
                  <a:txBody>
                    <a:bodyPr/>
                    <a:lstStyle/>
                    <a:p>
                      <a:endParaRPr lang="en-GB" sz="800" dirty="0"/>
                    </a:p>
                  </a:txBody>
                  <a:tcPr/>
                </a:tc>
                <a:extLst>
                  <a:ext uri="{0D108BD9-81ED-4DB2-BD59-A6C34878D82A}">
                    <a16:rowId xmlns:a16="http://schemas.microsoft.com/office/drawing/2014/main" val="4283415003"/>
                  </a:ext>
                </a:extLst>
              </a:tr>
              <a:tr h="585303">
                <a:tc>
                  <a:txBody>
                    <a:bodyPr/>
                    <a:lstStyle/>
                    <a:p>
                      <a:r>
                        <a:rPr lang="en-GB" sz="800" dirty="0"/>
                        <a:t>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3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r>
                        <a:rPr lang="en-GB" sz="800" dirty="0"/>
                        <a:t>Obj_amcd_k9_lvl3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starts in Camera Zone 5 and has a 50/50 chance of either going to Camera zone 1(Right) or Camera zone 6(Left). K9 mattering on which side he kicks off from will then make his way to the office. If he’s in Camera Zone 2 and the left door is closed he will reset back to zone 5 and repeat the process. Same goes for Camera zone 7 for the right door. K9 is the second fastest AMCD. K9 can access Camera Zones 5,1,6,7,2. when watched his movement is delayed</a:t>
                      </a:r>
                      <a:endParaRPr lang="en-GB" sz="800" baseline="30000" dirty="0"/>
                    </a:p>
                    <a:p>
                      <a:endParaRPr lang="en-GB" sz="800" dirty="0"/>
                    </a:p>
                  </a:txBody>
                  <a:tcPr/>
                </a:tc>
                <a:tc>
                  <a:txBody>
                    <a:bodyPr/>
                    <a:lstStyle/>
                    <a:p>
                      <a:endParaRPr lang="en-GB" sz="800" dirty="0"/>
                    </a:p>
                  </a:txBody>
                  <a:tcPr/>
                </a:tc>
                <a:extLst>
                  <a:ext uri="{0D108BD9-81ED-4DB2-BD59-A6C34878D82A}">
                    <a16:rowId xmlns:a16="http://schemas.microsoft.com/office/drawing/2014/main" val="266603248"/>
                  </a:ext>
                </a:extLst>
              </a:tr>
              <a:tr h="585303">
                <a:tc>
                  <a:txBody>
                    <a:bodyPr/>
                    <a:lstStyle/>
                    <a:p>
                      <a:r>
                        <a:rPr lang="en-GB" sz="800" dirty="0"/>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5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r>
                        <a:rPr lang="en-GB" sz="800" dirty="0"/>
                        <a:t>Obj_amcd_k9_lvl5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starts in Camera Zone 5 and has a 50/50 chance of either going to Camera zone 1(Right) or Camera zone 6(Left). K9 mattering on which side he kicks off from will then make his way to the office. If he’s in Camera Zone 2 and the left door is closed he will reset back to zone 5 and repeat the process. Same goes for Camera zone 7 for the right door. K9 is the second fastest AMCD. K9 can access Camera Zones 5,1,6,7,2. when watched his movement is delayed</a:t>
                      </a:r>
                      <a:endParaRPr lang="en-GB" sz="800" baseline="30000" dirty="0"/>
                    </a:p>
                    <a:p>
                      <a:endParaRPr lang="en-GB" sz="800" dirty="0"/>
                    </a:p>
                  </a:txBody>
                  <a:tcPr/>
                </a:tc>
                <a:tc>
                  <a:txBody>
                    <a:bodyPr/>
                    <a:lstStyle/>
                    <a:p>
                      <a:endParaRPr lang="en-GB" sz="800" dirty="0"/>
                    </a:p>
                  </a:txBody>
                  <a:tcPr/>
                </a:tc>
                <a:extLst>
                  <a:ext uri="{0D108BD9-81ED-4DB2-BD59-A6C34878D82A}">
                    <a16:rowId xmlns:a16="http://schemas.microsoft.com/office/drawing/2014/main" val="3698927783"/>
                  </a:ext>
                </a:extLst>
              </a:tr>
            </a:tbl>
          </a:graphicData>
        </a:graphic>
      </p:graphicFrame>
      <p:sp>
        <p:nvSpPr>
          <p:cNvPr id="2" name="TextBox 1">
            <a:extLst>
              <a:ext uri="{FF2B5EF4-FFF2-40B4-BE49-F238E27FC236}">
                <a16:creationId xmlns:a16="http://schemas.microsoft.com/office/drawing/2014/main" id="{F9129CF1-E1CC-4A65-2531-AC82C7C0D75D}"/>
              </a:ext>
            </a:extLst>
          </p:cNvPr>
          <p:cNvSpPr txBox="1"/>
          <p:nvPr/>
        </p:nvSpPr>
        <p:spPr>
          <a:xfrm>
            <a:off x="0" y="22553"/>
            <a:ext cx="1601592" cy="369332"/>
          </a:xfrm>
          <a:prstGeom prst="rect">
            <a:avLst/>
          </a:prstGeom>
          <a:noFill/>
        </p:spPr>
        <p:txBody>
          <a:bodyPr wrap="none" rtlCol="0">
            <a:spAutoFit/>
          </a:bodyPr>
          <a:lstStyle/>
          <a:p>
            <a:r>
              <a:rPr lang="en-GB" dirty="0"/>
              <a:t>Enemy Testing</a:t>
            </a:r>
          </a:p>
        </p:txBody>
      </p:sp>
    </p:spTree>
    <p:extLst>
      <p:ext uri="{BB962C8B-B14F-4D97-AF65-F5344CB8AC3E}">
        <p14:creationId xmlns:p14="http://schemas.microsoft.com/office/powerpoint/2010/main" val="246887052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1859226635"/>
              </p:ext>
            </p:extLst>
          </p:nvPr>
        </p:nvGraphicFramePr>
        <p:xfrm>
          <a:off x="0" y="391886"/>
          <a:ext cx="12034157" cy="5842405"/>
        </p:xfrm>
        <a:graphic>
          <a:graphicData uri="http://schemas.openxmlformats.org/drawingml/2006/table">
            <a:tbl>
              <a:tblPr firstRow="1" bandRow="1">
                <a:tableStyleId>{5C22544A-7EE6-4342-B048-85BDC9FD1C3A}</a:tableStyleId>
              </a:tblPr>
              <a:tblGrid>
                <a:gridCol w="702129">
                  <a:extLst>
                    <a:ext uri="{9D8B030D-6E8A-4147-A177-3AD203B41FA5}">
                      <a16:colId xmlns:a16="http://schemas.microsoft.com/office/drawing/2014/main" val="2041145262"/>
                    </a:ext>
                  </a:extLst>
                </a:gridCol>
                <a:gridCol w="2536104">
                  <a:extLst>
                    <a:ext uri="{9D8B030D-6E8A-4147-A177-3AD203B41FA5}">
                      <a16:colId xmlns:a16="http://schemas.microsoft.com/office/drawing/2014/main" val="3102287305"/>
                    </a:ext>
                  </a:extLst>
                </a:gridCol>
                <a:gridCol w="846982">
                  <a:extLst>
                    <a:ext uri="{9D8B030D-6E8A-4147-A177-3AD203B41FA5}">
                      <a16:colId xmlns:a16="http://schemas.microsoft.com/office/drawing/2014/main" val="4080696647"/>
                    </a:ext>
                  </a:extLst>
                </a:gridCol>
                <a:gridCol w="1517600">
                  <a:extLst>
                    <a:ext uri="{9D8B030D-6E8A-4147-A177-3AD203B41FA5}">
                      <a16:colId xmlns:a16="http://schemas.microsoft.com/office/drawing/2014/main" val="132880537"/>
                    </a:ext>
                  </a:extLst>
                </a:gridCol>
                <a:gridCol w="5329164">
                  <a:extLst>
                    <a:ext uri="{9D8B030D-6E8A-4147-A177-3AD203B41FA5}">
                      <a16:colId xmlns:a16="http://schemas.microsoft.com/office/drawing/2014/main" val="786884226"/>
                    </a:ext>
                  </a:extLst>
                </a:gridCol>
                <a:gridCol w="1102178">
                  <a:extLst>
                    <a:ext uri="{9D8B030D-6E8A-4147-A177-3AD203B41FA5}">
                      <a16:colId xmlns:a16="http://schemas.microsoft.com/office/drawing/2014/main" val="259252547"/>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851991">
                <a:tc>
                  <a:txBody>
                    <a:bodyPr/>
                    <a:lstStyle/>
                    <a:p>
                      <a:r>
                        <a:rPr lang="en-GB" sz="800" dirty="0"/>
                        <a:t>9.</a:t>
                      </a:r>
                    </a:p>
                  </a:txBody>
                  <a:tcPr/>
                </a:tc>
                <a:tc>
                  <a:txBody>
                    <a:bodyPr/>
                    <a:lstStyle/>
                    <a:p>
                      <a:r>
                        <a:rPr lang="en-GB" sz="800" dirty="0"/>
                        <a:t>Bulker Level 2 Enemy Movement Test</a:t>
                      </a:r>
                    </a:p>
                  </a:txBody>
                  <a:tcPr/>
                </a:tc>
                <a:tc>
                  <a:txBody>
                    <a:bodyPr/>
                    <a:lstStyle/>
                    <a:p>
                      <a:r>
                        <a:rPr lang="en-GB" sz="800" dirty="0"/>
                        <a:t>Rm_level2</a:t>
                      </a:r>
                    </a:p>
                  </a:txBody>
                  <a:tcPr/>
                </a:tc>
                <a:tc>
                  <a:txBody>
                    <a:bodyPr/>
                    <a:lstStyle/>
                    <a:p>
                      <a:r>
                        <a:rPr lang="en-GB" sz="800" dirty="0"/>
                        <a:t>Obj_amcd_bulker_level2</a:t>
                      </a:r>
                    </a:p>
                  </a:txBody>
                  <a:tcPr/>
                </a:tc>
                <a:tc>
                  <a:txBody>
                    <a:bodyPr/>
                    <a:lstStyle/>
                    <a:p>
                      <a:r>
                        <a:rPr lang="en-GB" sz="800" dirty="0"/>
                        <a:t>Bulker starts in Camera Zone 11 then makes his way towards the office. He can access zones 20,11,10,9,8,7.  Bulker is the slowest. If he is being watched, he can be forced to move backwards, and his movement is decreased drastically. He can only attack from the right side of the office and if your door is closed, he will remain there for a very long time before moving away. Camera Zone 20 is an optional room he can retreat to from 7, that also acts as a pressure point for the player to look out for.</a:t>
                      </a:r>
                    </a:p>
                  </a:txBody>
                  <a:tcPr/>
                </a:tc>
                <a:tc>
                  <a:txBody>
                    <a:bodyPr/>
                    <a:lstStyle/>
                    <a:p>
                      <a:endParaRPr lang="en-GB" sz="800" dirty="0"/>
                    </a:p>
                  </a:txBody>
                  <a:tcPr/>
                </a:tc>
                <a:extLst>
                  <a:ext uri="{0D108BD9-81ED-4DB2-BD59-A6C34878D82A}">
                    <a16:rowId xmlns:a16="http://schemas.microsoft.com/office/drawing/2014/main" val="1068541384"/>
                  </a:ext>
                </a:extLst>
              </a:tr>
              <a:tr h="597898">
                <a:tc>
                  <a:txBody>
                    <a:bodyPr/>
                    <a:lstStyle/>
                    <a:p>
                      <a:r>
                        <a:rPr lang="en-GB" sz="800" dirty="0"/>
                        <a:t>10.</a:t>
                      </a:r>
                    </a:p>
                  </a:txBody>
                  <a:tcPr/>
                </a:tc>
                <a:tc>
                  <a:txBody>
                    <a:bodyPr/>
                    <a:lstStyle/>
                    <a:p>
                      <a:r>
                        <a:rPr lang="en-GB" sz="800" dirty="0"/>
                        <a:t>Bulker Level 3 Enemy Movement Test</a:t>
                      </a:r>
                    </a:p>
                  </a:txBody>
                  <a:tcPr/>
                </a:tc>
                <a:tc>
                  <a:txBody>
                    <a:bodyPr/>
                    <a:lstStyle/>
                    <a:p>
                      <a:r>
                        <a:rPr lang="en-GB" sz="800" dirty="0"/>
                        <a:t>Rm_level3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Obj_amcd_bulker_level3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starts in Camera Zone 11 then makes his way towards the office. He can access zones 20,11,10,9,8,7,18,19.  Bulker is the slowest. If he is being watched, he can be forced to move backwards, and his movement is decreased drastically. He can only attack from the right side of the office and if your door is closed, he will remain there for a very long time before moving away. Camera Zone 20 is an optional room he can retreat to from 7, that also acts as a pressure point for the player to look out for. Also, on start he can choose between starting in zone 11 or 19.</a:t>
                      </a:r>
                    </a:p>
                    <a:p>
                      <a:endParaRPr lang="en-GB" sz="800" dirty="0"/>
                    </a:p>
                  </a:txBody>
                  <a:tcPr/>
                </a:tc>
                <a:tc>
                  <a:txBody>
                    <a:bodyPr/>
                    <a:lstStyle/>
                    <a:p>
                      <a:endParaRPr lang="en-GB" sz="800" dirty="0"/>
                    </a:p>
                  </a:txBody>
                  <a:tcPr/>
                </a:tc>
                <a:extLst>
                  <a:ext uri="{0D108BD9-81ED-4DB2-BD59-A6C34878D82A}">
                    <a16:rowId xmlns:a16="http://schemas.microsoft.com/office/drawing/2014/main" val="2215379278"/>
                  </a:ext>
                </a:extLst>
              </a:tr>
              <a:tr h="648831">
                <a:tc>
                  <a:txBody>
                    <a:bodyPr/>
                    <a:lstStyle/>
                    <a:p>
                      <a:r>
                        <a:rPr lang="en-GB" sz="800" dirty="0"/>
                        <a:t>11.</a:t>
                      </a:r>
                    </a:p>
                  </a:txBody>
                  <a:tcPr/>
                </a:tc>
                <a:tc>
                  <a:txBody>
                    <a:bodyPr/>
                    <a:lstStyle/>
                    <a:p>
                      <a:r>
                        <a:rPr lang="en-GB" sz="800" dirty="0"/>
                        <a:t>Bulker Level 5 Enemy  Movement Test</a:t>
                      </a:r>
                    </a:p>
                  </a:txBody>
                  <a:tcPr/>
                </a:tc>
                <a:tc>
                  <a:txBody>
                    <a:bodyPr/>
                    <a:lstStyle/>
                    <a:p>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Obj_amcd_bulker_level5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starts in Camera Zone 11 then makes his way towards the office. He can access zones 20,11,10,9,8,7,18,19.  Bulker is the slowest. If he is being watched, he can be forced to move backwards and his movement is decreased drastically. He can only attack from the right side of the office and if your door is closed, he will remain there for a very long time before moving away. Camera Zone 20 is an optional room he can retreat to from 7, that also acts as a pressure point for the player to look out for. Also, on start he can choose between starting in zone 11 or 19.</a:t>
                      </a:r>
                    </a:p>
                    <a:p>
                      <a:endParaRPr lang="en-GB" sz="800" dirty="0"/>
                    </a:p>
                  </a:txBody>
                  <a:tcPr/>
                </a:tc>
                <a:tc>
                  <a:txBody>
                    <a:bodyPr/>
                    <a:lstStyle/>
                    <a:p>
                      <a:endParaRPr lang="en-GB" sz="800" dirty="0"/>
                    </a:p>
                  </a:txBody>
                  <a:tcPr/>
                </a:tc>
                <a:extLst>
                  <a:ext uri="{0D108BD9-81ED-4DB2-BD59-A6C34878D82A}">
                    <a16:rowId xmlns:a16="http://schemas.microsoft.com/office/drawing/2014/main" val="4058717911"/>
                  </a:ext>
                </a:extLst>
              </a:tr>
              <a:tr h="585107">
                <a:tc>
                  <a:txBody>
                    <a:bodyPr/>
                    <a:lstStyle/>
                    <a:p>
                      <a:r>
                        <a:rPr lang="en-GB" sz="800" dirty="0"/>
                        <a:t>12.</a:t>
                      </a:r>
                    </a:p>
                  </a:txBody>
                  <a:tcPr/>
                </a:tc>
                <a:tc>
                  <a:txBody>
                    <a:bodyPr/>
                    <a:lstStyle/>
                    <a:p>
                      <a:r>
                        <a:rPr lang="en-GB" sz="800" dirty="0" err="1"/>
                        <a:t>Arach</a:t>
                      </a:r>
                      <a:r>
                        <a:rPr lang="en-GB" sz="800" dirty="0"/>
                        <a:t> Level 4 Enemy Movement Test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Obj_amcd_arach_level4</a:t>
                      </a:r>
                    </a:p>
                    <a:p>
                      <a:endParaRPr lang="en-GB" sz="800" dirty="0"/>
                    </a:p>
                  </a:txBody>
                  <a:tcPr/>
                </a:tc>
                <a:tc>
                  <a:txBody>
                    <a:bodyPr/>
                    <a:lstStyle/>
                    <a:p>
                      <a:r>
                        <a:rPr lang="en-GB" sz="800" dirty="0" err="1"/>
                        <a:t>Arach</a:t>
                      </a:r>
                      <a:r>
                        <a:rPr lang="en-GB" sz="800" dirty="0"/>
                        <a:t> starts in Camera Zone 5. </a:t>
                      </a:r>
                      <a:r>
                        <a:rPr lang="en-GB" sz="800" dirty="0" err="1"/>
                        <a:t>Arach</a:t>
                      </a:r>
                      <a:r>
                        <a:rPr lang="en-GB" sz="800" dirty="0"/>
                        <a:t> works by changing between camera zone 5 and 8 (front vent and back vent) to then move into zone 0. If the front vent is closed as </a:t>
                      </a:r>
                      <a:r>
                        <a:rPr lang="en-GB" sz="800" dirty="0" err="1"/>
                        <a:t>Arach</a:t>
                      </a:r>
                      <a:r>
                        <a:rPr lang="en-GB" sz="800" dirty="0"/>
                        <a:t> is in Camera Zone 5, he cannot attack, same works for Camera zone 8. If he fails an attack, he rolls a 50/50 on whether he stays in 5 or moves to 8. Arach also plays his vent crawl sound when is attack timer starts, giving the player a small window to react to Arach. Arach plays the </a:t>
                      </a:r>
                      <a:r>
                        <a:rPr lang="en-GB" sz="800" dirty="0" err="1"/>
                        <a:t>the</a:t>
                      </a:r>
                      <a:r>
                        <a:rPr lang="en-GB" sz="800" dirty="0"/>
                        <a:t> same sound but form different audio directions based on if he’s attack from the front vent or back vent.</a:t>
                      </a:r>
                    </a:p>
                  </a:txBody>
                  <a:tcPr/>
                </a:tc>
                <a:tc>
                  <a:txBody>
                    <a:bodyPr/>
                    <a:lstStyle/>
                    <a:p>
                      <a:endParaRPr lang="en-GB" sz="800" dirty="0"/>
                    </a:p>
                  </a:txBody>
                  <a:tcPr/>
                </a:tc>
                <a:extLst>
                  <a:ext uri="{0D108BD9-81ED-4DB2-BD59-A6C34878D82A}">
                    <a16:rowId xmlns:a16="http://schemas.microsoft.com/office/drawing/2014/main" val="3720550943"/>
                  </a:ext>
                </a:extLst>
              </a:tr>
              <a:tr h="648831">
                <a:tc>
                  <a:txBody>
                    <a:bodyPr/>
                    <a:lstStyle/>
                    <a:p>
                      <a:r>
                        <a:rPr lang="en-GB" sz="800" dirty="0"/>
                        <a:t>13.</a:t>
                      </a:r>
                    </a:p>
                  </a:txBody>
                  <a:tcPr/>
                </a:tc>
                <a:tc>
                  <a:txBody>
                    <a:bodyPr/>
                    <a:lstStyle/>
                    <a:p>
                      <a:r>
                        <a:rPr lang="en-GB" sz="800" dirty="0" err="1"/>
                        <a:t>Arach</a:t>
                      </a:r>
                      <a:r>
                        <a:rPr lang="en-GB" sz="800" dirty="0"/>
                        <a:t> Level 5 Enemy Movement Test</a:t>
                      </a:r>
                    </a:p>
                  </a:txBody>
                  <a:tcPr/>
                </a:tc>
                <a:tc>
                  <a:txBody>
                    <a:bodyPr/>
                    <a:lstStyle/>
                    <a:p>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Obj_amcd_arach_level5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Arach</a:t>
                      </a:r>
                      <a:r>
                        <a:rPr lang="en-GB" sz="800" dirty="0"/>
                        <a:t> starts in Camera Zone 5. </a:t>
                      </a:r>
                      <a:r>
                        <a:rPr lang="en-GB" sz="800" dirty="0" err="1"/>
                        <a:t>Arach</a:t>
                      </a:r>
                      <a:r>
                        <a:rPr lang="en-GB" sz="800" dirty="0"/>
                        <a:t> works by changing between camera zone 5 and 8 (front vent and back vent) to then move into zone 0. If the front vent is closed as </a:t>
                      </a:r>
                      <a:r>
                        <a:rPr lang="en-GB" sz="800" dirty="0" err="1"/>
                        <a:t>Arach</a:t>
                      </a:r>
                      <a:r>
                        <a:rPr lang="en-GB" sz="800" dirty="0"/>
                        <a:t> is in Camera Zone 5, he cannot attack, same works for Camera zone 8. If he fails an attack, he rolls a 50/50 on whether he stays in 5 or moves to 8. Arach also plays his vent crawl sound when is attack timer starts, giving the player a small window to react to Arach. Arach plays the </a:t>
                      </a:r>
                      <a:r>
                        <a:rPr lang="en-GB" sz="800" dirty="0" err="1"/>
                        <a:t>the</a:t>
                      </a:r>
                      <a:r>
                        <a:rPr lang="en-GB" sz="800" dirty="0"/>
                        <a:t> same sound but form different audio directions based on if he’s attack from the front vent or back vent.</a:t>
                      </a:r>
                    </a:p>
                    <a:p>
                      <a:endParaRPr lang="en-GB" sz="800" dirty="0"/>
                    </a:p>
                  </a:txBody>
                  <a:tcPr/>
                </a:tc>
                <a:tc>
                  <a:txBody>
                    <a:bodyPr/>
                    <a:lstStyle/>
                    <a:p>
                      <a:endParaRPr lang="en-GB" sz="800" dirty="0"/>
                    </a:p>
                  </a:txBody>
                  <a:tcPr/>
                </a:tc>
                <a:extLst>
                  <a:ext uri="{0D108BD9-81ED-4DB2-BD59-A6C34878D82A}">
                    <a16:rowId xmlns:a16="http://schemas.microsoft.com/office/drawing/2014/main" val="1242589453"/>
                  </a:ext>
                </a:extLst>
              </a:tr>
              <a:tr h="648831">
                <a:tc>
                  <a:txBody>
                    <a:bodyPr/>
                    <a:lstStyle/>
                    <a:p>
                      <a:r>
                        <a:rPr lang="en-GB" sz="800" dirty="0"/>
                        <a:t>14.</a:t>
                      </a:r>
                    </a:p>
                  </a:txBody>
                  <a:tcPr/>
                </a:tc>
                <a:tc>
                  <a:txBody>
                    <a:bodyPr/>
                    <a:lstStyle/>
                    <a:p>
                      <a:r>
                        <a:rPr lang="en-GB" sz="800" dirty="0"/>
                        <a:t>Prototype Level 4 Enemy  Movement Test</a:t>
                      </a:r>
                    </a:p>
                  </a:txBody>
                  <a:tcPr/>
                </a:tc>
                <a:tc>
                  <a:txBody>
                    <a:bodyPr/>
                    <a:lstStyle/>
                    <a:p>
                      <a:r>
                        <a:rPr lang="en-GB" sz="8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Obj_amcd_prototype_level4</a:t>
                      </a:r>
                    </a:p>
                    <a:p>
                      <a:endParaRPr lang="en-GB" sz="800" dirty="0"/>
                    </a:p>
                  </a:txBody>
                  <a:tcPr/>
                </a:tc>
                <a:tc>
                  <a:txBody>
                    <a:bodyPr/>
                    <a:lstStyle/>
                    <a:p>
                      <a:r>
                        <a:rPr lang="en-GB" sz="800" dirty="0"/>
                        <a:t>Prototype is a full deck, a combination of every enemies, behaviours. When he’s at the door, he stays for a long time, he’s silent like </a:t>
                      </a:r>
                      <a:r>
                        <a:rPr lang="en-GB" sz="800" dirty="0" err="1"/>
                        <a:t>Gwiber</a:t>
                      </a:r>
                      <a:r>
                        <a:rPr lang="en-GB" sz="800" dirty="0"/>
                        <a:t> and his main behaviour which is related to K9. Prototype can move from any Camera zone. When he leaves the door, he chooses what camera zone he wants to go to between 1,20 (all of them besides the zone he’s currently in). This makes him unpredictable.</a:t>
                      </a:r>
                    </a:p>
                  </a:txBody>
                  <a:tcPr/>
                </a:tc>
                <a:tc>
                  <a:txBody>
                    <a:bodyPr/>
                    <a:lstStyle/>
                    <a:p>
                      <a:endParaRPr lang="en-GB" sz="800" dirty="0"/>
                    </a:p>
                  </a:txBody>
                  <a:tcPr/>
                </a:tc>
                <a:extLst>
                  <a:ext uri="{0D108BD9-81ED-4DB2-BD59-A6C34878D82A}">
                    <a16:rowId xmlns:a16="http://schemas.microsoft.com/office/drawing/2014/main" val="4283415003"/>
                  </a:ext>
                </a:extLst>
              </a:tr>
              <a:tr h="648831">
                <a:tc>
                  <a:txBody>
                    <a:bodyPr/>
                    <a:lstStyle/>
                    <a:p>
                      <a:r>
                        <a:rPr lang="en-GB" sz="800" dirty="0"/>
                        <a:t>15.</a:t>
                      </a:r>
                    </a:p>
                  </a:txBody>
                  <a:tcPr/>
                </a:tc>
                <a:tc>
                  <a:txBody>
                    <a:bodyPr/>
                    <a:lstStyle/>
                    <a:p>
                      <a:r>
                        <a:rPr lang="en-GB" sz="800" dirty="0"/>
                        <a:t>Prototype Level 5 Enemy Movement Test</a:t>
                      </a:r>
                    </a:p>
                  </a:txBody>
                  <a:tcPr/>
                </a:tc>
                <a:tc>
                  <a:txBody>
                    <a:bodyPr/>
                    <a:lstStyle/>
                    <a:p>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Prototype is a full deck, a combination of every enemies, behaviours. When he’s at the door, he stays for a long time, he’s silent like </a:t>
                      </a:r>
                      <a:r>
                        <a:rPr lang="en-GB" sz="800" dirty="0" err="1"/>
                        <a:t>Gwiber</a:t>
                      </a:r>
                      <a:r>
                        <a:rPr lang="en-GB" sz="800" dirty="0"/>
                        <a:t> and his main behaviour which is related to K9. Prototype can move from any Camera zone. When he leaves the door, he chooses what camera zone he wants to go to between 1,20 (all of them besides the zone he’s currently in). This makes him unpredictable.</a:t>
                      </a:r>
                    </a:p>
                    <a:p>
                      <a:endParaRPr lang="en-GB" sz="800" dirty="0"/>
                    </a:p>
                  </a:txBody>
                  <a:tcPr/>
                </a:tc>
                <a:tc>
                  <a:txBody>
                    <a:bodyPr/>
                    <a:lstStyle/>
                    <a:p>
                      <a:endParaRPr lang="en-GB" sz="800" dirty="0"/>
                    </a:p>
                  </a:txBody>
                  <a:tcPr/>
                </a:tc>
                <a:extLst>
                  <a:ext uri="{0D108BD9-81ED-4DB2-BD59-A6C34878D82A}">
                    <a16:rowId xmlns:a16="http://schemas.microsoft.com/office/drawing/2014/main" val="266603248"/>
                  </a:ext>
                </a:extLst>
              </a:tr>
            </a:tbl>
          </a:graphicData>
        </a:graphic>
      </p:graphicFrame>
      <p:sp>
        <p:nvSpPr>
          <p:cNvPr id="2" name="TextBox 1">
            <a:extLst>
              <a:ext uri="{FF2B5EF4-FFF2-40B4-BE49-F238E27FC236}">
                <a16:creationId xmlns:a16="http://schemas.microsoft.com/office/drawing/2014/main" id="{5445142E-D420-971B-F107-7C0118BD27EA}"/>
              </a:ext>
            </a:extLst>
          </p:cNvPr>
          <p:cNvSpPr txBox="1"/>
          <p:nvPr/>
        </p:nvSpPr>
        <p:spPr>
          <a:xfrm>
            <a:off x="0" y="22553"/>
            <a:ext cx="1601592" cy="369332"/>
          </a:xfrm>
          <a:prstGeom prst="rect">
            <a:avLst/>
          </a:prstGeom>
          <a:noFill/>
        </p:spPr>
        <p:txBody>
          <a:bodyPr wrap="none" rtlCol="0">
            <a:spAutoFit/>
          </a:bodyPr>
          <a:lstStyle/>
          <a:p>
            <a:r>
              <a:rPr lang="en-GB" dirty="0"/>
              <a:t>Enemy Testing</a:t>
            </a:r>
          </a:p>
        </p:txBody>
      </p:sp>
    </p:spTree>
    <p:extLst>
      <p:ext uri="{BB962C8B-B14F-4D97-AF65-F5344CB8AC3E}">
        <p14:creationId xmlns:p14="http://schemas.microsoft.com/office/powerpoint/2010/main" val="83827126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2518163840"/>
              </p:ext>
            </p:extLst>
          </p:nvPr>
        </p:nvGraphicFramePr>
        <p:xfrm>
          <a:off x="0" y="391886"/>
          <a:ext cx="12034157" cy="5749774"/>
        </p:xfrm>
        <a:graphic>
          <a:graphicData uri="http://schemas.openxmlformats.org/drawingml/2006/table">
            <a:tbl>
              <a:tblPr firstRow="1" bandRow="1">
                <a:tableStyleId>{5C22544A-7EE6-4342-B048-85BDC9FD1C3A}</a:tableStyleId>
              </a:tblPr>
              <a:tblGrid>
                <a:gridCol w="702129">
                  <a:extLst>
                    <a:ext uri="{9D8B030D-6E8A-4147-A177-3AD203B41FA5}">
                      <a16:colId xmlns:a16="http://schemas.microsoft.com/office/drawing/2014/main" val="2041145262"/>
                    </a:ext>
                  </a:extLst>
                </a:gridCol>
                <a:gridCol w="2465614">
                  <a:extLst>
                    <a:ext uri="{9D8B030D-6E8A-4147-A177-3AD203B41FA5}">
                      <a16:colId xmlns:a16="http://schemas.microsoft.com/office/drawing/2014/main" val="3102287305"/>
                    </a:ext>
                  </a:extLst>
                </a:gridCol>
                <a:gridCol w="917472">
                  <a:extLst>
                    <a:ext uri="{9D8B030D-6E8A-4147-A177-3AD203B41FA5}">
                      <a16:colId xmlns:a16="http://schemas.microsoft.com/office/drawing/2014/main" val="4080696647"/>
                    </a:ext>
                  </a:extLst>
                </a:gridCol>
                <a:gridCol w="1517600">
                  <a:extLst>
                    <a:ext uri="{9D8B030D-6E8A-4147-A177-3AD203B41FA5}">
                      <a16:colId xmlns:a16="http://schemas.microsoft.com/office/drawing/2014/main" val="132880537"/>
                    </a:ext>
                  </a:extLst>
                </a:gridCol>
                <a:gridCol w="4120849">
                  <a:extLst>
                    <a:ext uri="{9D8B030D-6E8A-4147-A177-3AD203B41FA5}">
                      <a16:colId xmlns:a16="http://schemas.microsoft.com/office/drawing/2014/main" val="786884226"/>
                    </a:ext>
                  </a:extLst>
                </a:gridCol>
                <a:gridCol w="2310493">
                  <a:extLst>
                    <a:ext uri="{9D8B030D-6E8A-4147-A177-3AD203B41FA5}">
                      <a16:colId xmlns:a16="http://schemas.microsoft.com/office/drawing/2014/main" val="259252547"/>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851991">
                <a:tc>
                  <a:txBody>
                    <a:bodyPr/>
                    <a:lstStyle/>
                    <a:p>
                      <a:r>
                        <a:rPr lang="en-GB" sz="800" dirty="0"/>
                        <a:t>16.</a:t>
                      </a:r>
                    </a:p>
                  </a:txBody>
                  <a:tcPr/>
                </a:tc>
                <a:tc>
                  <a:txBody>
                    <a:bodyPr/>
                    <a:lstStyle/>
                    <a:p>
                      <a:r>
                        <a:rPr lang="en-GB" sz="800" dirty="0" err="1"/>
                        <a:t>Gwiber</a:t>
                      </a:r>
                      <a:r>
                        <a:rPr lang="en-GB" sz="800" dirty="0"/>
                        <a:t> Level 1 watched</a:t>
                      </a:r>
                    </a:p>
                  </a:txBody>
                  <a:tcPr/>
                </a:tc>
                <a:tc>
                  <a:txBody>
                    <a:bodyPr/>
                    <a:lstStyle/>
                    <a:p>
                      <a:r>
                        <a:rPr lang="en-GB" sz="800" dirty="0"/>
                        <a:t>Rm_level1</a:t>
                      </a:r>
                    </a:p>
                  </a:txBody>
                  <a:tcPr/>
                </a:tc>
                <a:tc>
                  <a:txBody>
                    <a:bodyPr/>
                    <a:lstStyle/>
                    <a:p>
                      <a:r>
                        <a:rPr lang="en-GB" sz="800" dirty="0" err="1"/>
                        <a:t>Obj_amcd_gwiber</a:t>
                      </a:r>
                      <a:endParaRPr lang="en-GB" sz="800" dirty="0"/>
                    </a:p>
                  </a:txBody>
                  <a:tcPr/>
                </a:tc>
                <a:tc>
                  <a:txBody>
                    <a:bodyPr/>
                    <a:lstStyle/>
                    <a:p>
                      <a:r>
                        <a:rPr lang="en-GB" sz="800" dirty="0"/>
                        <a:t>When player is viewing the same zone as </a:t>
                      </a:r>
                      <a:r>
                        <a:rPr lang="en-GB" sz="800" dirty="0" err="1"/>
                        <a:t>Gwiber</a:t>
                      </a:r>
                      <a:r>
                        <a:rPr lang="en-GB" sz="800" dirty="0"/>
                        <a:t>, </a:t>
                      </a:r>
                      <a:r>
                        <a:rPr lang="en-GB" sz="800" dirty="0" err="1"/>
                        <a:t>Gwibers</a:t>
                      </a:r>
                      <a:r>
                        <a:rPr lang="en-GB" sz="800" dirty="0"/>
                        <a:t> movement timer slows down. To be more specific his normal movement timer is -5 per frame, however when he is being watched it decreases to -1 per-frame.</a:t>
                      </a:r>
                    </a:p>
                  </a:txBody>
                  <a:tcPr/>
                </a:tc>
                <a:tc>
                  <a:txBody>
                    <a:bodyPr/>
                    <a:lstStyle/>
                    <a:p>
                      <a:endParaRPr lang="en-GB" sz="800" dirty="0"/>
                    </a:p>
                  </a:txBody>
                  <a:tcPr/>
                </a:tc>
                <a:extLst>
                  <a:ext uri="{0D108BD9-81ED-4DB2-BD59-A6C34878D82A}">
                    <a16:rowId xmlns:a16="http://schemas.microsoft.com/office/drawing/2014/main" val="1068541384"/>
                  </a:ext>
                </a:extLst>
              </a:tr>
              <a:tr h="597898">
                <a:tc>
                  <a:txBody>
                    <a:bodyPr/>
                    <a:lstStyle/>
                    <a:p>
                      <a:r>
                        <a:rPr lang="en-GB" sz="800" dirty="0"/>
                        <a:t>17.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2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r>
                        <a:rPr lang="en-GB" sz="800" dirty="0"/>
                        <a:t>Obj_amcd_gwiber_lvl2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a:t>
                      </a:r>
                      <a:r>
                        <a:rPr lang="en-GB" sz="800" dirty="0" err="1"/>
                        <a:t>Gwiber</a:t>
                      </a:r>
                      <a:r>
                        <a:rPr lang="en-GB" sz="800" dirty="0"/>
                        <a:t>, </a:t>
                      </a:r>
                      <a:r>
                        <a:rPr lang="en-GB" sz="800" dirty="0" err="1"/>
                        <a:t>Gwibers</a:t>
                      </a:r>
                      <a:r>
                        <a:rPr lang="en-GB" sz="800" dirty="0"/>
                        <a:t>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2215379278"/>
                  </a:ext>
                </a:extLst>
              </a:tr>
              <a:tr h="648831">
                <a:tc>
                  <a:txBody>
                    <a:bodyPr/>
                    <a:lstStyle/>
                    <a:p>
                      <a:r>
                        <a:rPr lang="en-GB" sz="800" dirty="0"/>
                        <a:t>18.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3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a:t>
                      </a:r>
                      <a:r>
                        <a:rPr lang="en-GB" sz="800" dirty="0" err="1"/>
                        <a:t>Gwiber</a:t>
                      </a:r>
                      <a:r>
                        <a:rPr lang="en-GB" sz="800" dirty="0"/>
                        <a:t>, </a:t>
                      </a:r>
                      <a:r>
                        <a:rPr lang="en-GB" sz="800" dirty="0" err="1"/>
                        <a:t>Gwibers</a:t>
                      </a:r>
                      <a:r>
                        <a:rPr lang="en-GB" sz="800" dirty="0"/>
                        <a:t>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4058717911"/>
                  </a:ext>
                </a:extLst>
              </a:tr>
              <a:tr h="585107">
                <a:tc>
                  <a:txBody>
                    <a:bodyPr/>
                    <a:lstStyle/>
                    <a:p>
                      <a:r>
                        <a:rPr lang="en-GB" sz="800" dirty="0"/>
                        <a:t>19.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5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a:t>
                      </a:r>
                      <a:r>
                        <a:rPr lang="en-GB" sz="800" dirty="0" err="1"/>
                        <a:t>Gwiber</a:t>
                      </a:r>
                      <a:r>
                        <a:rPr lang="en-GB" sz="800" dirty="0"/>
                        <a:t>, </a:t>
                      </a:r>
                      <a:r>
                        <a:rPr lang="en-GB" sz="800" dirty="0" err="1"/>
                        <a:t>Gwibers</a:t>
                      </a:r>
                      <a:r>
                        <a:rPr lang="en-GB" sz="800" dirty="0"/>
                        <a:t>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3720550943"/>
                  </a:ext>
                </a:extLst>
              </a:tr>
              <a:tr h="648831">
                <a:tc>
                  <a:txBody>
                    <a:bodyPr/>
                    <a:lstStyle/>
                    <a:p>
                      <a:r>
                        <a:rPr lang="en-GB" sz="800" dirty="0"/>
                        <a:t>20.</a:t>
                      </a:r>
                    </a:p>
                  </a:txBody>
                  <a:tcPr/>
                </a:tc>
                <a:tc>
                  <a:txBody>
                    <a:bodyPr/>
                    <a:lstStyle/>
                    <a:p>
                      <a:r>
                        <a:rPr lang="en-GB" sz="800" dirty="0"/>
                        <a:t>K9 level 1 watched</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Rm_level1</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K9, K9 ‘s movement timer slows down. To be more specific his normal movement timer is -2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1242589453"/>
                  </a:ext>
                </a:extLst>
              </a:tr>
              <a:tr h="648831">
                <a:tc>
                  <a:txBody>
                    <a:bodyPr/>
                    <a:lstStyle/>
                    <a:p>
                      <a:r>
                        <a:rPr lang="en-GB" sz="800" dirty="0"/>
                        <a:t>21.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2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K9, K9 ‘s movement timer slows down. To be more specific his normal movement timer is -2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4283415003"/>
                  </a:ext>
                </a:extLst>
              </a:tr>
              <a:tr h="648831">
                <a:tc>
                  <a:txBody>
                    <a:bodyPr/>
                    <a:lstStyle/>
                    <a:p>
                      <a:r>
                        <a:rPr lang="en-GB" sz="800" dirty="0"/>
                        <a:t>22.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3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K9, K9 ‘s movement timer slows down. To be more specific his normal movement timer is -2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266603248"/>
                  </a:ext>
                </a:extLst>
              </a:tr>
              <a:tr h="648831">
                <a:tc>
                  <a:txBody>
                    <a:bodyPr/>
                    <a:lstStyle/>
                    <a:p>
                      <a:r>
                        <a:rPr lang="en-GB" sz="800" dirty="0"/>
                        <a:t>23.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5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K9, K9 ‘s movement timer slows down. To be more specific his normal movement timer is -2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2541011158"/>
                  </a:ext>
                </a:extLst>
              </a:tr>
            </a:tbl>
          </a:graphicData>
        </a:graphic>
      </p:graphicFrame>
      <p:sp>
        <p:nvSpPr>
          <p:cNvPr id="2" name="TextBox 1">
            <a:extLst>
              <a:ext uri="{FF2B5EF4-FFF2-40B4-BE49-F238E27FC236}">
                <a16:creationId xmlns:a16="http://schemas.microsoft.com/office/drawing/2014/main" id="{5445142E-D420-971B-F107-7C0118BD27EA}"/>
              </a:ext>
            </a:extLst>
          </p:cNvPr>
          <p:cNvSpPr txBox="1"/>
          <p:nvPr/>
        </p:nvSpPr>
        <p:spPr>
          <a:xfrm>
            <a:off x="0" y="22553"/>
            <a:ext cx="1648080" cy="369332"/>
          </a:xfrm>
          <a:prstGeom prst="rect">
            <a:avLst/>
          </a:prstGeom>
          <a:noFill/>
        </p:spPr>
        <p:txBody>
          <a:bodyPr wrap="none" rtlCol="0">
            <a:spAutoFit/>
          </a:bodyPr>
          <a:lstStyle/>
          <a:p>
            <a:r>
              <a:rPr lang="en-GB" dirty="0"/>
              <a:t>Enemy Testing</a:t>
            </a:r>
          </a:p>
        </p:txBody>
      </p:sp>
    </p:spTree>
    <p:extLst>
      <p:ext uri="{BB962C8B-B14F-4D97-AF65-F5344CB8AC3E}">
        <p14:creationId xmlns:p14="http://schemas.microsoft.com/office/powerpoint/2010/main" val="380230371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1948560174"/>
              </p:ext>
            </p:extLst>
          </p:nvPr>
        </p:nvGraphicFramePr>
        <p:xfrm>
          <a:off x="0" y="391886"/>
          <a:ext cx="12034157" cy="5749774"/>
        </p:xfrm>
        <a:graphic>
          <a:graphicData uri="http://schemas.openxmlformats.org/drawingml/2006/table">
            <a:tbl>
              <a:tblPr firstRow="1" bandRow="1">
                <a:tableStyleId>{5C22544A-7EE6-4342-B048-85BDC9FD1C3A}</a:tableStyleId>
              </a:tblPr>
              <a:tblGrid>
                <a:gridCol w="702129">
                  <a:extLst>
                    <a:ext uri="{9D8B030D-6E8A-4147-A177-3AD203B41FA5}">
                      <a16:colId xmlns:a16="http://schemas.microsoft.com/office/drawing/2014/main" val="2041145262"/>
                    </a:ext>
                  </a:extLst>
                </a:gridCol>
                <a:gridCol w="2465614">
                  <a:extLst>
                    <a:ext uri="{9D8B030D-6E8A-4147-A177-3AD203B41FA5}">
                      <a16:colId xmlns:a16="http://schemas.microsoft.com/office/drawing/2014/main" val="3102287305"/>
                    </a:ext>
                  </a:extLst>
                </a:gridCol>
                <a:gridCol w="917472">
                  <a:extLst>
                    <a:ext uri="{9D8B030D-6E8A-4147-A177-3AD203B41FA5}">
                      <a16:colId xmlns:a16="http://schemas.microsoft.com/office/drawing/2014/main" val="4080696647"/>
                    </a:ext>
                  </a:extLst>
                </a:gridCol>
                <a:gridCol w="1517600">
                  <a:extLst>
                    <a:ext uri="{9D8B030D-6E8A-4147-A177-3AD203B41FA5}">
                      <a16:colId xmlns:a16="http://schemas.microsoft.com/office/drawing/2014/main" val="132880537"/>
                    </a:ext>
                  </a:extLst>
                </a:gridCol>
                <a:gridCol w="4120849">
                  <a:extLst>
                    <a:ext uri="{9D8B030D-6E8A-4147-A177-3AD203B41FA5}">
                      <a16:colId xmlns:a16="http://schemas.microsoft.com/office/drawing/2014/main" val="786884226"/>
                    </a:ext>
                  </a:extLst>
                </a:gridCol>
                <a:gridCol w="2310493">
                  <a:extLst>
                    <a:ext uri="{9D8B030D-6E8A-4147-A177-3AD203B41FA5}">
                      <a16:colId xmlns:a16="http://schemas.microsoft.com/office/drawing/2014/main" val="259252547"/>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851991">
                <a:tc>
                  <a:txBody>
                    <a:bodyPr/>
                    <a:lstStyle/>
                    <a:p>
                      <a:r>
                        <a:rPr lang="en-GB" sz="800" dirty="0"/>
                        <a:t>24.</a:t>
                      </a:r>
                    </a:p>
                  </a:txBody>
                  <a:tcPr/>
                </a:tc>
                <a:tc>
                  <a:txBody>
                    <a:bodyPr/>
                    <a:lstStyle/>
                    <a:p>
                      <a:r>
                        <a:rPr lang="en-GB" sz="800" dirty="0"/>
                        <a:t>Bulker Level 1 watched</a:t>
                      </a:r>
                    </a:p>
                  </a:txBody>
                  <a:tcPr/>
                </a:tc>
                <a:tc>
                  <a:txBody>
                    <a:bodyPr/>
                    <a:lstStyle/>
                    <a:p>
                      <a:r>
                        <a:rPr lang="en-GB" sz="800" dirty="0"/>
                        <a:t>Rm_level1</a:t>
                      </a:r>
                    </a:p>
                  </a:txBody>
                  <a:tcPr/>
                </a:tc>
                <a:tc>
                  <a:txBody>
                    <a:bodyPr/>
                    <a:lstStyle/>
                    <a:p>
                      <a:r>
                        <a:rPr lang="en-GB" sz="800" dirty="0" err="1"/>
                        <a:t>Obj_amcd_gwiber</a:t>
                      </a:r>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Bulker, Bulker‘s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1068541384"/>
                  </a:ext>
                </a:extLst>
              </a:tr>
              <a:tr h="597898">
                <a:tc>
                  <a:txBody>
                    <a:bodyPr/>
                    <a:lstStyle/>
                    <a:p>
                      <a:r>
                        <a:rPr lang="en-GB" sz="800" dirty="0"/>
                        <a:t>25.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Level 2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r>
                        <a:rPr lang="en-GB" sz="800" dirty="0"/>
                        <a:t>Obj_amcd_gwiber_lvl2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Bulker, Bulker‘s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2215379278"/>
                  </a:ext>
                </a:extLst>
              </a:tr>
              <a:tr h="648831">
                <a:tc>
                  <a:txBody>
                    <a:bodyPr/>
                    <a:lstStyle/>
                    <a:p>
                      <a:r>
                        <a:rPr lang="en-GB" sz="800" dirty="0"/>
                        <a:t>26.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Level 3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Bulker, Bulker‘s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4058717911"/>
                  </a:ext>
                </a:extLst>
              </a:tr>
              <a:tr h="585107">
                <a:tc>
                  <a:txBody>
                    <a:bodyPr/>
                    <a:lstStyle/>
                    <a:p>
                      <a:r>
                        <a:rPr lang="en-GB" sz="800" dirty="0"/>
                        <a:t>27.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Level 5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Bulker, Bulker‘s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3720550943"/>
                  </a:ext>
                </a:extLst>
              </a:tr>
              <a:tr h="648831">
                <a:tc>
                  <a:txBody>
                    <a:bodyPr/>
                    <a:lstStyle/>
                    <a:p>
                      <a:r>
                        <a:rPr lang="en-GB" sz="800" dirty="0"/>
                        <a:t>28.</a:t>
                      </a:r>
                    </a:p>
                  </a:txBody>
                  <a:tcPr/>
                </a:tc>
                <a:tc>
                  <a:txBody>
                    <a:bodyPr/>
                    <a:lstStyle/>
                    <a:p>
                      <a:r>
                        <a:rPr lang="en-GB" sz="800" dirty="0"/>
                        <a:t>Prototype level 4 watched</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Prototype, Prototype‘s movement timer slows down. To be more specific his normal movement timer is -3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1242589453"/>
                  </a:ext>
                </a:extLst>
              </a:tr>
              <a:tr h="648831">
                <a:tc>
                  <a:txBody>
                    <a:bodyPr/>
                    <a:lstStyle/>
                    <a:p>
                      <a:r>
                        <a:rPr lang="en-GB" sz="800" dirty="0"/>
                        <a:t>29.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Prototype level 5 watched</a:t>
                      </a:r>
                    </a:p>
                    <a:p>
                      <a:endParaRPr lang="en-GB" sz="800" dirty="0"/>
                    </a:p>
                  </a:txBody>
                  <a:tcPr/>
                </a:tc>
                <a:tc>
                  <a:txBody>
                    <a:bodyPr/>
                    <a:lstStyle/>
                    <a:p>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Bulker, Bulker‘s movement timer slows down. To be more specific his normal movement timer is -3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4283415003"/>
                  </a:ext>
                </a:extLst>
              </a:tr>
              <a:tr h="648831">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266603248"/>
                  </a:ext>
                </a:extLst>
              </a:tr>
              <a:tr h="648831">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2541011158"/>
                  </a:ext>
                </a:extLst>
              </a:tr>
            </a:tbl>
          </a:graphicData>
        </a:graphic>
      </p:graphicFrame>
      <p:sp>
        <p:nvSpPr>
          <p:cNvPr id="2" name="TextBox 1">
            <a:extLst>
              <a:ext uri="{FF2B5EF4-FFF2-40B4-BE49-F238E27FC236}">
                <a16:creationId xmlns:a16="http://schemas.microsoft.com/office/drawing/2014/main" id="{5445142E-D420-971B-F107-7C0118BD27EA}"/>
              </a:ext>
            </a:extLst>
          </p:cNvPr>
          <p:cNvSpPr txBox="1"/>
          <p:nvPr/>
        </p:nvSpPr>
        <p:spPr>
          <a:xfrm>
            <a:off x="0" y="22553"/>
            <a:ext cx="1648080" cy="369332"/>
          </a:xfrm>
          <a:prstGeom prst="rect">
            <a:avLst/>
          </a:prstGeom>
          <a:noFill/>
        </p:spPr>
        <p:txBody>
          <a:bodyPr wrap="none" rtlCol="0">
            <a:spAutoFit/>
          </a:bodyPr>
          <a:lstStyle/>
          <a:p>
            <a:r>
              <a:rPr lang="en-GB" dirty="0"/>
              <a:t>Enemy Testing</a:t>
            </a:r>
          </a:p>
        </p:txBody>
      </p:sp>
    </p:spTree>
    <p:extLst>
      <p:ext uri="{BB962C8B-B14F-4D97-AF65-F5344CB8AC3E}">
        <p14:creationId xmlns:p14="http://schemas.microsoft.com/office/powerpoint/2010/main" val="369381273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1228830394"/>
              </p:ext>
            </p:extLst>
          </p:nvPr>
        </p:nvGraphicFramePr>
        <p:xfrm>
          <a:off x="0" y="391886"/>
          <a:ext cx="12034157" cy="6026734"/>
        </p:xfrm>
        <a:graphic>
          <a:graphicData uri="http://schemas.openxmlformats.org/drawingml/2006/table">
            <a:tbl>
              <a:tblPr firstRow="1" bandRow="1">
                <a:tableStyleId>{5C22544A-7EE6-4342-B048-85BDC9FD1C3A}</a:tableStyleId>
              </a:tblPr>
              <a:tblGrid>
                <a:gridCol w="702129">
                  <a:extLst>
                    <a:ext uri="{9D8B030D-6E8A-4147-A177-3AD203B41FA5}">
                      <a16:colId xmlns:a16="http://schemas.microsoft.com/office/drawing/2014/main" val="2041145262"/>
                    </a:ext>
                  </a:extLst>
                </a:gridCol>
                <a:gridCol w="1428750">
                  <a:extLst>
                    <a:ext uri="{9D8B030D-6E8A-4147-A177-3AD203B41FA5}">
                      <a16:colId xmlns:a16="http://schemas.microsoft.com/office/drawing/2014/main" val="3102287305"/>
                    </a:ext>
                  </a:extLst>
                </a:gridCol>
                <a:gridCol w="677635">
                  <a:extLst>
                    <a:ext uri="{9D8B030D-6E8A-4147-A177-3AD203B41FA5}">
                      <a16:colId xmlns:a16="http://schemas.microsoft.com/office/drawing/2014/main" val="4080696647"/>
                    </a:ext>
                  </a:extLst>
                </a:gridCol>
                <a:gridCol w="1306286">
                  <a:extLst>
                    <a:ext uri="{9D8B030D-6E8A-4147-A177-3AD203B41FA5}">
                      <a16:colId xmlns:a16="http://schemas.microsoft.com/office/drawing/2014/main" val="132880537"/>
                    </a:ext>
                  </a:extLst>
                </a:gridCol>
                <a:gridCol w="7143750">
                  <a:extLst>
                    <a:ext uri="{9D8B030D-6E8A-4147-A177-3AD203B41FA5}">
                      <a16:colId xmlns:a16="http://schemas.microsoft.com/office/drawing/2014/main" val="786884226"/>
                    </a:ext>
                  </a:extLst>
                </a:gridCol>
                <a:gridCol w="775607">
                  <a:extLst>
                    <a:ext uri="{9D8B030D-6E8A-4147-A177-3AD203B41FA5}">
                      <a16:colId xmlns:a16="http://schemas.microsoft.com/office/drawing/2014/main" val="259252547"/>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648831">
                <a:tc>
                  <a:txBody>
                    <a:bodyPr/>
                    <a:lstStyle/>
                    <a:p>
                      <a:r>
                        <a:rPr lang="en-GB" sz="800" dirty="0"/>
                        <a:t>30.</a:t>
                      </a:r>
                    </a:p>
                  </a:txBody>
                  <a:tcPr/>
                </a:tc>
                <a:tc>
                  <a:txBody>
                    <a:bodyPr/>
                    <a:lstStyle/>
                    <a:p>
                      <a:r>
                        <a:rPr lang="en-GB" sz="800" dirty="0" err="1"/>
                        <a:t>Gwiber</a:t>
                      </a:r>
                      <a:r>
                        <a:rPr lang="en-GB" sz="800" dirty="0"/>
                        <a:t> zone change level 1</a:t>
                      </a:r>
                    </a:p>
                  </a:txBody>
                  <a:tcPr/>
                </a:tc>
                <a:tc>
                  <a:txBody>
                    <a:bodyPr/>
                    <a:lstStyle/>
                    <a:p>
                      <a:r>
                        <a:rPr lang="en-GB" sz="800" dirty="0"/>
                        <a:t>Rm_level1</a:t>
                      </a:r>
                    </a:p>
                  </a:txBody>
                  <a:tcPr/>
                </a:tc>
                <a:tc>
                  <a:txBody>
                    <a:bodyPr/>
                    <a:lstStyle/>
                    <a:p>
                      <a:r>
                        <a:rPr lang="en-GB" sz="800" dirty="0" err="1"/>
                        <a:t>Obj_amcd_gwiber</a:t>
                      </a:r>
                      <a:endParaRPr lang="en-GB" sz="800" dirty="0"/>
                    </a:p>
                  </a:txBody>
                  <a:tcPr/>
                </a:tc>
                <a:tc>
                  <a:txBody>
                    <a:bodyPr/>
                    <a:lstStyle/>
                    <a:p>
                      <a:r>
                        <a:rPr lang="en-GB" sz="800" dirty="0"/>
                        <a:t>When </a:t>
                      </a:r>
                      <a:r>
                        <a:rPr lang="en-GB" sz="800" dirty="0" err="1"/>
                        <a:t>Gwiber</a:t>
                      </a:r>
                      <a:r>
                        <a:rPr lang="en-GB" sz="800" dirty="0"/>
                        <a:t>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a:t>
                      </a:r>
                      <a:r>
                        <a:rPr lang="en-GB" sz="800" dirty="0" err="1"/>
                        <a:t>Gwiber</a:t>
                      </a:r>
                      <a:r>
                        <a:rPr lang="en-GB" sz="800" dirty="0"/>
                        <a:t> is moving to, then the zone </a:t>
                      </a:r>
                      <a:r>
                        <a:rPr lang="en-GB" sz="800" dirty="0" err="1"/>
                        <a:t>gwiber</a:t>
                      </a:r>
                      <a:r>
                        <a:rPr lang="en-GB" sz="800" dirty="0"/>
                        <a:t> is moving to, will change its object to display the zone with both </a:t>
                      </a:r>
                      <a:r>
                        <a:rPr lang="en-GB" sz="800" dirty="0" err="1"/>
                        <a:t>Gwiber</a:t>
                      </a:r>
                      <a:r>
                        <a:rPr lang="en-GB" sz="800" dirty="0"/>
                        <a:t> and K9. If </a:t>
                      </a:r>
                      <a:r>
                        <a:rPr lang="en-GB" sz="800" dirty="0" err="1"/>
                        <a:t>Gwiber</a:t>
                      </a:r>
                      <a:r>
                        <a:rPr lang="en-GB" sz="800" dirty="0"/>
                        <a:t> moves to a zone, then the previous zone he was in, will return to normal, or if K9 was in the same zone, it will only display the K9 zone after </a:t>
                      </a:r>
                      <a:r>
                        <a:rPr lang="en-GB" sz="800" dirty="0" err="1"/>
                        <a:t>Gwiber</a:t>
                      </a:r>
                      <a:r>
                        <a:rPr lang="en-GB" sz="800" dirty="0"/>
                        <a:t> leaves it. If </a:t>
                      </a:r>
                      <a:r>
                        <a:rPr lang="en-GB" sz="800" dirty="0" err="1"/>
                        <a:t>Gwiber</a:t>
                      </a:r>
                      <a:r>
                        <a:rPr lang="en-GB" sz="800" dirty="0"/>
                        <a:t> moves to a zone that K9 is not in, the zone he moves to displays </a:t>
                      </a:r>
                      <a:r>
                        <a:rPr lang="en-GB" sz="800" dirty="0" err="1"/>
                        <a:t>Gwiber</a:t>
                      </a:r>
                      <a:r>
                        <a:rPr lang="en-GB" sz="800" dirty="0"/>
                        <a:t> only.</a:t>
                      </a:r>
                    </a:p>
                  </a:txBody>
                  <a:tcPr/>
                </a:tc>
                <a:tc>
                  <a:txBody>
                    <a:bodyPr/>
                    <a:lstStyle/>
                    <a:p>
                      <a:endParaRPr lang="en-GB" sz="800" dirty="0"/>
                    </a:p>
                  </a:txBody>
                  <a:tcPr/>
                </a:tc>
                <a:extLst>
                  <a:ext uri="{0D108BD9-81ED-4DB2-BD59-A6C34878D82A}">
                    <a16:rowId xmlns:a16="http://schemas.microsoft.com/office/drawing/2014/main" val="2541011158"/>
                  </a:ext>
                </a:extLst>
              </a:tr>
              <a:tr h="548322">
                <a:tc>
                  <a:txBody>
                    <a:bodyPr/>
                    <a:lstStyle/>
                    <a:p>
                      <a:r>
                        <a:rPr lang="en-GB" sz="800" dirty="0"/>
                        <a:t>31.</a:t>
                      </a:r>
                    </a:p>
                  </a:txBody>
                  <a:tcPr/>
                </a:tc>
                <a:tc>
                  <a:txBody>
                    <a:bodyPr/>
                    <a:lstStyle/>
                    <a:p>
                      <a:r>
                        <a:rPr lang="en-GB" sz="800" dirty="0" err="1"/>
                        <a:t>Gwiber</a:t>
                      </a:r>
                      <a:r>
                        <a:rPr lang="en-GB" sz="800" dirty="0"/>
                        <a:t> zone change level 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a:t>
                      </a:r>
                      <a:r>
                        <a:rPr lang="en-GB" sz="800" dirty="0" err="1"/>
                        <a:t>Gwiber</a:t>
                      </a:r>
                      <a:r>
                        <a:rPr lang="en-GB" sz="800" dirty="0"/>
                        <a:t>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a:t>
                      </a:r>
                      <a:r>
                        <a:rPr lang="en-GB" sz="800" dirty="0" err="1"/>
                        <a:t>Gwiber</a:t>
                      </a:r>
                      <a:r>
                        <a:rPr lang="en-GB" sz="800" dirty="0"/>
                        <a:t> is moving to, then the zone </a:t>
                      </a:r>
                      <a:r>
                        <a:rPr lang="en-GB" sz="800" dirty="0" err="1"/>
                        <a:t>gwiber</a:t>
                      </a:r>
                      <a:r>
                        <a:rPr lang="en-GB" sz="800" dirty="0"/>
                        <a:t> is moving to, will change its object to display the zone with both </a:t>
                      </a:r>
                      <a:r>
                        <a:rPr lang="en-GB" sz="800" dirty="0" err="1"/>
                        <a:t>Gwiber</a:t>
                      </a:r>
                      <a:r>
                        <a:rPr lang="en-GB" sz="800" dirty="0"/>
                        <a:t> and K9. If </a:t>
                      </a:r>
                      <a:r>
                        <a:rPr lang="en-GB" sz="800" dirty="0" err="1"/>
                        <a:t>Gwiber</a:t>
                      </a:r>
                      <a:r>
                        <a:rPr lang="en-GB" sz="800" dirty="0"/>
                        <a:t> moves to a zone, then the previous zone he was in, will return to normal, or if K9 was in the same zone, it will only display the K9 zone after </a:t>
                      </a:r>
                      <a:r>
                        <a:rPr lang="en-GB" sz="800" dirty="0" err="1"/>
                        <a:t>Gwiber</a:t>
                      </a:r>
                      <a:r>
                        <a:rPr lang="en-GB" sz="800" dirty="0"/>
                        <a:t> leaves it. If </a:t>
                      </a:r>
                      <a:r>
                        <a:rPr lang="en-GB" sz="800" dirty="0" err="1"/>
                        <a:t>Gwiber</a:t>
                      </a:r>
                      <a:r>
                        <a:rPr lang="en-GB" sz="800" dirty="0"/>
                        <a:t> moves to a zone that K9 is not in, the zone he moves to displays </a:t>
                      </a:r>
                      <a:r>
                        <a:rPr lang="en-GB" sz="800" dirty="0" err="1"/>
                        <a:t>Gwiber</a:t>
                      </a:r>
                      <a:r>
                        <a:rPr lang="en-GB" sz="800" dirty="0"/>
                        <a:t> only.</a:t>
                      </a:r>
                    </a:p>
                    <a:p>
                      <a:endParaRPr lang="en-GB" sz="800" dirty="0"/>
                    </a:p>
                  </a:txBody>
                  <a:tcPr/>
                </a:tc>
                <a:tc>
                  <a:txBody>
                    <a:bodyPr/>
                    <a:lstStyle/>
                    <a:p>
                      <a:endParaRPr lang="en-GB" sz="800" dirty="0"/>
                    </a:p>
                  </a:txBody>
                  <a:tcPr/>
                </a:tc>
                <a:extLst>
                  <a:ext uri="{0D108BD9-81ED-4DB2-BD59-A6C34878D82A}">
                    <a16:rowId xmlns:a16="http://schemas.microsoft.com/office/drawing/2014/main" val="4133394058"/>
                  </a:ext>
                </a:extLst>
              </a:tr>
              <a:tr h="648831">
                <a:tc>
                  <a:txBody>
                    <a:bodyPr/>
                    <a:lstStyle/>
                    <a:p>
                      <a:r>
                        <a:rPr lang="en-GB" sz="800" dirty="0"/>
                        <a:t>32.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zone change level 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a:t>
                      </a:r>
                      <a:r>
                        <a:rPr lang="en-GB" sz="800" dirty="0" err="1"/>
                        <a:t>Gwiber</a:t>
                      </a:r>
                      <a:r>
                        <a:rPr lang="en-GB" sz="800" dirty="0"/>
                        <a:t>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a:t>
                      </a:r>
                      <a:r>
                        <a:rPr lang="en-GB" sz="800" dirty="0" err="1"/>
                        <a:t>Gwiber</a:t>
                      </a:r>
                      <a:r>
                        <a:rPr lang="en-GB" sz="800" dirty="0"/>
                        <a:t> is moving to, then the zone </a:t>
                      </a:r>
                      <a:r>
                        <a:rPr lang="en-GB" sz="800" dirty="0" err="1"/>
                        <a:t>gwiber</a:t>
                      </a:r>
                      <a:r>
                        <a:rPr lang="en-GB" sz="800" dirty="0"/>
                        <a:t> is moving to, will change its object to display the zone with both </a:t>
                      </a:r>
                      <a:r>
                        <a:rPr lang="en-GB" sz="800" dirty="0" err="1"/>
                        <a:t>Gwiber</a:t>
                      </a:r>
                      <a:r>
                        <a:rPr lang="en-GB" sz="800" dirty="0"/>
                        <a:t> and K9. If </a:t>
                      </a:r>
                      <a:r>
                        <a:rPr lang="en-GB" sz="800" dirty="0" err="1"/>
                        <a:t>Gwiber</a:t>
                      </a:r>
                      <a:r>
                        <a:rPr lang="en-GB" sz="800" dirty="0"/>
                        <a:t> moves to a zone, then the previous zone he was in, will return to normal, or if K9 was in the same zone, it will only display the K9 zone after </a:t>
                      </a:r>
                      <a:r>
                        <a:rPr lang="en-GB" sz="800" dirty="0" err="1"/>
                        <a:t>Gwiber</a:t>
                      </a:r>
                      <a:r>
                        <a:rPr lang="en-GB" sz="800" dirty="0"/>
                        <a:t> leaves it. If </a:t>
                      </a:r>
                      <a:r>
                        <a:rPr lang="en-GB" sz="800" dirty="0" err="1"/>
                        <a:t>Gwiber</a:t>
                      </a:r>
                      <a:r>
                        <a:rPr lang="en-GB" sz="800" dirty="0"/>
                        <a:t> moves to a zone that K9 is not in, the zone he moves to displays </a:t>
                      </a:r>
                      <a:r>
                        <a:rPr lang="en-GB" sz="800" dirty="0" err="1"/>
                        <a:t>Gwiber</a:t>
                      </a:r>
                      <a:r>
                        <a:rPr lang="en-GB" sz="800" dirty="0"/>
                        <a:t> only.</a:t>
                      </a:r>
                    </a:p>
                    <a:p>
                      <a:endParaRPr lang="en-GB" sz="800" dirty="0"/>
                    </a:p>
                  </a:txBody>
                  <a:tcPr/>
                </a:tc>
                <a:tc>
                  <a:txBody>
                    <a:bodyPr/>
                    <a:lstStyle/>
                    <a:p>
                      <a:endParaRPr lang="en-GB" sz="800" dirty="0"/>
                    </a:p>
                  </a:txBody>
                  <a:tcPr/>
                </a:tc>
                <a:extLst>
                  <a:ext uri="{0D108BD9-81ED-4DB2-BD59-A6C34878D82A}">
                    <a16:rowId xmlns:a16="http://schemas.microsoft.com/office/drawing/2014/main" val="3113226149"/>
                  </a:ext>
                </a:extLst>
              </a:tr>
              <a:tr h="685312">
                <a:tc>
                  <a:txBody>
                    <a:bodyPr/>
                    <a:lstStyle/>
                    <a:p>
                      <a:r>
                        <a:rPr lang="en-GB" sz="800" dirty="0"/>
                        <a:t>33.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zone change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a:t>
                      </a:r>
                      <a:r>
                        <a:rPr lang="en-GB" sz="800" dirty="0" err="1"/>
                        <a:t>Gwiber</a:t>
                      </a:r>
                      <a:r>
                        <a:rPr lang="en-GB" sz="800" dirty="0"/>
                        <a:t>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a:t>
                      </a:r>
                      <a:r>
                        <a:rPr lang="en-GB" sz="800" dirty="0" err="1"/>
                        <a:t>Gwiber</a:t>
                      </a:r>
                      <a:r>
                        <a:rPr lang="en-GB" sz="800" dirty="0"/>
                        <a:t> is moving to, then the zone </a:t>
                      </a:r>
                      <a:r>
                        <a:rPr lang="en-GB" sz="800" dirty="0" err="1"/>
                        <a:t>gwiber</a:t>
                      </a:r>
                      <a:r>
                        <a:rPr lang="en-GB" sz="800" dirty="0"/>
                        <a:t> is moving to, will change its object to display the zone with both </a:t>
                      </a:r>
                      <a:r>
                        <a:rPr lang="en-GB" sz="800" dirty="0" err="1"/>
                        <a:t>Gwiber</a:t>
                      </a:r>
                      <a:r>
                        <a:rPr lang="en-GB" sz="800" dirty="0"/>
                        <a:t> and K9. If </a:t>
                      </a:r>
                      <a:r>
                        <a:rPr lang="en-GB" sz="800" dirty="0" err="1"/>
                        <a:t>Gwiber</a:t>
                      </a:r>
                      <a:r>
                        <a:rPr lang="en-GB" sz="800" dirty="0"/>
                        <a:t> moves to a zone, then the previous zone he was in, will return to normal, or if K9 was in the same zone, it will only display the K9 zone after </a:t>
                      </a:r>
                      <a:r>
                        <a:rPr lang="en-GB" sz="800" dirty="0" err="1"/>
                        <a:t>Gwiber</a:t>
                      </a:r>
                      <a:r>
                        <a:rPr lang="en-GB" sz="800" dirty="0"/>
                        <a:t> leaves it. If </a:t>
                      </a:r>
                      <a:r>
                        <a:rPr lang="en-GB" sz="800" dirty="0" err="1"/>
                        <a:t>Gwiber</a:t>
                      </a:r>
                      <a:r>
                        <a:rPr lang="en-GB" sz="800" dirty="0"/>
                        <a:t> moves to a zone that K9 is not in, the zone he moves to displays </a:t>
                      </a:r>
                      <a:r>
                        <a:rPr lang="en-GB" sz="800" dirty="0" err="1"/>
                        <a:t>Gwiber</a:t>
                      </a:r>
                      <a:r>
                        <a:rPr lang="en-GB" sz="800" dirty="0"/>
                        <a:t> only.</a:t>
                      </a:r>
                    </a:p>
                    <a:p>
                      <a:endParaRPr lang="en-GB" sz="800" dirty="0"/>
                    </a:p>
                  </a:txBody>
                  <a:tcPr/>
                </a:tc>
                <a:tc>
                  <a:txBody>
                    <a:bodyPr/>
                    <a:lstStyle/>
                    <a:p>
                      <a:endParaRPr lang="en-GB" sz="800" dirty="0"/>
                    </a:p>
                  </a:txBody>
                  <a:tcPr/>
                </a:tc>
                <a:extLst>
                  <a:ext uri="{0D108BD9-81ED-4DB2-BD59-A6C34878D82A}">
                    <a16:rowId xmlns:a16="http://schemas.microsoft.com/office/drawing/2014/main" val="156842521"/>
                  </a:ext>
                </a:extLst>
              </a:tr>
              <a:tr h="648831">
                <a:tc>
                  <a:txBody>
                    <a:bodyPr/>
                    <a:lstStyle/>
                    <a:p>
                      <a:r>
                        <a:rPr lang="en-GB" sz="800" dirty="0"/>
                        <a:t>34.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zone change level 1</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Rm_level1</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Obj_amcd_k9_lvl1</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K9 moves between zones, he checks to see if any other </a:t>
                      </a:r>
                      <a:r>
                        <a:rPr lang="en-GB" sz="800" dirty="0" err="1"/>
                        <a:t>amcd</a:t>
                      </a:r>
                      <a:r>
                        <a:rPr lang="en-GB" sz="800" dirty="0"/>
                        <a:t> is in the zone he’s moving to. If there is an </a:t>
                      </a:r>
                      <a:r>
                        <a:rPr lang="en-GB" sz="800" dirty="0" err="1"/>
                        <a:t>amcd</a:t>
                      </a:r>
                      <a:r>
                        <a:rPr lang="en-GB" sz="800" dirty="0"/>
                        <a:t> like </a:t>
                      </a:r>
                      <a:r>
                        <a:rPr lang="en-GB" sz="800" dirty="0" err="1"/>
                        <a:t>Gwiber</a:t>
                      </a:r>
                      <a:r>
                        <a:rPr lang="en-GB" sz="800" dirty="0"/>
                        <a:t> in the same zone K9 is moving to, then the zone K9 is moving to, will change its object to display the zone with both K9 and </a:t>
                      </a:r>
                      <a:r>
                        <a:rPr lang="en-GB" sz="800" dirty="0" err="1"/>
                        <a:t>Gwiber</a:t>
                      </a:r>
                      <a:r>
                        <a:rPr lang="en-GB" sz="800" dirty="0"/>
                        <a:t>. If K9 moves to a zone, then the previous zone he was in, will return to normal, or if </a:t>
                      </a:r>
                      <a:r>
                        <a:rPr lang="en-GB" sz="800" dirty="0" err="1"/>
                        <a:t>Gwiber</a:t>
                      </a:r>
                      <a:r>
                        <a:rPr lang="en-GB" sz="800" dirty="0"/>
                        <a:t> was in the same zone, it will only display the </a:t>
                      </a:r>
                      <a:r>
                        <a:rPr lang="en-GB" sz="800" dirty="0" err="1"/>
                        <a:t>Gwiber</a:t>
                      </a:r>
                      <a:r>
                        <a:rPr lang="en-GB" sz="800" dirty="0"/>
                        <a:t> zone after K9 leaves it. If K9 moves to a zone that </a:t>
                      </a:r>
                      <a:r>
                        <a:rPr lang="en-GB" sz="800" dirty="0" err="1"/>
                        <a:t>Gwiber</a:t>
                      </a:r>
                      <a:r>
                        <a:rPr lang="en-GB" sz="800" dirty="0"/>
                        <a:t>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3341429027"/>
                  </a:ext>
                </a:extLst>
              </a:tr>
              <a:tr h="648831">
                <a:tc>
                  <a:txBody>
                    <a:bodyPr/>
                    <a:lstStyle/>
                    <a:p>
                      <a:r>
                        <a:rPr lang="en-GB" sz="800" dirty="0"/>
                        <a:t>35.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zone change level 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K9 moves between zones, he checks to see if any other </a:t>
                      </a:r>
                      <a:r>
                        <a:rPr lang="en-GB" sz="800" dirty="0" err="1"/>
                        <a:t>amcd</a:t>
                      </a:r>
                      <a:r>
                        <a:rPr lang="en-GB" sz="800" dirty="0"/>
                        <a:t> is in the zone he’s moving to. If there is an </a:t>
                      </a:r>
                      <a:r>
                        <a:rPr lang="en-GB" sz="800" dirty="0" err="1"/>
                        <a:t>amcd</a:t>
                      </a:r>
                      <a:r>
                        <a:rPr lang="en-GB" sz="800" dirty="0"/>
                        <a:t> like </a:t>
                      </a:r>
                      <a:r>
                        <a:rPr lang="en-GB" sz="800" dirty="0" err="1"/>
                        <a:t>Gwiber</a:t>
                      </a:r>
                      <a:r>
                        <a:rPr lang="en-GB" sz="800" dirty="0"/>
                        <a:t> in the same zone K9 is moving to, then the zone K9 is moving to, will change its object to display the zone with both K9 and </a:t>
                      </a:r>
                      <a:r>
                        <a:rPr lang="en-GB" sz="800" dirty="0" err="1"/>
                        <a:t>Gwiber</a:t>
                      </a:r>
                      <a:r>
                        <a:rPr lang="en-GB" sz="800" dirty="0"/>
                        <a:t>. If K9 moves to a zone, then the previous zone he was in, will return to normal, or if </a:t>
                      </a:r>
                      <a:r>
                        <a:rPr lang="en-GB" sz="800" dirty="0" err="1"/>
                        <a:t>Gwiber</a:t>
                      </a:r>
                      <a:r>
                        <a:rPr lang="en-GB" sz="800" dirty="0"/>
                        <a:t> was in the same zone, it will only display the </a:t>
                      </a:r>
                      <a:r>
                        <a:rPr lang="en-GB" sz="800" dirty="0" err="1"/>
                        <a:t>Gwiber</a:t>
                      </a:r>
                      <a:r>
                        <a:rPr lang="en-GB" sz="800" dirty="0"/>
                        <a:t> zone after K9 leaves it. If K9 moves to a zone that </a:t>
                      </a:r>
                      <a:r>
                        <a:rPr lang="en-GB" sz="800" dirty="0" err="1"/>
                        <a:t>Gwiber</a:t>
                      </a:r>
                      <a:r>
                        <a:rPr lang="en-GB" sz="800" dirty="0"/>
                        <a:t>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2830951609"/>
                  </a:ext>
                </a:extLst>
              </a:tr>
              <a:tr h="648831">
                <a:tc>
                  <a:txBody>
                    <a:bodyPr/>
                    <a:lstStyle/>
                    <a:p>
                      <a:r>
                        <a:rPr lang="en-GB" sz="800" dirty="0"/>
                        <a:t>36.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zone change level 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K9 moves between zones, he checks to see if any other </a:t>
                      </a:r>
                      <a:r>
                        <a:rPr lang="en-GB" sz="800" dirty="0" err="1"/>
                        <a:t>amcd</a:t>
                      </a:r>
                      <a:r>
                        <a:rPr lang="en-GB" sz="800" dirty="0"/>
                        <a:t> is in the zone he’s moving to. If there is an </a:t>
                      </a:r>
                      <a:r>
                        <a:rPr lang="en-GB" sz="800" dirty="0" err="1"/>
                        <a:t>amcd</a:t>
                      </a:r>
                      <a:r>
                        <a:rPr lang="en-GB" sz="800" dirty="0"/>
                        <a:t> like </a:t>
                      </a:r>
                      <a:r>
                        <a:rPr lang="en-GB" sz="800" dirty="0" err="1"/>
                        <a:t>Gwiber</a:t>
                      </a:r>
                      <a:r>
                        <a:rPr lang="en-GB" sz="800" dirty="0"/>
                        <a:t> in the same zone K9 is moving to, then the zone K9 is moving to, will change its object to display the zone with both K9 and </a:t>
                      </a:r>
                      <a:r>
                        <a:rPr lang="en-GB" sz="800" dirty="0" err="1"/>
                        <a:t>Gwiber</a:t>
                      </a:r>
                      <a:r>
                        <a:rPr lang="en-GB" sz="800" dirty="0"/>
                        <a:t>. If K9 moves to a zone, then the previous zone he was in, will return to normal, or if </a:t>
                      </a:r>
                      <a:r>
                        <a:rPr lang="en-GB" sz="800" dirty="0" err="1"/>
                        <a:t>Gwiber</a:t>
                      </a:r>
                      <a:r>
                        <a:rPr lang="en-GB" sz="800" dirty="0"/>
                        <a:t> was in the same zone, it will only display the </a:t>
                      </a:r>
                      <a:r>
                        <a:rPr lang="en-GB" sz="800" dirty="0" err="1"/>
                        <a:t>Gwiber</a:t>
                      </a:r>
                      <a:r>
                        <a:rPr lang="en-GB" sz="800" dirty="0"/>
                        <a:t> zone after K9 leaves it. If K9 moves to a zone that </a:t>
                      </a:r>
                      <a:r>
                        <a:rPr lang="en-GB" sz="800" dirty="0" err="1"/>
                        <a:t>Gwiber</a:t>
                      </a:r>
                      <a:r>
                        <a:rPr lang="en-GB" sz="800" dirty="0"/>
                        <a:t>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2951929266"/>
                  </a:ext>
                </a:extLst>
              </a:tr>
              <a:tr h="648831">
                <a:tc>
                  <a:txBody>
                    <a:bodyPr/>
                    <a:lstStyle/>
                    <a:p>
                      <a:r>
                        <a:rPr lang="en-GB" sz="800" dirty="0"/>
                        <a:t>37.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zone change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K9 moves between zones, he checks to see if any other </a:t>
                      </a:r>
                      <a:r>
                        <a:rPr lang="en-GB" sz="800" dirty="0" err="1"/>
                        <a:t>amcd</a:t>
                      </a:r>
                      <a:r>
                        <a:rPr lang="en-GB" sz="800" dirty="0"/>
                        <a:t> is in the zone he’s moving to. If there is an </a:t>
                      </a:r>
                      <a:r>
                        <a:rPr lang="en-GB" sz="800" dirty="0" err="1"/>
                        <a:t>amcd</a:t>
                      </a:r>
                      <a:r>
                        <a:rPr lang="en-GB" sz="800" dirty="0"/>
                        <a:t> like </a:t>
                      </a:r>
                      <a:r>
                        <a:rPr lang="en-GB" sz="800" dirty="0" err="1"/>
                        <a:t>Gwiber</a:t>
                      </a:r>
                      <a:r>
                        <a:rPr lang="en-GB" sz="800" dirty="0"/>
                        <a:t> in the same zone K9 is moving to, then the zone K9 is moving to, will change its object to display the zone with both K9 and </a:t>
                      </a:r>
                      <a:r>
                        <a:rPr lang="en-GB" sz="800" dirty="0" err="1"/>
                        <a:t>Gwiber</a:t>
                      </a:r>
                      <a:r>
                        <a:rPr lang="en-GB" sz="800" dirty="0"/>
                        <a:t>. If K9 moves to a zone, then the previous zone he was in, will return to normal, or if </a:t>
                      </a:r>
                      <a:r>
                        <a:rPr lang="en-GB" sz="800" dirty="0" err="1"/>
                        <a:t>Gwiber</a:t>
                      </a:r>
                      <a:r>
                        <a:rPr lang="en-GB" sz="800" dirty="0"/>
                        <a:t> was in the same zone, it will only display the </a:t>
                      </a:r>
                      <a:r>
                        <a:rPr lang="en-GB" sz="800" dirty="0" err="1"/>
                        <a:t>Gwiber</a:t>
                      </a:r>
                      <a:r>
                        <a:rPr lang="en-GB" sz="800" dirty="0"/>
                        <a:t> zone after K9 leaves it. If K9 moves to a zone that </a:t>
                      </a:r>
                      <a:r>
                        <a:rPr lang="en-GB" sz="800" dirty="0" err="1"/>
                        <a:t>Gwiber</a:t>
                      </a:r>
                      <a:r>
                        <a:rPr lang="en-GB" sz="800" dirty="0"/>
                        <a:t>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222639438"/>
                  </a:ext>
                </a:extLst>
              </a:tr>
            </a:tbl>
          </a:graphicData>
        </a:graphic>
      </p:graphicFrame>
      <p:sp>
        <p:nvSpPr>
          <p:cNvPr id="2" name="TextBox 1">
            <a:extLst>
              <a:ext uri="{FF2B5EF4-FFF2-40B4-BE49-F238E27FC236}">
                <a16:creationId xmlns:a16="http://schemas.microsoft.com/office/drawing/2014/main" id="{5445142E-D420-971B-F107-7C0118BD27EA}"/>
              </a:ext>
            </a:extLst>
          </p:cNvPr>
          <p:cNvSpPr txBox="1"/>
          <p:nvPr/>
        </p:nvSpPr>
        <p:spPr>
          <a:xfrm>
            <a:off x="0" y="22553"/>
            <a:ext cx="2957669" cy="369332"/>
          </a:xfrm>
          <a:prstGeom prst="rect">
            <a:avLst/>
          </a:prstGeom>
          <a:noFill/>
        </p:spPr>
        <p:txBody>
          <a:bodyPr wrap="none" rtlCol="0">
            <a:spAutoFit/>
          </a:bodyPr>
          <a:lstStyle/>
          <a:p>
            <a:r>
              <a:rPr lang="en-GB" dirty="0"/>
              <a:t>Enemy Zone Change Testing</a:t>
            </a:r>
          </a:p>
        </p:txBody>
      </p:sp>
    </p:spTree>
    <p:extLst>
      <p:ext uri="{BB962C8B-B14F-4D97-AF65-F5344CB8AC3E}">
        <p14:creationId xmlns:p14="http://schemas.microsoft.com/office/powerpoint/2010/main" val="10043919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2713935627"/>
              </p:ext>
            </p:extLst>
          </p:nvPr>
        </p:nvGraphicFramePr>
        <p:xfrm>
          <a:off x="0" y="391886"/>
          <a:ext cx="10940142" cy="6048463"/>
        </p:xfrm>
        <a:graphic>
          <a:graphicData uri="http://schemas.openxmlformats.org/drawingml/2006/table">
            <a:tbl>
              <a:tblPr firstRow="1" bandRow="1">
                <a:tableStyleId>{5C22544A-7EE6-4342-B048-85BDC9FD1C3A}</a:tableStyleId>
              </a:tblPr>
              <a:tblGrid>
                <a:gridCol w="471903">
                  <a:extLst>
                    <a:ext uri="{9D8B030D-6E8A-4147-A177-3AD203B41FA5}">
                      <a16:colId xmlns:a16="http://schemas.microsoft.com/office/drawing/2014/main" val="2041145262"/>
                    </a:ext>
                  </a:extLst>
                </a:gridCol>
                <a:gridCol w="1657147">
                  <a:extLst>
                    <a:ext uri="{9D8B030D-6E8A-4147-A177-3AD203B41FA5}">
                      <a16:colId xmlns:a16="http://schemas.microsoft.com/office/drawing/2014/main" val="3102287305"/>
                    </a:ext>
                  </a:extLst>
                </a:gridCol>
                <a:gridCol w="616636">
                  <a:extLst>
                    <a:ext uri="{9D8B030D-6E8A-4147-A177-3AD203B41FA5}">
                      <a16:colId xmlns:a16="http://schemas.microsoft.com/office/drawing/2014/main" val="4080696647"/>
                    </a:ext>
                  </a:extLst>
                </a:gridCol>
                <a:gridCol w="1019984">
                  <a:extLst>
                    <a:ext uri="{9D8B030D-6E8A-4147-A177-3AD203B41FA5}">
                      <a16:colId xmlns:a16="http://schemas.microsoft.com/office/drawing/2014/main" val="132880537"/>
                    </a:ext>
                  </a:extLst>
                </a:gridCol>
                <a:gridCol w="3587236">
                  <a:extLst>
                    <a:ext uri="{9D8B030D-6E8A-4147-A177-3AD203B41FA5}">
                      <a16:colId xmlns:a16="http://schemas.microsoft.com/office/drawing/2014/main" val="786884226"/>
                    </a:ext>
                  </a:extLst>
                </a:gridCol>
                <a:gridCol w="3587236">
                  <a:extLst>
                    <a:ext uri="{9D8B030D-6E8A-4147-A177-3AD203B41FA5}">
                      <a16:colId xmlns:a16="http://schemas.microsoft.com/office/drawing/2014/main" val="3813578648"/>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648831">
                <a:tc>
                  <a:txBody>
                    <a:bodyPr/>
                    <a:lstStyle/>
                    <a:p>
                      <a:r>
                        <a:rPr lang="en-GB" sz="800" dirty="0"/>
                        <a:t>38.</a:t>
                      </a:r>
                    </a:p>
                  </a:txBody>
                  <a:tcPr/>
                </a:tc>
                <a:tc>
                  <a:txBody>
                    <a:bodyPr/>
                    <a:lstStyle/>
                    <a:p>
                      <a:r>
                        <a:rPr lang="en-GB" sz="800" dirty="0"/>
                        <a:t> Bulker zone change level 2</a:t>
                      </a:r>
                    </a:p>
                  </a:txBody>
                  <a:tcPr/>
                </a:tc>
                <a:tc>
                  <a:txBody>
                    <a:bodyPr/>
                    <a:lstStyle/>
                    <a:p>
                      <a:r>
                        <a:rPr lang="en-GB" sz="800" dirty="0"/>
                        <a:t>Rm_level2</a:t>
                      </a:r>
                    </a:p>
                  </a:txBody>
                  <a:tcPr/>
                </a:tc>
                <a:tc>
                  <a:txBody>
                    <a:bodyPr/>
                    <a:lstStyle/>
                    <a:p>
                      <a:r>
                        <a:rPr lang="en-GB" sz="800" dirty="0"/>
                        <a:t>Obj_amcd_bulker_lvl2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Bulker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Bulker is moving to, then the zone Bulker is moving to, will change its object to display the zone with both Bulker and K9. If Bulker moves to a zone, then the previous zone he was in, will return to normal, or if K9 was in the same zone, it will only display the K9 zone after Bulker leaves it. If Bulker moves to a zone that K9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2541011158"/>
                  </a:ext>
                </a:extLst>
              </a:tr>
              <a:tr h="648831">
                <a:tc>
                  <a:txBody>
                    <a:bodyPr/>
                    <a:lstStyle/>
                    <a:p>
                      <a:r>
                        <a:rPr lang="en-GB" sz="800" dirty="0"/>
                        <a:t>39.</a:t>
                      </a:r>
                    </a:p>
                  </a:txBody>
                  <a:tcPr/>
                </a:tc>
                <a:tc>
                  <a:txBody>
                    <a:bodyPr/>
                    <a:lstStyle/>
                    <a:p>
                      <a:r>
                        <a:rPr lang="en-GB" sz="800" dirty="0"/>
                        <a:t>Bulker zone change level 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Obj_amcd_bulker_lvl3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Bulker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Bulker is moving to, then the zone Bulker is moving to, will change its object to display the zone with both Bulker and K9. If Bulker moves to a zone, then the previous zone he was in, will return to normal, or if K9 was in the same zone, it will only display the K9 zone after Bulker leaves it. If Bulker moves to a zone that K9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4133394058"/>
                  </a:ext>
                </a:extLst>
              </a:tr>
              <a:tr h="648831">
                <a:tc>
                  <a:txBody>
                    <a:bodyPr/>
                    <a:lstStyle/>
                    <a:p>
                      <a:r>
                        <a:rPr lang="en-GB" sz="800" dirty="0"/>
                        <a:t>40.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zone change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Obj_amcd_bulker_lvl5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Bulker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Bulker is moving to, then the zone Bulker is moving to, will change its object to display the zone with both Bulker and K9. If Bulker moves to a zone, then the previous zone he was in, will return to normal, or if K9 was in the same zone, it will only display the K9 zone after Bulker leaves it. If Bulker moves to a zone that K9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3113226149"/>
                  </a:ext>
                </a:extLst>
              </a:tr>
              <a:tr h="685312">
                <a:tc>
                  <a:txBody>
                    <a:bodyPr/>
                    <a:lstStyle/>
                    <a:p>
                      <a:r>
                        <a:rPr lang="en-GB" sz="800" dirty="0"/>
                        <a:t>41.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Prototype zone change level 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Obj_amcd_prototype_lvl4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Prototype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Prototype is moving to, then the zone Prototype is moving to, will change its object to display the zone with both Prototype and K9. If Prototype moves to a zone, then the previous zone he was in, will return to normal, or if K9 was in the same zone, it will only display the K9 zone after Prototype leaves it. If Prototype moves to a zone that K9 is not in, the zone he moves to displays K9 only. He also does this for </a:t>
                      </a:r>
                      <a:r>
                        <a:rPr lang="en-GB" sz="800" dirty="0" err="1"/>
                        <a:t>Gwiber</a:t>
                      </a:r>
                      <a:r>
                        <a:rPr lang="en-GB" sz="800" dirty="0"/>
                        <a:t> and Bulker.</a:t>
                      </a:r>
                    </a:p>
                    <a:p>
                      <a:endParaRPr lang="en-GB" sz="800" dirty="0"/>
                    </a:p>
                  </a:txBody>
                  <a:tcPr/>
                </a:tc>
                <a:tc>
                  <a:txBody>
                    <a:bodyPr/>
                    <a:lstStyle/>
                    <a:p>
                      <a:endParaRPr lang="en-GB" sz="800" dirty="0"/>
                    </a:p>
                  </a:txBody>
                  <a:tcPr/>
                </a:tc>
                <a:extLst>
                  <a:ext uri="{0D108BD9-81ED-4DB2-BD59-A6C34878D82A}">
                    <a16:rowId xmlns:a16="http://schemas.microsoft.com/office/drawing/2014/main" val="156842521"/>
                  </a:ext>
                </a:extLst>
              </a:tr>
              <a:tr h="734786">
                <a:tc>
                  <a:txBody>
                    <a:bodyPr/>
                    <a:lstStyle/>
                    <a:p>
                      <a:r>
                        <a:rPr lang="en-GB" sz="800" dirty="0"/>
                        <a:t>42.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Prototype zone change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Prototype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Prototype is moving to, then the zone Prototype is moving to, will change its object to display the zone with both Prototype and K9. If Prototype moves to a zone, then the previous zone he was in, will return to normal, or if K9 was in the same zone, it will only display the K9 zone after Prototype leaves it. If Prototype moves to a zone that K9 is not in, the zone he moves to displays K9 only. He also does this for </a:t>
                      </a:r>
                      <a:r>
                        <a:rPr lang="en-GB" sz="800" dirty="0" err="1"/>
                        <a:t>Gwiber</a:t>
                      </a:r>
                      <a:r>
                        <a:rPr lang="en-GB" sz="800" dirty="0"/>
                        <a:t> and Bulker.</a:t>
                      </a:r>
                    </a:p>
                    <a:p>
                      <a:endParaRPr lang="en-GB" sz="800" dirty="0"/>
                    </a:p>
                  </a:txBody>
                  <a:tcPr/>
                </a:tc>
                <a:tc>
                  <a:txBody>
                    <a:bodyPr/>
                    <a:lstStyle/>
                    <a:p>
                      <a:endParaRPr lang="en-GB" sz="800" dirty="0"/>
                    </a:p>
                  </a:txBody>
                  <a:tcPr/>
                </a:tc>
                <a:extLst>
                  <a:ext uri="{0D108BD9-81ED-4DB2-BD59-A6C34878D82A}">
                    <a16:rowId xmlns:a16="http://schemas.microsoft.com/office/drawing/2014/main" val="3341429027"/>
                  </a:ext>
                </a:extLst>
              </a:tr>
            </a:tbl>
          </a:graphicData>
        </a:graphic>
      </p:graphicFrame>
      <p:sp>
        <p:nvSpPr>
          <p:cNvPr id="2" name="TextBox 1">
            <a:extLst>
              <a:ext uri="{FF2B5EF4-FFF2-40B4-BE49-F238E27FC236}">
                <a16:creationId xmlns:a16="http://schemas.microsoft.com/office/drawing/2014/main" id="{5445142E-D420-971B-F107-7C0118BD27EA}"/>
              </a:ext>
            </a:extLst>
          </p:cNvPr>
          <p:cNvSpPr txBox="1"/>
          <p:nvPr/>
        </p:nvSpPr>
        <p:spPr>
          <a:xfrm>
            <a:off x="0" y="22553"/>
            <a:ext cx="2957669" cy="369332"/>
          </a:xfrm>
          <a:prstGeom prst="rect">
            <a:avLst/>
          </a:prstGeom>
          <a:noFill/>
        </p:spPr>
        <p:txBody>
          <a:bodyPr wrap="none" rtlCol="0">
            <a:spAutoFit/>
          </a:bodyPr>
          <a:lstStyle/>
          <a:p>
            <a:r>
              <a:rPr lang="en-GB" dirty="0"/>
              <a:t>Enemy Zone Change Testing</a:t>
            </a:r>
          </a:p>
        </p:txBody>
      </p:sp>
    </p:spTree>
    <p:extLst>
      <p:ext uri="{BB962C8B-B14F-4D97-AF65-F5344CB8AC3E}">
        <p14:creationId xmlns:p14="http://schemas.microsoft.com/office/powerpoint/2010/main" val="295191685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3AFED8-8070-9576-7EC6-AE635117491B}"/>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85D6642C-B464-D525-3EB5-3AAB8B4ACC80}"/>
              </a:ext>
            </a:extLst>
          </p:cNvPr>
          <p:cNvGraphicFramePr>
            <a:graphicFrameLocks noGrp="1"/>
          </p:cNvGraphicFramePr>
          <p:nvPr>
            <p:extLst>
              <p:ext uri="{D42A27DB-BD31-4B8C-83A1-F6EECF244321}">
                <p14:modId xmlns:p14="http://schemas.microsoft.com/office/powerpoint/2010/main" val="2175083772"/>
              </p:ext>
            </p:extLst>
          </p:nvPr>
        </p:nvGraphicFramePr>
        <p:xfrm>
          <a:off x="114300" y="391885"/>
          <a:ext cx="11487150" cy="5987503"/>
        </p:xfrm>
        <a:graphic>
          <a:graphicData uri="http://schemas.openxmlformats.org/drawingml/2006/table">
            <a:tbl>
              <a:tblPr firstRow="1" bandRow="1">
                <a:tableStyleId>{5C22544A-7EE6-4342-B048-85BDC9FD1C3A}</a:tableStyleId>
              </a:tblPr>
              <a:tblGrid>
                <a:gridCol w="495498">
                  <a:extLst>
                    <a:ext uri="{9D8B030D-6E8A-4147-A177-3AD203B41FA5}">
                      <a16:colId xmlns:a16="http://schemas.microsoft.com/office/drawing/2014/main" val="2041145262"/>
                    </a:ext>
                  </a:extLst>
                </a:gridCol>
                <a:gridCol w="1740005">
                  <a:extLst>
                    <a:ext uri="{9D8B030D-6E8A-4147-A177-3AD203B41FA5}">
                      <a16:colId xmlns:a16="http://schemas.microsoft.com/office/drawing/2014/main" val="3102287305"/>
                    </a:ext>
                  </a:extLst>
                </a:gridCol>
                <a:gridCol w="647468">
                  <a:extLst>
                    <a:ext uri="{9D8B030D-6E8A-4147-A177-3AD203B41FA5}">
                      <a16:colId xmlns:a16="http://schemas.microsoft.com/office/drawing/2014/main" val="4080696647"/>
                    </a:ext>
                  </a:extLst>
                </a:gridCol>
                <a:gridCol w="1070983">
                  <a:extLst>
                    <a:ext uri="{9D8B030D-6E8A-4147-A177-3AD203B41FA5}">
                      <a16:colId xmlns:a16="http://schemas.microsoft.com/office/drawing/2014/main" val="132880537"/>
                    </a:ext>
                  </a:extLst>
                </a:gridCol>
                <a:gridCol w="5002267">
                  <a:extLst>
                    <a:ext uri="{9D8B030D-6E8A-4147-A177-3AD203B41FA5}">
                      <a16:colId xmlns:a16="http://schemas.microsoft.com/office/drawing/2014/main" val="786884226"/>
                    </a:ext>
                  </a:extLst>
                </a:gridCol>
                <a:gridCol w="2530929">
                  <a:extLst>
                    <a:ext uri="{9D8B030D-6E8A-4147-A177-3AD203B41FA5}">
                      <a16:colId xmlns:a16="http://schemas.microsoft.com/office/drawing/2014/main" val="642979864"/>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43.</a:t>
                      </a:r>
                    </a:p>
                  </a:txBody>
                  <a:tcPr/>
                </a:tc>
                <a:tc>
                  <a:txBody>
                    <a:bodyPr/>
                    <a:lstStyle/>
                    <a:p>
                      <a:r>
                        <a:rPr lang="en-GB" sz="800" dirty="0"/>
                        <a:t>Oxygen Door/vent controller</a:t>
                      </a:r>
                    </a:p>
                  </a:txBody>
                  <a:tcPr/>
                </a:tc>
                <a:tc>
                  <a:txBody>
                    <a:bodyPr/>
                    <a:lstStyle/>
                    <a:p>
                      <a:r>
                        <a:rPr lang="en-GB" sz="800" dirty="0"/>
                        <a:t>Rm_level1 - 5</a:t>
                      </a:r>
                    </a:p>
                  </a:txBody>
                  <a:tcPr/>
                </a:tc>
                <a:tc>
                  <a:txBody>
                    <a:bodyPr/>
                    <a:lstStyle/>
                    <a:p>
                      <a:r>
                        <a:rPr lang="en-GB" sz="800" dirty="0" err="1"/>
                        <a:t>obj_oxygen_door_controller</a:t>
                      </a:r>
                      <a:endParaRPr lang="en-GB" sz="800" dirty="0"/>
                    </a:p>
                  </a:txBody>
                  <a:tcPr/>
                </a:tc>
                <a:tc>
                  <a:txBody>
                    <a:bodyPr/>
                    <a:lstStyle/>
                    <a:p>
                      <a:r>
                        <a:rPr lang="en-GB" sz="800" dirty="0"/>
                        <a:t>The Oxygen controller is very unique so discussing its function may take a bit, so I will break down its function into its key functions. </a:t>
                      </a:r>
                    </a:p>
                    <a:p>
                      <a:endParaRPr lang="en-GB" sz="800" dirty="0"/>
                    </a:p>
                    <a:p>
                      <a:r>
                        <a:rPr lang="en-GB" sz="800" dirty="0"/>
                        <a:t>The oxygen controller has 5 primary functions</a:t>
                      </a:r>
                    </a:p>
                    <a:p>
                      <a:endParaRPr lang="en-GB" sz="800" dirty="0"/>
                    </a:p>
                    <a:p>
                      <a:pPr marL="228600" indent="-228600">
                        <a:buAutoNum type="arabicPeriod"/>
                      </a:pPr>
                      <a:r>
                        <a:rPr lang="en-GB" sz="800" dirty="0"/>
                        <a:t>Sync Doors and Vents together</a:t>
                      </a:r>
                    </a:p>
                    <a:p>
                      <a:pPr marL="228600" indent="-228600">
                        <a:buAutoNum type="arabicPeriod"/>
                      </a:pPr>
                      <a:endParaRPr lang="en-GB" sz="800" dirty="0"/>
                    </a:p>
                    <a:p>
                      <a:pPr marL="228600" indent="-228600">
                        <a:buAutoNum type="arabicPeriod"/>
                      </a:pPr>
                      <a:r>
                        <a:rPr lang="en-GB" sz="800" dirty="0"/>
                        <a:t>Decrease Oxygen faster when more vents/doors are closed and increase it when less or none are closed (the oxygens speed is determined by the number of doors open and closed</a:t>
                      </a:r>
                    </a:p>
                    <a:p>
                      <a:pPr marL="228600" indent="-228600">
                        <a:buAutoNum type="arabicPeriod"/>
                      </a:pPr>
                      <a:endParaRPr lang="en-GB" sz="800" dirty="0"/>
                    </a:p>
                    <a:p>
                      <a:pPr marL="228600" indent="-228600">
                        <a:buAutoNum type="arabicPeriod"/>
                      </a:pPr>
                      <a:r>
                        <a:rPr lang="en-GB" sz="800" dirty="0"/>
                        <a:t>Acknowledge when oxygen = 0, and decrease HP</a:t>
                      </a:r>
                    </a:p>
                    <a:p>
                      <a:pPr marL="228600" indent="-228600">
                        <a:buAutoNum type="arabicPeriod"/>
                      </a:pPr>
                      <a:endParaRPr lang="en-GB" sz="800" dirty="0"/>
                    </a:p>
                    <a:p>
                      <a:pPr marL="228600" indent="-228600">
                        <a:buAutoNum type="arabicPeriod"/>
                      </a:pPr>
                      <a:r>
                        <a:rPr lang="en-GB" sz="800" dirty="0"/>
                        <a:t>If HP = 0, </a:t>
                      </a:r>
                      <a:r>
                        <a:rPr lang="en-GB" sz="800" dirty="0" err="1"/>
                        <a:t>global.dead</a:t>
                      </a:r>
                      <a:r>
                        <a:rPr lang="en-GB" sz="800" dirty="0"/>
                        <a:t> = true</a:t>
                      </a:r>
                    </a:p>
                    <a:p>
                      <a:pPr marL="228600" indent="-228600">
                        <a:buAutoNum type="arabicPeriod"/>
                      </a:pPr>
                      <a:endParaRPr lang="en-GB" sz="800" dirty="0"/>
                    </a:p>
                    <a:p>
                      <a:pPr marL="228600" indent="-228600">
                        <a:buAutoNum type="arabicPeriod"/>
                      </a:pPr>
                      <a:r>
                        <a:rPr lang="en-GB" sz="800" dirty="0"/>
                        <a:t>Change the doors/vents sprites and objects based on whether the doors/vents are in an open or closed state.</a:t>
                      </a:r>
                    </a:p>
                  </a:txBody>
                  <a:tcPr/>
                </a:tc>
                <a:tc>
                  <a:txBody>
                    <a:bodyPr/>
                    <a:lstStyle/>
                    <a:p>
                      <a:pPr marL="228600" indent="-228600">
                        <a:buAutoNum type="arabicPeriod"/>
                      </a:pPr>
                      <a:endParaRPr lang="en-GB" sz="800" dirty="0"/>
                    </a:p>
                  </a:txBody>
                  <a:tcPr/>
                </a:tc>
                <a:extLst>
                  <a:ext uri="{0D108BD9-81ED-4DB2-BD59-A6C34878D82A}">
                    <a16:rowId xmlns:a16="http://schemas.microsoft.com/office/drawing/2014/main" val="289599235"/>
                  </a:ext>
                </a:extLst>
              </a:tr>
              <a:tr h="470623">
                <a:tc>
                  <a:txBody>
                    <a:bodyPr/>
                    <a:lstStyle/>
                    <a:p>
                      <a:r>
                        <a:rPr lang="en-GB" sz="800" dirty="0"/>
                        <a:t>44.</a:t>
                      </a:r>
                    </a:p>
                  </a:txBody>
                  <a:tcPr/>
                </a:tc>
                <a:tc>
                  <a:txBody>
                    <a:bodyPr/>
                    <a:lstStyle/>
                    <a:p>
                      <a:r>
                        <a:rPr lang="en-GB" sz="800" dirty="0"/>
                        <a:t>Camera controller level 1</a:t>
                      </a:r>
                    </a:p>
                  </a:txBody>
                  <a:tcPr/>
                </a:tc>
                <a:tc>
                  <a:txBody>
                    <a:bodyPr/>
                    <a:lstStyle/>
                    <a:p>
                      <a:r>
                        <a:rPr lang="en-GB" sz="800" dirty="0"/>
                        <a:t>Rm_level1</a:t>
                      </a:r>
                    </a:p>
                  </a:txBody>
                  <a:tcPr/>
                </a:tc>
                <a:tc>
                  <a:txBody>
                    <a:bodyPr/>
                    <a:lstStyle/>
                    <a:p>
                      <a:r>
                        <a:rPr lang="en-GB" sz="800" dirty="0"/>
                        <a:t>obj_camera_controller_lvl1</a:t>
                      </a:r>
                    </a:p>
                  </a:txBody>
                  <a:tcPr/>
                </a:tc>
                <a:tc>
                  <a:txBody>
                    <a:bodyPr/>
                    <a:lstStyle/>
                    <a:p>
                      <a:pPr marL="0" indent="0">
                        <a:buNone/>
                      </a:pPr>
                      <a:r>
                        <a:rPr lang="en-GB" sz="800" dirty="0"/>
                        <a:t>The camera controller is to change the player view to what ever button the player presses, utilizing a script to identify what zone to look at. In addition, the controller itself in its create code contains all the co-ordinates of every zone in level 1 which is then globally labelled using </a:t>
                      </a:r>
                      <a:r>
                        <a:rPr lang="en-GB" sz="800" dirty="0" err="1"/>
                        <a:t>global.current_zone</a:t>
                      </a:r>
                      <a:r>
                        <a:rPr lang="en-GB" sz="800" dirty="0"/>
                        <a:t> as an identifier, and the number zone is named using scripts to make it easier to know what zone is what.</a:t>
                      </a:r>
                    </a:p>
                    <a:p>
                      <a:pPr marL="0" indent="0">
                        <a:buNone/>
                      </a:pPr>
                      <a:endParaRPr lang="en-GB" sz="800" dirty="0"/>
                    </a:p>
                    <a:p>
                      <a:pPr marL="0" indent="0">
                        <a:buNone/>
                      </a:pPr>
                      <a:r>
                        <a:rPr lang="en-GB" sz="800" dirty="0"/>
                        <a:t>If the player clicks a camera button, it triggers the </a:t>
                      </a:r>
                      <a:r>
                        <a:rPr lang="en-GB" sz="800" dirty="0" err="1"/>
                        <a:t>scr_camera_change</a:t>
                      </a:r>
                      <a:r>
                        <a:rPr lang="en-GB" sz="800" dirty="0"/>
                        <a:t> and moves the game's view port to whatever zone is triggered by the button.</a:t>
                      </a:r>
                    </a:p>
                    <a:p>
                      <a:pPr marL="0" indent="0">
                        <a:buNone/>
                      </a:pPr>
                      <a:endParaRPr lang="en-GB" sz="800" dirty="0"/>
                    </a:p>
                    <a:p>
                      <a:pPr marL="0" indent="0">
                        <a:buNone/>
                      </a:pPr>
                      <a:r>
                        <a:rPr lang="en-GB" sz="800" dirty="0"/>
                        <a:t>The controller also enables the camera-based button objects to use the </a:t>
                      </a:r>
                      <a:r>
                        <a:rPr lang="en-GB" sz="800" dirty="0" err="1"/>
                        <a:t>scr_camera_change</a:t>
                      </a:r>
                      <a:r>
                        <a:rPr lang="en-GB" sz="800" dirty="0"/>
                        <a:t> script.</a:t>
                      </a:r>
                    </a:p>
                    <a:p>
                      <a:pPr marL="0" indent="0">
                        <a:buNone/>
                      </a:pPr>
                      <a:endParaRPr lang="en-GB" sz="800" dirty="0"/>
                    </a:p>
                    <a:p>
                      <a:pPr marL="0" indent="0">
                        <a:buNone/>
                      </a:pPr>
                      <a:r>
                        <a:rPr lang="en-GB" sz="800" dirty="0"/>
                        <a:t>Lastly, at game start the controller sets the camera’s size and position to the office zone (</a:t>
                      </a:r>
                      <a:r>
                        <a:rPr lang="en-GB" sz="800" dirty="0" err="1"/>
                        <a:t>global.current_zone</a:t>
                      </a:r>
                      <a:r>
                        <a:rPr lang="en-GB" sz="800" dirty="0"/>
                        <a:t> = 0)</a:t>
                      </a:r>
                    </a:p>
                    <a:p>
                      <a:pPr marL="0" indent="0">
                        <a:buNone/>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45.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Camera controller level 2</a:t>
                      </a:r>
                    </a:p>
                    <a:p>
                      <a:endParaRPr lang="en-GB" sz="800" dirty="0"/>
                    </a:p>
                  </a:txBody>
                  <a:tcPr/>
                </a:tc>
                <a:tc>
                  <a:txBody>
                    <a:bodyPr/>
                    <a:lstStyle/>
                    <a:p>
                      <a:r>
                        <a:rPr lang="en-GB" sz="800" dirty="0"/>
                        <a:t>Rm_level2</a:t>
                      </a:r>
                    </a:p>
                  </a:txBody>
                  <a:tcPr/>
                </a:tc>
                <a:tc>
                  <a:txBody>
                    <a:bodyPr/>
                    <a:lstStyle/>
                    <a:p>
                      <a:r>
                        <a:rPr lang="en-GB" sz="800" dirty="0"/>
                        <a:t>Obj_camera_controller_lvl2</a:t>
                      </a:r>
                    </a:p>
                  </a:txBody>
                  <a:tcPr/>
                </a:tc>
                <a:tc>
                  <a:txBody>
                    <a:bodyPr/>
                    <a:lstStyle/>
                    <a:p>
                      <a:pPr marL="0" indent="0">
                        <a:buNone/>
                      </a:pPr>
                      <a:r>
                        <a:rPr lang="en-GB" sz="800" dirty="0"/>
                        <a:t>The camera controller is to change the player view to a specific zone within the room. Utilizing a script to identify what zone to look at. In addition, the controller itself in its create code contains all the co-ordinates of every zone in level 2 which is then globally labelled using </a:t>
                      </a:r>
                      <a:r>
                        <a:rPr lang="en-GB" sz="800" dirty="0" err="1"/>
                        <a:t>global.current_zone</a:t>
                      </a:r>
                      <a:r>
                        <a:rPr lang="en-GB" sz="800" dirty="0"/>
                        <a:t> as an identifier, and the number zone is named using scripts to make it easier to know what zone is what.</a:t>
                      </a:r>
                    </a:p>
                    <a:p>
                      <a:pPr marL="0" indent="0">
                        <a:buNone/>
                      </a:pPr>
                      <a:endParaRPr lang="en-GB" sz="800" dirty="0"/>
                    </a:p>
                    <a:p>
                      <a:pPr marL="0" indent="0">
                        <a:buNone/>
                      </a:pPr>
                      <a:r>
                        <a:rPr lang="en-GB" sz="800" dirty="0"/>
                        <a:t>If the player clicks a camera button, it triggers the </a:t>
                      </a:r>
                      <a:r>
                        <a:rPr lang="en-GB" sz="800" dirty="0" err="1"/>
                        <a:t>scr_camera_change</a:t>
                      </a:r>
                      <a:r>
                        <a:rPr lang="en-GB" sz="800" dirty="0"/>
                        <a:t> and moves the game's view port to whatever zone is triggered by the button.</a:t>
                      </a:r>
                    </a:p>
                    <a:p>
                      <a:pPr marL="0" indent="0">
                        <a:buNone/>
                      </a:pPr>
                      <a:endParaRPr lang="en-GB" sz="800" dirty="0"/>
                    </a:p>
                    <a:p>
                      <a:pPr marL="0" indent="0">
                        <a:buNone/>
                      </a:pPr>
                      <a:r>
                        <a:rPr lang="en-GB" sz="800" dirty="0"/>
                        <a:t>The controller also enables the camera-based button objects to use the </a:t>
                      </a:r>
                      <a:r>
                        <a:rPr lang="en-GB" sz="800" dirty="0" err="1"/>
                        <a:t>scr_camera_change</a:t>
                      </a:r>
                      <a:r>
                        <a:rPr lang="en-GB" sz="800" dirty="0"/>
                        <a:t> script.</a:t>
                      </a:r>
                    </a:p>
                    <a:p>
                      <a:pPr marL="0" indent="0">
                        <a:buNone/>
                      </a:pPr>
                      <a:endParaRPr lang="en-GB" sz="800" dirty="0"/>
                    </a:p>
                    <a:p>
                      <a:pPr marL="0" indent="0">
                        <a:buNone/>
                      </a:pPr>
                      <a:r>
                        <a:rPr lang="en-GB" sz="800" dirty="0"/>
                        <a:t>Lastly, at game start the controller sets the camera’s size and position to the office zone (</a:t>
                      </a:r>
                      <a:r>
                        <a:rPr lang="en-GB" sz="800" dirty="0" err="1"/>
                        <a:t>global.current_zone</a:t>
                      </a:r>
                      <a:r>
                        <a:rPr lang="en-GB" sz="800" dirty="0"/>
                        <a:t> = 0)</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bl>
          </a:graphicData>
        </a:graphic>
      </p:graphicFrame>
      <p:sp>
        <p:nvSpPr>
          <p:cNvPr id="2" name="TextBox 1">
            <a:extLst>
              <a:ext uri="{FF2B5EF4-FFF2-40B4-BE49-F238E27FC236}">
                <a16:creationId xmlns:a16="http://schemas.microsoft.com/office/drawing/2014/main" id="{D6904CAE-3462-802B-2A36-A942CF4E9F87}"/>
              </a:ext>
            </a:extLst>
          </p:cNvPr>
          <p:cNvSpPr txBox="1"/>
          <p:nvPr/>
        </p:nvSpPr>
        <p:spPr>
          <a:xfrm>
            <a:off x="0" y="22553"/>
            <a:ext cx="1301382" cy="369332"/>
          </a:xfrm>
          <a:prstGeom prst="rect">
            <a:avLst/>
          </a:prstGeom>
          <a:noFill/>
        </p:spPr>
        <p:txBody>
          <a:bodyPr wrap="none" rtlCol="0">
            <a:spAutoFit/>
          </a:bodyPr>
          <a:lstStyle/>
          <a:p>
            <a:r>
              <a:rPr lang="en-GB" dirty="0"/>
              <a:t>Controllers</a:t>
            </a:r>
          </a:p>
        </p:txBody>
      </p:sp>
    </p:spTree>
    <p:extLst>
      <p:ext uri="{BB962C8B-B14F-4D97-AF65-F5344CB8AC3E}">
        <p14:creationId xmlns:p14="http://schemas.microsoft.com/office/powerpoint/2010/main" val="259560085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96EFD9-5657-72F8-5C69-FD38EBC53D46}"/>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769D7B3-5A5E-19FE-FCF9-91E8CFBD8B16}"/>
              </a:ext>
            </a:extLst>
          </p:cNvPr>
          <p:cNvGraphicFramePr>
            <a:graphicFrameLocks noGrp="1"/>
          </p:cNvGraphicFramePr>
          <p:nvPr>
            <p:extLst>
              <p:ext uri="{D42A27DB-BD31-4B8C-83A1-F6EECF244321}">
                <p14:modId xmlns:p14="http://schemas.microsoft.com/office/powerpoint/2010/main" val="1614178007"/>
              </p:ext>
            </p:extLst>
          </p:nvPr>
        </p:nvGraphicFramePr>
        <p:xfrm>
          <a:off x="114301" y="391885"/>
          <a:ext cx="10874827" cy="635326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46.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Camera controller level 3</a:t>
                      </a:r>
                    </a:p>
                    <a:p>
                      <a:endParaRPr lang="en-GB" sz="800" dirty="0"/>
                    </a:p>
                  </a:txBody>
                  <a:tcPr/>
                </a:tc>
                <a:tc>
                  <a:txBody>
                    <a:bodyPr/>
                    <a:lstStyle/>
                    <a:p>
                      <a:r>
                        <a:rPr lang="en-GB" sz="800" dirty="0"/>
                        <a:t>Rm_level3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obj_camera_controller_lvl3</a:t>
                      </a:r>
                    </a:p>
                    <a:p>
                      <a:endParaRPr lang="en-GB" sz="800" dirty="0"/>
                    </a:p>
                  </a:txBody>
                  <a:tcPr/>
                </a:tc>
                <a:tc>
                  <a:txBody>
                    <a:bodyPr/>
                    <a:lstStyle/>
                    <a:p>
                      <a:pPr marL="0" indent="0">
                        <a:buNone/>
                      </a:pPr>
                      <a:r>
                        <a:rPr lang="en-GB" sz="800" dirty="0"/>
                        <a:t>The camera controller is to change the player view to what ever button the player presses, utilizing a script to identify what zone to look at. In addition, the controller itself in its create code contains all the co-ordinates of every zone in level 3 which is then globally labelled using </a:t>
                      </a:r>
                      <a:r>
                        <a:rPr lang="en-GB" sz="800" dirty="0" err="1"/>
                        <a:t>global.current_zone</a:t>
                      </a:r>
                      <a:r>
                        <a:rPr lang="en-GB" sz="800" dirty="0"/>
                        <a:t> as an identifier, and the number zone is named using scripts to make it easier to know what zone is what.</a:t>
                      </a:r>
                    </a:p>
                    <a:p>
                      <a:pPr marL="0" indent="0">
                        <a:buNone/>
                      </a:pPr>
                      <a:endParaRPr lang="en-GB" sz="800" dirty="0"/>
                    </a:p>
                    <a:p>
                      <a:pPr marL="0" indent="0">
                        <a:buNone/>
                      </a:pPr>
                      <a:r>
                        <a:rPr lang="en-GB" sz="800" dirty="0"/>
                        <a:t>If the player clicks a camera button, it triggers the </a:t>
                      </a:r>
                      <a:r>
                        <a:rPr lang="en-GB" sz="800" dirty="0" err="1"/>
                        <a:t>scr_camera_change</a:t>
                      </a:r>
                      <a:r>
                        <a:rPr lang="en-GB" sz="800" dirty="0"/>
                        <a:t> and moves the game's view port to whatever zone is triggered by the button.</a:t>
                      </a:r>
                    </a:p>
                    <a:p>
                      <a:pPr marL="0" indent="0">
                        <a:buNone/>
                      </a:pPr>
                      <a:endParaRPr lang="en-GB" sz="800" dirty="0"/>
                    </a:p>
                    <a:p>
                      <a:pPr marL="0" indent="0">
                        <a:buNone/>
                      </a:pPr>
                      <a:r>
                        <a:rPr lang="en-GB" sz="800" dirty="0"/>
                        <a:t>The controller also enables the camera-based button objects to use the </a:t>
                      </a:r>
                      <a:r>
                        <a:rPr lang="en-GB" sz="800" dirty="0" err="1"/>
                        <a:t>scr_camera_change</a:t>
                      </a:r>
                      <a:r>
                        <a:rPr lang="en-GB" sz="800" dirty="0"/>
                        <a:t> script.</a:t>
                      </a:r>
                    </a:p>
                    <a:p>
                      <a:pPr marL="0" indent="0">
                        <a:buNone/>
                      </a:pPr>
                      <a:endParaRPr lang="en-GB" sz="800" dirty="0"/>
                    </a:p>
                    <a:p>
                      <a:pPr marL="0" indent="0">
                        <a:buNone/>
                      </a:pPr>
                      <a:r>
                        <a:rPr lang="en-GB" sz="800" dirty="0"/>
                        <a:t>Lastly, at game start the controller sets the camera’s size and position to the office zone (</a:t>
                      </a:r>
                      <a:r>
                        <a:rPr lang="en-GB" sz="800" dirty="0" err="1"/>
                        <a:t>global.current_zone</a:t>
                      </a:r>
                      <a:r>
                        <a:rPr lang="en-GB" sz="800" dirty="0"/>
                        <a:t> = 0)</a:t>
                      </a:r>
                    </a:p>
                    <a:p>
                      <a:endParaRPr lang="en-GB" sz="800" dirty="0"/>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47.</a:t>
                      </a:r>
                    </a:p>
                  </a:txBody>
                  <a:tcPr/>
                </a:tc>
                <a:tc>
                  <a:txBody>
                    <a:bodyPr/>
                    <a:lstStyle/>
                    <a:p>
                      <a:r>
                        <a:rPr lang="en-GB" sz="800" dirty="0"/>
                        <a:t>Camera controller level 4</a:t>
                      </a:r>
                    </a:p>
                  </a:txBody>
                  <a:tcPr/>
                </a:tc>
                <a:tc>
                  <a:txBody>
                    <a:bodyPr/>
                    <a:lstStyle/>
                    <a:p>
                      <a:r>
                        <a:rPr lang="en-GB" sz="800" dirty="0"/>
                        <a:t>Rm_level4</a:t>
                      </a:r>
                    </a:p>
                  </a:txBody>
                  <a:tcPr/>
                </a:tc>
                <a:tc>
                  <a:txBody>
                    <a:bodyPr/>
                    <a:lstStyle/>
                    <a:p>
                      <a:r>
                        <a:rPr lang="en-GB" sz="800" dirty="0"/>
                        <a:t>obj_camera_controller_lvl4</a:t>
                      </a:r>
                    </a:p>
                  </a:txBody>
                  <a:tcPr/>
                </a:tc>
                <a:tc>
                  <a:txBody>
                    <a:bodyPr/>
                    <a:lstStyle/>
                    <a:p>
                      <a:pPr marL="0" indent="0">
                        <a:buNone/>
                      </a:pPr>
                      <a:r>
                        <a:rPr lang="en-GB" sz="800" dirty="0"/>
                        <a:t>The camera controller is to change the player view to what ever button the player presses, utilizing a script to identify what zone to look at. In addition, the controller itself in its create code contains all the co-ordinates of every zone in level 4 which is then globally labelled using </a:t>
                      </a:r>
                      <a:r>
                        <a:rPr lang="en-GB" sz="800" dirty="0" err="1"/>
                        <a:t>global.current_zone</a:t>
                      </a:r>
                      <a:r>
                        <a:rPr lang="en-GB" sz="800" dirty="0"/>
                        <a:t> as an identifier, and the number zone is named using scripts to make it easier to know what zone is what.</a:t>
                      </a:r>
                    </a:p>
                    <a:p>
                      <a:pPr marL="0" indent="0">
                        <a:buNone/>
                      </a:pPr>
                      <a:endParaRPr lang="en-GB" sz="800" dirty="0"/>
                    </a:p>
                    <a:p>
                      <a:pPr marL="0" indent="0">
                        <a:buNone/>
                      </a:pPr>
                      <a:r>
                        <a:rPr lang="en-GB" sz="800" dirty="0"/>
                        <a:t>If the player clicks a camera button, it triggers the </a:t>
                      </a:r>
                      <a:r>
                        <a:rPr lang="en-GB" sz="800" dirty="0" err="1"/>
                        <a:t>scr_camera_change</a:t>
                      </a:r>
                      <a:r>
                        <a:rPr lang="en-GB" sz="800" dirty="0"/>
                        <a:t> and moves the game's view port to whatever zone is triggered by the button.</a:t>
                      </a:r>
                    </a:p>
                    <a:p>
                      <a:pPr marL="0" indent="0">
                        <a:buNone/>
                      </a:pPr>
                      <a:endParaRPr lang="en-GB" sz="800" dirty="0"/>
                    </a:p>
                    <a:p>
                      <a:pPr marL="0" indent="0">
                        <a:buNone/>
                      </a:pPr>
                      <a:r>
                        <a:rPr lang="en-GB" sz="800" dirty="0"/>
                        <a:t>The controller also enables the camera-based button objects to use the </a:t>
                      </a:r>
                      <a:r>
                        <a:rPr lang="en-GB" sz="800" dirty="0" err="1"/>
                        <a:t>scr_camera_change</a:t>
                      </a:r>
                      <a:r>
                        <a:rPr lang="en-GB" sz="800" dirty="0"/>
                        <a:t> script.</a:t>
                      </a:r>
                    </a:p>
                    <a:p>
                      <a:pPr marL="0" indent="0">
                        <a:buNone/>
                      </a:pPr>
                      <a:endParaRPr lang="en-GB" sz="800" dirty="0"/>
                    </a:p>
                    <a:p>
                      <a:pPr marL="0" indent="0">
                        <a:buNone/>
                      </a:pPr>
                      <a:r>
                        <a:rPr lang="en-GB" sz="800" dirty="0"/>
                        <a:t>Lastly, at game start the controller sets the camera’s size and position to the office zone (</a:t>
                      </a:r>
                      <a:r>
                        <a:rPr lang="en-GB" sz="800" dirty="0" err="1"/>
                        <a:t>global.current_zone</a:t>
                      </a:r>
                      <a:r>
                        <a:rPr lang="en-GB" sz="800" dirty="0"/>
                        <a:t> = 0)</a:t>
                      </a:r>
                    </a:p>
                    <a:p>
                      <a:pPr marL="0" indent="0">
                        <a:buNone/>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48.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Camera controller level 5</a:t>
                      </a:r>
                    </a:p>
                    <a:p>
                      <a:endParaRPr lang="en-GB" sz="800" dirty="0"/>
                    </a:p>
                  </a:txBody>
                  <a:tcPr/>
                </a:tc>
                <a:tc>
                  <a:txBody>
                    <a:bodyPr/>
                    <a:lstStyle/>
                    <a:p>
                      <a:r>
                        <a:rPr lang="en-GB" sz="800" dirty="0"/>
                        <a:t>Rm_level5</a:t>
                      </a:r>
                    </a:p>
                  </a:txBody>
                  <a:tcPr/>
                </a:tc>
                <a:tc>
                  <a:txBody>
                    <a:bodyPr/>
                    <a:lstStyle/>
                    <a:p>
                      <a:r>
                        <a:rPr lang="en-GB" sz="800" dirty="0"/>
                        <a:t>Obj_camera_controller_lvl5</a:t>
                      </a:r>
                    </a:p>
                  </a:txBody>
                  <a:tcPr/>
                </a:tc>
                <a:tc>
                  <a:txBody>
                    <a:bodyPr/>
                    <a:lstStyle/>
                    <a:p>
                      <a:pPr marL="0" indent="0">
                        <a:buNone/>
                      </a:pPr>
                      <a:r>
                        <a:rPr lang="en-GB" sz="800" dirty="0"/>
                        <a:t>The camera controller is to change the player view to a specific zone within the room. Utilizing a script to identify what zone to look at. In addition, the controller itself in its create code contains all the co-ordinates of every zone in level 5 which is then globally labelled using </a:t>
                      </a:r>
                      <a:r>
                        <a:rPr lang="en-GB" sz="800" dirty="0" err="1"/>
                        <a:t>global.current_zone</a:t>
                      </a:r>
                      <a:r>
                        <a:rPr lang="en-GB" sz="800" dirty="0"/>
                        <a:t> as an identifier, and the number zone is named using scripts to make it easier to know what zone is what.</a:t>
                      </a:r>
                    </a:p>
                    <a:p>
                      <a:pPr marL="0" indent="0">
                        <a:buNone/>
                      </a:pPr>
                      <a:endParaRPr lang="en-GB" sz="800" dirty="0"/>
                    </a:p>
                    <a:p>
                      <a:pPr marL="0" indent="0">
                        <a:buNone/>
                      </a:pPr>
                      <a:r>
                        <a:rPr lang="en-GB" sz="800" dirty="0"/>
                        <a:t>If the player clicks a camera button, it triggers the </a:t>
                      </a:r>
                      <a:r>
                        <a:rPr lang="en-GB" sz="800" dirty="0" err="1"/>
                        <a:t>scr_camera_change</a:t>
                      </a:r>
                      <a:r>
                        <a:rPr lang="en-GB" sz="800" dirty="0"/>
                        <a:t> and moves the game's view port to whatever zone is triggered by the button.</a:t>
                      </a:r>
                    </a:p>
                    <a:p>
                      <a:pPr marL="0" indent="0">
                        <a:buNone/>
                      </a:pPr>
                      <a:endParaRPr lang="en-GB" sz="800" dirty="0"/>
                    </a:p>
                    <a:p>
                      <a:pPr marL="0" indent="0">
                        <a:buNone/>
                      </a:pPr>
                      <a:r>
                        <a:rPr lang="en-GB" sz="800" dirty="0"/>
                        <a:t>The controller also enables the camera-based button objects to use the </a:t>
                      </a:r>
                      <a:r>
                        <a:rPr lang="en-GB" sz="800" dirty="0" err="1"/>
                        <a:t>scr_camera_change</a:t>
                      </a:r>
                      <a:r>
                        <a:rPr lang="en-GB" sz="800" dirty="0"/>
                        <a:t> script.</a:t>
                      </a:r>
                    </a:p>
                    <a:p>
                      <a:pPr marL="0" indent="0">
                        <a:buNone/>
                      </a:pPr>
                      <a:endParaRPr lang="en-GB" sz="800" dirty="0"/>
                    </a:p>
                    <a:p>
                      <a:pPr marL="0" indent="0">
                        <a:buNone/>
                      </a:pPr>
                      <a:r>
                        <a:rPr lang="en-GB" sz="800" dirty="0"/>
                        <a:t>Lastly, at game start the controller sets the camera’s size and position to the office zone (</a:t>
                      </a:r>
                      <a:r>
                        <a:rPr lang="en-GB" sz="800" dirty="0" err="1"/>
                        <a:t>global.current_zone</a:t>
                      </a:r>
                      <a:r>
                        <a:rPr lang="en-GB" sz="800" dirty="0"/>
                        <a:t> = 0)</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bl>
          </a:graphicData>
        </a:graphic>
      </p:graphicFrame>
      <p:sp>
        <p:nvSpPr>
          <p:cNvPr id="2" name="TextBox 1">
            <a:extLst>
              <a:ext uri="{FF2B5EF4-FFF2-40B4-BE49-F238E27FC236}">
                <a16:creationId xmlns:a16="http://schemas.microsoft.com/office/drawing/2014/main" id="{75F9E048-6337-9132-4E48-07400039BC98}"/>
              </a:ext>
            </a:extLst>
          </p:cNvPr>
          <p:cNvSpPr txBox="1"/>
          <p:nvPr/>
        </p:nvSpPr>
        <p:spPr>
          <a:xfrm>
            <a:off x="0" y="22553"/>
            <a:ext cx="1301382" cy="369332"/>
          </a:xfrm>
          <a:prstGeom prst="rect">
            <a:avLst/>
          </a:prstGeom>
          <a:noFill/>
        </p:spPr>
        <p:txBody>
          <a:bodyPr wrap="none" rtlCol="0">
            <a:spAutoFit/>
          </a:bodyPr>
          <a:lstStyle/>
          <a:p>
            <a:r>
              <a:rPr lang="en-GB" dirty="0"/>
              <a:t>Controllers</a:t>
            </a:r>
          </a:p>
        </p:txBody>
      </p:sp>
    </p:spTree>
    <p:extLst>
      <p:ext uri="{BB962C8B-B14F-4D97-AF65-F5344CB8AC3E}">
        <p14:creationId xmlns:p14="http://schemas.microsoft.com/office/powerpoint/2010/main" val="230460666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D623B9-484F-0887-686E-D8BB72489BF3}"/>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14ADAA5F-494B-0AB9-AA89-C443F5417DB4}"/>
              </a:ext>
            </a:extLst>
          </p:cNvPr>
          <p:cNvGraphicFramePr>
            <a:graphicFrameLocks noGrp="1"/>
          </p:cNvGraphicFramePr>
          <p:nvPr>
            <p:extLst>
              <p:ext uri="{D42A27DB-BD31-4B8C-83A1-F6EECF244321}">
                <p14:modId xmlns:p14="http://schemas.microsoft.com/office/powerpoint/2010/main" val="2696255789"/>
              </p:ext>
            </p:extLst>
          </p:nvPr>
        </p:nvGraphicFramePr>
        <p:xfrm>
          <a:off x="114301" y="391885"/>
          <a:ext cx="10874827" cy="4598846"/>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49.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Sound controller level 1</a:t>
                      </a:r>
                    </a:p>
                  </a:txBody>
                  <a:tcPr/>
                </a:tc>
                <a:tc>
                  <a:txBody>
                    <a:bodyPr/>
                    <a:lstStyle/>
                    <a:p>
                      <a:r>
                        <a:rPr lang="en-GB" sz="800" dirty="0"/>
                        <a:t>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obj_sound_controller_lvl1</a:t>
                      </a:r>
                    </a:p>
                    <a:p>
                      <a:endParaRPr lang="en-GB" sz="800" dirty="0"/>
                    </a:p>
                  </a:txBody>
                  <a:tcPr/>
                </a:tc>
                <a:tc>
                  <a:txBody>
                    <a:bodyPr/>
                    <a:lstStyle/>
                    <a:p>
                      <a:r>
                        <a:rPr lang="en-GB" sz="800" dirty="0"/>
                        <a:t>The sound controller plays the sounds based off in game conditions. If an enemy is in Cam 2, play left hallway sound. If an enemy is in Cam 7, play right hallway sound. Next is the ambience, the sound controller plays the ambience sound on loop throughout the level. Lastly, every time K9 moves to a different zone he plays his footstep SFX. </a:t>
                      </a:r>
                      <a:r>
                        <a:rPr lang="en-GB" sz="800" b="1" dirty="0"/>
                        <a:t>NOTE: (They are still using place-holder sounds), </a:t>
                      </a:r>
                      <a:r>
                        <a:rPr lang="en-GB" sz="800" dirty="0"/>
                        <a:t>in addition </a:t>
                      </a:r>
                      <a:r>
                        <a:rPr lang="en-GB" sz="800" dirty="0" err="1"/>
                        <a:t>Gwibers</a:t>
                      </a:r>
                      <a:r>
                        <a:rPr lang="en-GB" sz="800" dirty="0"/>
                        <a:t> footsteps haven’t been done.</a:t>
                      </a:r>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50.</a:t>
                      </a:r>
                    </a:p>
                  </a:txBody>
                  <a:tcPr/>
                </a:tc>
                <a:tc>
                  <a:txBody>
                    <a:bodyPr/>
                    <a:lstStyle/>
                    <a:p>
                      <a:r>
                        <a:rPr lang="en-GB" sz="800" dirty="0"/>
                        <a:t>Sound controller level 2</a:t>
                      </a:r>
                    </a:p>
                  </a:txBody>
                  <a:tcPr/>
                </a:tc>
                <a:tc>
                  <a:txBody>
                    <a:bodyPr/>
                    <a:lstStyle/>
                    <a:p>
                      <a:r>
                        <a:rPr lang="en-GB" sz="800" dirty="0"/>
                        <a:t>Rm_level2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obj_sound_controller_lvl2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The sound controller plays the sounds based off in game conditions. If an enemy is in Cam 2, play left hallway sound. If an enemy is in Cam 7, play right hallway sound. Next is the ambience, the sound controller plays the ambience sound on loop throughout the level. Lastly, every time K9 moves to a different zone he plays his footstep SFX. </a:t>
                      </a:r>
                      <a:r>
                        <a:rPr lang="en-GB" sz="800" b="1" dirty="0"/>
                        <a:t>NOTE: (They are still using place-holder sounds), </a:t>
                      </a:r>
                      <a:r>
                        <a:rPr lang="en-GB" sz="800" dirty="0"/>
                        <a:t>in addition </a:t>
                      </a:r>
                      <a:r>
                        <a:rPr lang="en-GB" sz="800" dirty="0" err="1"/>
                        <a:t>Gwibers</a:t>
                      </a:r>
                      <a:r>
                        <a:rPr lang="en-GB" sz="800" dirty="0"/>
                        <a:t> footsteps haven’t been done.</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51.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Sound controller level 3</a:t>
                      </a:r>
                    </a:p>
                    <a:p>
                      <a:endParaRPr lang="en-GB" sz="800" dirty="0"/>
                    </a:p>
                  </a:txBody>
                  <a:tcPr/>
                </a:tc>
                <a:tc>
                  <a:txBody>
                    <a:bodyPr/>
                    <a:lstStyle/>
                    <a:p>
                      <a:r>
                        <a:rPr lang="en-GB" sz="800" dirty="0"/>
                        <a:t>Rm_level3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obj_sound_controller_lvl3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The sound controller plays the sounds based off in game conditions. If an enemy is in Cam 2, play left hallway sound. If an enemy is in Cam 7, play right hallway sound. Next is the ambience, the sound controller plays the ambience sound on loop throughout the level. Lastly, every time K9 moves to a different zone he plays his footstep SFX. </a:t>
                      </a:r>
                      <a:r>
                        <a:rPr lang="en-GB" sz="800" b="1" dirty="0"/>
                        <a:t>NOTE: (They are still using place-holder sounds), </a:t>
                      </a:r>
                      <a:r>
                        <a:rPr lang="en-GB" sz="800" dirty="0"/>
                        <a:t>in addition </a:t>
                      </a:r>
                      <a:r>
                        <a:rPr lang="en-GB" sz="800" dirty="0" err="1"/>
                        <a:t>Gwibers</a:t>
                      </a:r>
                      <a:r>
                        <a:rPr lang="en-GB" sz="800" dirty="0"/>
                        <a:t> footsteps haven’t been done.</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52.</a:t>
                      </a:r>
                    </a:p>
                  </a:txBody>
                  <a:tcPr/>
                </a:tc>
                <a:tc>
                  <a:txBody>
                    <a:bodyPr/>
                    <a:lstStyle/>
                    <a:p>
                      <a:r>
                        <a:rPr lang="en-GB" sz="800" dirty="0"/>
                        <a:t>Sound controller level 4</a:t>
                      </a:r>
                    </a:p>
                  </a:txBody>
                  <a:tcPr/>
                </a:tc>
                <a:tc>
                  <a:txBody>
                    <a:bodyPr/>
                    <a:lstStyle/>
                    <a:p>
                      <a:r>
                        <a:rPr lang="en-GB" sz="8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obj_sound_controller_lvl4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The sound controller for level 4 hasn’t been made yet, due to the fact that prototype doesn’t have sound and Arach already has his own sound playing in his code.</a:t>
                      </a:r>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53.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Sound controller level 5</a:t>
                      </a:r>
                    </a:p>
                    <a:p>
                      <a:endParaRPr lang="en-GB" sz="800" dirty="0"/>
                    </a:p>
                  </a:txBody>
                  <a:tcPr/>
                </a:tc>
                <a:tc>
                  <a:txBody>
                    <a:bodyPr/>
                    <a:lstStyle/>
                    <a:p>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obj_sound_controller_lvl5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The sound controller plays the sounds based off in game conditions. If an enemy is in Cam 2, play left hallway sound. If an enemy is in Cam 7, play right hallway sound. Next is the ambience, the sound controller plays the ambience sound on loop throughout the level. Lastly, every time K9 moves to a different zone he plays his footstep SFX. </a:t>
                      </a:r>
                      <a:r>
                        <a:rPr lang="en-GB" sz="800" b="1" dirty="0"/>
                        <a:t>NOTE: (They are still using place-holder sounds), </a:t>
                      </a:r>
                      <a:r>
                        <a:rPr lang="en-GB" sz="800" dirty="0"/>
                        <a:t>in addition </a:t>
                      </a:r>
                      <a:r>
                        <a:rPr lang="en-GB" sz="800" dirty="0" err="1"/>
                        <a:t>Gwibers</a:t>
                      </a:r>
                      <a:r>
                        <a:rPr lang="en-GB" sz="800" dirty="0"/>
                        <a:t> footsteps haven’t been done.</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AA77FAAA-C496-9910-E97D-F48489976CBF}"/>
              </a:ext>
            </a:extLst>
          </p:cNvPr>
          <p:cNvSpPr txBox="1"/>
          <p:nvPr/>
        </p:nvSpPr>
        <p:spPr>
          <a:xfrm>
            <a:off x="0" y="22553"/>
            <a:ext cx="1301382" cy="369332"/>
          </a:xfrm>
          <a:prstGeom prst="rect">
            <a:avLst/>
          </a:prstGeom>
          <a:noFill/>
        </p:spPr>
        <p:txBody>
          <a:bodyPr wrap="none" rtlCol="0">
            <a:spAutoFit/>
          </a:bodyPr>
          <a:lstStyle/>
          <a:p>
            <a:r>
              <a:rPr lang="en-GB" dirty="0"/>
              <a:t>Controllers</a:t>
            </a:r>
          </a:p>
        </p:txBody>
      </p:sp>
    </p:spTree>
    <p:extLst>
      <p:ext uri="{BB962C8B-B14F-4D97-AF65-F5344CB8AC3E}">
        <p14:creationId xmlns:p14="http://schemas.microsoft.com/office/powerpoint/2010/main" val="189498727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22C8A-F106-3B79-337F-5A852C0206B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7E36A9E4-F376-75A9-D380-54CF8EE89CBE}"/>
              </a:ext>
            </a:extLst>
          </p:cNvPr>
          <p:cNvGraphicFramePr>
            <a:graphicFrameLocks noGrp="1"/>
          </p:cNvGraphicFramePr>
          <p:nvPr>
            <p:extLst>
              <p:ext uri="{D42A27DB-BD31-4B8C-83A1-F6EECF244321}">
                <p14:modId xmlns:p14="http://schemas.microsoft.com/office/powerpoint/2010/main" val="840709679"/>
              </p:ext>
            </p:extLst>
          </p:nvPr>
        </p:nvGraphicFramePr>
        <p:xfrm>
          <a:off x="114301" y="391885"/>
          <a:ext cx="10874827" cy="421966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54.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Level 1 Camera 1 Button trigger</a:t>
                      </a:r>
                    </a:p>
                  </a:txBody>
                  <a:tcPr/>
                </a:tc>
                <a:tc>
                  <a:txBody>
                    <a:bodyPr/>
                    <a:lstStyle/>
                    <a:p>
                      <a:r>
                        <a:rPr lang="en-GB" sz="800" dirty="0"/>
                        <a:t>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a:t>
                      </a:r>
                    </a:p>
                    <a:p>
                      <a:endParaRPr lang="en-GB" sz="800" dirty="0"/>
                    </a:p>
                  </a:txBody>
                  <a:tcPr/>
                </a:tc>
                <a:tc>
                  <a:txBody>
                    <a:bodyPr/>
                    <a:lstStyle/>
                    <a:p>
                      <a:r>
                        <a:rPr lang="en-GB" sz="800" dirty="0"/>
                        <a:t>When the mouse left click button is pressed, it will utilize the camera change script for level 1 to change the cameras position to view </a:t>
                      </a:r>
                      <a:r>
                        <a:rPr lang="en-GB" sz="800" dirty="0" err="1"/>
                        <a:t>global.current_zone</a:t>
                      </a:r>
                      <a:r>
                        <a:rPr lang="en-GB" sz="800" dirty="0"/>
                        <a:t>  = 2  which is camera zone 1. It will also play the button click SFX upon clicking  the left mouse button.</a:t>
                      </a:r>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55.</a:t>
                      </a:r>
                    </a:p>
                  </a:txBody>
                  <a:tcPr/>
                </a:tc>
                <a:tc>
                  <a:txBody>
                    <a:bodyPr/>
                    <a:lstStyle/>
                    <a:p>
                      <a:r>
                        <a:rPr lang="en-GB" sz="800" dirty="0"/>
                        <a:t>Level 2 Camera 1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2 to change the cameras position to view </a:t>
                      </a:r>
                      <a:r>
                        <a:rPr lang="en-GB" sz="800" dirty="0" err="1"/>
                        <a:t>global.current_zone</a:t>
                      </a:r>
                      <a:r>
                        <a:rPr lang="en-GB" sz="800" dirty="0"/>
                        <a:t>  = 2  which is camera zone 1. It will also play the button click SFX upon clicking  the left mouse button. Also, it sets the camera view size to X = 400 by Y = 225.</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56.</a:t>
                      </a:r>
                    </a:p>
                  </a:txBody>
                  <a:tcPr/>
                </a:tc>
                <a:tc>
                  <a:txBody>
                    <a:bodyPr/>
                    <a:lstStyle/>
                    <a:p>
                      <a:r>
                        <a:rPr lang="en-GB" sz="800" dirty="0"/>
                        <a:t>Level 3 Camera 1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2  which is camera zone 1.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57.</a:t>
                      </a:r>
                    </a:p>
                  </a:txBody>
                  <a:tcPr/>
                </a:tc>
                <a:tc>
                  <a:txBody>
                    <a:bodyPr/>
                    <a:lstStyle/>
                    <a:p>
                      <a:r>
                        <a:rPr lang="en-GB" sz="800" dirty="0"/>
                        <a:t>Level 4 Camera 1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2  which is camera zone 1.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58.</a:t>
                      </a:r>
                    </a:p>
                  </a:txBody>
                  <a:tcPr/>
                </a:tc>
                <a:tc>
                  <a:txBody>
                    <a:bodyPr/>
                    <a:lstStyle/>
                    <a:p>
                      <a:r>
                        <a:rPr lang="en-GB" sz="800" dirty="0"/>
                        <a:t>Level 5 Camera 1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2  which is camera zone 1.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FE6391BD-9AC9-1E04-9A9A-A2815C0E1C83}"/>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10875053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458D93-F99C-FC6B-4344-D56270FC9CFB}"/>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A6C0B635-90CC-88F1-548B-7FDEC90928B2}"/>
              </a:ext>
            </a:extLst>
          </p:cNvPr>
          <p:cNvGraphicFramePr>
            <a:graphicFrameLocks noGrp="1"/>
          </p:cNvGraphicFramePr>
          <p:nvPr>
            <p:extLst>
              <p:ext uri="{D42A27DB-BD31-4B8C-83A1-F6EECF244321}">
                <p14:modId xmlns:p14="http://schemas.microsoft.com/office/powerpoint/2010/main" val="356329338"/>
              </p:ext>
            </p:extLst>
          </p:nvPr>
        </p:nvGraphicFramePr>
        <p:xfrm>
          <a:off x="114301" y="391885"/>
          <a:ext cx="10874827" cy="434158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59.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Level 1 Camera 2 Button trigger</a:t>
                      </a:r>
                    </a:p>
                  </a:txBody>
                  <a:tcPr/>
                </a:tc>
                <a:tc>
                  <a:txBody>
                    <a:bodyPr/>
                    <a:lstStyle/>
                    <a:p>
                      <a:r>
                        <a:rPr lang="en-GB" sz="800" dirty="0"/>
                        <a:t>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Obj_cam_2</a:t>
                      </a:r>
                    </a:p>
                    <a:p>
                      <a:endParaRPr lang="en-GB" sz="800" dirty="0"/>
                    </a:p>
                  </a:txBody>
                  <a:tcPr/>
                </a:tc>
                <a:tc>
                  <a:txBody>
                    <a:bodyPr/>
                    <a:lstStyle/>
                    <a:p>
                      <a:r>
                        <a:rPr lang="en-GB" sz="800" dirty="0"/>
                        <a:t>When the mouse left click button is pressed, it will utilize the camera change script for level 1 to change the cameras position to view </a:t>
                      </a:r>
                      <a:r>
                        <a:rPr lang="en-GB" sz="800" dirty="0" err="1"/>
                        <a:t>global.current_zone</a:t>
                      </a:r>
                      <a:r>
                        <a:rPr lang="en-GB" sz="800" dirty="0"/>
                        <a:t>  = 3  which is camera zone 2. It will also play the button click SFX upon clicking  the left mouse button.</a:t>
                      </a:r>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60.</a:t>
                      </a:r>
                    </a:p>
                  </a:txBody>
                  <a:tcPr/>
                </a:tc>
                <a:tc>
                  <a:txBody>
                    <a:bodyPr/>
                    <a:lstStyle/>
                    <a:p>
                      <a:r>
                        <a:rPr lang="en-GB" sz="800" dirty="0"/>
                        <a:t>Level 2 Camera 2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Obj_cam_2_lvl2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2 to change the cameras position to view </a:t>
                      </a:r>
                      <a:r>
                        <a:rPr lang="en-GB" sz="800" dirty="0" err="1"/>
                        <a:t>global.current_zone</a:t>
                      </a:r>
                      <a:r>
                        <a:rPr lang="en-GB" sz="800" dirty="0"/>
                        <a:t>  = 3  which is camera zone 2.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61.</a:t>
                      </a:r>
                    </a:p>
                  </a:txBody>
                  <a:tcPr/>
                </a:tc>
                <a:tc>
                  <a:txBody>
                    <a:bodyPr/>
                    <a:lstStyle/>
                    <a:p>
                      <a:r>
                        <a:rPr lang="en-GB" sz="800" dirty="0"/>
                        <a:t>Level 3 Camera 2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Obj_cam_2_lvl3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3  which is camera zone 2.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62.</a:t>
                      </a:r>
                    </a:p>
                  </a:txBody>
                  <a:tcPr/>
                </a:tc>
                <a:tc>
                  <a:txBody>
                    <a:bodyPr/>
                    <a:lstStyle/>
                    <a:p>
                      <a:r>
                        <a:rPr lang="en-GB" sz="800" dirty="0"/>
                        <a:t>Level 4 Camera 2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Obj_cam_2_lvl4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3  which is camera zone 2.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63.</a:t>
                      </a:r>
                    </a:p>
                  </a:txBody>
                  <a:tcPr/>
                </a:tc>
                <a:tc>
                  <a:txBody>
                    <a:bodyPr/>
                    <a:lstStyle/>
                    <a:p>
                      <a:r>
                        <a:rPr lang="en-GB" sz="800" dirty="0"/>
                        <a:t>Level 5 Camera 2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Obj_cam_2_lvl5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3  which is camera zone 2.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B1F2BB4E-2D60-2EBE-FE04-FCBC6395F8A5}"/>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82135131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08E55-890D-ED74-BDA8-7BEBDF0B266B}"/>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A01D46EA-3DD9-624B-4704-AD54586A8FDC}"/>
              </a:ext>
            </a:extLst>
          </p:cNvPr>
          <p:cNvGraphicFramePr>
            <a:graphicFrameLocks noGrp="1"/>
          </p:cNvGraphicFramePr>
          <p:nvPr>
            <p:extLst>
              <p:ext uri="{D42A27DB-BD31-4B8C-83A1-F6EECF244321}">
                <p14:modId xmlns:p14="http://schemas.microsoft.com/office/powerpoint/2010/main" val="366726863"/>
              </p:ext>
            </p:extLst>
          </p:nvPr>
        </p:nvGraphicFramePr>
        <p:xfrm>
          <a:off x="114301" y="391885"/>
          <a:ext cx="10874827" cy="434158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64.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Level 1 Camera 3 Button trigger</a:t>
                      </a:r>
                    </a:p>
                  </a:txBody>
                  <a:tcPr/>
                </a:tc>
                <a:tc>
                  <a:txBody>
                    <a:bodyPr/>
                    <a:lstStyle/>
                    <a:p>
                      <a:r>
                        <a:rPr lang="en-GB" sz="800" dirty="0"/>
                        <a:t>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Obj_cam_3</a:t>
                      </a:r>
                    </a:p>
                    <a:p>
                      <a:endParaRPr lang="en-GB" sz="800" dirty="0"/>
                    </a:p>
                  </a:txBody>
                  <a:tcPr/>
                </a:tc>
                <a:tc>
                  <a:txBody>
                    <a:bodyPr/>
                    <a:lstStyle/>
                    <a:p>
                      <a:r>
                        <a:rPr lang="en-GB" sz="800" dirty="0"/>
                        <a:t>When the mouse left click button is pressed, it will utilize the camera change script for level 1 to change the cameras position to view </a:t>
                      </a:r>
                      <a:r>
                        <a:rPr lang="en-GB" sz="800" dirty="0" err="1"/>
                        <a:t>global.current_zone</a:t>
                      </a:r>
                      <a:r>
                        <a:rPr lang="en-GB" sz="800" dirty="0"/>
                        <a:t>  = 4  which is camera zone 3. It will also play the button click SFX upon clicking  the left mouse button.</a:t>
                      </a:r>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65.</a:t>
                      </a:r>
                    </a:p>
                  </a:txBody>
                  <a:tcPr/>
                </a:tc>
                <a:tc>
                  <a:txBody>
                    <a:bodyPr/>
                    <a:lstStyle/>
                    <a:p>
                      <a:r>
                        <a:rPr lang="en-GB" sz="800" dirty="0"/>
                        <a:t>Level 2 Camera 3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Obj_cam_3_lvl2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2 to change the cameras position to view </a:t>
                      </a:r>
                      <a:r>
                        <a:rPr lang="en-GB" sz="800" dirty="0" err="1"/>
                        <a:t>global.current_zone</a:t>
                      </a:r>
                      <a:r>
                        <a:rPr lang="en-GB" sz="800" dirty="0"/>
                        <a:t>  = 4  which is camera zone 3.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66.</a:t>
                      </a:r>
                    </a:p>
                  </a:txBody>
                  <a:tcPr/>
                </a:tc>
                <a:tc>
                  <a:txBody>
                    <a:bodyPr/>
                    <a:lstStyle/>
                    <a:p>
                      <a:r>
                        <a:rPr lang="en-GB" sz="800" dirty="0"/>
                        <a:t>Level 3 Camera 3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Obj_cam_3_lvl3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4  which is camera zone 3.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67.</a:t>
                      </a:r>
                    </a:p>
                  </a:txBody>
                  <a:tcPr/>
                </a:tc>
                <a:tc>
                  <a:txBody>
                    <a:bodyPr/>
                    <a:lstStyle/>
                    <a:p>
                      <a:r>
                        <a:rPr lang="en-GB" sz="800" dirty="0"/>
                        <a:t>Level 4 Camera 3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Obj_cam_3_lvl4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4  which is camera zone 3.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68.</a:t>
                      </a:r>
                    </a:p>
                  </a:txBody>
                  <a:tcPr/>
                </a:tc>
                <a:tc>
                  <a:txBody>
                    <a:bodyPr/>
                    <a:lstStyle/>
                    <a:p>
                      <a:r>
                        <a:rPr lang="en-GB" sz="800" dirty="0"/>
                        <a:t>Level 5 Camera 3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Obj_cam_3_lvl5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4  which is camera zone 3.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67BA3D89-FDD3-FB3B-80F8-638E74D01F64}"/>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186775388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494D43-BA9C-62D7-9C7C-5E1B3BE95409}"/>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E8C87FE-23E7-1CBB-50D9-2ACAC4D0A216}"/>
              </a:ext>
            </a:extLst>
          </p:cNvPr>
          <p:cNvGraphicFramePr>
            <a:graphicFrameLocks noGrp="1"/>
          </p:cNvGraphicFramePr>
          <p:nvPr>
            <p:extLst>
              <p:ext uri="{D42A27DB-BD31-4B8C-83A1-F6EECF244321}">
                <p14:modId xmlns:p14="http://schemas.microsoft.com/office/powerpoint/2010/main" val="833279952"/>
              </p:ext>
            </p:extLst>
          </p:nvPr>
        </p:nvGraphicFramePr>
        <p:xfrm>
          <a:off x="114301" y="391885"/>
          <a:ext cx="10874827" cy="434158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69.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Level 1 Camera 4 Button trigger</a:t>
                      </a:r>
                    </a:p>
                  </a:txBody>
                  <a:tcPr/>
                </a:tc>
                <a:tc>
                  <a:txBody>
                    <a:bodyPr/>
                    <a:lstStyle/>
                    <a:p>
                      <a:r>
                        <a:rPr lang="en-GB" sz="800" dirty="0"/>
                        <a:t>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Obj_cam_4</a:t>
                      </a:r>
                    </a:p>
                    <a:p>
                      <a:endParaRPr lang="en-GB" sz="800" dirty="0"/>
                    </a:p>
                  </a:txBody>
                  <a:tcPr/>
                </a:tc>
                <a:tc>
                  <a:txBody>
                    <a:bodyPr/>
                    <a:lstStyle/>
                    <a:p>
                      <a:r>
                        <a:rPr lang="en-GB" sz="800" dirty="0"/>
                        <a:t>When the mouse left click button is pressed, it will utilize the camera change script for level 1 to change the cameras position to view </a:t>
                      </a:r>
                      <a:r>
                        <a:rPr lang="en-GB" sz="800" dirty="0" err="1"/>
                        <a:t>global.current_zone</a:t>
                      </a:r>
                      <a:r>
                        <a:rPr lang="en-GB" sz="800" dirty="0"/>
                        <a:t>  = 5  which is camera zone 4. It will also play the button click SFX upon clicking  the left mouse button.</a:t>
                      </a:r>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70.</a:t>
                      </a:r>
                    </a:p>
                  </a:txBody>
                  <a:tcPr/>
                </a:tc>
                <a:tc>
                  <a:txBody>
                    <a:bodyPr/>
                    <a:lstStyle/>
                    <a:p>
                      <a:r>
                        <a:rPr lang="en-GB" sz="800" dirty="0"/>
                        <a:t>Level 2 Camera 4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Obj_cam_4_lvl2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2 to change the cameras position to view </a:t>
                      </a:r>
                      <a:r>
                        <a:rPr lang="en-GB" sz="800" dirty="0" err="1"/>
                        <a:t>global.current_zone</a:t>
                      </a:r>
                      <a:r>
                        <a:rPr lang="en-GB" sz="800" dirty="0"/>
                        <a:t>  = 5  which is camera zone 4.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71.</a:t>
                      </a:r>
                    </a:p>
                  </a:txBody>
                  <a:tcPr/>
                </a:tc>
                <a:tc>
                  <a:txBody>
                    <a:bodyPr/>
                    <a:lstStyle/>
                    <a:p>
                      <a:r>
                        <a:rPr lang="en-GB" sz="800" dirty="0"/>
                        <a:t>Level 3 Camera 4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Obj_cam_4_lvl3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5  which is camera zone 4.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72.</a:t>
                      </a:r>
                    </a:p>
                  </a:txBody>
                  <a:tcPr/>
                </a:tc>
                <a:tc>
                  <a:txBody>
                    <a:bodyPr/>
                    <a:lstStyle/>
                    <a:p>
                      <a:r>
                        <a:rPr lang="en-GB" sz="800" dirty="0"/>
                        <a:t>Level 4 Camera 4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Obj_cam_4_lvl4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5  which is camera zone 4.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73.</a:t>
                      </a:r>
                    </a:p>
                  </a:txBody>
                  <a:tcPr/>
                </a:tc>
                <a:tc>
                  <a:txBody>
                    <a:bodyPr/>
                    <a:lstStyle/>
                    <a:p>
                      <a:r>
                        <a:rPr lang="en-GB" sz="800" dirty="0"/>
                        <a:t>Level 5 Camera 4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Obj_cam_4_lvl5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5  which is camera zone 4.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8FE1C7E6-07C7-9E93-5F46-9F42373FEE2A}"/>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362428125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C66AE4-90DA-9DA9-9558-2D9FC656C12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7E80575-0300-EB6A-9DEE-5B2C7937A95A}"/>
              </a:ext>
            </a:extLst>
          </p:cNvPr>
          <p:cNvGraphicFramePr>
            <a:graphicFrameLocks noGrp="1"/>
          </p:cNvGraphicFramePr>
          <p:nvPr>
            <p:extLst>
              <p:ext uri="{D42A27DB-BD31-4B8C-83A1-F6EECF244321}">
                <p14:modId xmlns:p14="http://schemas.microsoft.com/office/powerpoint/2010/main" val="2754032344"/>
              </p:ext>
            </p:extLst>
          </p:nvPr>
        </p:nvGraphicFramePr>
        <p:xfrm>
          <a:off x="114301" y="391885"/>
          <a:ext cx="10874827" cy="434158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74.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Level 1 Camera 5 Button trigger</a:t>
                      </a:r>
                    </a:p>
                  </a:txBody>
                  <a:tcPr/>
                </a:tc>
                <a:tc>
                  <a:txBody>
                    <a:bodyPr/>
                    <a:lstStyle/>
                    <a:p>
                      <a:r>
                        <a:rPr lang="en-GB" sz="800" dirty="0"/>
                        <a:t>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Obj_cam_5</a:t>
                      </a:r>
                    </a:p>
                    <a:p>
                      <a:endParaRPr lang="en-GB" sz="800" dirty="0"/>
                    </a:p>
                  </a:txBody>
                  <a:tcPr/>
                </a:tc>
                <a:tc>
                  <a:txBody>
                    <a:bodyPr/>
                    <a:lstStyle/>
                    <a:p>
                      <a:r>
                        <a:rPr lang="en-GB" sz="800" dirty="0"/>
                        <a:t>When the mouse left click button is pressed, it will utilize the camera change script for level 1 to change the cameras position to view </a:t>
                      </a:r>
                      <a:r>
                        <a:rPr lang="en-GB" sz="800" dirty="0" err="1"/>
                        <a:t>global.current_zone</a:t>
                      </a:r>
                      <a:r>
                        <a:rPr lang="en-GB" sz="800" dirty="0"/>
                        <a:t>  = 6  which is camera zone 5. It will also play the button click SFX upon clicking  the left mouse button.</a:t>
                      </a:r>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75.</a:t>
                      </a:r>
                    </a:p>
                  </a:txBody>
                  <a:tcPr/>
                </a:tc>
                <a:tc>
                  <a:txBody>
                    <a:bodyPr/>
                    <a:lstStyle/>
                    <a:p>
                      <a:r>
                        <a:rPr lang="en-GB" sz="800" dirty="0"/>
                        <a:t>Level 2 Camera 5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Obj_cam_5_lvl2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2 to change the cameras position to view </a:t>
                      </a:r>
                      <a:r>
                        <a:rPr lang="en-GB" sz="800" dirty="0" err="1"/>
                        <a:t>global.current_zone</a:t>
                      </a:r>
                      <a:r>
                        <a:rPr lang="en-GB" sz="800" dirty="0"/>
                        <a:t>  = 6  which is camera zone 5.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76.</a:t>
                      </a:r>
                    </a:p>
                  </a:txBody>
                  <a:tcPr/>
                </a:tc>
                <a:tc>
                  <a:txBody>
                    <a:bodyPr/>
                    <a:lstStyle/>
                    <a:p>
                      <a:r>
                        <a:rPr lang="en-GB" sz="800" dirty="0"/>
                        <a:t>Level 3 Camera 5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Obj_cam_5_lvl3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6  which is camera zone 5.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77.</a:t>
                      </a:r>
                    </a:p>
                  </a:txBody>
                  <a:tcPr/>
                </a:tc>
                <a:tc>
                  <a:txBody>
                    <a:bodyPr/>
                    <a:lstStyle/>
                    <a:p>
                      <a:r>
                        <a:rPr lang="en-GB" sz="800" dirty="0"/>
                        <a:t>Level 4 Camera 5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Obj_cam_5_lvl4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6  which is camera zone 5.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78.</a:t>
                      </a:r>
                    </a:p>
                  </a:txBody>
                  <a:tcPr/>
                </a:tc>
                <a:tc>
                  <a:txBody>
                    <a:bodyPr/>
                    <a:lstStyle/>
                    <a:p>
                      <a:r>
                        <a:rPr lang="en-GB" sz="800" dirty="0"/>
                        <a:t>Level 5 Camera 5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Obj_cam_5_lvl5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6  which is camera zone 5.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D35DEA05-3702-0E0C-377A-18029DBB0DB5}"/>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12997987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FE98E9-F349-58AC-5654-696B1BE915CA}"/>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1D525263-CC97-BE46-C400-5CDE4580D22C}"/>
              </a:ext>
            </a:extLst>
          </p:cNvPr>
          <p:cNvGraphicFramePr>
            <a:graphicFrameLocks noGrp="1"/>
          </p:cNvGraphicFramePr>
          <p:nvPr>
            <p:extLst>
              <p:ext uri="{D42A27DB-BD31-4B8C-83A1-F6EECF244321}">
                <p14:modId xmlns:p14="http://schemas.microsoft.com/office/powerpoint/2010/main" val="3405610514"/>
              </p:ext>
            </p:extLst>
          </p:nvPr>
        </p:nvGraphicFramePr>
        <p:xfrm>
          <a:off x="114301" y="391885"/>
          <a:ext cx="10874827" cy="434158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79.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Level 1 Camera 6 Button trigger</a:t>
                      </a:r>
                    </a:p>
                  </a:txBody>
                  <a:tcPr/>
                </a:tc>
                <a:tc>
                  <a:txBody>
                    <a:bodyPr/>
                    <a:lstStyle/>
                    <a:p>
                      <a:r>
                        <a:rPr lang="en-GB" sz="800" dirty="0"/>
                        <a:t>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Obj_cam_6</a:t>
                      </a:r>
                    </a:p>
                    <a:p>
                      <a:endParaRPr lang="en-GB" sz="800" dirty="0"/>
                    </a:p>
                  </a:txBody>
                  <a:tcPr/>
                </a:tc>
                <a:tc>
                  <a:txBody>
                    <a:bodyPr/>
                    <a:lstStyle/>
                    <a:p>
                      <a:r>
                        <a:rPr lang="en-GB" sz="800" dirty="0"/>
                        <a:t>When the mouse left click button is pressed, it will utilize the camera change script for level 1 to change the cameras position to view </a:t>
                      </a:r>
                      <a:r>
                        <a:rPr lang="en-GB" sz="800" dirty="0" err="1"/>
                        <a:t>global.current_zone</a:t>
                      </a:r>
                      <a:r>
                        <a:rPr lang="en-GB" sz="800" dirty="0"/>
                        <a:t>  = 7  which is camera zone 6. It will also play the button click SFX upon clicking  the left mouse button.</a:t>
                      </a:r>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80.</a:t>
                      </a:r>
                    </a:p>
                  </a:txBody>
                  <a:tcPr/>
                </a:tc>
                <a:tc>
                  <a:txBody>
                    <a:bodyPr/>
                    <a:lstStyle/>
                    <a:p>
                      <a:r>
                        <a:rPr lang="en-GB" sz="800" dirty="0"/>
                        <a:t>Level 2 Camera 6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Obj_cam_6_lvl2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2 to change the cameras position to view </a:t>
                      </a:r>
                      <a:r>
                        <a:rPr lang="en-GB" sz="800" dirty="0" err="1"/>
                        <a:t>global.current_zone</a:t>
                      </a:r>
                      <a:r>
                        <a:rPr lang="en-GB" sz="800" dirty="0"/>
                        <a:t>  = 7  which is camera zone 6.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81.</a:t>
                      </a:r>
                    </a:p>
                  </a:txBody>
                  <a:tcPr/>
                </a:tc>
                <a:tc>
                  <a:txBody>
                    <a:bodyPr/>
                    <a:lstStyle/>
                    <a:p>
                      <a:r>
                        <a:rPr lang="en-GB" sz="800" dirty="0"/>
                        <a:t>Level 3 Camera 6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Obj_cam_6_lvl3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7  which is camera zone 6.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82.</a:t>
                      </a:r>
                    </a:p>
                  </a:txBody>
                  <a:tcPr/>
                </a:tc>
                <a:tc>
                  <a:txBody>
                    <a:bodyPr/>
                    <a:lstStyle/>
                    <a:p>
                      <a:r>
                        <a:rPr lang="en-GB" sz="800" dirty="0"/>
                        <a:t>Level 4 Camera 6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Obj_cam_6_lvl4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7  which is camera zone 6.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83.</a:t>
                      </a:r>
                    </a:p>
                  </a:txBody>
                  <a:tcPr/>
                </a:tc>
                <a:tc>
                  <a:txBody>
                    <a:bodyPr/>
                    <a:lstStyle/>
                    <a:p>
                      <a:r>
                        <a:rPr lang="en-GB" sz="800" dirty="0"/>
                        <a:t>Level 5 Camera 6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Obj_cam_6_lvl5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7  which is camera zone 6.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1D5397F7-8898-130C-229A-8C463AE83E58}"/>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14185917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FADFF7-AB0A-F9AF-8284-54E53A604FF2}"/>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98BD4BC2-08CC-1C79-A44F-E12621C47937}"/>
              </a:ext>
            </a:extLst>
          </p:cNvPr>
          <p:cNvGraphicFramePr>
            <a:graphicFrameLocks noGrp="1"/>
          </p:cNvGraphicFramePr>
          <p:nvPr>
            <p:extLst>
              <p:ext uri="{D42A27DB-BD31-4B8C-83A1-F6EECF244321}">
                <p14:modId xmlns:p14="http://schemas.microsoft.com/office/powerpoint/2010/main" val="1833967185"/>
              </p:ext>
            </p:extLst>
          </p:nvPr>
        </p:nvGraphicFramePr>
        <p:xfrm>
          <a:off x="114301" y="391885"/>
          <a:ext cx="10874827" cy="434158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84.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Level 1 Camera 7 Button trigger</a:t>
                      </a:r>
                    </a:p>
                  </a:txBody>
                  <a:tcPr/>
                </a:tc>
                <a:tc>
                  <a:txBody>
                    <a:bodyPr/>
                    <a:lstStyle/>
                    <a:p>
                      <a:r>
                        <a:rPr lang="en-GB" sz="800" dirty="0"/>
                        <a:t>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Obj_cam_7</a:t>
                      </a:r>
                    </a:p>
                    <a:p>
                      <a:endParaRPr lang="en-GB" sz="800" dirty="0"/>
                    </a:p>
                  </a:txBody>
                  <a:tcPr/>
                </a:tc>
                <a:tc>
                  <a:txBody>
                    <a:bodyPr/>
                    <a:lstStyle/>
                    <a:p>
                      <a:r>
                        <a:rPr lang="en-GB" sz="800" dirty="0"/>
                        <a:t>When the mouse left click button is pressed, it will utilize the camera change script for level 1 to change the cameras position to view </a:t>
                      </a:r>
                      <a:r>
                        <a:rPr lang="en-GB" sz="800" dirty="0" err="1"/>
                        <a:t>global.current_zone</a:t>
                      </a:r>
                      <a:r>
                        <a:rPr lang="en-GB" sz="800" dirty="0"/>
                        <a:t>  = 8  which is camera zone 7. It will also play the button click SFX upon clicking  the left mouse button.</a:t>
                      </a:r>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85.</a:t>
                      </a:r>
                    </a:p>
                  </a:txBody>
                  <a:tcPr/>
                </a:tc>
                <a:tc>
                  <a:txBody>
                    <a:bodyPr/>
                    <a:lstStyle/>
                    <a:p>
                      <a:r>
                        <a:rPr lang="en-GB" sz="800" dirty="0"/>
                        <a:t>Level 2 Camera 7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Obj_cam_7_lvl2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2 to change the cameras position to view </a:t>
                      </a:r>
                      <a:r>
                        <a:rPr lang="en-GB" sz="800" dirty="0" err="1"/>
                        <a:t>global.current_zone</a:t>
                      </a:r>
                      <a:r>
                        <a:rPr lang="en-GB" sz="800" dirty="0"/>
                        <a:t>  = 8  which is camera zone 7.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86.</a:t>
                      </a:r>
                    </a:p>
                  </a:txBody>
                  <a:tcPr/>
                </a:tc>
                <a:tc>
                  <a:txBody>
                    <a:bodyPr/>
                    <a:lstStyle/>
                    <a:p>
                      <a:r>
                        <a:rPr lang="en-GB" sz="800" dirty="0"/>
                        <a:t>Level 3 Camera 7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Obj_cam_7_lvl3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8  which is camera zone 7.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87.</a:t>
                      </a:r>
                    </a:p>
                  </a:txBody>
                  <a:tcPr/>
                </a:tc>
                <a:tc>
                  <a:txBody>
                    <a:bodyPr/>
                    <a:lstStyle/>
                    <a:p>
                      <a:r>
                        <a:rPr lang="en-GB" sz="800" dirty="0"/>
                        <a:t>Level 4 Camera 7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Obj_cam_7_lvl4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8  which is camera zone 7.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88.</a:t>
                      </a:r>
                    </a:p>
                  </a:txBody>
                  <a:tcPr/>
                </a:tc>
                <a:tc>
                  <a:txBody>
                    <a:bodyPr/>
                    <a:lstStyle/>
                    <a:p>
                      <a:r>
                        <a:rPr lang="en-GB" sz="800" dirty="0"/>
                        <a:t>Level 5 Camera 7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Obj_cam_7_lvl5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8  which is camera zone 7.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75FBECCC-A55D-7F37-EBE7-80BEE1830AFA}"/>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124480749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99668-4BE5-1DF4-FCF6-C2712F408318}"/>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E435255-4932-942D-93E9-EAC48DEBB32D}"/>
              </a:ext>
            </a:extLst>
          </p:cNvPr>
          <p:cNvGraphicFramePr>
            <a:graphicFrameLocks noGrp="1"/>
          </p:cNvGraphicFramePr>
          <p:nvPr>
            <p:extLst>
              <p:ext uri="{D42A27DB-BD31-4B8C-83A1-F6EECF244321}">
                <p14:modId xmlns:p14="http://schemas.microsoft.com/office/powerpoint/2010/main" val="273544502"/>
              </p:ext>
            </p:extLst>
          </p:nvPr>
        </p:nvGraphicFramePr>
        <p:xfrm>
          <a:off x="114301" y="391885"/>
          <a:ext cx="10874827" cy="434158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89.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Level 1 Camera 8 Button trigger</a:t>
                      </a:r>
                    </a:p>
                  </a:txBody>
                  <a:tcPr/>
                </a:tc>
                <a:tc>
                  <a:txBody>
                    <a:bodyPr/>
                    <a:lstStyle/>
                    <a:p>
                      <a:r>
                        <a:rPr lang="en-GB" sz="800" dirty="0"/>
                        <a:t>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Obj_cam_8</a:t>
                      </a:r>
                    </a:p>
                    <a:p>
                      <a:endParaRPr lang="en-GB" sz="800" dirty="0"/>
                    </a:p>
                  </a:txBody>
                  <a:tcPr/>
                </a:tc>
                <a:tc>
                  <a:txBody>
                    <a:bodyPr/>
                    <a:lstStyle/>
                    <a:p>
                      <a:r>
                        <a:rPr lang="en-GB" sz="800" dirty="0"/>
                        <a:t>When the mouse left click button is pressed, it will utilize the camera change script for level 1 to change the cameras position to view </a:t>
                      </a:r>
                      <a:r>
                        <a:rPr lang="en-GB" sz="800" dirty="0" err="1"/>
                        <a:t>global.current_zone</a:t>
                      </a:r>
                      <a:r>
                        <a:rPr lang="en-GB" sz="800" dirty="0"/>
                        <a:t>  = 9  which is camera zone 8. It will also play the button click SFX upon clicking  the left mouse button.</a:t>
                      </a:r>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90.</a:t>
                      </a:r>
                    </a:p>
                  </a:txBody>
                  <a:tcPr/>
                </a:tc>
                <a:tc>
                  <a:txBody>
                    <a:bodyPr/>
                    <a:lstStyle/>
                    <a:p>
                      <a:r>
                        <a:rPr lang="en-GB" sz="800" dirty="0"/>
                        <a:t>Level 2 Camera 8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Obj_cam_8_lvl2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2 to change the cameras position to view </a:t>
                      </a:r>
                      <a:r>
                        <a:rPr lang="en-GB" sz="800" dirty="0" err="1"/>
                        <a:t>global.current_zone</a:t>
                      </a:r>
                      <a:r>
                        <a:rPr lang="en-GB" sz="800" dirty="0"/>
                        <a:t>  = 9  which is camera zone 8.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91.</a:t>
                      </a:r>
                    </a:p>
                  </a:txBody>
                  <a:tcPr/>
                </a:tc>
                <a:tc>
                  <a:txBody>
                    <a:bodyPr/>
                    <a:lstStyle/>
                    <a:p>
                      <a:r>
                        <a:rPr lang="en-GB" sz="800" dirty="0"/>
                        <a:t>Level 3 Camera 8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Obj_cam_8_lvl3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9  which is camera zone 8.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92.</a:t>
                      </a:r>
                    </a:p>
                  </a:txBody>
                  <a:tcPr/>
                </a:tc>
                <a:tc>
                  <a:txBody>
                    <a:bodyPr/>
                    <a:lstStyle/>
                    <a:p>
                      <a:r>
                        <a:rPr lang="en-GB" sz="800" dirty="0"/>
                        <a:t>Level 4 Camera 8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Obj_cam_8_lvl4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9  which is camera zone 8.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93.</a:t>
                      </a:r>
                    </a:p>
                  </a:txBody>
                  <a:tcPr/>
                </a:tc>
                <a:tc>
                  <a:txBody>
                    <a:bodyPr/>
                    <a:lstStyle/>
                    <a:p>
                      <a:r>
                        <a:rPr lang="en-GB" sz="800" dirty="0"/>
                        <a:t>Level 5 Camera 8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Obj_cam_8_lvl5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9  which is camera zone 8.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A6B157ED-0515-2BB2-B272-92EE12D9F47A}"/>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43971319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6C01A6-3CE8-D984-4664-5F1F51F22AC6}"/>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87D18892-1FE8-269A-D8DF-4F250168A2E1}"/>
              </a:ext>
            </a:extLst>
          </p:cNvPr>
          <p:cNvGraphicFramePr>
            <a:graphicFrameLocks noGrp="1"/>
          </p:cNvGraphicFramePr>
          <p:nvPr>
            <p:extLst>
              <p:ext uri="{D42A27DB-BD31-4B8C-83A1-F6EECF244321}">
                <p14:modId xmlns:p14="http://schemas.microsoft.com/office/powerpoint/2010/main" val="113600809"/>
              </p:ext>
            </p:extLst>
          </p:nvPr>
        </p:nvGraphicFramePr>
        <p:xfrm>
          <a:off x="114301" y="391885"/>
          <a:ext cx="10874827" cy="376246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94.</a:t>
                      </a:r>
                    </a:p>
                  </a:txBody>
                  <a:tcPr/>
                </a:tc>
                <a:tc>
                  <a:txBody>
                    <a:bodyPr/>
                    <a:lstStyle/>
                    <a:p>
                      <a:r>
                        <a:rPr lang="en-GB" sz="800" dirty="0"/>
                        <a:t>Level 2 Camera 9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Obj_cam_9_lvl2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2 to change the cameras position to view </a:t>
                      </a:r>
                      <a:r>
                        <a:rPr lang="en-GB" sz="800" dirty="0" err="1"/>
                        <a:t>global.current_zone</a:t>
                      </a:r>
                      <a:r>
                        <a:rPr lang="en-GB" sz="800" dirty="0"/>
                        <a:t>  = 10  which is camera zone 9.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95.</a:t>
                      </a:r>
                    </a:p>
                  </a:txBody>
                  <a:tcPr/>
                </a:tc>
                <a:tc>
                  <a:txBody>
                    <a:bodyPr/>
                    <a:lstStyle/>
                    <a:p>
                      <a:r>
                        <a:rPr lang="en-GB" sz="800" dirty="0"/>
                        <a:t>Level 3 Camera 9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Obj_cam_9_lvl3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10  which is camera zone 9.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96.</a:t>
                      </a:r>
                    </a:p>
                  </a:txBody>
                  <a:tcPr/>
                </a:tc>
                <a:tc>
                  <a:txBody>
                    <a:bodyPr/>
                    <a:lstStyle/>
                    <a:p>
                      <a:r>
                        <a:rPr lang="en-GB" sz="800" dirty="0"/>
                        <a:t>Level 4 Camera 9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Obj_cam_9_lvl4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10  which is camera zone 9.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97.</a:t>
                      </a:r>
                    </a:p>
                  </a:txBody>
                  <a:tcPr/>
                </a:tc>
                <a:tc>
                  <a:txBody>
                    <a:bodyPr/>
                    <a:lstStyle/>
                    <a:p>
                      <a:r>
                        <a:rPr lang="en-GB" sz="800" dirty="0"/>
                        <a:t>Level 5 Camera 9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Obj_cam_9_lvl5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10  which is camera zone 9.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28CCEBDE-8BA9-5310-49FA-DD3C14908574}"/>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390098588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B0FC9-97A1-4E49-8BD7-029236CEBB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6F46893D-8234-E3AA-53F3-78D0C66A369F}"/>
              </a:ext>
            </a:extLst>
          </p:cNvPr>
          <p:cNvGraphicFramePr>
            <a:graphicFrameLocks noGrp="1"/>
          </p:cNvGraphicFramePr>
          <p:nvPr>
            <p:extLst>
              <p:ext uri="{D42A27DB-BD31-4B8C-83A1-F6EECF244321}">
                <p14:modId xmlns:p14="http://schemas.microsoft.com/office/powerpoint/2010/main" val="4274644679"/>
              </p:ext>
            </p:extLst>
          </p:nvPr>
        </p:nvGraphicFramePr>
        <p:xfrm>
          <a:off x="114301" y="391885"/>
          <a:ext cx="10874827" cy="376246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98.</a:t>
                      </a:r>
                    </a:p>
                  </a:txBody>
                  <a:tcPr/>
                </a:tc>
                <a:tc>
                  <a:txBody>
                    <a:bodyPr/>
                    <a:lstStyle/>
                    <a:p>
                      <a:r>
                        <a:rPr lang="en-GB" sz="800" dirty="0"/>
                        <a:t>Level 2 Camera 10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Obj_cam_10_lvl2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2 to change the cameras position to view </a:t>
                      </a:r>
                      <a:r>
                        <a:rPr lang="en-GB" sz="800" dirty="0" err="1"/>
                        <a:t>global.current_zone</a:t>
                      </a:r>
                      <a:r>
                        <a:rPr lang="en-GB" sz="800" dirty="0"/>
                        <a:t>  = 11  which is camera zone 10.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99.</a:t>
                      </a:r>
                    </a:p>
                  </a:txBody>
                  <a:tcPr/>
                </a:tc>
                <a:tc>
                  <a:txBody>
                    <a:bodyPr/>
                    <a:lstStyle/>
                    <a:p>
                      <a:r>
                        <a:rPr lang="en-GB" sz="800" dirty="0"/>
                        <a:t>Level 3 Camera 10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Obj_cam_10_lvl3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11  which is camera zone 10.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100.</a:t>
                      </a:r>
                    </a:p>
                  </a:txBody>
                  <a:tcPr/>
                </a:tc>
                <a:tc>
                  <a:txBody>
                    <a:bodyPr/>
                    <a:lstStyle/>
                    <a:p>
                      <a:r>
                        <a:rPr lang="en-GB" sz="800" dirty="0"/>
                        <a:t>Level 4 Camera 10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Obj_cam_10_lvl4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11  which is camera zone 10.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101.</a:t>
                      </a:r>
                    </a:p>
                  </a:txBody>
                  <a:tcPr/>
                </a:tc>
                <a:tc>
                  <a:txBody>
                    <a:bodyPr/>
                    <a:lstStyle/>
                    <a:p>
                      <a:r>
                        <a:rPr lang="en-GB" sz="800" dirty="0"/>
                        <a:t>Level 5 Camera 10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Obj_cam_10_lvl5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11  which is camera zone 10.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87BB83A1-D8DB-3D8C-32AB-1BE770F45350}"/>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244137512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45210-7793-5E09-0DD3-DB6BCF8A74EC}"/>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B92E914-309C-2955-6EE9-AD5D4594CF94}"/>
              </a:ext>
            </a:extLst>
          </p:cNvPr>
          <p:cNvGraphicFramePr>
            <a:graphicFrameLocks noGrp="1"/>
          </p:cNvGraphicFramePr>
          <p:nvPr>
            <p:extLst>
              <p:ext uri="{D42A27DB-BD31-4B8C-83A1-F6EECF244321}">
                <p14:modId xmlns:p14="http://schemas.microsoft.com/office/powerpoint/2010/main" val="4037331771"/>
              </p:ext>
            </p:extLst>
          </p:nvPr>
        </p:nvGraphicFramePr>
        <p:xfrm>
          <a:off x="114301" y="391885"/>
          <a:ext cx="10874827" cy="376246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102.</a:t>
                      </a:r>
                    </a:p>
                  </a:txBody>
                  <a:tcPr/>
                </a:tc>
                <a:tc>
                  <a:txBody>
                    <a:bodyPr/>
                    <a:lstStyle/>
                    <a:p>
                      <a:r>
                        <a:rPr lang="en-GB" sz="800" dirty="0"/>
                        <a:t>Level 2 Camera 11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Obj_cam_11_lvl2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2 to change the cameras position to view </a:t>
                      </a:r>
                      <a:r>
                        <a:rPr lang="en-GB" sz="800" dirty="0" err="1"/>
                        <a:t>global.current_zone</a:t>
                      </a:r>
                      <a:r>
                        <a:rPr lang="en-GB" sz="800" dirty="0"/>
                        <a:t>  = 12  which is camera zone 11.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103.</a:t>
                      </a:r>
                    </a:p>
                  </a:txBody>
                  <a:tcPr/>
                </a:tc>
                <a:tc>
                  <a:txBody>
                    <a:bodyPr/>
                    <a:lstStyle/>
                    <a:p>
                      <a:r>
                        <a:rPr lang="en-GB" sz="800" dirty="0"/>
                        <a:t>Level 3 Camera 11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Obj_cam_11_lvl3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12  which is camera zone 11.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104.</a:t>
                      </a:r>
                    </a:p>
                  </a:txBody>
                  <a:tcPr/>
                </a:tc>
                <a:tc>
                  <a:txBody>
                    <a:bodyPr/>
                    <a:lstStyle/>
                    <a:p>
                      <a:r>
                        <a:rPr lang="en-GB" sz="800" dirty="0"/>
                        <a:t>Level 4 Camera 11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Obj_cam_11_lvl4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12  which is camera zone 11.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105.</a:t>
                      </a:r>
                    </a:p>
                  </a:txBody>
                  <a:tcPr/>
                </a:tc>
                <a:tc>
                  <a:txBody>
                    <a:bodyPr/>
                    <a:lstStyle/>
                    <a:p>
                      <a:r>
                        <a:rPr lang="en-GB" sz="800" dirty="0"/>
                        <a:t>Level 5 Camera 11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Obj_cam_11_lvl5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12  which is camera zone 11.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493BF314-0C6B-D610-B3EE-92F7D123FDBE}"/>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390361439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B7BC0D-FE09-2167-36CE-510862E127AA}"/>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EE4C27CA-D78A-D004-996C-6C26A0BE5F1F}"/>
              </a:ext>
            </a:extLst>
          </p:cNvPr>
          <p:cNvGraphicFramePr>
            <a:graphicFrameLocks noGrp="1"/>
          </p:cNvGraphicFramePr>
          <p:nvPr>
            <p:extLst>
              <p:ext uri="{D42A27DB-BD31-4B8C-83A1-F6EECF244321}">
                <p14:modId xmlns:p14="http://schemas.microsoft.com/office/powerpoint/2010/main" val="1583996137"/>
              </p:ext>
            </p:extLst>
          </p:nvPr>
        </p:nvGraphicFramePr>
        <p:xfrm>
          <a:off x="114301" y="391885"/>
          <a:ext cx="10874827" cy="376246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106.</a:t>
                      </a:r>
                    </a:p>
                  </a:txBody>
                  <a:tcPr/>
                </a:tc>
                <a:tc>
                  <a:txBody>
                    <a:bodyPr/>
                    <a:lstStyle/>
                    <a:p>
                      <a:r>
                        <a:rPr lang="en-GB" sz="800" dirty="0"/>
                        <a:t>Level 2 Camera 12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Obj_cam_12_lvl2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2 to change the cameras position to view </a:t>
                      </a:r>
                      <a:r>
                        <a:rPr lang="en-GB" sz="800" dirty="0" err="1"/>
                        <a:t>global.current_zone</a:t>
                      </a:r>
                      <a:r>
                        <a:rPr lang="en-GB" sz="800" dirty="0"/>
                        <a:t>  = 13  which is camera zone 12.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107.</a:t>
                      </a:r>
                    </a:p>
                  </a:txBody>
                  <a:tcPr/>
                </a:tc>
                <a:tc>
                  <a:txBody>
                    <a:bodyPr/>
                    <a:lstStyle/>
                    <a:p>
                      <a:r>
                        <a:rPr lang="en-GB" sz="800" dirty="0"/>
                        <a:t>Level 3 Camera 12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Obj_cam_12_lvl3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13  which is camera zone 12.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108.</a:t>
                      </a:r>
                    </a:p>
                  </a:txBody>
                  <a:tcPr/>
                </a:tc>
                <a:tc>
                  <a:txBody>
                    <a:bodyPr/>
                    <a:lstStyle/>
                    <a:p>
                      <a:r>
                        <a:rPr lang="en-GB" sz="800" dirty="0"/>
                        <a:t>Level 4 Camera 12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Obj_cam_12_lvl4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13  which is camera zone 12.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109.</a:t>
                      </a:r>
                    </a:p>
                  </a:txBody>
                  <a:tcPr/>
                </a:tc>
                <a:tc>
                  <a:txBody>
                    <a:bodyPr/>
                    <a:lstStyle/>
                    <a:p>
                      <a:r>
                        <a:rPr lang="en-GB" sz="800" dirty="0"/>
                        <a:t>Level 5 Camera 12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Obj_cam_12_lvl5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13  which is camera zone 12.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B435EBE8-7991-87B6-95F0-430187D351F4}"/>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16129808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22EC8-8E1F-A8E4-2946-0CDC250E5179}"/>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82DF33C0-D4DE-FDE9-673E-7652378884DB}"/>
              </a:ext>
            </a:extLst>
          </p:cNvPr>
          <p:cNvGraphicFramePr>
            <a:graphicFrameLocks noGrp="1"/>
          </p:cNvGraphicFramePr>
          <p:nvPr>
            <p:extLst>
              <p:ext uri="{D42A27DB-BD31-4B8C-83A1-F6EECF244321}">
                <p14:modId xmlns:p14="http://schemas.microsoft.com/office/powerpoint/2010/main" val="2731908133"/>
              </p:ext>
            </p:extLst>
          </p:nvPr>
        </p:nvGraphicFramePr>
        <p:xfrm>
          <a:off x="114301" y="391885"/>
          <a:ext cx="10874827" cy="376246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110.</a:t>
                      </a:r>
                    </a:p>
                  </a:txBody>
                  <a:tcPr/>
                </a:tc>
                <a:tc>
                  <a:txBody>
                    <a:bodyPr/>
                    <a:lstStyle/>
                    <a:p>
                      <a:r>
                        <a:rPr lang="en-GB" sz="800" dirty="0"/>
                        <a:t>Level 2 Camera 13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Obj_cam_13_lvl2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2 to change the cameras position to view </a:t>
                      </a:r>
                      <a:r>
                        <a:rPr lang="en-GB" sz="800" dirty="0" err="1"/>
                        <a:t>global.current_zone</a:t>
                      </a:r>
                      <a:r>
                        <a:rPr lang="en-GB" sz="800" dirty="0"/>
                        <a:t>  = 14  which is camera zone 13.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111.</a:t>
                      </a:r>
                    </a:p>
                  </a:txBody>
                  <a:tcPr/>
                </a:tc>
                <a:tc>
                  <a:txBody>
                    <a:bodyPr/>
                    <a:lstStyle/>
                    <a:p>
                      <a:r>
                        <a:rPr lang="en-GB" sz="800" dirty="0"/>
                        <a:t>Level 3 Camera 13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Obj_cam_13_lvl3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14  which is camera zone 13.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112.</a:t>
                      </a:r>
                    </a:p>
                  </a:txBody>
                  <a:tcPr/>
                </a:tc>
                <a:tc>
                  <a:txBody>
                    <a:bodyPr/>
                    <a:lstStyle/>
                    <a:p>
                      <a:r>
                        <a:rPr lang="en-GB" sz="800" dirty="0"/>
                        <a:t>Level 4 Camera 13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Obj_cam_13_lvl4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14  which is camera zone 13.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113.</a:t>
                      </a:r>
                    </a:p>
                  </a:txBody>
                  <a:tcPr/>
                </a:tc>
                <a:tc>
                  <a:txBody>
                    <a:bodyPr/>
                    <a:lstStyle/>
                    <a:p>
                      <a:r>
                        <a:rPr lang="en-GB" sz="800" dirty="0"/>
                        <a:t>Level 5 Camera 13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Obj_cam_13_lvl5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14  which is camera zone 13.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r>
                        <a:rPr lang="en-GB" sz="800" dirty="0"/>
                        <a:t> </a:t>
                      </a:r>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EE82A7DB-474B-271F-3B20-86F2BCF043EF}"/>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41438005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6A8FF1-52EE-DB2E-EAFA-F2349BDEC22C}"/>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1CBC6B7-C8FD-EECF-EF4D-3A264C231DED}"/>
              </a:ext>
            </a:extLst>
          </p:cNvPr>
          <p:cNvGraphicFramePr>
            <a:graphicFrameLocks noGrp="1"/>
          </p:cNvGraphicFramePr>
          <p:nvPr>
            <p:extLst>
              <p:ext uri="{D42A27DB-BD31-4B8C-83A1-F6EECF244321}">
                <p14:modId xmlns:p14="http://schemas.microsoft.com/office/powerpoint/2010/main" val="2175896547"/>
              </p:ext>
            </p:extLst>
          </p:nvPr>
        </p:nvGraphicFramePr>
        <p:xfrm>
          <a:off x="114301" y="391885"/>
          <a:ext cx="10874827" cy="376246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114.</a:t>
                      </a:r>
                    </a:p>
                  </a:txBody>
                  <a:tcPr/>
                </a:tc>
                <a:tc>
                  <a:txBody>
                    <a:bodyPr/>
                    <a:lstStyle/>
                    <a:p>
                      <a:r>
                        <a:rPr lang="en-GB" sz="800" dirty="0"/>
                        <a:t>Level 2 Camera 14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Obj_cam_14_lvl2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2 to change the cameras position to view </a:t>
                      </a:r>
                      <a:r>
                        <a:rPr lang="en-GB" sz="800" dirty="0" err="1"/>
                        <a:t>global.current_zone</a:t>
                      </a:r>
                      <a:r>
                        <a:rPr lang="en-GB" sz="800" dirty="0"/>
                        <a:t>  = 15  which is camera zone 14.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115.</a:t>
                      </a:r>
                    </a:p>
                  </a:txBody>
                  <a:tcPr/>
                </a:tc>
                <a:tc>
                  <a:txBody>
                    <a:bodyPr/>
                    <a:lstStyle/>
                    <a:p>
                      <a:r>
                        <a:rPr lang="en-GB" sz="800" dirty="0"/>
                        <a:t>Level 3 Camera 14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Obj_cam_14_lvl3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15  which is camera zone 14.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r>
                        <a:rPr lang="en-GB" sz="800" dirty="0"/>
                        <a:t> </a:t>
                      </a:r>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116.</a:t>
                      </a:r>
                    </a:p>
                  </a:txBody>
                  <a:tcPr/>
                </a:tc>
                <a:tc>
                  <a:txBody>
                    <a:bodyPr/>
                    <a:lstStyle/>
                    <a:p>
                      <a:r>
                        <a:rPr lang="en-GB" sz="800" dirty="0"/>
                        <a:t>Level 4 Camera 14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Obj_cam_14_lvl4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15  which is camera zone 14.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117.</a:t>
                      </a:r>
                    </a:p>
                  </a:txBody>
                  <a:tcPr/>
                </a:tc>
                <a:tc>
                  <a:txBody>
                    <a:bodyPr/>
                    <a:lstStyle/>
                    <a:p>
                      <a:r>
                        <a:rPr lang="en-GB" sz="800" dirty="0"/>
                        <a:t>Level 5 Camera 14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Obj_cam_14_lvl5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15  which is camera zone 14.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F0AF59DB-C887-67AD-A8DA-ADFA1ED966FB}"/>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199475971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6F87F-DA70-01D6-33A7-2B855C349859}"/>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D63C286C-16EA-9A29-BD01-CFD35098E1B0}"/>
              </a:ext>
            </a:extLst>
          </p:cNvPr>
          <p:cNvGraphicFramePr>
            <a:graphicFrameLocks noGrp="1"/>
          </p:cNvGraphicFramePr>
          <p:nvPr>
            <p:extLst>
              <p:ext uri="{D42A27DB-BD31-4B8C-83A1-F6EECF244321}">
                <p14:modId xmlns:p14="http://schemas.microsoft.com/office/powerpoint/2010/main" val="2157764681"/>
              </p:ext>
            </p:extLst>
          </p:nvPr>
        </p:nvGraphicFramePr>
        <p:xfrm>
          <a:off x="114301" y="391885"/>
          <a:ext cx="10874827" cy="293950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118.</a:t>
                      </a:r>
                    </a:p>
                  </a:txBody>
                  <a:tcPr/>
                </a:tc>
                <a:tc>
                  <a:txBody>
                    <a:bodyPr/>
                    <a:lstStyle/>
                    <a:p>
                      <a:r>
                        <a:rPr lang="en-GB" sz="800" dirty="0"/>
                        <a:t>Level 3 Camera 15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Obj_cam_15_lvl3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16  which is camera zone 15.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119.</a:t>
                      </a:r>
                    </a:p>
                  </a:txBody>
                  <a:tcPr/>
                </a:tc>
                <a:tc>
                  <a:txBody>
                    <a:bodyPr/>
                    <a:lstStyle/>
                    <a:p>
                      <a:r>
                        <a:rPr lang="en-GB" sz="800" dirty="0"/>
                        <a:t>Level 4 Camera 15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Obj_cam_15_lvl4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16  which is camera zone 15.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120.</a:t>
                      </a:r>
                    </a:p>
                  </a:txBody>
                  <a:tcPr/>
                </a:tc>
                <a:tc>
                  <a:txBody>
                    <a:bodyPr/>
                    <a:lstStyle/>
                    <a:p>
                      <a:r>
                        <a:rPr lang="en-GB" sz="800" dirty="0"/>
                        <a:t>Level 5 Camera 15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Obj_cam_15_lvl5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16  which is camera zone 15.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1455CE5D-81E0-131F-751B-11FD2C5F9EBA}"/>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173144986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52DB3-89AA-22B0-66C2-E92AB543249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12C6EC1-016D-7EA8-6BF1-D1E02C1E2CAD}"/>
              </a:ext>
            </a:extLst>
          </p:cNvPr>
          <p:cNvGraphicFramePr>
            <a:graphicFrameLocks noGrp="1"/>
          </p:cNvGraphicFramePr>
          <p:nvPr>
            <p:extLst>
              <p:ext uri="{D42A27DB-BD31-4B8C-83A1-F6EECF244321}">
                <p14:modId xmlns:p14="http://schemas.microsoft.com/office/powerpoint/2010/main" val="3263864535"/>
              </p:ext>
            </p:extLst>
          </p:nvPr>
        </p:nvGraphicFramePr>
        <p:xfrm>
          <a:off x="114301" y="391885"/>
          <a:ext cx="10874827" cy="293950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121.</a:t>
                      </a:r>
                    </a:p>
                  </a:txBody>
                  <a:tcPr/>
                </a:tc>
                <a:tc>
                  <a:txBody>
                    <a:bodyPr/>
                    <a:lstStyle/>
                    <a:p>
                      <a:r>
                        <a:rPr lang="en-GB" sz="800" dirty="0"/>
                        <a:t>Level 3 Camera 16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Obj_cam_16_lvl3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17  which is camera zone 16.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122.</a:t>
                      </a:r>
                    </a:p>
                  </a:txBody>
                  <a:tcPr/>
                </a:tc>
                <a:tc>
                  <a:txBody>
                    <a:bodyPr/>
                    <a:lstStyle/>
                    <a:p>
                      <a:r>
                        <a:rPr lang="en-GB" sz="800" dirty="0"/>
                        <a:t>Level 4 Camera 16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Obj_cam_16_lvl4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17  which is camera zone 16.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123.</a:t>
                      </a:r>
                    </a:p>
                  </a:txBody>
                  <a:tcPr/>
                </a:tc>
                <a:tc>
                  <a:txBody>
                    <a:bodyPr/>
                    <a:lstStyle/>
                    <a:p>
                      <a:r>
                        <a:rPr lang="en-GB" sz="800" dirty="0"/>
                        <a:t>Level 5 Camera 16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Obj_cam_16_lvl5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17  which is camera zone 16.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96D91E03-6A84-2A69-6733-5D0CE39AFB68}"/>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259948852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C10809-C564-43F8-EF90-2987356222D8}"/>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72C07393-1C10-64B7-692C-5F3941BE48D5}"/>
              </a:ext>
            </a:extLst>
          </p:cNvPr>
          <p:cNvGraphicFramePr>
            <a:graphicFrameLocks noGrp="1"/>
          </p:cNvGraphicFramePr>
          <p:nvPr>
            <p:extLst>
              <p:ext uri="{D42A27DB-BD31-4B8C-83A1-F6EECF244321}">
                <p14:modId xmlns:p14="http://schemas.microsoft.com/office/powerpoint/2010/main" val="2860478317"/>
              </p:ext>
            </p:extLst>
          </p:nvPr>
        </p:nvGraphicFramePr>
        <p:xfrm>
          <a:off x="114301" y="391885"/>
          <a:ext cx="10874827" cy="293950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124.</a:t>
                      </a:r>
                    </a:p>
                  </a:txBody>
                  <a:tcPr/>
                </a:tc>
                <a:tc>
                  <a:txBody>
                    <a:bodyPr/>
                    <a:lstStyle/>
                    <a:p>
                      <a:r>
                        <a:rPr lang="en-GB" sz="800" dirty="0"/>
                        <a:t>Level 3 Camera 17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Obj_cam_17_lvl3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18  which is camera zone 17.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125.</a:t>
                      </a:r>
                    </a:p>
                  </a:txBody>
                  <a:tcPr/>
                </a:tc>
                <a:tc>
                  <a:txBody>
                    <a:bodyPr/>
                    <a:lstStyle/>
                    <a:p>
                      <a:r>
                        <a:rPr lang="en-GB" sz="800" dirty="0"/>
                        <a:t>Level 4 Camera 17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Obj_cam_17_lvl4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18  which is camera zone 17.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126.</a:t>
                      </a:r>
                    </a:p>
                  </a:txBody>
                  <a:tcPr/>
                </a:tc>
                <a:tc>
                  <a:txBody>
                    <a:bodyPr/>
                    <a:lstStyle/>
                    <a:p>
                      <a:r>
                        <a:rPr lang="en-GB" sz="800" dirty="0"/>
                        <a:t>Level 5 Camera 17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Obj_cam_17_lvl5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18  which is camera zone 17.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82B78C50-155D-67C7-99BF-38BD60A73538}"/>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103629362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938CF4-3584-A5AA-1098-835963201623}"/>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165F9C3-B4D9-BE03-B884-485ADCC68249}"/>
              </a:ext>
            </a:extLst>
          </p:cNvPr>
          <p:cNvGraphicFramePr>
            <a:graphicFrameLocks noGrp="1"/>
          </p:cNvGraphicFramePr>
          <p:nvPr>
            <p:extLst>
              <p:ext uri="{D42A27DB-BD31-4B8C-83A1-F6EECF244321}">
                <p14:modId xmlns:p14="http://schemas.microsoft.com/office/powerpoint/2010/main" val="3487478087"/>
              </p:ext>
            </p:extLst>
          </p:nvPr>
        </p:nvGraphicFramePr>
        <p:xfrm>
          <a:off x="114301" y="391885"/>
          <a:ext cx="10874827" cy="293950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127.</a:t>
                      </a:r>
                    </a:p>
                  </a:txBody>
                  <a:tcPr/>
                </a:tc>
                <a:tc>
                  <a:txBody>
                    <a:bodyPr/>
                    <a:lstStyle/>
                    <a:p>
                      <a:r>
                        <a:rPr lang="en-GB" sz="800" dirty="0"/>
                        <a:t>Level 3 Camera 18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Obj_cam_18_lvl3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19  which is camera zone 18.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128.</a:t>
                      </a:r>
                    </a:p>
                  </a:txBody>
                  <a:tcPr/>
                </a:tc>
                <a:tc>
                  <a:txBody>
                    <a:bodyPr/>
                    <a:lstStyle/>
                    <a:p>
                      <a:r>
                        <a:rPr lang="en-GB" sz="800" dirty="0"/>
                        <a:t>Level 4 Camera 18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Obj_cam_18_lvl4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19  which is camera zone 18.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129.</a:t>
                      </a:r>
                    </a:p>
                  </a:txBody>
                  <a:tcPr/>
                </a:tc>
                <a:tc>
                  <a:txBody>
                    <a:bodyPr/>
                    <a:lstStyle/>
                    <a:p>
                      <a:r>
                        <a:rPr lang="en-GB" sz="800" dirty="0"/>
                        <a:t>Level 5 Camera 18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Obj_cam_18_lvl5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19  which is camera zone 18.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EEEFD194-4BAC-3ABE-F865-5DF9E25D5861}"/>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1970970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76C82-B08C-BF15-8D74-91DCA6CB0738}"/>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9C492DC7-BA80-8C9E-2165-B9DD8DEE1C9B}"/>
              </a:ext>
            </a:extLst>
          </p:cNvPr>
          <p:cNvGraphicFramePr>
            <a:graphicFrameLocks noGrp="1"/>
          </p:cNvGraphicFramePr>
          <p:nvPr>
            <p:extLst>
              <p:ext uri="{D42A27DB-BD31-4B8C-83A1-F6EECF244321}">
                <p14:modId xmlns:p14="http://schemas.microsoft.com/office/powerpoint/2010/main" val="3646310523"/>
              </p:ext>
            </p:extLst>
          </p:nvPr>
        </p:nvGraphicFramePr>
        <p:xfrm>
          <a:off x="114301" y="391885"/>
          <a:ext cx="10874827" cy="293950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130.</a:t>
                      </a:r>
                    </a:p>
                  </a:txBody>
                  <a:tcPr/>
                </a:tc>
                <a:tc>
                  <a:txBody>
                    <a:bodyPr/>
                    <a:lstStyle/>
                    <a:p>
                      <a:r>
                        <a:rPr lang="en-GB" sz="800" dirty="0"/>
                        <a:t>Level 3 Camera 19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Obj_cam_19_lvl3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20  which is camera zone 19.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131.</a:t>
                      </a:r>
                    </a:p>
                  </a:txBody>
                  <a:tcPr/>
                </a:tc>
                <a:tc>
                  <a:txBody>
                    <a:bodyPr/>
                    <a:lstStyle/>
                    <a:p>
                      <a:r>
                        <a:rPr lang="en-GB" sz="800" dirty="0"/>
                        <a:t>Level 4 Camera 19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Obj_cam_19_lvl4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20  which is camera zone 19.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132.</a:t>
                      </a:r>
                    </a:p>
                  </a:txBody>
                  <a:tcPr/>
                </a:tc>
                <a:tc>
                  <a:txBody>
                    <a:bodyPr/>
                    <a:lstStyle/>
                    <a:p>
                      <a:r>
                        <a:rPr lang="en-GB" sz="800" dirty="0"/>
                        <a:t>Level 5 Camera 19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Obj_cam_19_lvl5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20  which is camera zone 19.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r>
                        <a:rPr lang="en-GB" sz="800" dirty="0"/>
                        <a:t> </a:t>
                      </a:r>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42AC0392-1944-C0CC-B2E8-FB4D80E8F822}"/>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26417474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FEFC3-E26B-4D72-FA92-D269E1EA6451}"/>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E75592A8-5F04-4B5A-AE52-E330BA1E62AA}"/>
              </a:ext>
            </a:extLst>
          </p:cNvPr>
          <p:cNvGraphicFramePr>
            <a:graphicFrameLocks noGrp="1"/>
          </p:cNvGraphicFramePr>
          <p:nvPr>
            <p:extLst>
              <p:ext uri="{D42A27DB-BD31-4B8C-83A1-F6EECF244321}">
                <p14:modId xmlns:p14="http://schemas.microsoft.com/office/powerpoint/2010/main" val="1242974576"/>
              </p:ext>
            </p:extLst>
          </p:nvPr>
        </p:nvGraphicFramePr>
        <p:xfrm>
          <a:off x="114301" y="391885"/>
          <a:ext cx="10874827" cy="293950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133.</a:t>
                      </a:r>
                    </a:p>
                  </a:txBody>
                  <a:tcPr/>
                </a:tc>
                <a:tc>
                  <a:txBody>
                    <a:bodyPr/>
                    <a:lstStyle/>
                    <a:p>
                      <a:r>
                        <a:rPr lang="en-GB" sz="800" dirty="0"/>
                        <a:t>Level 3 Camera 20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Obj_cam_20_lvl3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21  which is camera zone 20.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134.</a:t>
                      </a:r>
                    </a:p>
                  </a:txBody>
                  <a:tcPr/>
                </a:tc>
                <a:tc>
                  <a:txBody>
                    <a:bodyPr/>
                    <a:lstStyle/>
                    <a:p>
                      <a:r>
                        <a:rPr lang="en-GB" sz="800" dirty="0"/>
                        <a:t>Level 4 Camera 20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Obj_cam_20_lvl4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21  which is camera zone 20.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135.</a:t>
                      </a:r>
                    </a:p>
                  </a:txBody>
                  <a:tcPr/>
                </a:tc>
                <a:tc>
                  <a:txBody>
                    <a:bodyPr/>
                    <a:lstStyle/>
                    <a:p>
                      <a:r>
                        <a:rPr lang="en-GB" sz="800" dirty="0"/>
                        <a:t>Level 5 Camera 20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Obj_cam_20_lvl5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21  which is camera zone 20.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0860658A-0480-C701-A6D8-946598336DC9}"/>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graphicFrame>
        <p:nvGraphicFramePr>
          <p:cNvPr id="3" name="Table 2">
            <a:extLst>
              <a:ext uri="{FF2B5EF4-FFF2-40B4-BE49-F238E27FC236}">
                <a16:creationId xmlns:a16="http://schemas.microsoft.com/office/drawing/2014/main" id="{B5E13AFA-7448-DE5F-AF66-500F4B7BE373}"/>
              </a:ext>
            </a:extLst>
          </p:cNvPr>
          <p:cNvGraphicFramePr>
            <a:graphicFrameLocks noGrp="1"/>
          </p:cNvGraphicFramePr>
          <p:nvPr>
            <p:extLst>
              <p:ext uri="{D42A27DB-BD31-4B8C-83A1-F6EECF244321}">
                <p14:modId xmlns:p14="http://schemas.microsoft.com/office/powerpoint/2010/main" val="2459257739"/>
              </p:ext>
            </p:extLst>
          </p:nvPr>
        </p:nvGraphicFramePr>
        <p:xfrm>
          <a:off x="114301" y="3429000"/>
          <a:ext cx="10874827" cy="3257726"/>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136.</a:t>
                      </a:r>
                    </a:p>
                  </a:txBody>
                  <a:tcPr/>
                </a:tc>
                <a:tc>
                  <a:txBody>
                    <a:bodyPr/>
                    <a:lstStyle/>
                    <a:p>
                      <a:r>
                        <a:rPr lang="en-GB" sz="800" dirty="0"/>
                        <a:t>Open Camera Level 1</a:t>
                      </a:r>
                    </a:p>
                  </a:txBody>
                  <a:tcPr/>
                </a:tc>
                <a:tc>
                  <a:txBody>
                    <a:bodyPr/>
                    <a:lstStyle/>
                    <a:p>
                      <a:r>
                        <a:rPr lang="en-GB" sz="800" dirty="0"/>
                        <a:t>Rm_level1</a:t>
                      </a:r>
                    </a:p>
                  </a:txBody>
                  <a:tcPr/>
                </a:tc>
                <a:tc>
                  <a:txBody>
                    <a:bodyPr/>
                    <a:lstStyle/>
                    <a:p>
                      <a:r>
                        <a:rPr lang="en-GB" sz="800" dirty="0" err="1"/>
                        <a:t>Obj_open_camera</a:t>
                      </a:r>
                      <a:endParaRPr lang="en-GB" sz="800" dirty="0"/>
                    </a:p>
                  </a:txBody>
                  <a:tcPr/>
                </a:tc>
                <a:tc>
                  <a:txBody>
                    <a:bodyPr/>
                    <a:lstStyle/>
                    <a:p>
                      <a:pPr marL="0" indent="0">
                        <a:buNone/>
                      </a:pPr>
                      <a:r>
                        <a:rPr lang="en-GB" sz="800" dirty="0"/>
                        <a:t>When C Key is pressed the open camera SFX plays and it utilizes level 1 change camera script to change the position of the camera in the room to the Camera Hud zone.</a:t>
                      </a:r>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137.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Open Camera Level 2</a:t>
                      </a:r>
                    </a:p>
                    <a:p>
                      <a:endParaRPr lang="en-GB" sz="800" dirty="0"/>
                    </a:p>
                  </a:txBody>
                  <a:tcPr/>
                </a:tc>
                <a:tc>
                  <a:txBody>
                    <a:bodyPr/>
                    <a:lstStyle/>
                    <a:p>
                      <a:r>
                        <a:rPr lang="en-GB" sz="800" dirty="0"/>
                        <a:t>Rm_level2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Obj_open_camera_lvl2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C Key is pressed the open camera SFX plays, it utilizes level 2 change camera script to change the position of the camera in the room to the Camera Hud zone, and it sets the camera view size to X = 967 by Y = 684.</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138.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Open Camera Level 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Obj_open_camera_lvl3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C Key is pressed the open camera SFX plays, it utilizes level 3 change camera script to change the position of the camera in the room to the Camera Hud zone, and it sets the camera view size to X = 967 by Y = 684.</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r h="470623">
                <a:tc>
                  <a:txBody>
                    <a:bodyPr/>
                    <a:lstStyle/>
                    <a:p>
                      <a:r>
                        <a:rPr lang="en-GB" sz="800" dirty="0"/>
                        <a:t>139.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Open Camera Level 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Obj_open_camera_lvl4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C Key is pressed the open camera SFX plays, it utilizes level 4 change camera script to change the position of the camera in the room to the Camera Hud zone, and it sets the camera view size to X = 967 by Y = 684.</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629050625"/>
                  </a:ext>
                </a:extLst>
              </a:tr>
              <a:tr h="470623">
                <a:tc>
                  <a:txBody>
                    <a:bodyPr/>
                    <a:lstStyle/>
                    <a:p>
                      <a:r>
                        <a:rPr lang="en-GB" sz="800" dirty="0"/>
                        <a:t>140.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Open Camera Level 1</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Obj_open_camera_lvl5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C Key is pressed the open camera SFX plays, it utilizes level 5 change camera script to change the position of the camera in the room to the Camera Hud zone, and it sets the camera view size to X = 967 by Y = 684.</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21679193"/>
                  </a:ext>
                </a:extLst>
              </a:tr>
            </a:tbl>
          </a:graphicData>
        </a:graphic>
      </p:graphicFrame>
    </p:spTree>
    <p:extLst>
      <p:ext uri="{BB962C8B-B14F-4D97-AF65-F5344CB8AC3E}">
        <p14:creationId xmlns:p14="http://schemas.microsoft.com/office/powerpoint/2010/main" val="195476163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A97D893A-A824-9898-8220-1A33958F2F15}"/>
              </a:ext>
            </a:extLst>
          </p:cNvPr>
          <p:cNvGraphicFramePr>
            <a:graphicFrameLocks noGrp="1"/>
          </p:cNvGraphicFramePr>
          <p:nvPr>
            <p:extLst>
              <p:ext uri="{D42A27DB-BD31-4B8C-83A1-F6EECF244321}">
                <p14:modId xmlns:p14="http://schemas.microsoft.com/office/powerpoint/2010/main" val="723292579"/>
              </p:ext>
            </p:extLst>
          </p:nvPr>
        </p:nvGraphicFramePr>
        <p:xfrm>
          <a:off x="106136" y="661131"/>
          <a:ext cx="10874827" cy="3257726"/>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4131129">
                  <a:extLst>
                    <a:ext uri="{9D8B030D-6E8A-4147-A177-3AD203B41FA5}">
                      <a16:colId xmlns:a16="http://schemas.microsoft.com/office/drawing/2014/main" val="786884226"/>
                    </a:ext>
                  </a:extLst>
                </a:gridCol>
                <a:gridCol w="2514599">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136.</a:t>
                      </a:r>
                    </a:p>
                  </a:txBody>
                  <a:tcPr/>
                </a:tc>
                <a:tc>
                  <a:txBody>
                    <a:bodyPr/>
                    <a:lstStyle/>
                    <a:p>
                      <a:r>
                        <a:rPr lang="en-GB" sz="800" dirty="0"/>
                        <a:t>Close Camera Level 1</a:t>
                      </a:r>
                    </a:p>
                  </a:txBody>
                  <a:tcPr/>
                </a:tc>
                <a:tc>
                  <a:txBody>
                    <a:bodyPr/>
                    <a:lstStyle/>
                    <a:p>
                      <a:r>
                        <a:rPr lang="en-GB" sz="800" dirty="0"/>
                        <a:t>Rm_level1</a:t>
                      </a:r>
                    </a:p>
                  </a:txBody>
                  <a:tcPr/>
                </a:tc>
                <a:tc>
                  <a:txBody>
                    <a:bodyPr/>
                    <a:lstStyle/>
                    <a:p>
                      <a:r>
                        <a:rPr lang="en-GB" sz="800" dirty="0" err="1"/>
                        <a:t>Obj_exit_camera</a:t>
                      </a:r>
                      <a:endParaRPr lang="en-GB" sz="800" dirty="0"/>
                    </a:p>
                  </a:txBody>
                  <a:tcPr/>
                </a:tc>
                <a:tc>
                  <a:txBody>
                    <a:bodyPr/>
                    <a:lstStyle/>
                    <a:p>
                      <a:pPr marL="0" indent="0">
                        <a:buNone/>
                      </a:pPr>
                      <a:r>
                        <a:rPr lang="en-GB" sz="800" dirty="0"/>
                        <a:t>When V Key is pressed the closed camera SFX plays </a:t>
                      </a:r>
                      <a:r>
                        <a:rPr lang="en-GB" sz="800" b="0" dirty="0"/>
                        <a:t>then it triggers alarm [0] </a:t>
                      </a:r>
                      <a:r>
                        <a:rPr lang="en-GB" sz="800" b="1" dirty="0"/>
                        <a:t>(for delayed return) </a:t>
                      </a:r>
                      <a:r>
                        <a:rPr lang="en-GB" sz="800" dirty="0"/>
                        <a:t>which utilizes level 1 change camera script to change the position of the camera in the room back to the main office.</a:t>
                      </a:r>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137.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Close Camera Level 2</a:t>
                      </a:r>
                    </a:p>
                    <a:p>
                      <a:endParaRPr lang="en-GB" sz="800" dirty="0"/>
                    </a:p>
                  </a:txBody>
                  <a:tcPr/>
                </a:tc>
                <a:tc>
                  <a:txBody>
                    <a:bodyPr/>
                    <a:lstStyle/>
                    <a:p>
                      <a:r>
                        <a:rPr lang="en-GB" sz="800" dirty="0"/>
                        <a:t>Rm_level2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Obj_exit_camera_lvl2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V Key is pressed the closed camera SFX plays </a:t>
                      </a:r>
                      <a:r>
                        <a:rPr lang="en-GB" sz="800" b="0" dirty="0"/>
                        <a:t>then it triggers alarm [0] </a:t>
                      </a:r>
                      <a:r>
                        <a:rPr lang="en-GB" sz="800" b="1" dirty="0"/>
                        <a:t>(for delayed return) </a:t>
                      </a:r>
                      <a:r>
                        <a:rPr lang="en-GB" sz="800" dirty="0"/>
                        <a:t>, which utilizes level 2 change camera script to change the position of the camera in the room back to the main office, and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138.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Close Camera Level 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Obj_exit_camera_lvl3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V Key is pressed the closed camera SFX plays </a:t>
                      </a:r>
                      <a:r>
                        <a:rPr lang="en-GB" sz="800" b="0" dirty="0"/>
                        <a:t>then it triggers alarm [0] </a:t>
                      </a:r>
                      <a:r>
                        <a:rPr lang="en-GB" sz="800" b="1" dirty="0"/>
                        <a:t>(for delayed return)</a:t>
                      </a:r>
                      <a:r>
                        <a:rPr lang="en-GB" sz="800" dirty="0"/>
                        <a:t>, which utilizes level 3 change camera script to change the position of the camera in the room back to the main office, and it sets the camera view size to X = 400 by Y = 225.</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r h="470623">
                <a:tc>
                  <a:txBody>
                    <a:bodyPr/>
                    <a:lstStyle/>
                    <a:p>
                      <a:r>
                        <a:rPr lang="en-GB" sz="800" dirty="0"/>
                        <a:t>139.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Close Camera Level 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Obj_exit_camera_lvl4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V Key is pressed the closed camera SFX plays </a:t>
                      </a:r>
                      <a:r>
                        <a:rPr lang="en-GB" sz="800" b="0" dirty="0"/>
                        <a:t>then it triggers alarm [0] </a:t>
                      </a:r>
                      <a:r>
                        <a:rPr lang="en-GB" sz="800" b="1" dirty="0"/>
                        <a:t>(for delayed return)</a:t>
                      </a:r>
                      <a:r>
                        <a:rPr lang="en-GB" sz="800" dirty="0"/>
                        <a:t>, which utilizes level 4 change camera script to change the position of the camera in the room back to the main office, and it sets the camera view size to X = 400 by Y = 225.</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629050625"/>
                  </a:ext>
                </a:extLst>
              </a:tr>
              <a:tr h="470623">
                <a:tc>
                  <a:txBody>
                    <a:bodyPr/>
                    <a:lstStyle/>
                    <a:p>
                      <a:r>
                        <a:rPr lang="en-GB" sz="800" dirty="0"/>
                        <a:t>140.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Close Camera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Obj_exit_camera_lvl5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V Key is pressed the closed camera SFX plays </a:t>
                      </a:r>
                      <a:r>
                        <a:rPr lang="en-GB" sz="800" b="0" dirty="0"/>
                        <a:t>then it triggers alarm [0] </a:t>
                      </a:r>
                      <a:r>
                        <a:rPr lang="en-GB" sz="800" b="1" dirty="0"/>
                        <a:t>(for delayed return)</a:t>
                      </a:r>
                      <a:r>
                        <a:rPr lang="en-GB" sz="800" dirty="0"/>
                        <a:t>, which utilizes level 5 change camera script to change the position of the camera in the room back to the main office, and it sets the camera view size to X = 400 by Y = 225.</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21679193"/>
                  </a:ext>
                </a:extLst>
              </a:tr>
            </a:tbl>
          </a:graphicData>
        </a:graphic>
      </p:graphicFrame>
      <p:sp>
        <p:nvSpPr>
          <p:cNvPr id="5" name="TextBox 4">
            <a:extLst>
              <a:ext uri="{FF2B5EF4-FFF2-40B4-BE49-F238E27FC236}">
                <a16:creationId xmlns:a16="http://schemas.microsoft.com/office/drawing/2014/main" id="{57AC9656-7EA1-B4EA-F9F3-8EAEE96C39F7}"/>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64757334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9B935-011B-742D-4858-7E214A8DC59A}"/>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65CA25A9-B62D-6ADD-D3C9-4D097BE69029}"/>
              </a:ext>
            </a:extLst>
          </p:cNvPr>
          <p:cNvGraphicFramePr>
            <a:graphicFrameLocks noGrp="1"/>
          </p:cNvGraphicFramePr>
          <p:nvPr>
            <p:extLst>
              <p:ext uri="{D42A27DB-BD31-4B8C-83A1-F6EECF244321}">
                <p14:modId xmlns:p14="http://schemas.microsoft.com/office/powerpoint/2010/main" val="2334511704"/>
              </p:ext>
            </p:extLst>
          </p:nvPr>
        </p:nvGraphicFramePr>
        <p:xfrm>
          <a:off x="114301" y="391885"/>
          <a:ext cx="11204571" cy="3262265"/>
        </p:xfrm>
        <a:graphic>
          <a:graphicData uri="http://schemas.openxmlformats.org/drawingml/2006/table">
            <a:tbl>
              <a:tblPr firstRow="1" bandRow="1">
                <a:tableStyleId>{5C22544A-7EE6-4342-B048-85BDC9FD1C3A}</a:tableStyleId>
              </a:tblPr>
              <a:tblGrid>
                <a:gridCol w="798830">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752897">
                  <a:extLst>
                    <a:ext uri="{9D8B030D-6E8A-4147-A177-3AD203B41FA5}">
                      <a16:colId xmlns:a16="http://schemas.microsoft.com/office/drawing/2014/main" val="132880537"/>
                    </a:ext>
                  </a:extLst>
                </a:gridCol>
                <a:gridCol w="3665764">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5162">
                <a:tc>
                  <a:txBody>
                    <a:bodyPr/>
                    <a:lstStyle/>
                    <a:p>
                      <a:r>
                        <a:rPr lang="en-GB" sz="800" dirty="0"/>
                        <a:t>141.</a:t>
                      </a:r>
                    </a:p>
                  </a:txBody>
                  <a:tcPr/>
                </a:tc>
                <a:tc>
                  <a:txBody>
                    <a:bodyPr/>
                    <a:lstStyle/>
                    <a:p>
                      <a:r>
                        <a:rPr lang="en-GB" sz="800" dirty="0"/>
                        <a:t>Move to Left Door Up-close zone level 1</a:t>
                      </a:r>
                    </a:p>
                  </a:txBody>
                  <a:tcPr/>
                </a:tc>
                <a:tc>
                  <a:txBody>
                    <a:bodyPr/>
                    <a:lstStyle/>
                    <a:p>
                      <a:r>
                        <a:rPr lang="en-GB" sz="800" dirty="0"/>
                        <a:t>Rm_level1</a:t>
                      </a:r>
                    </a:p>
                  </a:txBody>
                  <a:tcPr/>
                </a:tc>
                <a:tc>
                  <a:txBody>
                    <a:bodyPr/>
                    <a:lstStyle/>
                    <a:p>
                      <a:r>
                        <a:rPr lang="en-GB" sz="800" dirty="0" err="1"/>
                        <a:t>Obj_move_button_left_door</a:t>
                      </a:r>
                      <a:endParaRPr lang="en-GB" sz="800" dirty="0"/>
                    </a:p>
                  </a:txBody>
                  <a:tcPr/>
                </a:tc>
                <a:tc>
                  <a:txBody>
                    <a:bodyPr/>
                    <a:lstStyle/>
                    <a:p>
                      <a:r>
                        <a:rPr lang="en-GB" sz="800" dirty="0"/>
                        <a:t>When the player left clicks on the left door move button in the main office, just like the camera buttons, it utilizes the level 1 camera change script to change the camera view to left door up-close zone.</a:t>
                      </a:r>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142.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Move to Left Door Up-close zone level 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Obj_move_button_left_door_lvl2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left door move button in the main office, just like the camera buttons, it utilizes the level 2 camera change script to change the camera view to left door up-close zone.</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143.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Move to Left Door Up-close zone level 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Obj_move_button_left_door_lvl3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left door move button in the main office, just like the camera buttons, it utilizes the level 3 camera change script to change the camera view to left door up-close zone.</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144.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Move to Left Door Up-close zone level 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Obj_move_button_left_door_lvl4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left door move button in the main office, just like the camera buttons, it utilizes the level 4 camera change script to change the camera view to left door up-close zone.</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931270710"/>
                  </a:ext>
                </a:extLst>
              </a:tr>
              <a:tr h="470623">
                <a:tc>
                  <a:txBody>
                    <a:bodyPr/>
                    <a:lstStyle/>
                    <a:p>
                      <a:r>
                        <a:rPr lang="en-GB" sz="800" dirty="0"/>
                        <a:t>145.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Move to Left Door Up-close zone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Obj_move_button_left_door_lvl5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left door move button in the main office, just like the camera buttons, it utilizes the level 5 camera change script to change the camera view to left door up-close zone.</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983487539"/>
                  </a:ext>
                </a:extLst>
              </a:tr>
            </a:tbl>
          </a:graphicData>
        </a:graphic>
      </p:graphicFrame>
      <p:sp>
        <p:nvSpPr>
          <p:cNvPr id="2" name="TextBox 1">
            <a:extLst>
              <a:ext uri="{FF2B5EF4-FFF2-40B4-BE49-F238E27FC236}">
                <a16:creationId xmlns:a16="http://schemas.microsoft.com/office/drawing/2014/main" id="{B6FA3FCF-1FD7-5E98-9D4E-911E7A0E2EA9}"/>
              </a:ext>
            </a:extLst>
          </p:cNvPr>
          <p:cNvSpPr txBox="1"/>
          <p:nvPr/>
        </p:nvSpPr>
        <p:spPr>
          <a:xfrm>
            <a:off x="0" y="22553"/>
            <a:ext cx="3103222" cy="369332"/>
          </a:xfrm>
          <a:prstGeom prst="rect">
            <a:avLst/>
          </a:prstGeom>
          <a:noFill/>
        </p:spPr>
        <p:txBody>
          <a:bodyPr wrap="none" rtlCol="0">
            <a:spAutoFit/>
          </a:bodyPr>
          <a:lstStyle/>
          <a:p>
            <a:r>
              <a:rPr lang="en-GB" dirty="0"/>
              <a:t>Door/vent Movement Buttons</a:t>
            </a:r>
          </a:p>
        </p:txBody>
      </p:sp>
    </p:spTree>
    <p:extLst>
      <p:ext uri="{BB962C8B-B14F-4D97-AF65-F5344CB8AC3E}">
        <p14:creationId xmlns:p14="http://schemas.microsoft.com/office/powerpoint/2010/main" val="19498940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37C52-ABA7-F340-FEA5-6CA103D4AFB8}"/>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4BEA82F-5B9B-A5A9-93EE-6C6A6BCAAB14}"/>
              </a:ext>
            </a:extLst>
          </p:cNvPr>
          <p:cNvGraphicFramePr>
            <a:graphicFrameLocks noGrp="1"/>
          </p:cNvGraphicFramePr>
          <p:nvPr>
            <p:extLst>
              <p:ext uri="{D42A27DB-BD31-4B8C-83A1-F6EECF244321}">
                <p14:modId xmlns:p14="http://schemas.microsoft.com/office/powerpoint/2010/main" val="3946402872"/>
              </p:ext>
            </p:extLst>
          </p:nvPr>
        </p:nvGraphicFramePr>
        <p:xfrm>
          <a:off x="114301" y="391885"/>
          <a:ext cx="11204571" cy="3262265"/>
        </p:xfrm>
        <a:graphic>
          <a:graphicData uri="http://schemas.openxmlformats.org/drawingml/2006/table">
            <a:tbl>
              <a:tblPr firstRow="1" bandRow="1">
                <a:tableStyleId>{5C22544A-7EE6-4342-B048-85BDC9FD1C3A}</a:tableStyleId>
              </a:tblPr>
              <a:tblGrid>
                <a:gridCol w="798830">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752897">
                  <a:extLst>
                    <a:ext uri="{9D8B030D-6E8A-4147-A177-3AD203B41FA5}">
                      <a16:colId xmlns:a16="http://schemas.microsoft.com/office/drawing/2014/main" val="132880537"/>
                    </a:ext>
                  </a:extLst>
                </a:gridCol>
                <a:gridCol w="3665764">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5162">
                <a:tc>
                  <a:txBody>
                    <a:bodyPr/>
                    <a:lstStyle/>
                    <a:p>
                      <a:r>
                        <a:rPr lang="en-GB" sz="800" dirty="0"/>
                        <a:t>146.</a:t>
                      </a:r>
                    </a:p>
                  </a:txBody>
                  <a:tcPr/>
                </a:tc>
                <a:tc>
                  <a:txBody>
                    <a:bodyPr/>
                    <a:lstStyle/>
                    <a:p>
                      <a:r>
                        <a:rPr lang="en-GB" sz="800" dirty="0"/>
                        <a:t>Move to Right Door Up-close zone level 1</a:t>
                      </a:r>
                    </a:p>
                  </a:txBody>
                  <a:tcPr/>
                </a:tc>
                <a:tc>
                  <a:txBody>
                    <a:bodyPr/>
                    <a:lstStyle/>
                    <a:p>
                      <a:r>
                        <a:rPr lang="en-GB" sz="800" dirty="0"/>
                        <a:t>Rm_level1</a:t>
                      </a:r>
                    </a:p>
                  </a:txBody>
                  <a:tcPr/>
                </a:tc>
                <a:tc>
                  <a:txBody>
                    <a:bodyPr/>
                    <a:lstStyle/>
                    <a:p>
                      <a:r>
                        <a:rPr lang="en-GB" sz="800" dirty="0" err="1"/>
                        <a:t>Obj_move_button_right_door</a:t>
                      </a:r>
                      <a:endParaRPr lang="en-GB" sz="800" dirty="0"/>
                    </a:p>
                  </a:txBody>
                  <a:tcPr/>
                </a:tc>
                <a:tc>
                  <a:txBody>
                    <a:bodyPr/>
                    <a:lstStyle/>
                    <a:p>
                      <a:r>
                        <a:rPr lang="en-GB" sz="800" dirty="0"/>
                        <a:t>When the player left clicks on the right door move button in the main office, just like the camera buttons, it utilizes the level 1 camera change script to change the camera view to right door up-close zone.</a:t>
                      </a:r>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147.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Move to Right Door Up-close zone level 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Obj_move_button_right_door_lvl2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right door move button in the main office, just like the camera buttons, it utilizes the level 2 camera change script to change the camera view to right door up-close zone.</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148.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Move to Right Door Up-close zone level 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Obj_move_button_right_door_lvl3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right door move button in the main office, just like the camera buttons, it utilizes the level 3 camera change script to change the camera view to right door up-close zone.</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149.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Move to Right Door Up-close zone level 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Obj_move_button_right_door_lvl4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right door move button in the main office, just like the camera buttons, it utilizes the level 4 camera change script to change the camera view to right door up-close zone.</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931270710"/>
                  </a:ext>
                </a:extLst>
              </a:tr>
              <a:tr h="470623">
                <a:tc>
                  <a:txBody>
                    <a:bodyPr/>
                    <a:lstStyle/>
                    <a:p>
                      <a:r>
                        <a:rPr lang="en-GB" sz="800" dirty="0"/>
                        <a:t>150.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Move to Right Door Up-close zone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Obj_move_button_right_door_lvl5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right door move button in the main office, just like the camera buttons, it utilizes the level 5 camera change script to change the camera view to right door up-close zone.</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983487539"/>
                  </a:ext>
                </a:extLst>
              </a:tr>
            </a:tbl>
          </a:graphicData>
        </a:graphic>
      </p:graphicFrame>
      <p:sp>
        <p:nvSpPr>
          <p:cNvPr id="2" name="TextBox 1">
            <a:extLst>
              <a:ext uri="{FF2B5EF4-FFF2-40B4-BE49-F238E27FC236}">
                <a16:creationId xmlns:a16="http://schemas.microsoft.com/office/drawing/2014/main" id="{D853FF79-D447-1A7C-6417-4FE27A788F60}"/>
              </a:ext>
            </a:extLst>
          </p:cNvPr>
          <p:cNvSpPr txBox="1"/>
          <p:nvPr/>
        </p:nvSpPr>
        <p:spPr>
          <a:xfrm>
            <a:off x="0" y="22553"/>
            <a:ext cx="3103222" cy="369332"/>
          </a:xfrm>
          <a:prstGeom prst="rect">
            <a:avLst/>
          </a:prstGeom>
          <a:noFill/>
        </p:spPr>
        <p:txBody>
          <a:bodyPr wrap="none" rtlCol="0">
            <a:spAutoFit/>
          </a:bodyPr>
          <a:lstStyle/>
          <a:p>
            <a:r>
              <a:rPr lang="en-GB" dirty="0"/>
              <a:t>Door/vent Movement Buttons</a:t>
            </a:r>
          </a:p>
        </p:txBody>
      </p:sp>
    </p:spTree>
    <p:extLst>
      <p:ext uri="{BB962C8B-B14F-4D97-AF65-F5344CB8AC3E}">
        <p14:creationId xmlns:p14="http://schemas.microsoft.com/office/powerpoint/2010/main" val="339186668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5FEDE5-DB3E-7924-F314-B76A8BD3FD8E}"/>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32979DB-12A8-AE8D-6D3C-D67BEC161570}"/>
              </a:ext>
            </a:extLst>
          </p:cNvPr>
          <p:cNvGraphicFramePr>
            <a:graphicFrameLocks noGrp="1"/>
          </p:cNvGraphicFramePr>
          <p:nvPr>
            <p:extLst>
              <p:ext uri="{D42A27DB-BD31-4B8C-83A1-F6EECF244321}">
                <p14:modId xmlns:p14="http://schemas.microsoft.com/office/powerpoint/2010/main" val="1354727565"/>
              </p:ext>
            </p:extLst>
          </p:nvPr>
        </p:nvGraphicFramePr>
        <p:xfrm>
          <a:off x="114301" y="391885"/>
          <a:ext cx="11204571" cy="3262265"/>
        </p:xfrm>
        <a:graphic>
          <a:graphicData uri="http://schemas.openxmlformats.org/drawingml/2006/table">
            <a:tbl>
              <a:tblPr firstRow="1" bandRow="1">
                <a:tableStyleId>{5C22544A-7EE6-4342-B048-85BDC9FD1C3A}</a:tableStyleId>
              </a:tblPr>
              <a:tblGrid>
                <a:gridCol w="798830">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752897">
                  <a:extLst>
                    <a:ext uri="{9D8B030D-6E8A-4147-A177-3AD203B41FA5}">
                      <a16:colId xmlns:a16="http://schemas.microsoft.com/office/drawing/2014/main" val="132880537"/>
                    </a:ext>
                  </a:extLst>
                </a:gridCol>
                <a:gridCol w="3665764">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5162">
                <a:tc>
                  <a:txBody>
                    <a:bodyPr/>
                    <a:lstStyle/>
                    <a:p>
                      <a:r>
                        <a:rPr lang="en-GB" sz="800" dirty="0"/>
                        <a:t>151.</a:t>
                      </a:r>
                    </a:p>
                  </a:txBody>
                  <a:tcPr/>
                </a:tc>
                <a:tc>
                  <a:txBody>
                    <a:bodyPr/>
                    <a:lstStyle/>
                    <a:p>
                      <a:r>
                        <a:rPr lang="en-GB" sz="800" dirty="0"/>
                        <a:t>Move to back vent Up-close zone level 1</a:t>
                      </a:r>
                    </a:p>
                  </a:txBody>
                  <a:tcPr/>
                </a:tc>
                <a:tc>
                  <a:txBody>
                    <a:bodyPr/>
                    <a:lstStyle/>
                    <a:p>
                      <a:r>
                        <a:rPr lang="en-GB" sz="800" dirty="0"/>
                        <a:t>Rm_level1</a:t>
                      </a:r>
                    </a:p>
                  </a:txBody>
                  <a:tcPr/>
                </a:tc>
                <a:tc>
                  <a:txBody>
                    <a:bodyPr/>
                    <a:lstStyle/>
                    <a:p>
                      <a:r>
                        <a:rPr lang="en-GB" sz="800" dirty="0" err="1"/>
                        <a:t>Obj_move_button_back_vent</a:t>
                      </a:r>
                      <a:endParaRPr lang="en-GB" sz="800" dirty="0"/>
                    </a:p>
                  </a:txBody>
                  <a:tcPr/>
                </a:tc>
                <a:tc>
                  <a:txBody>
                    <a:bodyPr/>
                    <a:lstStyle/>
                    <a:p>
                      <a:r>
                        <a:rPr lang="en-GB" sz="800" dirty="0"/>
                        <a:t>When the player left clicks on the back vent move button in the main office, just like the camera buttons, it utilizes the level 1 camera change script to change the camera view to back vent up-close zone.</a:t>
                      </a:r>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152.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Move to back vent Up-close zone level 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Obj_move_button_back_vent_lvl2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back vent move button in the main office, just like the camera buttons, it utilizes the level 2 camera change script to change the camera view to back vent up-close zone.</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153.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Move to back vent Up-close zone level 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Obj_move_button_back_vent_lvl3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back vent move button in the main office, just like the camera buttons, it utilizes the level 3 camera change script to change the camera view to back vent up-close zone.</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154.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Move to back vent Up-close zone level 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Obj_move_button_back_vent_lvl4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back vent move button in the main office, just like the camera buttons, it utilizes the level 4 camera change script to change the camera view to back vent up-close zone.</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931270710"/>
                  </a:ext>
                </a:extLst>
              </a:tr>
              <a:tr h="470623">
                <a:tc>
                  <a:txBody>
                    <a:bodyPr/>
                    <a:lstStyle/>
                    <a:p>
                      <a:r>
                        <a:rPr lang="en-GB" sz="800" dirty="0"/>
                        <a:t>155.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Move to back vent Up-close zone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Obj_move_button_back_vent_lvl5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back vent move button in the main office, just like the camera buttons, it utilizes the level 5 camera change script to change the camera view to back vent up-close zone.</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 </a:t>
                      </a:r>
                    </a:p>
                  </a:txBody>
                  <a:tcPr/>
                </a:tc>
                <a:tc>
                  <a:txBody>
                    <a:bodyPr/>
                    <a:lstStyle/>
                    <a:p>
                      <a:pPr marL="0" indent="0">
                        <a:buNone/>
                      </a:pPr>
                      <a:endParaRPr lang="en-GB" sz="800" dirty="0"/>
                    </a:p>
                  </a:txBody>
                  <a:tcPr/>
                </a:tc>
                <a:extLst>
                  <a:ext uri="{0D108BD9-81ED-4DB2-BD59-A6C34878D82A}">
                    <a16:rowId xmlns:a16="http://schemas.microsoft.com/office/drawing/2014/main" val="2983487539"/>
                  </a:ext>
                </a:extLst>
              </a:tr>
            </a:tbl>
          </a:graphicData>
        </a:graphic>
      </p:graphicFrame>
      <p:sp>
        <p:nvSpPr>
          <p:cNvPr id="2" name="TextBox 1">
            <a:extLst>
              <a:ext uri="{FF2B5EF4-FFF2-40B4-BE49-F238E27FC236}">
                <a16:creationId xmlns:a16="http://schemas.microsoft.com/office/drawing/2014/main" id="{B4E64A02-05D0-0315-A8AA-42B69E91660A}"/>
              </a:ext>
            </a:extLst>
          </p:cNvPr>
          <p:cNvSpPr txBox="1"/>
          <p:nvPr/>
        </p:nvSpPr>
        <p:spPr>
          <a:xfrm>
            <a:off x="0" y="22553"/>
            <a:ext cx="3103222" cy="369332"/>
          </a:xfrm>
          <a:prstGeom prst="rect">
            <a:avLst/>
          </a:prstGeom>
          <a:noFill/>
        </p:spPr>
        <p:txBody>
          <a:bodyPr wrap="none" rtlCol="0">
            <a:spAutoFit/>
          </a:bodyPr>
          <a:lstStyle/>
          <a:p>
            <a:r>
              <a:rPr lang="en-GB" dirty="0"/>
              <a:t>Door/vent Movement Buttons</a:t>
            </a:r>
          </a:p>
        </p:txBody>
      </p:sp>
    </p:spTree>
    <p:extLst>
      <p:ext uri="{BB962C8B-B14F-4D97-AF65-F5344CB8AC3E}">
        <p14:creationId xmlns:p14="http://schemas.microsoft.com/office/powerpoint/2010/main" val="59589372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AF7363-EA7D-FE98-67F5-CB70C36C7B6C}"/>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25C245C-A724-C1AA-803A-8094FA7A99AD}"/>
              </a:ext>
            </a:extLst>
          </p:cNvPr>
          <p:cNvGraphicFramePr>
            <a:graphicFrameLocks noGrp="1"/>
          </p:cNvGraphicFramePr>
          <p:nvPr>
            <p:extLst>
              <p:ext uri="{D42A27DB-BD31-4B8C-83A1-F6EECF244321}">
                <p14:modId xmlns:p14="http://schemas.microsoft.com/office/powerpoint/2010/main" val="738674360"/>
              </p:ext>
            </p:extLst>
          </p:nvPr>
        </p:nvGraphicFramePr>
        <p:xfrm>
          <a:off x="114301" y="391885"/>
          <a:ext cx="11204571" cy="3262265"/>
        </p:xfrm>
        <a:graphic>
          <a:graphicData uri="http://schemas.openxmlformats.org/drawingml/2006/table">
            <a:tbl>
              <a:tblPr firstRow="1" bandRow="1">
                <a:tableStyleId>{5C22544A-7EE6-4342-B048-85BDC9FD1C3A}</a:tableStyleId>
              </a:tblPr>
              <a:tblGrid>
                <a:gridCol w="798830">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752897">
                  <a:extLst>
                    <a:ext uri="{9D8B030D-6E8A-4147-A177-3AD203B41FA5}">
                      <a16:colId xmlns:a16="http://schemas.microsoft.com/office/drawing/2014/main" val="132880537"/>
                    </a:ext>
                  </a:extLst>
                </a:gridCol>
                <a:gridCol w="3665764">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5162">
                <a:tc>
                  <a:txBody>
                    <a:bodyPr/>
                    <a:lstStyle/>
                    <a:p>
                      <a:r>
                        <a:rPr lang="en-GB" sz="800" dirty="0"/>
                        <a:t>156.</a:t>
                      </a:r>
                    </a:p>
                  </a:txBody>
                  <a:tcPr/>
                </a:tc>
                <a:tc>
                  <a:txBody>
                    <a:bodyPr/>
                    <a:lstStyle/>
                    <a:p>
                      <a:r>
                        <a:rPr lang="en-GB" sz="800" dirty="0"/>
                        <a:t>Move to front vent Up-close zone level 1</a:t>
                      </a:r>
                    </a:p>
                  </a:txBody>
                  <a:tcPr/>
                </a:tc>
                <a:tc>
                  <a:txBody>
                    <a:bodyPr/>
                    <a:lstStyle/>
                    <a:p>
                      <a:r>
                        <a:rPr lang="en-GB" sz="800" dirty="0"/>
                        <a:t>Rm_level1</a:t>
                      </a:r>
                    </a:p>
                  </a:txBody>
                  <a:tcPr/>
                </a:tc>
                <a:tc>
                  <a:txBody>
                    <a:bodyPr/>
                    <a:lstStyle/>
                    <a:p>
                      <a:r>
                        <a:rPr lang="en-GB" sz="800" dirty="0" err="1"/>
                        <a:t>Obj_move_button_front_vent</a:t>
                      </a:r>
                      <a:endParaRPr lang="en-GB" sz="800" dirty="0"/>
                    </a:p>
                  </a:txBody>
                  <a:tcPr/>
                </a:tc>
                <a:tc>
                  <a:txBody>
                    <a:bodyPr/>
                    <a:lstStyle/>
                    <a:p>
                      <a:r>
                        <a:rPr lang="en-GB" sz="800" dirty="0"/>
                        <a:t>When the player left clicks on the front vent move button in the main office, just like the camera buttons, it utilizes the level 1 camera change script to change the camera view to front vent up-close zone.</a:t>
                      </a:r>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157.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Move to front vent Up-close zone level 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Obj_move_button_front_vent_lvl2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front vent move button in the main office, just like the camera buttons, it utilizes the level 2 camera change script to change the camera view to front vent up-close zone.</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158.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Move to front vent Up-close zone level 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Obj_move_button_front_vent_lvl3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front vent move button in the main office, just like the camera buttons, it utilizes the level 3 camera change script to change the camera view to front vent up-close zone.</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159.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Move to front vent Up-close zone level 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Obj_move_button_front_vent_lvl4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front vent move button in the main office, just like the camera buttons, it utilizes the level 4 camera change script to change the camera view to front vent up-close zone.</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931270710"/>
                  </a:ext>
                </a:extLst>
              </a:tr>
              <a:tr h="470623">
                <a:tc>
                  <a:txBody>
                    <a:bodyPr/>
                    <a:lstStyle/>
                    <a:p>
                      <a:r>
                        <a:rPr lang="en-GB" sz="800" dirty="0"/>
                        <a:t>160.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Move to front vent Up-close zone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Obj_move_button_front_vent_lvl5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front vent move button in the main office, just like the camera buttons, it utilizes the level 5 camera change script to change the camera view front vent  up-close zone.</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 </a:t>
                      </a:r>
                    </a:p>
                  </a:txBody>
                  <a:tcPr/>
                </a:tc>
                <a:tc>
                  <a:txBody>
                    <a:bodyPr/>
                    <a:lstStyle/>
                    <a:p>
                      <a:pPr marL="0" indent="0">
                        <a:buNone/>
                      </a:pPr>
                      <a:endParaRPr lang="en-GB" sz="800" dirty="0"/>
                    </a:p>
                  </a:txBody>
                  <a:tcPr/>
                </a:tc>
                <a:extLst>
                  <a:ext uri="{0D108BD9-81ED-4DB2-BD59-A6C34878D82A}">
                    <a16:rowId xmlns:a16="http://schemas.microsoft.com/office/drawing/2014/main" val="2983487539"/>
                  </a:ext>
                </a:extLst>
              </a:tr>
            </a:tbl>
          </a:graphicData>
        </a:graphic>
      </p:graphicFrame>
      <p:sp>
        <p:nvSpPr>
          <p:cNvPr id="2" name="TextBox 1">
            <a:extLst>
              <a:ext uri="{FF2B5EF4-FFF2-40B4-BE49-F238E27FC236}">
                <a16:creationId xmlns:a16="http://schemas.microsoft.com/office/drawing/2014/main" id="{8C6B8F30-1B35-2C4A-2102-BC44804A14BF}"/>
              </a:ext>
            </a:extLst>
          </p:cNvPr>
          <p:cNvSpPr txBox="1"/>
          <p:nvPr/>
        </p:nvSpPr>
        <p:spPr>
          <a:xfrm>
            <a:off x="0" y="22553"/>
            <a:ext cx="3103222" cy="369332"/>
          </a:xfrm>
          <a:prstGeom prst="rect">
            <a:avLst/>
          </a:prstGeom>
          <a:noFill/>
        </p:spPr>
        <p:txBody>
          <a:bodyPr wrap="none" rtlCol="0">
            <a:spAutoFit/>
          </a:bodyPr>
          <a:lstStyle/>
          <a:p>
            <a:r>
              <a:rPr lang="en-GB" dirty="0"/>
              <a:t>Door/vent Movement Buttons</a:t>
            </a:r>
          </a:p>
        </p:txBody>
      </p:sp>
    </p:spTree>
    <p:extLst>
      <p:ext uri="{BB962C8B-B14F-4D97-AF65-F5344CB8AC3E}">
        <p14:creationId xmlns:p14="http://schemas.microsoft.com/office/powerpoint/2010/main" val="205497020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D5386-2590-BEE8-0F8A-765BCCFC8F9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1542D0-1945-6D31-4E77-097076CA360C}"/>
              </a:ext>
            </a:extLst>
          </p:cNvPr>
          <p:cNvGraphicFramePr>
            <a:graphicFrameLocks noGrp="1"/>
          </p:cNvGraphicFramePr>
          <p:nvPr>
            <p:extLst>
              <p:ext uri="{D42A27DB-BD31-4B8C-83A1-F6EECF244321}">
                <p14:modId xmlns:p14="http://schemas.microsoft.com/office/powerpoint/2010/main" val="1758689382"/>
              </p:ext>
            </p:extLst>
          </p:nvPr>
        </p:nvGraphicFramePr>
        <p:xfrm>
          <a:off x="114301" y="391885"/>
          <a:ext cx="11204571" cy="6292303"/>
        </p:xfrm>
        <a:graphic>
          <a:graphicData uri="http://schemas.openxmlformats.org/drawingml/2006/table">
            <a:tbl>
              <a:tblPr firstRow="1" bandRow="1">
                <a:tableStyleId>{5C22544A-7EE6-4342-B048-85BDC9FD1C3A}</a:tableStyleId>
              </a:tblPr>
              <a:tblGrid>
                <a:gridCol w="798830">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752897">
                  <a:extLst>
                    <a:ext uri="{9D8B030D-6E8A-4147-A177-3AD203B41FA5}">
                      <a16:colId xmlns:a16="http://schemas.microsoft.com/office/drawing/2014/main" val="132880537"/>
                    </a:ext>
                  </a:extLst>
                </a:gridCol>
                <a:gridCol w="3665764">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a:t>Test Number</a:t>
                      </a:r>
                      <a:endParaRPr lang="en-GB" sz="800" dirty="0"/>
                    </a:p>
                  </a:txBody>
                  <a:tcPr/>
                </a:tc>
                <a:tc>
                  <a:txBody>
                    <a:bodyPr/>
                    <a:lstStyle/>
                    <a:p>
                      <a:r>
                        <a:rPr lang="en-GB" sz="800"/>
                        <a:t>Test Type</a:t>
                      </a:r>
                      <a:endParaRPr lang="en-GB" sz="800" dirty="0"/>
                    </a:p>
                  </a:txBody>
                  <a:tcPr/>
                </a:tc>
                <a:tc>
                  <a:txBody>
                    <a:bodyPr/>
                    <a:lstStyle/>
                    <a:p>
                      <a:r>
                        <a:rPr lang="en-GB" sz="800"/>
                        <a:t>Room</a:t>
                      </a:r>
                      <a:endParaRPr lang="en-GB" sz="800" dirty="0"/>
                    </a:p>
                  </a:txBody>
                  <a:tcPr/>
                </a:tc>
                <a:tc>
                  <a:txBody>
                    <a:bodyPr/>
                    <a:lstStyle/>
                    <a:p>
                      <a:r>
                        <a:rPr lang="en-GB" sz="800"/>
                        <a:t>Objects Involved</a:t>
                      </a:r>
                      <a:endParaRPr lang="en-GB" sz="800" dirty="0"/>
                    </a:p>
                  </a:txBody>
                  <a:tcPr/>
                </a:tc>
                <a:tc>
                  <a:txBody>
                    <a:bodyPr/>
                    <a:lstStyle/>
                    <a:p>
                      <a:r>
                        <a:rPr lang="en-GB" sz="800"/>
                        <a:t>Expected Outcome</a:t>
                      </a:r>
                      <a:endParaRPr lang="en-GB" sz="800" dirty="0"/>
                    </a:p>
                  </a:txBody>
                  <a:tcPr/>
                </a:tc>
                <a:tc>
                  <a:txBody>
                    <a:bodyPr/>
                    <a:lstStyle/>
                    <a:p>
                      <a:r>
                        <a:rPr lang="en-GB" sz="800"/>
                        <a:t>Actual Outcome</a:t>
                      </a:r>
                      <a:endParaRPr lang="en-GB" sz="800" dirty="0"/>
                    </a:p>
                  </a:txBody>
                  <a:tcPr/>
                </a:tc>
                <a:extLst>
                  <a:ext uri="{0D108BD9-81ED-4DB2-BD59-A6C34878D82A}">
                    <a16:rowId xmlns:a16="http://schemas.microsoft.com/office/drawing/2014/main" val="1296324342"/>
                  </a:ext>
                </a:extLst>
              </a:tr>
              <a:tr h="475162">
                <a:tc>
                  <a:txBody>
                    <a:bodyPr/>
                    <a:lstStyle/>
                    <a:p>
                      <a:r>
                        <a:rPr lang="en-GB" sz="800"/>
                        <a:t>161.</a:t>
                      </a:r>
                      <a:endParaRPr lang="en-GB" sz="800" dirty="0"/>
                    </a:p>
                  </a:txBody>
                  <a:tcPr/>
                </a:tc>
                <a:tc>
                  <a:txBody>
                    <a:bodyPr/>
                    <a:lstStyle/>
                    <a:p>
                      <a:r>
                        <a:rPr lang="en-GB" sz="800" dirty="0"/>
                        <a:t>Left Door open/close states level 1</a:t>
                      </a:r>
                    </a:p>
                  </a:txBody>
                  <a:tcPr/>
                </a:tc>
                <a:tc>
                  <a:txBody>
                    <a:bodyPr/>
                    <a:lstStyle/>
                    <a:p>
                      <a:r>
                        <a:rPr lang="en-GB" sz="800" dirty="0"/>
                        <a:t>Rm_level1</a:t>
                      </a:r>
                    </a:p>
                  </a:txBody>
                  <a:tcPr/>
                </a:tc>
                <a:tc>
                  <a:txBody>
                    <a:bodyPr/>
                    <a:lstStyle/>
                    <a:p>
                      <a:r>
                        <a:rPr lang="en-GB" sz="800" dirty="0" err="1"/>
                        <a:t>obj_left_door_button</a:t>
                      </a:r>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a:t>When the player left clicks on the button, the button uses the global variable states for the left door from the oxygen/door/vent controller to determine if the door requires to be In an open or closed sprite state. Essentially it checks the instance for the open or closed state of the left door in the office to then know if its closing or opening the left door.  When it knows what state, the doors are currently in, it will change the left doors object sprite and set the left doors global state to open/close which the oxygen/door/vent controller uses to decrease/increase the oxygen levels.</a:t>
                      </a:r>
                      <a:endParaRPr lang="en-GB" sz="800" dirty="0"/>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a:t>162.</a:t>
                      </a:r>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Left Door open/close states level 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obj_left_door_button_lvl2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a:t>When the player left clicks on the button, the button uses the global variable states for the left door from the oxygen/door/vent controller to determine if the door requires to be In an open or closed sprite state. Essentially it checks the instance for the open or closed state of the left door in the office to then know if its closing or opening the left door.  When it knows what state, the doors are currently in, it will change the left doors object sprite and set the left doors global state to open/close which the oxygen/door/vent controller uses to decrease/increase the oxygen levels.</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a:t>163.</a:t>
                      </a:r>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Left Door open/close states level 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obj_left_door_button_lvl3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a:t>When the player left clicks on the button, the button uses the global variable states for the left door from the oxygen/door/vent controller to determine if the door requires to be In an open or closed sprite state. Essentially it checks the instance for the open or closed state of the left door in the office to then know if its closing or opening the left door.  When it knows what state, the doors are currently in, it will change the left doors object sprite and set the left doors global state to open/close which the oxygen/door/vent controller uses to decrease/increase the oxygen levels.</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a:t>164.</a:t>
                      </a:r>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Left Door open/close states level 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obj_left_door_button_lvl4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a:t>When the player left clicks on the button, the button uses the global variable states for the left door from the oxygen/door/vent controller to determine if the door requires to be In an open or closed sprite state. Essentially it checks the instance for the open or closed state of the left door in the office to then know if its closing or opening the left door.  When it knows what state, the doors are currently in, it will change the left doors object sprite and set the left doors global state to open/close which the oxygen/door/vent controller uses to decrease/increase the oxygen levels.</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931270710"/>
                  </a:ext>
                </a:extLst>
              </a:tr>
              <a:tr h="470623">
                <a:tc>
                  <a:txBody>
                    <a:bodyPr/>
                    <a:lstStyle/>
                    <a:p>
                      <a:r>
                        <a:rPr lang="en-GB" sz="800"/>
                        <a:t>165.</a:t>
                      </a:r>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Left Door open/close states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obj_left_door_button_lvl5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button, the button uses the global variable states for the left door from the oxygen/door/vent controller to determine if the door requires to be In an open or closed sprite state. Essentially it checks the instance for the open or closed state of the left door in the office to then know if its closing or opening the left door.  When it knows what state, the doors are currently in, it will change the left doors object sprite and set the left doors global state to open/close which the oxygen/door/vent controller uses to decrease/increase the oxygen levels.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983487539"/>
                  </a:ext>
                </a:extLst>
              </a:tr>
            </a:tbl>
          </a:graphicData>
        </a:graphic>
      </p:graphicFrame>
      <p:sp>
        <p:nvSpPr>
          <p:cNvPr id="2" name="TextBox 1">
            <a:extLst>
              <a:ext uri="{FF2B5EF4-FFF2-40B4-BE49-F238E27FC236}">
                <a16:creationId xmlns:a16="http://schemas.microsoft.com/office/drawing/2014/main" id="{A25A857A-1BFD-BF3A-190D-37417BFC9C0D}"/>
              </a:ext>
            </a:extLst>
          </p:cNvPr>
          <p:cNvSpPr txBox="1"/>
          <p:nvPr/>
        </p:nvSpPr>
        <p:spPr>
          <a:xfrm>
            <a:off x="0" y="22553"/>
            <a:ext cx="3255122" cy="369332"/>
          </a:xfrm>
          <a:prstGeom prst="rect">
            <a:avLst/>
          </a:prstGeom>
          <a:noFill/>
        </p:spPr>
        <p:txBody>
          <a:bodyPr wrap="none" rtlCol="0">
            <a:spAutoFit/>
          </a:bodyPr>
          <a:lstStyle/>
          <a:p>
            <a:r>
              <a:rPr lang="en-GB" dirty="0"/>
              <a:t>Door/vent Open/Close Buttons</a:t>
            </a:r>
          </a:p>
        </p:txBody>
      </p:sp>
      <p:sp>
        <p:nvSpPr>
          <p:cNvPr id="5" name="TextBox 4">
            <a:extLst>
              <a:ext uri="{FF2B5EF4-FFF2-40B4-BE49-F238E27FC236}">
                <a16:creationId xmlns:a16="http://schemas.microsoft.com/office/drawing/2014/main" id="{2DA626B4-2428-10AF-DEF1-90129926B6D4}"/>
              </a:ext>
            </a:extLst>
          </p:cNvPr>
          <p:cNvSpPr txBox="1"/>
          <p:nvPr/>
        </p:nvSpPr>
        <p:spPr>
          <a:xfrm>
            <a:off x="3255122" y="0"/>
            <a:ext cx="8936877" cy="26161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b="1" dirty="0"/>
              <a:t>Note: Both the up-close and main view l doors are in sync meaning that when I say left or right]] door, I mean both left doors in the room.</a:t>
            </a:r>
          </a:p>
        </p:txBody>
      </p:sp>
    </p:spTree>
    <p:extLst>
      <p:ext uri="{BB962C8B-B14F-4D97-AF65-F5344CB8AC3E}">
        <p14:creationId xmlns:p14="http://schemas.microsoft.com/office/powerpoint/2010/main" val="401221996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4911</TotalTime>
  <Words>27467</Words>
  <Application>Microsoft Office PowerPoint</Application>
  <PresentationFormat>Widescreen</PresentationFormat>
  <Paragraphs>2191</Paragraphs>
  <Slides>78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78</vt:i4>
      </vt:variant>
    </vt:vector>
  </HeadingPairs>
  <TitlesOfParts>
    <vt:vector size="83" baseType="lpstr">
      <vt:lpstr>Aptos</vt:lpstr>
      <vt:lpstr>Aptos Display</vt:lpstr>
      <vt:lpstr>Arial</vt:lpstr>
      <vt:lpstr>Arial Narrow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The Next Slides are the tests made for Build V.1.0 of Critical Failure  Testing  Each test will be mentioned in each levels video.  The videos will be added at the end of the table slides. of this PowerPoint, showing the mechanic being tested.</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430</cp:revision>
  <dcterms:created xsi:type="dcterms:W3CDTF">2025-10-10T09:00:53Z</dcterms:created>
  <dcterms:modified xsi:type="dcterms:W3CDTF">2026-02-26T12:05:35Z</dcterms:modified>
</cp:coreProperties>
</file>