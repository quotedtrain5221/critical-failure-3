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68C49C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 id="268" r:id="rId12"/>
    <p:sldId id="269" r:id="rId13"/>
    <p:sldId id="271" r:id="rId14"/>
    <p:sldId id="273" r:id="rId15"/>
    <p:sldId id="274" r:id="rId16"/>
    <p:sldId id="275" r:id="rId17"/>
    <p:sldId id="277" r:id="rId18"/>
    <p:sldId id="279" r:id="rId19"/>
    <p:sldId id="280" r:id="rId20"/>
    <p:sldId id="281" r:id="rId21"/>
    <p:sldId id="282" r:id="rId22"/>
    <p:sldId id="283" r:id="rId23"/>
    <p:sldId id="285" r:id="rId24"/>
    <p:sldId id="286" r:id="rId25"/>
    <p:sldId id="287" r:id="rId26"/>
    <p:sldId id="288" r:id="rId27"/>
    <p:sldId id="290" r:id="rId28"/>
    <p:sldId id="291" r:id="rId29"/>
    <p:sldId id="292" r:id="rId30"/>
    <p:sldId id="293" r:id="rId31"/>
    <p:sldId id="294" r:id="rId32"/>
    <p:sldId id="295" r:id="rId33"/>
    <p:sldId id="296" r:id="rId34"/>
    <p:sldId id="297" r:id="rId35"/>
    <p:sldId id="257" r:id="rId36"/>
    <p:sldId id="267" r:id="rId37"/>
    <p:sldId id="270" r:id="rId38"/>
    <p:sldId id="272" r:id="rId39"/>
    <p:sldId id="276" r:id="rId40"/>
    <p:sldId id="278" r:id="rId41"/>
    <p:sldId id="284" r:id="rId42"/>
    <p:sldId id="299" r:id="rId43"/>
    <p:sldId id="300" r:id="rId44"/>
    <p:sldId id="301" r:id="rId45"/>
    <p:sldId id="302" r:id="rId46"/>
    <p:sldId id="303" r:id="rId47"/>
    <p:sldId id="304" r:id="rId48"/>
    <p:sldId id="305" r:id="rId49"/>
    <p:sldId id="306" r:id="rId50"/>
    <p:sldId id="307" r:id="rId51"/>
    <p:sldId id="308" r:id="rId5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6DD6F6-1B0B-2351-1B34-242F146A8762}" name="JAR24887099 (Ieuan Jarvis)" initials="JJ" userId="S::jar24887099@stu.gcs.ac.uk::ca6f5ab3-fc5c-42ee-a46c-5f4c8d500c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940E55-2AF4-3544-3025-A50D6A750F6B}" v="1069" dt="2025-10-10T09:15:25.501"/>
    <p1510:client id="{B3A2F057-D9CB-BEFB-7B99-58B46FACF419}" v="9" dt="2025-10-10T09:01:16.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3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omments/modernComment_100_68C49C6.xml><?xml version="1.0" encoding="utf-8"?>
<p188:cmLst xmlns:a="http://schemas.openxmlformats.org/drawingml/2006/main" xmlns:r="http://schemas.openxmlformats.org/officeDocument/2006/relationships" xmlns:p188="http://schemas.microsoft.com/office/powerpoint/2018/8/main">
  <p188:cm id="{6DB92719-FE1B-4F64-AAC0-8BCEB8A4943A}" authorId="{566DD6F6-1B0B-2351-1B34-242F146A8762}" created="2025-10-10T09:06:24.583">
    <pc:sldMkLst xmlns:pc="http://schemas.microsoft.com/office/powerpoint/2013/main/command">
      <pc:docMk/>
      <pc:sldMk cId="109857222" sldId="256"/>
    </pc:sldMkLst>
    <p188:txBody>
      <a:bodyPr/>
      <a:lstStyle/>
      <a:p>
        <a:r>
          <a:rPr lang="en-GB"/>
          <a:t>Template Slide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25/02/2026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25/02/2026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25/02/2026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25/02/2026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68C49C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 Id="rId5" Type="http://schemas.openxmlformats.org/officeDocument/2006/relationships/image" Target="../media/image74.png"/><Relationship Id="rId4" Type="http://schemas.openxmlformats.org/officeDocument/2006/relationships/image" Target="../media/image73.png"/></Relationships>
</file>

<file path=ppt/slides/_rels/slide2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1363CF-6A0B-0B94-74A0-D17285299A62}"/>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21/11/2025</a:t>
            </a:r>
          </a:p>
        </p:txBody>
      </p:sp>
      <p:sp>
        <p:nvSpPr>
          <p:cNvPr id="2" name="TextBox 1">
            <a:extLst>
              <a:ext uri="{FF2B5EF4-FFF2-40B4-BE49-F238E27FC236}">
                <a16:creationId xmlns:a16="http://schemas.microsoft.com/office/drawing/2014/main" id="{AF1B1338-8017-36DE-855E-3547A044D322}"/>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V.0.1</a:t>
            </a:r>
          </a:p>
        </p:txBody>
      </p:sp>
      <p:sp>
        <p:nvSpPr>
          <p:cNvPr id="3" name="TextBox 2">
            <a:extLst>
              <a:ext uri="{FF2B5EF4-FFF2-40B4-BE49-F238E27FC236}">
                <a16:creationId xmlns:a16="http://schemas.microsoft.com/office/drawing/2014/main" id="{ABD11597-3654-1961-B5A6-D8586A06F825}"/>
              </a:ext>
            </a:extLst>
          </p:cNvPr>
          <p:cNvSpPr txBox="1"/>
          <p:nvPr/>
        </p:nvSpPr>
        <p:spPr>
          <a:xfrm>
            <a:off x="5648215" y="563289"/>
            <a:ext cx="3926490" cy="597086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Summary Of Session</a:t>
            </a:r>
          </a:p>
          <a:p>
            <a:endParaRPr lang="en-GB" sz="1600" dirty="0"/>
          </a:p>
          <a:p>
            <a:r>
              <a:rPr lang="en-GB" sz="1600" dirty="0"/>
              <a:t>I have finished outlining the design for the main office room.</a:t>
            </a:r>
          </a:p>
          <a:p>
            <a:endParaRPr lang="en-GB" sz="1600" dirty="0"/>
          </a:p>
          <a:p>
            <a:r>
              <a:rPr lang="en-GB" sz="1600" dirty="0"/>
              <a:t>I have corrected my enemies AMCD-01 to 04 to remove weird white spots left by the fill tool and now they are ready to be used in the game.</a:t>
            </a:r>
          </a:p>
          <a:p>
            <a:endParaRPr lang="en-GB" sz="1600" dirty="0"/>
          </a:p>
          <a:p>
            <a:r>
              <a:rPr lang="en-GB" sz="1600" dirty="0"/>
              <a:t>I have created the design/animation stages for the doors.</a:t>
            </a:r>
          </a:p>
          <a:p>
            <a:endParaRPr lang="en-GB" sz="1600" dirty="0"/>
          </a:p>
          <a:p>
            <a:r>
              <a:rPr lang="en-GB" sz="1600" dirty="0"/>
              <a:t>I have designed the buttons.</a:t>
            </a:r>
          </a:p>
          <a:p>
            <a:endParaRPr lang="en-GB" sz="1600" dirty="0"/>
          </a:p>
          <a:p>
            <a:r>
              <a:rPr lang="en-GB" sz="1600" dirty="0"/>
              <a:t>Lastly, I have begun adding the designs into Gamemaker and going over them, refining them to look cleaner.</a:t>
            </a:r>
          </a:p>
          <a:p>
            <a:endParaRPr lang="en-GB" sz="1600" dirty="0"/>
          </a:p>
          <a:p>
            <a:r>
              <a:rPr lang="en-GB" sz="1600" dirty="0"/>
              <a:t>Note: I made the backgrounds black to show them in a much darker environment, I do have PNG images of them with transparent backgrounds as to make them easier to use In Game Maker.</a:t>
            </a:r>
          </a:p>
        </p:txBody>
      </p:sp>
      <p:sp>
        <p:nvSpPr>
          <p:cNvPr id="6" name="TextBox 5">
            <a:extLst>
              <a:ext uri="{FF2B5EF4-FFF2-40B4-BE49-F238E27FC236}">
                <a16:creationId xmlns:a16="http://schemas.microsoft.com/office/drawing/2014/main" id="{E0A8C236-FDA4-5077-8330-330C0462E935}"/>
              </a:ext>
            </a:extLst>
          </p:cNvPr>
          <p:cNvSpPr txBox="1"/>
          <p:nvPr/>
        </p:nvSpPr>
        <p:spPr>
          <a:xfrm>
            <a:off x="9651124" y="54413"/>
            <a:ext cx="2438400" cy="544764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for Next Session</a:t>
            </a:r>
          </a:p>
          <a:p>
            <a:endParaRPr lang="en-GB" sz="1200" dirty="0"/>
          </a:p>
          <a:p>
            <a:r>
              <a:rPr lang="en-GB" sz="1200" dirty="0"/>
              <a:t>Study more about the specific GML code needed for enemy AI/Camera system</a:t>
            </a:r>
          </a:p>
          <a:p>
            <a:endParaRPr lang="en-GB" sz="1200" dirty="0"/>
          </a:p>
          <a:p>
            <a:r>
              <a:rPr lang="en-GB" sz="1200" dirty="0"/>
              <a:t>Enemy behaviour is unique between different enemies, as such they will have unique code.</a:t>
            </a:r>
          </a:p>
          <a:p>
            <a:endParaRPr lang="en-GB" sz="1200" dirty="0"/>
          </a:p>
          <a:p>
            <a:r>
              <a:rPr lang="en-GB" sz="1200" dirty="0"/>
              <a:t>Map Out zone's layout inside the main room.</a:t>
            </a:r>
          </a:p>
          <a:p>
            <a:endParaRPr lang="en-GB" sz="1200" dirty="0"/>
          </a:p>
          <a:p>
            <a:r>
              <a:rPr lang="en-GB" sz="1200" dirty="0"/>
              <a:t>Design Menu/Start-Up Screens.</a:t>
            </a:r>
          </a:p>
          <a:p>
            <a:endParaRPr lang="en-GB" sz="1200" dirty="0"/>
          </a:p>
          <a:p>
            <a:r>
              <a:rPr lang="en-GB" sz="1200" dirty="0"/>
              <a:t>Create the rest of the sprites ready for when their designs are ready.</a:t>
            </a:r>
          </a:p>
          <a:p>
            <a:endParaRPr lang="en-GB" sz="1200" dirty="0"/>
          </a:p>
          <a:p>
            <a:r>
              <a:rPr lang="en-GB" sz="1200" dirty="0"/>
              <a:t>Make the zones sprite canvas 1000x500 and give them a bold colour to start so you can begin mapping out the layout.</a:t>
            </a:r>
          </a:p>
          <a:p>
            <a:endParaRPr lang="en-GB" sz="1200" dirty="0"/>
          </a:p>
          <a:p>
            <a:r>
              <a:rPr lang="en-GB" sz="1200" dirty="0"/>
              <a:t>Also, attempt to make the main room as large as possible as to have more flexibility when designing the levels/layouts/zones.</a:t>
            </a:r>
            <a:endParaRPr lang="en-GB" sz="1600" dirty="0"/>
          </a:p>
        </p:txBody>
      </p:sp>
      <p:pic>
        <p:nvPicPr>
          <p:cNvPr id="8" name="Picture 7">
            <a:extLst>
              <a:ext uri="{FF2B5EF4-FFF2-40B4-BE49-F238E27FC236}">
                <a16:creationId xmlns:a16="http://schemas.microsoft.com/office/drawing/2014/main" id="{90DE02DD-7C0E-6907-4524-E440B9972EA2}"/>
              </a:ext>
            </a:extLst>
          </p:cNvPr>
          <p:cNvPicPr>
            <a:picLocks noChangeAspect="1"/>
          </p:cNvPicPr>
          <p:nvPr/>
        </p:nvPicPr>
        <p:blipFill>
          <a:blip r:embed="rId3"/>
          <a:srcRect t="23826"/>
          <a:stretch>
            <a:fillRect/>
          </a:stretch>
        </p:blipFill>
        <p:spPr>
          <a:xfrm>
            <a:off x="0" y="0"/>
            <a:ext cx="2352947" cy="1800970"/>
          </a:xfrm>
          <a:prstGeom prst="rect">
            <a:avLst/>
          </a:prstGeom>
        </p:spPr>
      </p:pic>
      <p:pic>
        <p:nvPicPr>
          <p:cNvPr id="12" name="Picture 11">
            <a:extLst>
              <a:ext uri="{FF2B5EF4-FFF2-40B4-BE49-F238E27FC236}">
                <a16:creationId xmlns:a16="http://schemas.microsoft.com/office/drawing/2014/main" id="{CD3F6F9B-E283-0871-5618-BF2AD8C13C8A}"/>
              </a:ext>
            </a:extLst>
          </p:cNvPr>
          <p:cNvPicPr>
            <a:picLocks noChangeAspect="1"/>
          </p:cNvPicPr>
          <p:nvPr/>
        </p:nvPicPr>
        <p:blipFill>
          <a:blip r:embed="rId4"/>
          <a:stretch>
            <a:fillRect/>
          </a:stretch>
        </p:blipFill>
        <p:spPr>
          <a:xfrm>
            <a:off x="2429366" y="0"/>
            <a:ext cx="2289200" cy="2160799"/>
          </a:xfrm>
          <a:prstGeom prst="rect">
            <a:avLst/>
          </a:prstGeom>
        </p:spPr>
      </p:pic>
      <p:pic>
        <p:nvPicPr>
          <p:cNvPr id="14" name="Picture 13">
            <a:extLst>
              <a:ext uri="{FF2B5EF4-FFF2-40B4-BE49-F238E27FC236}">
                <a16:creationId xmlns:a16="http://schemas.microsoft.com/office/drawing/2014/main" id="{70CA2CA6-EDA2-4A0C-CE49-43EDB705BF03}"/>
              </a:ext>
            </a:extLst>
          </p:cNvPr>
          <p:cNvPicPr>
            <a:picLocks noChangeAspect="1"/>
          </p:cNvPicPr>
          <p:nvPr/>
        </p:nvPicPr>
        <p:blipFill>
          <a:blip r:embed="rId5"/>
          <a:stretch>
            <a:fillRect/>
          </a:stretch>
        </p:blipFill>
        <p:spPr>
          <a:xfrm>
            <a:off x="1738645" y="2210227"/>
            <a:ext cx="3630800" cy="2415388"/>
          </a:xfrm>
          <a:prstGeom prst="rect">
            <a:avLst/>
          </a:prstGeom>
        </p:spPr>
      </p:pic>
      <p:pic>
        <p:nvPicPr>
          <p:cNvPr id="16" name="Picture 15">
            <a:extLst>
              <a:ext uri="{FF2B5EF4-FFF2-40B4-BE49-F238E27FC236}">
                <a16:creationId xmlns:a16="http://schemas.microsoft.com/office/drawing/2014/main" id="{7AED7DA6-F548-9D5E-1F49-049474294DB4}"/>
              </a:ext>
            </a:extLst>
          </p:cNvPr>
          <p:cNvPicPr>
            <a:picLocks noChangeAspect="1"/>
          </p:cNvPicPr>
          <p:nvPr/>
        </p:nvPicPr>
        <p:blipFill>
          <a:blip r:embed="rId6"/>
          <a:srcRect l="10547" r="31860"/>
          <a:stretch>
            <a:fillRect/>
          </a:stretch>
        </p:blipFill>
        <p:spPr>
          <a:xfrm>
            <a:off x="-1" y="2059622"/>
            <a:ext cx="1585600" cy="581106"/>
          </a:xfrm>
          <a:prstGeom prst="rect">
            <a:avLst/>
          </a:prstGeom>
        </p:spPr>
      </p:pic>
      <p:pic>
        <p:nvPicPr>
          <p:cNvPr id="18" name="Picture 17">
            <a:extLst>
              <a:ext uri="{FF2B5EF4-FFF2-40B4-BE49-F238E27FC236}">
                <a16:creationId xmlns:a16="http://schemas.microsoft.com/office/drawing/2014/main" id="{19EB194A-4303-246E-A8F0-35BE6AB86E18}"/>
              </a:ext>
            </a:extLst>
          </p:cNvPr>
          <p:cNvPicPr>
            <a:picLocks noChangeAspect="1"/>
          </p:cNvPicPr>
          <p:nvPr/>
        </p:nvPicPr>
        <p:blipFill>
          <a:blip r:embed="rId7"/>
          <a:srcRect r="17625" b="10853"/>
          <a:stretch>
            <a:fillRect/>
          </a:stretch>
        </p:blipFill>
        <p:spPr>
          <a:xfrm>
            <a:off x="62861" y="2756530"/>
            <a:ext cx="1599365" cy="3700233"/>
          </a:xfrm>
          <a:prstGeom prst="rect">
            <a:avLst/>
          </a:prstGeom>
        </p:spPr>
      </p:pic>
      <p:pic>
        <p:nvPicPr>
          <p:cNvPr id="7" name="Picture 6" descr="A blue rhinoceros with red eyes">
            <a:extLst>
              <a:ext uri="{FF2B5EF4-FFF2-40B4-BE49-F238E27FC236}">
                <a16:creationId xmlns:a16="http://schemas.microsoft.com/office/drawing/2014/main" id="{0F8F764B-4E33-6B63-2454-0E3138EA0D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40996" y="4625615"/>
            <a:ext cx="3348578" cy="2232385"/>
          </a:xfrm>
          <a:prstGeom prst="rect">
            <a:avLst/>
          </a:prstGeom>
        </p:spPr>
      </p:pic>
    </p:spTree>
    <p:extLst>
      <p:ext uri="{BB962C8B-B14F-4D97-AF65-F5344CB8AC3E}">
        <p14:creationId xmlns:p14="http://schemas.microsoft.com/office/powerpoint/2010/main" val="10985722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39EC-F8FE-ADA9-EA59-F1EC36434B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6BDE55-6263-8575-7C13-EC317449D25F}"/>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24/11/2025</a:t>
            </a:r>
          </a:p>
        </p:txBody>
      </p:sp>
      <p:sp>
        <p:nvSpPr>
          <p:cNvPr id="2" name="TextBox 1">
            <a:extLst>
              <a:ext uri="{FF2B5EF4-FFF2-40B4-BE49-F238E27FC236}">
                <a16:creationId xmlns:a16="http://schemas.microsoft.com/office/drawing/2014/main" id="{6165D850-749B-B97D-752E-BEC348B613E1}"/>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V.0.1</a:t>
            </a:r>
          </a:p>
        </p:txBody>
      </p:sp>
      <p:sp>
        <p:nvSpPr>
          <p:cNvPr id="3" name="TextBox 2">
            <a:extLst>
              <a:ext uri="{FF2B5EF4-FFF2-40B4-BE49-F238E27FC236}">
                <a16:creationId xmlns:a16="http://schemas.microsoft.com/office/drawing/2014/main" id="{B05434DB-BE74-90C9-E4A8-6FC8304041B7}"/>
              </a:ext>
            </a:extLst>
          </p:cNvPr>
          <p:cNvSpPr txBox="1"/>
          <p:nvPr/>
        </p:nvSpPr>
        <p:spPr>
          <a:xfrm>
            <a:off x="5648215" y="563289"/>
            <a:ext cx="3926490" cy="443198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Summary Of Session</a:t>
            </a:r>
          </a:p>
          <a:p>
            <a:endParaRPr lang="en-GB" sz="1400" dirty="0"/>
          </a:p>
          <a:p>
            <a:r>
              <a:rPr lang="en-GB" sz="1400" dirty="0"/>
              <a:t>Colour coded each zone and named them correctly. These are to be used temporarily before the official designs are completed. The grey coloured zones are for the front views of both the vents and the doors.</a:t>
            </a:r>
          </a:p>
          <a:p>
            <a:endParaRPr lang="en-GB" sz="1400" dirty="0"/>
          </a:p>
          <a:p>
            <a:r>
              <a:rPr lang="en-GB" sz="1400" dirty="0"/>
              <a:t>I have also Created a template for the Office.</a:t>
            </a:r>
          </a:p>
          <a:p>
            <a:r>
              <a:rPr lang="en-GB" sz="1400" dirty="0"/>
              <a:t>The Office will have a set size of 3000x1050, and the zones will have a set size of 2000x1050.</a:t>
            </a:r>
          </a:p>
          <a:p>
            <a:endParaRPr lang="en-GB" sz="1400" dirty="0"/>
          </a:p>
          <a:p>
            <a:r>
              <a:rPr lang="en-GB" sz="1400" dirty="0"/>
              <a:t>The Buttons for both the vents and doors are made in Game Maker and will be 200x300px to have more flexibility in designing.</a:t>
            </a:r>
          </a:p>
          <a:p>
            <a:endParaRPr lang="en-GB" sz="1400" dirty="0"/>
          </a:p>
          <a:p>
            <a:r>
              <a:rPr lang="en-GB" sz="1400" dirty="0"/>
              <a:t>The Camera button will start off being 300x100.</a:t>
            </a:r>
          </a:p>
          <a:p>
            <a:endParaRPr lang="en-GB" sz="1400" dirty="0"/>
          </a:p>
          <a:p>
            <a:endParaRPr lang="en-GB" sz="1400" dirty="0"/>
          </a:p>
          <a:p>
            <a:endParaRPr lang="en-GB" sz="1600" dirty="0"/>
          </a:p>
        </p:txBody>
      </p:sp>
      <p:sp>
        <p:nvSpPr>
          <p:cNvPr id="6" name="TextBox 5">
            <a:extLst>
              <a:ext uri="{FF2B5EF4-FFF2-40B4-BE49-F238E27FC236}">
                <a16:creationId xmlns:a16="http://schemas.microsoft.com/office/drawing/2014/main" id="{5D546EC8-C3EF-D2D7-4576-CD84485BAD0C}"/>
              </a:ext>
            </a:extLst>
          </p:cNvPr>
          <p:cNvSpPr txBox="1"/>
          <p:nvPr/>
        </p:nvSpPr>
        <p:spPr>
          <a:xfrm>
            <a:off x="9642445" y="54237"/>
            <a:ext cx="2438400" cy="175432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for Next Session</a:t>
            </a:r>
          </a:p>
          <a:p>
            <a:endParaRPr lang="en-GB" sz="1200" dirty="0"/>
          </a:p>
          <a:p>
            <a:r>
              <a:rPr lang="en-GB" sz="1200" dirty="0"/>
              <a:t>Allocate each zone to a location and name them specific to what contents are in it. For Example, 2 zones will be named obj_left_corridor and obj_left_corridor.</a:t>
            </a:r>
          </a:p>
          <a:p>
            <a:endParaRPr lang="en-GB" sz="1200" dirty="0"/>
          </a:p>
        </p:txBody>
      </p:sp>
      <p:pic>
        <p:nvPicPr>
          <p:cNvPr id="9" name="Picture 8">
            <a:extLst>
              <a:ext uri="{FF2B5EF4-FFF2-40B4-BE49-F238E27FC236}">
                <a16:creationId xmlns:a16="http://schemas.microsoft.com/office/drawing/2014/main" id="{D5DA7A1B-0205-F5E4-D017-A101709C5534}"/>
              </a:ext>
            </a:extLst>
          </p:cNvPr>
          <p:cNvPicPr>
            <a:picLocks noChangeAspect="1"/>
          </p:cNvPicPr>
          <p:nvPr/>
        </p:nvPicPr>
        <p:blipFill>
          <a:blip r:embed="rId2"/>
          <a:stretch>
            <a:fillRect/>
          </a:stretch>
        </p:blipFill>
        <p:spPr>
          <a:xfrm>
            <a:off x="35660" y="54237"/>
            <a:ext cx="2581635" cy="2152950"/>
          </a:xfrm>
          <a:prstGeom prst="rect">
            <a:avLst/>
          </a:prstGeom>
        </p:spPr>
      </p:pic>
      <p:pic>
        <p:nvPicPr>
          <p:cNvPr id="19" name="Picture 18">
            <a:extLst>
              <a:ext uri="{FF2B5EF4-FFF2-40B4-BE49-F238E27FC236}">
                <a16:creationId xmlns:a16="http://schemas.microsoft.com/office/drawing/2014/main" id="{094D053A-FA5D-5E1A-4596-4B1AB3899244}"/>
              </a:ext>
            </a:extLst>
          </p:cNvPr>
          <p:cNvPicPr>
            <a:picLocks noChangeAspect="1"/>
          </p:cNvPicPr>
          <p:nvPr/>
        </p:nvPicPr>
        <p:blipFill>
          <a:blip r:embed="rId3"/>
          <a:stretch>
            <a:fillRect/>
          </a:stretch>
        </p:blipFill>
        <p:spPr>
          <a:xfrm>
            <a:off x="3200014" y="90120"/>
            <a:ext cx="2372056" cy="4239217"/>
          </a:xfrm>
          <a:prstGeom prst="rect">
            <a:avLst/>
          </a:prstGeom>
        </p:spPr>
      </p:pic>
      <p:pic>
        <p:nvPicPr>
          <p:cNvPr id="23" name="Picture 22">
            <a:extLst>
              <a:ext uri="{FF2B5EF4-FFF2-40B4-BE49-F238E27FC236}">
                <a16:creationId xmlns:a16="http://schemas.microsoft.com/office/drawing/2014/main" id="{BA939C8F-A31D-6446-512C-312CE13E262F}"/>
              </a:ext>
            </a:extLst>
          </p:cNvPr>
          <p:cNvPicPr>
            <a:picLocks noChangeAspect="1"/>
          </p:cNvPicPr>
          <p:nvPr/>
        </p:nvPicPr>
        <p:blipFill>
          <a:blip r:embed="rId4"/>
          <a:srcRect r="3135"/>
          <a:stretch>
            <a:fillRect/>
          </a:stretch>
        </p:blipFill>
        <p:spPr>
          <a:xfrm>
            <a:off x="149942" y="2348393"/>
            <a:ext cx="2353069" cy="1495634"/>
          </a:xfrm>
          <a:prstGeom prst="rect">
            <a:avLst/>
          </a:prstGeom>
        </p:spPr>
      </p:pic>
      <p:pic>
        <p:nvPicPr>
          <p:cNvPr id="25" name="Picture 24">
            <a:extLst>
              <a:ext uri="{FF2B5EF4-FFF2-40B4-BE49-F238E27FC236}">
                <a16:creationId xmlns:a16="http://schemas.microsoft.com/office/drawing/2014/main" id="{366848E6-9BE0-02B5-CC0F-5C6426CD62E4}"/>
              </a:ext>
            </a:extLst>
          </p:cNvPr>
          <p:cNvPicPr>
            <a:picLocks noChangeAspect="1"/>
          </p:cNvPicPr>
          <p:nvPr/>
        </p:nvPicPr>
        <p:blipFill>
          <a:blip r:embed="rId5"/>
          <a:stretch>
            <a:fillRect/>
          </a:stretch>
        </p:blipFill>
        <p:spPr>
          <a:xfrm>
            <a:off x="59421" y="4376015"/>
            <a:ext cx="4326621" cy="2481985"/>
          </a:xfrm>
          <a:prstGeom prst="rect">
            <a:avLst/>
          </a:prstGeom>
        </p:spPr>
      </p:pic>
    </p:spTree>
    <p:extLst>
      <p:ext uri="{BB962C8B-B14F-4D97-AF65-F5344CB8AC3E}">
        <p14:creationId xmlns:p14="http://schemas.microsoft.com/office/powerpoint/2010/main" val="2368599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F447-2503-6E06-EB64-6A29C29979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BD7D05-D183-64C6-1BA1-72453612143E}"/>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24/11/2025</a:t>
            </a:r>
          </a:p>
        </p:txBody>
      </p:sp>
      <p:sp>
        <p:nvSpPr>
          <p:cNvPr id="2" name="TextBox 1">
            <a:extLst>
              <a:ext uri="{FF2B5EF4-FFF2-40B4-BE49-F238E27FC236}">
                <a16:creationId xmlns:a16="http://schemas.microsoft.com/office/drawing/2014/main" id="{3E37F77A-82C0-2039-AD51-40366B52EBEB}"/>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V.0.1</a:t>
            </a:r>
          </a:p>
        </p:txBody>
      </p:sp>
      <p:sp>
        <p:nvSpPr>
          <p:cNvPr id="3" name="TextBox 2">
            <a:extLst>
              <a:ext uri="{FF2B5EF4-FFF2-40B4-BE49-F238E27FC236}">
                <a16:creationId xmlns:a16="http://schemas.microsoft.com/office/drawing/2014/main" id="{2886F3E7-61E5-445C-5038-15B1F86B5A87}"/>
              </a:ext>
            </a:extLst>
          </p:cNvPr>
          <p:cNvSpPr txBox="1"/>
          <p:nvPr/>
        </p:nvSpPr>
        <p:spPr>
          <a:xfrm>
            <a:off x="5642854" y="578678"/>
            <a:ext cx="3926490" cy="335476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Summary Of Session</a:t>
            </a:r>
          </a:p>
          <a:p>
            <a:endParaRPr lang="en-GB" sz="1400" dirty="0"/>
          </a:p>
          <a:p>
            <a:r>
              <a:rPr lang="en-GB" sz="1400" dirty="0"/>
              <a:t>I used View port feature on game maker to have the main camera be focused on the office.</a:t>
            </a:r>
          </a:p>
          <a:p>
            <a:endParaRPr lang="en-GB" sz="1400" dirty="0"/>
          </a:p>
          <a:p>
            <a:r>
              <a:rPr lang="en-GB" sz="1400" dirty="0"/>
              <a:t>The code below is the camera, that when I put in camera_apply or shift view onto a button Object it will change OBJ_Camera’s position within the room. It is not done yet but is a massive leap in completing one of my most advanced mechanics.</a:t>
            </a:r>
          </a:p>
          <a:p>
            <a:endParaRPr lang="en-GB" sz="1400" dirty="0"/>
          </a:p>
          <a:p>
            <a:endParaRPr lang="en-GB" sz="1400" dirty="0"/>
          </a:p>
          <a:p>
            <a:endParaRPr lang="en-GB" sz="1400" dirty="0"/>
          </a:p>
          <a:p>
            <a:endParaRPr lang="en-GB" sz="1600" dirty="0"/>
          </a:p>
        </p:txBody>
      </p:sp>
      <p:sp>
        <p:nvSpPr>
          <p:cNvPr id="6" name="TextBox 5">
            <a:extLst>
              <a:ext uri="{FF2B5EF4-FFF2-40B4-BE49-F238E27FC236}">
                <a16:creationId xmlns:a16="http://schemas.microsoft.com/office/drawing/2014/main" id="{6C671371-B8F1-97C1-D2C5-BD2850E814D7}"/>
              </a:ext>
            </a:extLst>
          </p:cNvPr>
          <p:cNvSpPr txBox="1"/>
          <p:nvPr/>
        </p:nvSpPr>
        <p:spPr>
          <a:xfrm>
            <a:off x="9642445" y="54237"/>
            <a:ext cx="2438400" cy="156966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for Next Session</a:t>
            </a:r>
          </a:p>
          <a:p>
            <a:endParaRPr lang="en-GB" sz="1200" dirty="0"/>
          </a:p>
          <a:p>
            <a:r>
              <a:rPr lang="en-GB" sz="1200" dirty="0"/>
              <a:t>Continue working on sprites and setting the game up ready for all the coding, so adding in all the assets/files.</a:t>
            </a:r>
          </a:p>
          <a:p>
            <a:endParaRPr lang="en-GB" sz="1200" dirty="0"/>
          </a:p>
          <a:p>
            <a:endParaRPr lang="en-GB" sz="1200" dirty="0"/>
          </a:p>
        </p:txBody>
      </p:sp>
      <p:pic>
        <p:nvPicPr>
          <p:cNvPr id="27" name="Picture 26">
            <a:extLst>
              <a:ext uri="{FF2B5EF4-FFF2-40B4-BE49-F238E27FC236}">
                <a16:creationId xmlns:a16="http://schemas.microsoft.com/office/drawing/2014/main" id="{F677CB03-D1DC-CB3F-CAE0-F8B146FE754F}"/>
              </a:ext>
            </a:extLst>
          </p:cNvPr>
          <p:cNvPicPr>
            <a:picLocks noChangeAspect="1"/>
          </p:cNvPicPr>
          <p:nvPr/>
        </p:nvPicPr>
        <p:blipFill>
          <a:blip r:embed="rId2"/>
          <a:stretch>
            <a:fillRect/>
          </a:stretch>
        </p:blipFill>
        <p:spPr>
          <a:xfrm>
            <a:off x="231941" y="754545"/>
            <a:ext cx="2512691" cy="5638018"/>
          </a:xfrm>
          <a:prstGeom prst="rect">
            <a:avLst/>
          </a:prstGeom>
        </p:spPr>
      </p:pic>
      <p:sp>
        <p:nvSpPr>
          <p:cNvPr id="5" name="TextBox 4">
            <a:extLst>
              <a:ext uri="{FF2B5EF4-FFF2-40B4-BE49-F238E27FC236}">
                <a16:creationId xmlns:a16="http://schemas.microsoft.com/office/drawing/2014/main" id="{3C6B70CF-F758-8FF9-4535-1E2605546C2E}"/>
              </a:ext>
            </a:extLst>
          </p:cNvPr>
          <p:cNvSpPr txBox="1"/>
          <p:nvPr/>
        </p:nvSpPr>
        <p:spPr>
          <a:xfrm>
            <a:off x="0" y="54237"/>
            <a:ext cx="1959856" cy="5847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Continuation of previous slide.</a:t>
            </a:r>
          </a:p>
        </p:txBody>
      </p:sp>
      <p:pic>
        <p:nvPicPr>
          <p:cNvPr id="11" name="Picture 10">
            <a:extLst>
              <a:ext uri="{FF2B5EF4-FFF2-40B4-BE49-F238E27FC236}">
                <a16:creationId xmlns:a16="http://schemas.microsoft.com/office/drawing/2014/main" id="{10266355-A36C-5972-ED51-B27E7586F80B}"/>
              </a:ext>
            </a:extLst>
          </p:cNvPr>
          <p:cNvPicPr>
            <a:picLocks noChangeAspect="1"/>
          </p:cNvPicPr>
          <p:nvPr/>
        </p:nvPicPr>
        <p:blipFill>
          <a:blip r:embed="rId3"/>
          <a:stretch>
            <a:fillRect/>
          </a:stretch>
        </p:blipFill>
        <p:spPr>
          <a:xfrm>
            <a:off x="3038494" y="3756230"/>
            <a:ext cx="8921565" cy="2581366"/>
          </a:xfrm>
          <a:prstGeom prst="rect">
            <a:avLst/>
          </a:prstGeom>
        </p:spPr>
      </p:pic>
    </p:spTree>
    <p:extLst>
      <p:ext uri="{BB962C8B-B14F-4D97-AF65-F5344CB8AC3E}">
        <p14:creationId xmlns:p14="http://schemas.microsoft.com/office/powerpoint/2010/main" val="3460468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F447-2503-6E06-EB64-6A29C29979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BD7D05-D183-64C6-1BA1-72453612143E}"/>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24/11/2025</a:t>
            </a:r>
          </a:p>
        </p:txBody>
      </p:sp>
      <p:sp>
        <p:nvSpPr>
          <p:cNvPr id="2" name="TextBox 1">
            <a:extLst>
              <a:ext uri="{FF2B5EF4-FFF2-40B4-BE49-F238E27FC236}">
                <a16:creationId xmlns:a16="http://schemas.microsoft.com/office/drawing/2014/main" id="{3E37F77A-82C0-2039-AD51-40366B52EBEB}"/>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V.0.2</a:t>
            </a:r>
          </a:p>
        </p:txBody>
      </p:sp>
      <p:sp>
        <p:nvSpPr>
          <p:cNvPr id="3" name="TextBox 2">
            <a:extLst>
              <a:ext uri="{FF2B5EF4-FFF2-40B4-BE49-F238E27FC236}">
                <a16:creationId xmlns:a16="http://schemas.microsoft.com/office/drawing/2014/main" id="{2886F3E7-61E5-445C-5038-15B1F86B5A87}"/>
              </a:ext>
            </a:extLst>
          </p:cNvPr>
          <p:cNvSpPr txBox="1"/>
          <p:nvPr/>
        </p:nvSpPr>
        <p:spPr>
          <a:xfrm>
            <a:off x="5642854" y="578678"/>
            <a:ext cx="3926490" cy="335476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Summary Of Session</a:t>
            </a:r>
          </a:p>
          <a:p>
            <a:endParaRPr lang="en-GB" sz="1400" dirty="0"/>
          </a:p>
          <a:p>
            <a:r>
              <a:rPr lang="en-GB" sz="1400" dirty="0"/>
              <a:t>Refined Sprite designs such as the doors. Created template buttons for the doors both from main view and close-up view.</a:t>
            </a:r>
          </a:p>
          <a:p>
            <a:endParaRPr lang="en-GB" sz="1400" dirty="0"/>
          </a:p>
          <a:p>
            <a:r>
              <a:rPr lang="en-GB" sz="1400" dirty="0"/>
              <a:t>Named each zones area/location.</a:t>
            </a:r>
          </a:p>
          <a:p>
            <a:endParaRPr lang="en-GB" sz="1400" dirty="0"/>
          </a:p>
          <a:p>
            <a:r>
              <a:rPr lang="en-GB" sz="1400" dirty="0"/>
              <a:t>Created variables for </a:t>
            </a:r>
            <a:r>
              <a:rPr lang="en-GB" sz="1400" dirty="0" err="1"/>
              <a:t>obj_camera</a:t>
            </a:r>
            <a:r>
              <a:rPr lang="en-GB" sz="1400" dirty="0"/>
              <a:t>.</a:t>
            </a:r>
          </a:p>
          <a:p>
            <a:endParaRPr lang="en-GB" sz="1400" dirty="0"/>
          </a:p>
          <a:p>
            <a:r>
              <a:rPr lang="en-GB" sz="1400" dirty="0"/>
              <a:t>Added Up close door to the up close door zones for both left and right.</a:t>
            </a:r>
          </a:p>
          <a:p>
            <a:endParaRPr lang="en-GB" sz="1400" dirty="0"/>
          </a:p>
          <a:p>
            <a:endParaRPr lang="en-GB" sz="1400" dirty="0"/>
          </a:p>
          <a:p>
            <a:endParaRPr lang="en-GB" sz="1600" dirty="0"/>
          </a:p>
        </p:txBody>
      </p:sp>
      <p:sp>
        <p:nvSpPr>
          <p:cNvPr id="6" name="TextBox 5">
            <a:extLst>
              <a:ext uri="{FF2B5EF4-FFF2-40B4-BE49-F238E27FC236}">
                <a16:creationId xmlns:a16="http://schemas.microsoft.com/office/drawing/2014/main" id="{6C671371-B8F1-97C1-D2C5-BD2850E814D7}"/>
              </a:ext>
            </a:extLst>
          </p:cNvPr>
          <p:cNvSpPr txBox="1"/>
          <p:nvPr/>
        </p:nvSpPr>
        <p:spPr>
          <a:xfrm>
            <a:off x="9642445" y="54237"/>
            <a:ext cx="2438400" cy="230832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for Next Session</a:t>
            </a:r>
          </a:p>
          <a:p>
            <a:endParaRPr lang="en-GB" sz="1200" dirty="0"/>
          </a:p>
          <a:p>
            <a:r>
              <a:rPr lang="en-GB" sz="1200" dirty="0"/>
              <a:t>Work on sound designs for the game and the characters.</a:t>
            </a:r>
          </a:p>
          <a:p>
            <a:endParaRPr lang="en-GB" sz="1200" dirty="0"/>
          </a:p>
          <a:p>
            <a:r>
              <a:rPr lang="en-GB" sz="1200" dirty="0"/>
              <a:t>Use audio and SFX from other horror games as reference or for the smaller sounds.</a:t>
            </a:r>
          </a:p>
          <a:p>
            <a:endParaRPr lang="en-GB" sz="1200" dirty="0"/>
          </a:p>
          <a:p>
            <a:r>
              <a:rPr lang="en-GB" sz="1200" b="1" dirty="0"/>
              <a:t>Get Camera system operational</a:t>
            </a:r>
          </a:p>
          <a:p>
            <a:endParaRPr lang="en-GB" sz="1200" dirty="0"/>
          </a:p>
          <a:p>
            <a:endParaRPr lang="en-GB" sz="1200" dirty="0"/>
          </a:p>
        </p:txBody>
      </p:sp>
      <p:pic>
        <p:nvPicPr>
          <p:cNvPr id="8" name="Picture 7">
            <a:extLst>
              <a:ext uri="{FF2B5EF4-FFF2-40B4-BE49-F238E27FC236}">
                <a16:creationId xmlns:a16="http://schemas.microsoft.com/office/drawing/2014/main" id="{2B25F36B-7370-C022-0982-D33C4899384B}"/>
              </a:ext>
            </a:extLst>
          </p:cNvPr>
          <p:cNvPicPr>
            <a:picLocks noChangeAspect="1"/>
          </p:cNvPicPr>
          <p:nvPr/>
        </p:nvPicPr>
        <p:blipFill>
          <a:blip r:embed="rId2"/>
          <a:stretch>
            <a:fillRect/>
          </a:stretch>
        </p:blipFill>
        <p:spPr>
          <a:xfrm>
            <a:off x="0" y="4302897"/>
            <a:ext cx="4356284" cy="2362127"/>
          </a:xfrm>
          <a:prstGeom prst="rect">
            <a:avLst/>
          </a:prstGeom>
        </p:spPr>
      </p:pic>
      <p:pic>
        <p:nvPicPr>
          <p:cNvPr id="10" name="Picture 9">
            <a:extLst>
              <a:ext uri="{FF2B5EF4-FFF2-40B4-BE49-F238E27FC236}">
                <a16:creationId xmlns:a16="http://schemas.microsoft.com/office/drawing/2014/main" id="{330D62C2-AA53-B794-C0B6-312FEE7FF2DF}"/>
              </a:ext>
            </a:extLst>
          </p:cNvPr>
          <p:cNvPicPr>
            <a:picLocks noChangeAspect="1"/>
          </p:cNvPicPr>
          <p:nvPr/>
        </p:nvPicPr>
        <p:blipFill>
          <a:blip r:embed="rId3"/>
          <a:stretch>
            <a:fillRect/>
          </a:stretch>
        </p:blipFill>
        <p:spPr>
          <a:xfrm>
            <a:off x="294127" y="428674"/>
            <a:ext cx="1704008" cy="3354765"/>
          </a:xfrm>
          <a:prstGeom prst="rect">
            <a:avLst/>
          </a:prstGeom>
        </p:spPr>
      </p:pic>
      <p:pic>
        <p:nvPicPr>
          <p:cNvPr id="13" name="Picture 12">
            <a:extLst>
              <a:ext uri="{FF2B5EF4-FFF2-40B4-BE49-F238E27FC236}">
                <a16:creationId xmlns:a16="http://schemas.microsoft.com/office/drawing/2014/main" id="{350428BE-0AC0-96D2-D92A-71AD3D19FADD}"/>
              </a:ext>
            </a:extLst>
          </p:cNvPr>
          <p:cNvPicPr>
            <a:picLocks noChangeAspect="1"/>
          </p:cNvPicPr>
          <p:nvPr/>
        </p:nvPicPr>
        <p:blipFill>
          <a:blip r:embed="rId4"/>
          <a:stretch>
            <a:fillRect/>
          </a:stretch>
        </p:blipFill>
        <p:spPr>
          <a:xfrm>
            <a:off x="2092643" y="885888"/>
            <a:ext cx="3477110" cy="952633"/>
          </a:xfrm>
          <a:prstGeom prst="rect">
            <a:avLst/>
          </a:prstGeom>
        </p:spPr>
      </p:pic>
    </p:spTree>
    <p:extLst>
      <p:ext uri="{BB962C8B-B14F-4D97-AF65-F5344CB8AC3E}">
        <p14:creationId xmlns:p14="http://schemas.microsoft.com/office/powerpoint/2010/main" val="128542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62DB-3EC3-3B41-03C8-0A1E51E326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1C257E-74C8-A3AC-8D69-29E9A23F0848}"/>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04/12/2025</a:t>
            </a:r>
          </a:p>
        </p:txBody>
      </p:sp>
      <p:sp>
        <p:nvSpPr>
          <p:cNvPr id="2" name="TextBox 1">
            <a:extLst>
              <a:ext uri="{FF2B5EF4-FFF2-40B4-BE49-F238E27FC236}">
                <a16:creationId xmlns:a16="http://schemas.microsoft.com/office/drawing/2014/main" id="{902949C2-E2B9-D83D-8899-C29A3FA172F8}"/>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V.0.2</a:t>
            </a:r>
          </a:p>
        </p:txBody>
      </p:sp>
      <p:sp>
        <p:nvSpPr>
          <p:cNvPr id="3" name="TextBox 2">
            <a:extLst>
              <a:ext uri="{FF2B5EF4-FFF2-40B4-BE49-F238E27FC236}">
                <a16:creationId xmlns:a16="http://schemas.microsoft.com/office/drawing/2014/main" id="{9E000D2B-0307-02E8-BECB-1750F323F22B}"/>
              </a:ext>
            </a:extLst>
          </p:cNvPr>
          <p:cNvSpPr txBox="1"/>
          <p:nvPr/>
        </p:nvSpPr>
        <p:spPr>
          <a:xfrm>
            <a:off x="5642854" y="578678"/>
            <a:ext cx="3926490" cy="634019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Firstly, I have laid the foundation for the camera code and have it ready. However, I still need to make the camera alternate between camera zones based on a player clicking a button object.</a:t>
            </a:r>
          </a:p>
          <a:p>
            <a:endParaRPr lang="en-GB" sz="1400" dirty="0"/>
          </a:p>
          <a:p>
            <a:r>
              <a:rPr lang="en-GB" sz="1400" dirty="0"/>
              <a:t>Next, I changed the zones sizes to a respectful 1920x1080. This is due to the odd aspect ration of the game when it runs. This also helps make it more suitable for every display device. This change was also made to the camera’s width/height of the viewing area.</a:t>
            </a:r>
          </a:p>
          <a:p>
            <a:endParaRPr lang="en-GB" sz="1400" dirty="0"/>
          </a:p>
          <a:p>
            <a:r>
              <a:rPr lang="en-GB" sz="1400" dirty="0"/>
              <a:t>This has caused some issues with other sprites which were made too large or too small, however they are templates to help give a visual guide for the game’s development.</a:t>
            </a:r>
          </a:p>
          <a:p>
            <a:endParaRPr lang="en-GB" sz="1400" dirty="0"/>
          </a:p>
          <a:p>
            <a:r>
              <a:rPr lang="en-GB" sz="1400" dirty="0"/>
              <a:t>The doors width have been brought back from 220 to 200 to fit with the office pre-existing door frames.</a:t>
            </a:r>
          </a:p>
          <a:p>
            <a:endParaRPr lang="en-GB" sz="1400" dirty="0"/>
          </a:p>
          <a:p>
            <a:r>
              <a:rPr lang="en-GB" sz="1400" dirty="0"/>
              <a:t>Finally, I made the player object, but it will not have a sprite; it will function as a way for enemies to interact with the player and for the cameras to function.</a:t>
            </a:r>
          </a:p>
          <a:p>
            <a:endParaRPr lang="en-GB" sz="1400" dirty="0"/>
          </a:p>
          <a:p>
            <a:r>
              <a:rPr lang="en-GB" sz="1400" dirty="0"/>
              <a:t>I was unable to do sounds due to certain events that occurred between this session and the last one.</a:t>
            </a:r>
            <a:endParaRPr lang="en-GB" sz="1600" dirty="0"/>
          </a:p>
        </p:txBody>
      </p:sp>
      <p:sp>
        <p:nvSpPr>
          <p:cNvPr id="6" name="TextBox 5">
            <a:extLst>
              <a:ext uri="{FF2B5EF4-FFF2-40B4-BE49-F238E27FC236}">
                <a16:creationId xmlns:a16="http://schemas.microsoft.com/office/drawing/2014/main" id="{525691B3-5070-833F-136D-FE02B5A0A477}"/>
              </a:ext>
            </a:extLst>
          </p:cNvPr>
          <p:cNvSpPr txBox="1"/>
          <p:nvPr/>
        </p:nvSpPr>
        <p:spPr>
          <a:xfrm>
            <a:off x="9642445" y="54237"/>
            <a:ext cx="2438400" cy="618630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for next session</a:t>
            </a:r>
          </a:p>
          <a:p>
            <a:endParaRPr lang="en-GB" sz="1200" dirty="0"/>
          </a:p>
          <a:p>
            <a:r>
              <a:rPr lang="en-GB" sz="1200" dirty="0"/>
              <a:t>Get Cameras fully functioning.</a:t>
            </a:r>
          </a:p>
          <a:p>
            <a:endParaRPr lang="en-GB" sz="1200" dirty="0"/>
          </a:p>
          <a:p>
            <a:r>
              <a:rPr lang="en-GB" sz="1200" dirty="0"/>
              <a:t>Start gathering SFX for the game and soundtracks.</a:t>
            </a:r>
          </a:p>
          <a:p>
            <a:endParaRPr lang="en-GB" sz="1200" dirty="0"/>
          </a:p>
          <a:p>
            <a:r>
              <a:rPr lang="en-GB" sz="1200" dirty="0"/>
              <a:t>Research more into enemy AI.</a:t>
            </a:r>
          </a:p>
          <a:p>
            <a:endParaRPr lang="en-GB" sz="1200" dirty="0"/>
          </a:p>
          <a:p>
            <a:r>
              <a:rPr lang="en-GB" sz="1200" dirty="0"/>
              <a:t>Create draft for AMCD 00  Prototype design.</a:t>
            </a:r>
          </a:p>
          <a:p>
            <a:endParaRPr lang="en-GB" sz="1200" dirty="0"/>
          </a:p>
          <a:p>
            <a:r>
              <a:rPr lang="en-GB" sz="1200" dirty="0"/>
              <a:t>Create table for how the enemies will behave which room they’ll appear and how they interact with the player.</a:t>
            </a:r>
          </a:p>
          <a:p>
            <a:endParaRPr lang="en-GB" sz="1200" dirty="0"/>
          </a:p>
          <a:p>
            <a:r>
              <a:rPr lang="en-GB" sz="1200" b="1" dirty="0"/>
              <a:t>Key goal: Play/research games like Critical Failure to analyse how they function and how they were developed. Example games: Five Nights at Freddys, Sinking Iron, Slenderman, Baldi basics and many other indie horror games that follow Critical Failures Gameplay style.</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p:txBody>
      </p:sp>
      <p:pic>
        <p:nvPicPr>
          <p:cNvPr id="7" name="Picture 6">
            <a:extLst>
              <a:ext uri="{FF2B5EF4-FFF2-40B4-BE49-F238E27FC236}">
                <a16:creationId xmlns:a16="http://schemas.microsoft.com/office/drawing/2014/main" id="{F3CF97BA-F2A0-9A19-1F64-8E66ECE37B83}"/>
              </a:ext>
            </a:extLst>
          </p:cNvPr>
          <p:cNvPicPr>
            <a:picLocks noChangeAspect="1"/>
          </p:cNvPicPr>
          <p:nvPr/>
        </p:nvPicPr>
        <p:blipFill>
          <a:blip r:embed="rId2"/>
          <a:stretch>
            <a:fillRect/>
          </a:stretch>
        </p:blipFill>
        <p:spPr>
          <a:xfrm>
            <a:off x="111155" y="90120"/>
            <a:ext cx="1476581" cy="3762900"/>
          </a:xfrm>
          <a:prstGeom prst="rect">
            <a:avLst/>
          </a:prstGeom>
        </p:spPr>
      </p:pic>
      <p:pic>
        <p:nvPicPr>
          <p:cNvPr id="11" name="Picture 10">
            <a:extLst>
              <a:ext uri="{FF2B5EF4-FFF2-40B4-BE49-F238E27FC236}">
                <a16:creationId xmlns:a16="http://schemas.microsoft.com/office/drawing/2014/main" id="{7375B3BC-4471-1EEA-EBF6-DAB831BB8957}"/>
              </a:ext>
            </a:extLst>
          </p:cNvPr>
          <p:cNvPicPr>
            <a:picLocks noChangeAspect="1"/>
          </p:cNvPicPr>
          <p:nvPr/>
        </p:nvPicPr>
        <p:blipFill>
          <a:blip r:embed="rId3"/>
          <a:stretch>
            <a:fillRect/>
          </a:stretch>
        </p:blipFill>
        <p:spPr>
          <a:xfrm>
            <a:off x="69966" y="3774946"/>
            <a:ext cx="1000265" cy="609685"/>
          </a:xfrm>
          <a:prstGeom prst="rect">
            <a:avLst/>
          </a:prstGeom>
        </p:spPr>
      </p:pic>
      <p:pic>
        <p:nvPicPr>
          <p:cNvPr id="14" name="Picture 13">
            <a:extLst>
              <a:ext uri="{FF2B5EF4-FFF2-40B4-BE49-F238E27FC236}">
                <a16:creationId xmlns:a16="http://schemas.microsoft.com/office/drawing/2014/main" id="{4BF3402E-D74E-3774-562F-54BE4BAE8694}"/>
              </a:ext>
            </a:extLst>
          </p:cNvPr>
          <p:cNvPicPr>
            <a:picLocks noChangeAspect="1"/>
          </p:cNvPicPr>
          <p:nvPr/>
        </p:nvPicPr>
        <p:blipFill>
          <a:blip r:embed="rId4"/>
          <a:stretch>
            <a:fillRect/>
          </a:stretch>
        </p:blipFill>
        <p:spPr>
          <a:xfrm>
            <a:off x="1658061" y="2314517"/>
            <a:ext cx="1457528" cy="733527"/>
          </a:xfrm>
          <a:prstGeom prst="rect">
            <a:avLst/>
          </a:prstGeom>
        </p:spPr>
      </p:pic>
      <p:pic>
        <p:nvPicPr>
          <p:cNvPr id="16" name="Picture 15">
            <a:extLst>
              <a:ext uri="{FF2B5EF4-FFF2-40B4-BE49-F238E27FC236}">
                <a16:creationId xmlns:a16="http://schemas.microsoft.com/office/drawing/2014/main" id="{A5C0A0A8-1501-BE77-3257-4F78051B82A0}"/>
              </a:ext>
            </a:extLst>
          </p:cNvPr>
          <p:cNvPicPr>
            <a:picLocks noChangeAspect="1"/>
          </p:cNvPicPr>
          <p:nvPr/>
        </p:nvPicPr>
        <p:blipFill>
          <a:blip r:embed="rId5"/>
          <a:stretch>
            <a:fillRect/>
          </a:stretch>
        </p:blipFill>
        <p:spPr>
          <a:xfrm>
            <a:off x="1658061" y="90120"/>
            <a:ext cx="3841493" cy="2167578"/>
          </a:xfrm>
          <a:prstGeom prst="rect">
            <a:avLst/>
          </a:prstGeom>
        </p:spPr>
      </p:pic>
      <p:pic>
        <p:nvPicPr>
          <p:cNvPr id="18" name="Picture 17">
            <a:extLst>
              <a:ext uri="{FF2B5EF4-FFF2-40B4-BE49-F238E27FC236}">
                <a16:creationId xmlns:a16="http://schemas.microsoft.com/office/drawing/2014/main" id="{05FF2020-AF09-2E53-6D54-A0F84F4BD320}"/>
              </a:ext>
            </a:extLst>
          </p:cNvPr>
          <p:cNvPicPr>
            <a:picLocks noChangeAspect="1"/>
          </p:cNvPicPr>
          <p:nvPr/>
        </p:nvPicPr>
        <p:blipFill>
          <a:blip r:embed="rId6"/>
          <a:stretch>
            <a:fillRect/>
          </a:stretch>
        </p:blipFill>
        <p:spPr>
          <a:xfrm>
            <a:off x="1094944" y="3897169"/>
            <a:ext cx="4525006" cy="866896"/>
          </a:xfrm>
          <a:prstGeom prst="rect">
            <a:avLst/>
          </a:prstGeom>
        </p:spPr>
      </p:pic>
      <p:pic>
        <p:nvPicPr>
          <p:cNvPr id="20" name="Picture 19">
            <a:extLst>
              <a:ext uri="{FF2B5EF4-FFF2-40B4-BE49-F238E27FC236}">
                <a16:creationId xmlns:a16="http://schemas.microsoft.com/office/drawing/2014/main" id="{A83EC13A-93A9-7B37-32B0-2C4521CAACE5}"/>
              </a:ext>
            </a:extLst>
          </p:cNvPr>
          <p:cNvPicPr>
            <a:picLocks noChangeAspect="1"/>
          </p:cNvPicPr>
          <p:nvPr/>
        </p:nvPicPr>
        <p:blipFill>
          <a:blip r:embed="rId7"/>
          <a:srcRect t="16360" r="10476" b="33031"/>
          <a:stretch>
            <a:fillRect/>
          </a:stretch>
        </p:blipFill>
        <p:spPr>
          <a:xfrm>
            <a:off x="118619" y="4808214"/>
            <a:ext cx="3778074" cy="1031747"/>
          </a:xfrm>
          <a:prstGeom prst="rect">
            <a:avLst/>
          </a:prstGeom>
        </p:spPr>
      </p:pic>
      <p:pic>
        <p:nvPicPr>
          <p:cNvPr id="22" name="Picture 21">
            <a:extLst>
              <a:ext uri="{FF2B5EF4-FFF2-40B4-BE49-F238E27FC236}">
                <a16:creationId xmlns:a16="http://schemas.microsoft.com/office/drawing/2014/main" id="{4B7E2811-A0DE-AB20-9624-39B1D71E48C0}"/>
              </a:ext>
            </a:extLst>
          </p:cNvPr>
          <p:cNvPicPr>
            <a:picLocks noChangeAspect="1"/>
          </p:cNvPicPr>
          <p:nvPr/>
        </p:nvPicPr>
        <p:blipFill>
          <a:blip r:embed="rId8"/>
          <a:stretch>
            <a:fillRect/>
          </a:stretch>
        </p:blipFill>
        <p:spPr>
          <a:xfrm>
            <a:off x="17205" y="5884110"/>
            <a:ext cx="5210902" cy="962159"/>
          </a:xfrm>
          <a:prstGeom prst="rect">
            <a:avLst/>
          </a:prstGeom>
        </p:spPr>
      </p:pic>
    </p:spTree>
    <p:extLst>
      <p:ext uri="{BB962C8B-B14F-4D97-AF65-F5344CB8AC3E}">
        <p14:creationId xmlns:p14="http://schemas.microsoft.com/office/powerpoint/2010/main" val="3722388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62DB-3EC3-3B41-03C8-0A1E51E326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1C257E-74C8-A3AC-8D69-29E9A23F0848}"/>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12/12/2025</a:t>
            </a:r>
          </a:p>
        </p:txBody>
      </p:sp>
      <p:sp>
        <p:nvSpPr>
          <p:cNvPr id="2" name="TextBox 1">
            <a:extLst>
              <a:ext uri="{FF2B5EF4-FFF2-40B4-BE49-F238E27FC236}">
                <a16:creationId xmlns:a16="http://schemas.microsoft.com/office/drawing/2014/main" id="{902949C2-E2B9-D83D-8899-C29A3FA172F8}"/>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V.0.3</a:t>
            </a:r>
          </a:p>
        </p:txBody>
      </p:sp>
      <p:sp>
        <p:nvSpPr>
          <p:cNvPr id="3" name="TextBox 2">
            <a:extLst>
              <a:ext uri="{FF2B5EF4-FFF2-40B4-BE49-F238E27FC236}">
                <a16:creationId xmlns:a16="http://schemas.microsoft.com/office/drawing/2014/main" id="{9E000D2B-0307-02E8-BECB-1750F323F22B}"/>
              </a:ext>
            </a:extLst>
          </p:cNvPr>
          <p:cNvSpPr txBox="1"/>
          <p:nvPr/>
        </p:nvSpPr>
        <p:spPr>
          <a:xfrm>
            <a:off x="5642854" y="578678"/>
            <a:ext cx="3926490" cy="181588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Cameras are now fully function, with them correctly going to their respective zones as well as the camera Hud.</a:t>
            </a:r>
          </a:p>
          <a:p>
            <a:endParaRPr lang="en-GB" sz="1600" dirty="0"/>
          </a:p>
          <a:p>
            <a:r>
              <a:rPr lang="en-GB" sz="1600" dirty="0"/>
              <a:t>I have made up close vent/door buttons in addition to the vents actual sprite which is a landscaped version of the doors.</a:t>
            </a:r>
          </a:p>
        </p:txBody>
      </p:sp>
      <p:sp>
        <p:nvSpPr>
          <p:cNvPr id="6" name="TextBox 5">
            <a:extLst>
              <a:ext uri="{FF2B5EF4-FFF2-40B4-BE49-F238E27FC236}">
                <a16:creationId xmlns:a16="http://schemas.microsoft.com/office/drawing/2014/main" id="{525691B3-5070-833F-136D-FE02B5A0A477}"/>
              </a:ext>
            </a:extLst>
          </p:cNvPr>
          <p:cNvSpPr txBox="1"/>
          <p:nvPr/>
        </p:nvSpPr>
        <p:spPr>
          <a:xfrm>
            <a:off x="9642445" y="54237"/>
            <a:ext cx="2438400" cy="267765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next Session.</a:t>
            </a:r>
          </a:p>
          <a:p>
            <a:endParaRPr lang="en-GB" sz="1200" dirty="0"/>
          </a:p>
          <a:p>
            <a:r>
              <a:rPr lang="en-GB" sz="1200" dirty="0"/>
              <a:t>Create SFX and add Soundtrack.</a:t>
            </a:r>
          </a:p>
          <a:p>
            <a:endParaRPr lang="en-GB" sz="1200" dirty="0"/>
          </a:p>
          <a:p>
            <a:r>
              <a:rPr lang="en-GB" sz="1200" dirty="0"/>
              <a:t>Design the Prototype.</a:t>
            </a:r>
          </a:p>
          <a:p>
            <a:endParaRPr lang="en-GB" sz="1200" dirty="0"/>
          </a:p>
          <a:p>
            <a:r>
              <a:rPr lang="en-GB" sz="1200" dirty="0"/>
              <a:t>Finish Oxygen System.</a:t>
            </a:r>
          </a:p>
          <a:p>
            <a:endParaRPr lang="en-GB" sz="1200" dirty="0"/>
          </a:p>
          <a:p>
            <a:r>
              <a:rPr lang="en-GB" sz="1200" dirty="0"/>
              <a:t>Have Doors open and close.</a:t>
            </a:r>
          </a:p>
          <a:p>
            <a:endParaRPr lang="en-GB" sz="1200" dirty="0"/>
          </a:p>
          <a:p>
            <a:endParaRPr lang="en-GB" sz="1200" dirty="0"/>
          </a:p>
          <a:p>
            <a:endParaRPr lang="en-GB" sz="1200" dirty="0"/>
          </a:p>
          <a:p>
            <a:endParaRPr lang="en-GB" sz="1200" dirty="0"/>
          </a:p>
          <a:p>
            <a:endParaRPr lang="en-GB" sz="1200" dirty="0"/>
          </a:p>
        </p:txBody>
      </p:sp>
      <p:pic>
        <p:nvPicPr>
          <p:cNvPr id="8" name="Picture 7">
            <a:extLst>
              <a:ext uri="{FF2B5EF4-FFF2-40B4-BE49-F238E27FC236}">
                <a16:creationId xmlns:a16="http://schemas.microsoft.com/office/drawing/2014/main" id="{56107CA3-D414-0D54-F60B-B2C50A404372}"/>
              </a:ext>
            </a:extLst>
          </p:cNvPr>
          <p:cNvPicPr>
            <a:picLocks noChangeAspect="1"/>
          </p:cNvPicPr>
          <p:nvPr/>
        </p:nvPicPr>
        <p:blipFill>
          <a:blip r:embed="rId2"/>
          <a:stretch>
            <a:fillRect/>
          </a:stretch>
        </p:blipFill>
        <p:spPr>
          <a:xfrm>
            <a:off x="111155" y="54237"/>
            <a:ext cx="3715268" cy="5058481"/>
          </a:xfrm>
          <a:prstGeom prst="rect">
            <a:avLst/>
          </a:prstGeom>
        </p:spPr>
      </p:pic>
    </p:spTree>
    <p:extLst>
      <p:ext uri="{BB962C8B-B14F-4D97-AF65-F5344CB8AC3E}">
        <p14:creationId xmlns:p14="http://schemas.microsoft.com/office/powerpoint/2010/main" val="1932514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0216D-2704-359E-7582-D564D71C50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E41B7D-1D49-BBC1-E509-8842E48766DA}"/>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12/12/2025</a:t>
            </a:r>
          </a:p>
        </p:txBody>
      </p:sp>
      <p:sp>
        <p:nvSpPr>
          <p:cNvPr id="2" name="TextBox 1">
            <a:extLst>
              <a:ext uri="{FF2B5EF4-FFF2-40B4-BE49-F238E27FC236}">
                <a16:creationId xmlns:a16="http://schemas.microsoft.com/office/drawing/2014/main" id="{8D8DDF84-E15F-9A36-A07B-DEB54B86143F}"/>
              </a:ext>
            </a:extLst>
          </p:cNvPr>
          <p:cNvSpPr txBox="1"/>
          <p:nvPr/>
        </p:nvSpPr>
        <p:spPr>
          <a:xfrm>
            <a:off x="5651845" y="90120"/>
            <a:ext cx="195985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V.0.4</a:t>
            </a:r>
          </a:p>
        </p:txBody>
      </p:sp>
      <p:sp>
        <p:nvSpPr>
          <p:cNvPr id="3" name="TextBox 2">
            <a:extLst>
              <a:ext uri="{FF2B5EF4-FFF2-40B4-BE49-F238E27FC236}">
                <a16:creationId xmlns:a16="http://schemas.microsoft.com/office/drawing/2014/main" id="{F569AE5E-9CE7-F792-1ECA-C3CD4DAFE42C}"/>
              </a:ext>
            </a:extLst>
          </p:cNvPr>
          <p:cNvSpPr txBox="1"/>
          <p:nvPr/>
        </p:nvSpPr>
        <p:spPr>
          <a:xfrm>
            <a:off x="5642854" y="578678"/>
            <a:ext cx="3926490" cy="501675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In this session I completed in create the door/vent oxygen mechanic where when doors/vents are open oxygen increases and when doors/vents are closed oxygen decreases. In addition, the door mechanic was also completed and the doors/vents in both the up-close scenes and the main view open/close when the player presses the door/vent button. When ,ore doors/vents are closed the oxygens decent increases and the same works the other way around.</a:t>
            </a:r>
          </a:p>
          <a:p>
            <a:endParaRPr lang="en-GB" sz="1600" dirty="0"/>
          </a:p>
          <a:p>
            <a:r>
              <a:rPr lang="en-GB" sz="1600" dirty="0"/>
              <a:t>There is also a fill bar, displaying the oxygens percentage.</a:t>
            </a:r>
          </a:p>
          <a:p>
            <a:endParaRPr lang="en-GB" sz="1600" dirty="0"/>
          </a:p>
          <a:p>
            <a:r>
              <a:rPr lang="en-GB" sz="1600" dirty="0"/>
              <a:t>I also created a warning system for when oxygen is low and an animated sprite flashes red in GUI Draw.</a:t>
            </a:r>
          </a:p>
          <a:p>
            <a:endParaRPr lang="en-GB" sz="1600" dirty="0"/>
          </a:p>
        </p:txBody>
      </p:sp>
      <p:sp>
        <p:nvSpPr>
          <p:cNvPr id="6" name="TextBox 5">
            <a:extLst>
              <a:ext uri="{FF2B5EF4-FFF2-40B4-BE49-F238E27FC236}">
                <a16:creationId xmlns:a16="http://schemas.microsoft.com/office/drawing/2014/main" id="{9AF3946E-61EB-6EE6-C810-2D62B4C1B989}"/>
              </a:ext>
            </a:extLst>
          </p:cNvPr>
          <p:cNvSpPr txBox="1"/>
          <p:nvPr/>
        </p:nvSpPr>
        <p:spPr>
          <a:xfrm>
            <a:off x="9642445" y="54237"/>
            <a:ext cx="2438400" cy="34163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next Session.</a:t>
            </a:r>
          </a:p>
          <a:p>
            <a:endParaRPr lang="en-GB" sz="1200" dirty="0"/>
          </a:p>
          <a:p>
            <a:r>
              <a:rPr lang="en-GB" sz="1200" dirty="0"/>
              <a:t>Plan Enemy Movement for all enemies.</a:t>
            </a:r>
          </a:p>
          <a:p>
            <a:endParaRPr lang="en-GB" sz="1200" dirty="0"/>
          </a:p>
          <a:p>
            <a:r>
              <a:rPr lang="en-GB" sz="1200" dirty="0"/>
              <a:t>Create 2 of the enemy AI’s</a:t>
            </a:r>
          </a:p>
          <a:p>
            <a:endParaRPr lang="en-GB" sz="1200" dirty="0"/>
          </a:p>
          <a:p>
            <a:r>
              <a:rPr lang="en-GB" sz="1200" dirty="0"/>
              <a:t>Finish Prototype design</a:t>
            </a:r>
          </a:p>
          <a:p>
            <a:endParaRPr lang="en-GB" sz="1200" dirty="0"/>
          </a:p>
          <a:p>
            <a:r>
              <a:rPr lang="en-GB" sz="1200" dirty="0"/>
              <a:t>Refine enemy sprite design</a:t>
            </a:r>
          </a:p>
          <a:p>
            <a:endParaRPr lang="en-GB" sz="1200" dirty="0"/>
          </a:p>
          <a:p>
            <a:r>
              <a:rPr lang="en-GB" sz="1200" dirty="0"/>
              <a:t>Adjust code for longer gameplay</a:t>
            </a:r>
          </a:p>
          <a:p>
            <a:endParaRPr lang="en-GB" sz="1200" dirty="0"/>
          </a:p>
          <a:p>
            <a:endParaRPr lang="en-GB" sz="1200" dirty="0"/>
          </a:p>
          <a:p>
            <a:endParaRPr lang="en-GB" sz="1200" dirty="0"/>
          </a:p>
          <a:p>
            <a:endParaRPr lang="en-GB" sz="1200" dirty="0"/>
          </a:p>
          <a:p>
            <a:endParaRPr lang="en-GB" sz="1200" dirty="0"/>
          </a:p>
          <a:p>
            <a:endParaRPr lang="en-GB" sz="1200" dirty="0"/>
          </a:p>
        </p:txBody>
      </p:sp>
      <p:pic>
        <p:nvPicPr>
          <p:cNvPr id="7" name="Picture 6" descr="A screenshot of a video game&#10;&#10;AI-generated content may be incorrect.">
            <a:extLst>
              <a:ext uri="{FF2B5EF4-FFF2-40B4-BE49-F238E27FC236}">
                <a16:creationId xmlns:a16="http://schemas.microsoft.com/office/drawing/2014/main" id="{11A2BEDF-F7E2-9671-3395-25B4B861E9D4}"/>
              </a:ext>
            </a:extLst>
          </p:cNvPr>
          <p:cNvPicPr>
            <a:picLocks noChangeAspect="1"/>
          </p:cNvPicPr>
          <p:nvPr/>
        </p:nvPicPr>
        <p:blipFill>
          <a:blip r:embed="rId2"/>
          <a:stretch>
            <a:fillRect/>
          </a:stretch>
        </p:blipFill>
        <p:spPr>
          <a:xfrm>
            <a:off x="0" y="54237"/>
            <a:ext cx="2443092" cy="2197731"/>
          </a:xfrm>
          <a:prstGeom prst="rect">
            <a:avLst/>
          </a:prstGeom>
        </p:spPr>
      </p:pic>
      <p:pic>
        <p:nvPicPr>
          <p:cNvPr id="9" name="Picture 8" descr="A red circle with black text&#10;&#10;AI-generated content may be incorrect.">
            <a:extLst>
              <a:ext uri="{FF2B5EF4-FFF2-40B4-BE49-F238E27FC236}">
                <a16:creationId xmlns:a16="http://schemas.microsoft.com/office/drawing/2014/main" id="{E97A4350-D8B7-8A50-0F1A-296F2142589C}"/>
              </a:ext>
            </a:extLst>
          </p:cNvPr>
          <p:cNvPicPr>
            <a:picLocks noChangeAspect="1"/>
          </p:cNvPicPr>
          <p:nvPr/>
        </p:nvPicPr>
        <p:blipFill>
          <a:blip r:embed="rId3"/>
          <a:stretch>
            <a:fillRect/>
          </a:stretch>
        </p:blipFill>
        <p:spPr>
          <a:xfrm>
            <a:off x="2506037" y="117872"/>
            <a:ext cx="3060671" cy="1736981"/>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D4BFA7E8-88D9-CAAA-2269-5C3345D7AC49}"/>
              </a:ext>
            </a:extLst>
          </p:cNvPr>
          <p:cNvPicPr>
            <a:picLocks noChangeAspect="1"/>
          </p:cNvPicPr>
          <p:nvPr/>
        </p:nvPicPr>
        <p:blipFill>
          <a:blip r:embed="rId4"/>
          <a:stretch>
            <a:fillRect/>
          </a:stretch>
        </p:blipFill>
        <p:spPr>
          <a:xfrm>
            <a:off x="-36501" y="2224987"/>
            <a:ext cx="2954202" cy="2778160"/>
          </a:xfrm>
          <a:prstGeom prst="rect">
            <a:avLst/>
          </a:prstGeom>
        </p:spPr>
      </p:pic>
      <p:pic>
        <p:nvPicPr>
          <p:cNvPr id="13" name="Picture 12" descr="A screen shot of a computer program&#10;&#10;AI-generated content may be incorrect.">
            <a:extLst>
              <a:ext uri="{FF2B5EF4-FFF2-40B4-BE49-F238E27FC236}">
                <a16:creationId xmlns:a16="http://schemas.microsoft.com/office/drawing/2014/main" id="{0DCDF415-8664-901D-5A02-3FE377795EF9}"/>
              </a:ext>
            </a:extLst>
          </p:cNvPr>
          <p:cNvPicPr>
            <a:picLocks noChangeAspect="1"/>
          </p:cNvPicPr>
          <p:nvPr/>
        </p:nvPicPr>
        <p:blipFill>
          <a:blip r:embed="rId5"/>
          <a:stretch>
            <a:fillRect/>
          </a:stretch>
        </p:blipFill>
        <p:spPr>
          <a:xfrm>
            <a:off x="2718755" y="2224987"/>
            <a:ext cx="2805553" cy="2618862"/>
          </a:xfrm>
          <a:prstGeom prst="rect">
            <a:avLst/>
          </a:prstGeom>
        </p:spPr>
      </p:pic>
      <p:pic>
        <p:nvPicPr>
          <p:cNvPr id="15" name="Picture 14" descr="A screen shot of a computer&#10;&#10;AI-generated content may be incorrect.">
            <a:extLst>
              <a:ext uri="{FF2B5EF4-FFF2-40B4-BE49-F238E27FC236}">
                <a16:creationId xmlns:a16="http://schemas.microsoft.com/office/drawing/2014/main" id="{36C436FB-F3BC-DDE3-2D15-CB8734E26E86}"/>
              </a:ext>
            </a:extLst>
          </p:cNvPr>
          <p:cNvPicPr>
            <a:picLocks noChangeAspect="1"/>
          </p:cNvPicPr>
          <p:nvPr/>
        </p:nvPicPr>
        <p:blipFill>
          <a:blip r:embed="rId6"/>
          <a:stretch>
            <a:fillRect/>
          </a:stretch>
        </p:blipFill>
        <p:spPr>
          <a:xfrm>
            <a:off x="-36501" y="4988731"/>
            <a:ext cx="4572638" cy="1219370"/>
          </a:xfrm>
          <a:prstGeom prst="rect">
            <a:avLst/>
          </a:prstGeom>
        </p:spPr>
      </p:pic>
    </p:spTree>
    <p:extLst>
      <p:ext uri="{BB962C8B-B14F-4D97-AF65-F5344CB8AC3E}">
        <p14:creationId xmlns:p14="http://schemas.microsoft.com/office/powerpoint/2010/main" val="356087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9CAC-F4D4-0940-FD27-353304D96C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781D27-824A-B9B2-192E-BE7A377EF487}"/>
              </a:ext>
            </a:extLst>
          </p:cNvPr>
          <p:cNvSpPr txBox="1"/>
          <p:nvPr/>
        </p:nvSpPr>
        <p:spPr>
          <a:xfrm>
            <a:off x="7763992" y="90121"/>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08/01/2026</a:t>
            </a:r>
          </a:p>
        </p:txBody>
      </p:sp>
      <p:sp>
        <p:nvSpPr>
          <p:cNvPr id="2" name="TextBox 1">
            <a:extLst>
              <a:ext uri="{FF2B5EF4-FFF2-40B4-BE49-F238E27FC236}">
                <a16:creationId xmlns:a16="http://schemas.microsoft.com/office/drawing/2014/main" id="{ACDF04B8-2A1D-DF20-1601-5FE531257554}"/>
              </a:ext>
            </a:extLst>
          </p:cNvPr>
          <p:cNvSpPr txBox="1"/>
          <p:nvPr/>
        </p:nvSpPr>
        <p:spPr>
          <a:xfrm>
            <a:off x="5651844" y="90120"/>
            <a:ext cx="2112147" cy="5847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V.0.4.7.5/V.0.5</a:t>
            </a:r>
          </a:p>
        </p:txBody>
      </p:sp>
      <p:sp>
        <p:nvSpPr>
          <p:cNvPr id="3" name="TextBox 2">
            <a:extLst>
              <a:ext uri="{FF2B5EF4-FFF2-40B4-BE49-F238E27FC236}">
                <a16:creationId xmlns:a16="http://schemas.microsoft.com/office/drawing/2014/main" id="{9CE445F5-21C3-AB0E-1B29-D1424BE214D4}"/>
              </a:ext>
            </a:extLst>
          </p:cNvPr>
          <p:cNvSpPr txBox="1"/>
          <p:nvPr/>
        </p:nvSpPr>
        <p:spPr>
          <a:xfrm>
            <a:off x="151043" y="143238"/>
            <a:ext cx="5136348" cy="421653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Unfortunately, due to mistakes and not having functional code Critical Failure V0.4.7.5 is officially a failed version of my game. To go into more detail, I was following an online guide for a specific piece of code, however I mistakenly forgot to save a version of the game with the original code, so when I altered it and made some deletions, I couldn't get my old code back. So, I decided to refresh and re-attempt it.</a:t>
            </a:r>
          </a:p>
          <a:p>
            <a:endParaRPr lang="en-GB" sz="1400" dirty="0"/>
          </a:p>
          <a:p>
            <a:r>
              <a:rPr lang="en-GB" sz="1400" dirty="0"/>
              <a:t>However, learning from mistakes form that version I made Critical Failure V.0.5. From here I re-designed the enemy movement code and was able to get a good start in creating the enemy's foundation.</a:t>
            </a:r>
          </a:p>
          <a:p>
            <a:endParaRPr lang="en-GB" sz="1400" dirty="0"/>
          </a:p>
          <a:p>
            <a:r>
              <a:rPr lang="en-GB" sz="1400" dirty="0"/>
              <a:t>I started by making an enemy parent which will give the enemies the information needed to know what zone they are in, where to move to and time taken to move. I also kept each enemy object in the game and within their code, they will be uniquely different from each other in terms of behaviour and movement.</a:t>
            </a:r>
          </a:p>
          <a:p>
            <a:endParaRPr lang="en-GB" sz="1600" dirty="0"/>
          </a:p>
        </p:txBody>
      </p:sp>
      <p:sp>
        <p:nvSpPr>
          <p:cNvPr id="6" name="TextBox 5">
            <a:extLst>
              <a:ext uri="{FF2B5EF4-FFF2-40B4-BE49-F238E27FC236}">
                <a16:creationId xmlns:a16="http://schemas.microsoft.com/office/drawing/2014/main" id="{C3081297-77F1-D156-87AE-D1CA434C11BC}"/>
              </a:ext>
            </a:extLst>
          </p:cNvPr>
          <p:cNvSpPr txBox="1"/>
          <p:nvPr/>
        </p:nvSpPr>
        <p:spPr>
          <a:xfrm>
            <a:off x="5725298" y="976875"/>
            <a:ext cx="6153663" cy="360098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next Session. V.0.5.1</a:t>
            </a:r>
          </a:p>
          <a:p>
            <a:endParaRPr lang="en-GB" sz="1200" dirty="0"/>
          </a:p>
          <a:p>
            <a:endParaRPr lang="en-GB" sz="1200" dirty="0"/>
          </a:p>
          <a:p>
            <a:endParaRPr lang="en-GB" sz="1200" dirty="0"/>
          </a:p>
          <a:p>
            <a:r>
              <a:rPr lang="en-GB" sz="1200" b="1" dirty="0"/>
              <a:t>Due timing, enemy movement code is to be made in Critical Failure’s next version.</a:t>
            </a:r>
          </a:p>
          <a:p>
            <a:endParaRPr lang="en-GB" sz="1200" dirty="0"/>
          </a:p>
          <a:p>
            <a:r>
              <a:rPr lang="en-GB" sz="1200" dirty="0"/>
              <a:t>Make Each enemy Independent. A parent was used  for their movement, but I want to have the enemies be independent of a parent. In the next version I will attempt to make the enemies not reliant on the controller for movement and only to communicate their location to the camera controller.</a:t>
            </a:r>
          </a:p>
          <a:p>
            <a:endParaRPr lang="en-GB" sz="1200" dirty="0"/>
          </a:p>
          <a:p>
            <a:r>
              <a:rPr lang="en-GB" sz="1200" dirty="0"/>
              <a:t>lay a foundation for the code for my enemies to act and move the  way I want them to. As the game is, the enemies are moving but only through code not physically within the room. In addition, their movement isn’t organised and they cannot attack zone 0 the main office.</a:t>
            </a:r>
          </a:p>
          <a:p>
            <a:endParaRPr lang="en-GB" sz="1200" dirty="0"/>
          </a:p>
          <a:p>
            <a:endParaRPr lang="en-GB" sz="1200" dirty="0"/>
          </a:p>
          <a:p>
            <a:endParaRPr lang="en-GB" sz="1200" dirty="0"/>
          </a:p>
          <a:p>
            <a:endParaRPr lang="en-GB" sz="1200" dirty="0"/>
          </a:p>
          <a:p>
            <a:endParaRPr lang="en-GB" sz="1200" dirty="0"/>
          </a:p>
        </p:txBody>
      </p:sp>
      <p:pic>
        <p:nvPicPr>
          <p:cNvPr id="9" name="Picture 8" descr="A screen shot of a computer program&#10;&#10;AI-generated content may be incorrect.">
            <a:extLst>
              <a:ext uri="{FF2B5EF4-FFF2-40B4-BE49-F238E27FC236}">
                <a16:creationId xmlns:a16="http://schemas.microsoft.com/office/drawing/2014/main" id="{39C7307B-DFB4-711A-1A28-44581B6D429F}"/>
              </a:ext>
            </a:extLst>
          </p:cNvPr>
          <p:cNvPicPr>
            <a:picLocks noChangeAspect="1"/>
          </p:cNvPicPr>
          <p:nvPr/>
        </p:nvPicPr>
        <p:blipFill>
          <a:blip r:embed="rId2"/>
          <a:stretch>
            <a:fillRect/>
          </a:stretch>
        </p:blipFill>
        <p:spPr>
          <a:xfrm>
            <a:off x="151043" y="4233999"/>
            <a:ext cx="2232135" cy="2302328"/>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F04A0F47-5202-9AB7-6CD4-F88A003AD3BA}"/>
              </a:ext>
            </a:extLst>
          </p:cNvPr>
          <p:cNvPicPr>
            <a:picLocks noChangeAspect="1"/>
          </p:cNvPicPr>
          <p:nvPr/>
        </p:nvPicPr>
        <p:blipFill>
          <a:blip r:embed="rId3"/>
          <a:stretch>
            <a:fillRect/>
          </a:stretch>
        </p:blipFill>
        <p:spPr>
          <a:xfrm>
            <a:off x="2539232" y="4233999"/>
            <a:ext cx="2653101" cy="2480763"/>
          </a:xfrm>
          <a:prstGeom prst="rect">
            <a:avLst/>
          </a:prstGeom>
        </p:spPr>
      </p:pic>
    </p:spTree>
    <p:extLst>
      <p:ext uri="{BB962C8B-B14F-4D97-AF65-F5344CB8AC3E}">
        <p14:creationId xmlns:p14="http://schemas.microsoft.com/office/powerpoint/2010/main" val="119094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5385C-4AC1-EFD6-4BC3-F510F04666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783B4C-A886-40F9-B549-6921F6779920}"/>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10/01/2026</a:t>
            </a:r>
          </a:p>
        </p:txBody>
      </p:sp>
      <p:sp>
        <p:nvSpPr>
          <p:cNvPr id="2" name="TextBox 1">
            <a:extLst>
              <a:ext uri="{FF2B5EF4-FFF2-40B4-BE49-F238E27FC236}">
                <a16:creationId xmlns:a16="http://schemas.microsoft.com/office/drawing/2014/main" id="{FD089D99-A04A-3305-F160-D0142583CD36}"/>
              </a:ext>
            </a:extLst>
          </p:cNvPr>
          <p:cNvSpPr txBox="1"/>
          <p:nvPr/>
        </p:nvSpPr>
        <p:spPr>
          <a:xfrm>
            <a:off x="5651845" y="121250"/>
            <a:ext cx="2112147" cy="5847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V.0.5.1, V0.5.2</a:t>
            </a:r>
          </a:p>
        </p:txBody>
      </p:sp>
      <p:sp>
        <p:nvSpPr>
          <p:cNvPr id="3" name="TextBox 2">
            <a:extLst>
              <a:ext uri="{FF2B5EF4-FFF2-40B4-BE49-F238E27FC236}">
                <a16:creationId xmlns:a16="http://schemas.microsoft.com/office/drawing/2014/main" id="{F2517612-01E7-BAF9-09FE-13F78E659030}"/>
              </a:ext>
            </a:extLst>
          </p:cNvPr>
          <p:cNvSpPr txBox="1"/>
          <p:nvPr/>
        </p:nvSpPr>
        <p:spPr>
          <a:xfrm>
            <a:off x="-1" y="167417"/>
            <a:ext cx="5521217" cy="504753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The enemies now successfully move independently, and the enemy parent is no more.</a:t>
            </a:r>
          </a:p>
          <a:p>
            <a:endParaRPr lang="en-GB" sz="1400" dirty="0"/>
          </a:p>
          <a:p>
            <a:r>
              <a:rPr lang="en-GB" sz="1400" dirty="0"/>
              <a:t>The reason for showing build V.0.5.2 is because for safety reasons build V.0.5.1 which as the current enemy parent will have the parent safely removed in build V.0.5.2 to ensure the enemies are 100% independent in both their movement and behaviour. It’s also to ensure that if removing the parent causes issues, I can fall back to build V.0.5.1 for a re-attempt. This is learning from build V.0.4.7.5.</a:t>
            </a:r>
          </a:p>
          <a:p>
            <a:endParaRPr lang="en-GB" sz="1400" dirty="0"/>
          </a:p>
          <a:p>
            <a:r>
              <a:rPr lang="en-GB" sz="1400" dirty="0"/>
              <a:t>I used the word ‘enemy’ as a placeholder for my code, but now to stick with the game, all code containing the word enemy will be replaced by ‘</a:t>
            </a:r>
            <a:r>
              <a:rPr lang="en-GB" sz="1400" dirty="0" err="1"/>
              <a:t>amcd</a:t>
            </a:r>
            <a:r>
              <a:rPr lang="en-GB" sz="1400" dirty="0"/>
              <a:t>’. This will not disrupt any code and will just be changing the variables names. This just makes it easier for me to remember the variables names.</a:t>
            </a:r>
          </a:p>
          <a:p>
            <a:endParaRPr lang="en-GB" sz="1400" dirty="0"/>
          </a:p>
          <a:p>
            <a:r>
              <a:rPr lang="en-GB" sz="1400" dirty="0"/>
              <a:t>I have also added office/zone 0 into the enemies’ movement.</a:t>
            </a:r>
          </a:p>
          <a:p>
            <a:endParaRPr lang="en-GB" sz="1400" dirty="0"/>
          </a:p>
          <a:p>
            <a:r>
              <a:rPr lang="en-GB" sz="1400" dirty="0"/>
              <a:t>The way the scripts work for enemies is like this. The script for enemy movement syncs with the camera controller into identifying where the enemy is and this will help with the </a:t>
            </a:r>
            <a:r>
              <a:rPr lang="en-GB" sz="1400" dirty="0" err="1"/>
              <a:t>is_watched</a:t>
            </a:r>
            <a:r>
              <a:rPr lang="en-GB" sz="1400" dirty="0"/>
              <a:t> section. Script </a:t>
            </a:r>
            <a:r>
              <a:rPr lang="en-GB" sz="1400" dirty="0" err="1"/>
              <a:t>amcd</a:t>
            </a:r>
            <a:r>
              <a:rPr lang="en-GB" sz="1400" dirty="0"/>
              <a:t> zone position is used to have the enemies physically move to different zones.</a:t>
            </a:r>
          </a:p>
        </p:txBody>
      </p:sp>
      <p:sp>
        <p:nvSpPr>
          <p:cNvPr id="6" name="TextBox 5">
            <a:extLst>
              <a:ext uri="{FF2B5EF4-FFF2-40B4-BE49-F238E27FC236}">
                <a16:creationId xmlns:a16="http://schemas.microsoft.com/office/drawing/2014/main" id="{F039A6F8-5252-52F2-80E9-E31FE5AC0846}"/>
              </a:ext>
            </a:extLst>
          </p:cNvPr>
          <p:cNvSpPr txBox="1"/>
          <p:nvPr/>
        </p:nvSpPr>
        <p:spPr>
          <a:xfrm>
            <a:off x="9511393" y="559554"/>
            <a:ext cx="2680607" cy="193899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What to do next session</a:t>
            </a:r>
          </a:p>
          <a:p>
            <a:endParaRPr lang="en-GB" sz="1200" dirty="0"/>
          </a:p>
          <a:p>
            <a:r>
              <a:rPr lang="en-GB" sz="1200" dirty="0"/>
              <a:t>Have enemies only go to zone 0 if </a:t>
            </a:r>
            <a:r>
              <a:rPr lang="en-GB" sz="1200" dirty="0" err="1"/>
              <a:t>left_door_open</a:t>
            </a:r>
            <a:r>
              <a:rPr lang="en-GB" sz="1200" dirty="0"/>
              <a:t> or right door state = true.</a:t>
            </a:r>
          </a:p>
          <a:p>
            <a:endParaRPr lang="en-GB" sz="1200" dirty="0"/>
          </a:p>
          <a:p>
            <a:r>
              <a:rPr lang="en-GB" sz="1200" dirty="0"/>
              <a:t>Have enemies not attack before 5 seconds of being </a:t>
            </a:r>
            <a:r>
              <a:rPr lang="en-GB" sz="1200"/>
              <a:t>at an </a:t>
            </a:r>
            <a:r>
              <a:rPr lang="en-GB" sz="1200" dirty="0"/>
              <a:t>open door.</a:t>
            </a:r>
          </a:p>
          <a:p>
            <a:endParaRPr lang="en-GB" sz="1200" dirty="0"/>
          </a:p>
          <a:p>
            <a:endParaRPr lang="en-GB" sz="1200" dirty="0"/>
          </a:p>
        </p:txBody>
      </p:sp>
      <p:pic>
        <p:nvPicPr>
          <p:cNvPr id="7" name="Picture 6" descr="A screenshot of a computer&#10;&#10;AI-generated content may be incorrect.">
            <a:extLst>
              <a:ext uri="{FF2B5EF4-FFF2-40B4-BE49-F238E27FC236}">
                <a16:creationId xmlns:a16="http://schemas.microsoft.com/office/drawing/2014/main" id="{8E5BA216-CC04-F237-15BE-8FC6B51B291E}"/>
              </a:ext>
            </a:extLst>
          </p:cNvPr>
          <p:cNvPicPr>
            <a:picLocks noChangeAspect="1"/>
          </p:cNvPicPr>
          <p:nvPr/>
        </p:nvPicPr>
        <p:blipFill>
          <a:blip r:embed="rId2"/>
          <a:stretch>
            <a:fillRect/>
          </a:stretch>
        </p:blipFill>
        <p:spPr>
          <a:xfrm>
            <a:off x="161751" y="5490265"/>
            <a:ext cx="2495898" cy="1200318"/>
          </a:xfrm>
          <a:prstGeom prst="rect">
            <a:avLst/>
          </a:prstGeom>
        </p:spPr>
      </p:pic>
      <p:pic>
        <p:nvPicPr>
          <p:cNvPr id="8" name="Picture 7" descr="A black screen with orange text&#10;&#10;AI-generated content may be incorrect.">
            <a:extLst>
              <a:ext uri="{FF2B5EF4-FFF2-40B4-BE49-F238E27FC236}">
                <a16:creationId xmlns:a16="http://schemas.microsoft.com/office/drawing/2014/main" id="{EADB4082-A159-5C5A-559F-1972D89E9176}"/>
              </a:ext>
            </a:extLst>
          </p:cNvPr>
          <p:cNvPicPr>
            <a:picLocks noChangeAspect="1"/>
          </p:cNvPicPr>
          <p:nvPr/>
        </p:nvPicPr>
        <p:blipFill>
          <a:blip r:embed="rId3"/>
          <a:stretch>
            <a:fillRect/>
          </a:stretch>
        </p:blipFill>
        <p:spPr>
          <a:xfrm>
            <a:off x="2992568" y="5970091"/>
            <a:ext cx="4639322" cy="600159"/>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0D889BAB-B59F-F22F-5F93-AFB9C0EEA41E}"/>
              </a:ext>
            </a:extLst>
          </p:cNvPr>
          <p:cNvPicPr>
            <a:picLocks noChangeAspect="1"/>
          </p:cNvPicPr>
          <p:nvPr/>
        </p:nvPicPr>
        <p:blipFill>
          <a:blip r:embed="rId4"/>
          <a:stretch>
            <a:fillRect/>
          </a:stretch>
        </p:blipFill>
        <p:spPr>
          <a:xfrm>
            <a:off x="5632957" y="3181064"/>
            <a:ext cx="3997866" cy="2649028"/>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7414E0B5-B1B1-8872-9E1E-A8C52293A9BC}"/>
              </a:ext>
            </a:extLst>
          </p:cNvPr>
          <p:cNvPicPr>
            <a:picLocks noChangeAspect="1"/>
          </p:cNvPicPr>
          <p:nvPr/>
        </p:nvPicPr>
        <p:blipFill>
          <a:blip r:embed="rId5"/>
          <a:stretch>
            <a:fillRect/>
          </a:stretch>
        </p:blipFill>
        <p:spPr>
          <a:xfrm>
            <a:off x="5549446" y="1027908"/>
            <a:ext cx="3471400" cy="2032879"/>
          </a:xfrm>
          <a:prstGeom prst="rect">
            <a:avLst/>
          </a:prstGeom>
        </p:spPr>
      </p:pic>
    </p:spTree>
    <p:extLst>
      <p:ext uri="{BB962C8B-B14F-4D97-AF65-F5344CB8AC3E}">
        <p14:creationId xmlns:p14="http://schemas.microsoft.com/office/powerpoint/2010/main" val="248859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18D07-B83F-4671-D82E-D25B30B699B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1F523C-CF87-CC38-2BCA-B282ECE17B10}"/>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11/01/2026</a:t>
            </a:r>
          </a:p>
        </p:txBody>
      </p:sp>
      <p:sp>
        <p:nvSpPr>
          <p:cNvPr id="2" name="TextBox 1">
            <a:extLst>
              <a:ext uri="{FF2B5EF4-FFF2-40B4-BE49-F238E27FC236}">
                <a16:creationId xmlns:a16="http://schemas.microsoft.com/office/drawing/2014/main" id="{A31C1D47-A3C3-4374-58DA-46639D6A5CF2}"/>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V.0.5.4</a:t>
            </a:r>
          </a:p>
        </p:txBody>
      </p:sp>
      <p:sp>
        <p:nvSpPr>
          <p:cNvPr id="3" name="TextBox 2">
            <a:extLst>
              <a:ext uri="{FF2B5EF4-FFF2-40B4-BE49-F238E27FC236}">
                <a16:creationId xmlns:a16="http://schemas.microsoft.com/office/drawing/2014/main" id="{D72543A6-87FB-A723-FAEC-C3DC0A4D5BE3}"/>
              </a:ext>
            </a:extLst>
          </p:cNvPr>
          <p:cNvSpPr txBox="1"/>
          <p:nvPr/>
        </p:nvSpPr>
        <p:spPr>
          <a:xfrm>
            <a:off x="0" y="121250"/>
            <a:ext cx="5576207" cy="310854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t>I have added alarms to Gwiber which  trigger after how many frames have pasted, essentially the alarms are countdowns to execute their code, then in their code, Gwiber determines which zone it can move to and if it’s able to go to zone 0 the office.</a:t>
            </a:r>
          </a:p>
          <a:p>
            <a:endParaRPr lang="en-GB" sz="1400" dirty="0"/>
          </a:p>
          <a:p>
            <a:r>
              <a:rPr lang="en-GB" sz="1400" dirty="0"/>
              <a:t>The code that tells Gwiber what to do when in zone 2 in deciding if it can move to zone 0 only if </a:t>
            </a:r>
            <a:r>
              <a:rPr lang="en-GB" sz="1400" dirty="0" err="1"/>
              <a:t>left_door_open</a:t>
            </a:r>
            <a:r>
              <a:rPr lang="en-GB" sz="1400" dirty="0"/>
              <a:t> = true is the same format used for having Gwiber determine what zone its in and what zones to go to instead.</a:t>
            </a:r>
          </a:p>
          <a:p>
            <a:endParaRPr lang="en-GB" sz="1400" dirty="0"/>
          </a:p>
          <a:p>
            <a:r>
              <a:rPr lang="en-GB" sz="1400" dirty="0"/>
              <a:t>The code now makes it so that each zone Gwiber gives him options of which zone it can move to based on certain variables. More specifically zone 2 where Gwiber can only go to zone 0 IF the door is open.</a:t>
            </a:r>
          </a:p>
        </p:txBody>
      </p:sp>
      <p:sp>
        <p:nvSpPr>
          <p:cNvPr id="6" name="TextBox 5">
            <a:extLst>
              <a:ext uri="{FF2B5EF4-FFF2-40B4-BE49-F238E27FC236}">
                <a16:creationId xmlns:a16="http://schemas.microsoft.com/office/drawing/2014/main" id="{C56E8C47-CCBF-44D9-9D77-3959980595D9}"/>
              </a:ext>
            </a:extLst>
          </p:cNvPr>
          <p:cNvSpPr txBox="1"/>
          <p:nvPr/>
        </p:nvSpPr>
        <p:spPr>
          <a:xfrm>
            <a:off x="9135836" y="584730"/>
            <a:ext cx="2680607" cy="193899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To do next session</a:t>
            </a:r>
          </a:p>
          <a:p>
            <a:endParaRPr lang="en-GB" sz="1200" dirty="0"/>
          </a:p>
          <a:p>
            <a:r>
              <a:rPr lang="en-GB" sz="1200" dirty="0"/>
              <a:t>Next session is to make current game into build V.0.5.5, this version is to be the most critical point where all the enemies code is set (doesn’t need tinkering yet) and from that point the game is in a stable runnable state.</a:t>
            </a:r>
          </a:p>
          <a:p>
            <a:endParaRPr lang="en-GB" sz="1200" dirty="0"/>
          </a:p>
          <a:p>
            <a:endParaRPr lang="en-GB" sz="1200" dirty="0"/>
          </a:p>
        </p:txBody>
      </p:sp>
      <p:pic>
        <p:nvPicPr>
          <p:cNvPr id="13" name="Picture 12" descr="A screenshot of a computer program&#10;&#10;AI-generated content may be incorrect.">
            <a:extLst>
              <a:ext uri="{FF2B5EF4-FFF2-40B4-BE49-F238E27FC236}">
                <a16:creationId xmlns:a16="http://schemas.microsoft.com/office/drawing/2014/main" id="{0575A016-B5C9-0C09-4C94-5D6414BCE293}"/>
              </a:ext>
            </a:extLst>
          </p:cNvPr>
          <p:cNvPicPr>
            <a:picLocks noChangeAspect="1"/>
          </p:cNvPicPr>
          <p:nvPr/>
        </p:nvPicPr>
        <p:blipFill>
          <a:blip r:embed="rId2"/>
          <a:stretch>
            <a:fillRect/>
          </a:stretch>
        </p:blipFill>
        <p:spPr>
          <a:xfrm>
            <a:off x="0" y="3128498"/>
            <a:ext cx="3046560" cy="3729502"/>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CEB98659-AD81-B502-ADB4-D73692DD7046}"/>
              </a:ext>
            </a:extLst>
          </p:cNvPr>
          <p:cNvPicPr>
            <a:picLocks noChangeAspect="1"/>
          </p:cNvPicPr>
          <p:nvPr/>
        </p:nvPicPr>
        <p:blipFill>
          <a:blip r:embed="rId3"/>
          <a:stretch>
            <a:fillRect/>
          </a:stretch>
        </p:blipFill>
        <p:spPr>
          <a:xfrm>
            <a:off x="3348169" y="3649436"/>
            <a:ext cx="5081495" cy="2711188"/>
          </a:xfrm>
          <a:prstGeom prst="rect">
            <a:avLst/>
          </a:prstGeom>
        </p:spPr>
      </p:pic>
      <p:sp>
        <p:nvSpPr>
          <p:cNvPr id="8" name="TextBox 7">
            <a:extLst>
              <a:ext uri="{FF2B5EF4-FFF2-40B4-BE49-F238E27FC236}">
                <a16:creationId xmlns:a16="http://schemas.microsoft.com/office/drawing/2014/main" id="{F13E88DE-B1DA-141E-A39C-77C4D652B48B}"/>
              </a:ext>
            </a:extLst>
          </p:cNvPr>
          <p:cNvSpPr txBox="1"/>
          <p:nvPr/>
        </p:nvSpPr>
        <p:spPr>
          <a:xfrm>
            <a:off x="5651845" y="497376"/>
            <a:ext cx="3394184" cy="3539430"/>
          </a:xfrm>
          <a:prstGeom prst="rect">
            <a:avLst/>
          </a:prstGeom>
          <a:noFill/>
          <a:ln>
            <a:solidFill>
              <a:schemeClr val="tx1"/>
            </a:solidFill>
          </a:ln>
        </p:spPr>
        <p:txBody>
          <a:bodyPr wrap="square" rtlCol="0">
            <a:spAutoFit/>
          </a:bodyPr>
          <a:lstStyle/>
          <a:p>
            <a:r>
              <a:rPr lang="en-GB" sz="1400" dirty="0"/>
              <a:t>In addition, this specific code format not only makes each enemy independent but also make sit easier to code their behaviours.</a:t>
            </a:r>
          </a:p>
          <a:p>
            <a:endParaRPr lang="en-GB" sz="1400" dirty="0"/>
          </a:p>
          <a:p>
            <a:r>
              <a:rPr lang="en-GB" sz="1400" dirty="0"/>
              <a:t>For example, Arach, an enemy that doesn’t move like the others can just remain in zone 5 and only access zone 0 or change to zone 4 using the same line of code for what’s used in zone 2.</a:t>
            </a:r>
          </a:p>
          <a:p>
            <a:endParaRPr lang="en-GB" sz="1400" dirty="0"/>
          </a:p>
          <a:p>
            <a:r>
              <a:rPr lang="en-GB" sz="1400" dirty="0"/>
              <a:t>Also, this code can allow me to restrict their movement. Example, Gwiber can only move throughout the left side zones.</a:t>
            </a:r>
          </a:p>
          <a:p>
            <a:endParaRPr lang="en-GB" sz="1400" dirty="0"/>
          </a:p>
          <a:p>
            <a:endParaRPr lang="en-GB" sz="1400" dirty="0"/>
          </a:p>
        </p:txBody>
      </p:sp>
    </p:spTree>
    <p:extLst>
      <p:ext uri="{BB962C8B-B14F-4D97-AF65-F5344CB8AC3E}">
        <p14:creationId xmlns:p14="http://schemas.microsoft.com/office/powerpoint/2010/main" val="3659257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D8A3-7B8F-3B4D-A44A-3B98A99A90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5A0D19-4D0C-4B2A-4958-31A0624144EB}"/>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14/01/2026</a:t>
            </a:r>
          </a:p>
        </p:txBody>
      </p:sp>
      <p:sp>
        <p:nvSpPr>
          <p:cNvPr id="2" name="TextBox 1">
            <a:extLst>
              <a:ext uri="{FF2B5EF4-FFF2-40B4-BE49-F238E27FC236}">
                <a16:creationId xmlns:a16="http://schemas.microsoft.com/office/drawing/2014/main" id="{B990C352-E552-B533-904D-3E71A0C206A4}"/>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V.0.5.5</a:t>
            </a:r>
          </a:p>
        </p:txBody>
      </p:sp>
      <p:sp>
        <p:nvSpPr>
          <p:cNvPr id="3" name="TextBox 2">
            <a:extLst>
              <a:ext uri="{FF2B5EF4-FFF2-40B4-BE49-F238E27FC236}">
                <a16:creationId xmlns:a16="http://schemas.microsoft.com/office/drawing/2014/main" id="{E71E81A6-2768-2FB0-A3B9-0F0338062350}"/>
              </a:ext>
            </a:extLst>
          </p:cNvPr>
          <p:cNvSpPr txBox="1"/>
          <p:nvPr/>
        </p:nvSpPr>
        <p:spPr>
          <a:xfrm>
            <a:off x="0" y="152027"/>
            <a:ext cx="5576207" cy="286232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Gwiber officially moves and no longer requires an alarm. Gwiber reacts and calculates whether it is being watched and what zone it can move to. Gwiber also reacts to the doors state, knowing when the door is or is not open.</a:t>
            </a:r>
          </a:p>
          <a:p>
            <a:endParaRPr lang="en-GB" sz="1200" dirty="0"/>
          </a:p>
          <a:p>
            <a:r>
              <a:rPr lang="en-GB" sz="1200" dirty="0" err="1"/>
              <a:t>Gwiber’s</a:t>
            </a:r>
            <a:r>
              <a:rPr lang="en-GB" sz="1200" dirty="0"/>
              <a:t> movement is working as intended, delaying itself when watched, rolling its chance to move and to which zones are available to move to.</a:t>
            </a:r>
          </a:p>
          <a:p>
            <a:endParaRPr lang="en-GB" sz="1200" dirty="0"/>
          </a:p>
          <a:p>
            <a:r>
              <a:rPr lang="en-GB" sz="1200" dirty="0"/>
              <a:t>The key thing with this enemies, code is the lack of alarms. Instead of them I used Move timers. The move timers tell Gwiber the time until it should move. This also worked perfectly with the </a:t>
            </a:r>
            <a:r>
              <a:rPr lang="en-GB" sz="1200" dirty="0" err="1"/>
              <a:t>is_watched</a:t>
            </a:r>
            <a:r>
              <a:rPr lang="en-GB" sz="1200" dirty="0"/>
              <a:t> movement delay. This code though did come with some issues such has door sprites disappearing despite normal behaviour and </a:t>
            </a:r>
            <a:r>
              <a:rPr lang="en-GB" sz="1200" dirty="0" err="1"/>
              <a:t>Gwibers</a:t>
            </a:r>
            <a:r>
              <a:rPr lang="en-GB" sz="1200" dirty="0"/>
              <a:t> very low chance of going into zone 1.</a:t>
            </a:r>
          </a:p>
          <a:p>
            <a:endParaRPr lang="en-GB" sz="1200" dirty="0"/>
          </a:p>
          <a:p>
            <a:r>
              <a:rPr lang="en-GB" sz="1200" dirty="0"/>
              <a:t>The best part is that Gwiber has basically 1% relation to </a:t>
            </a:r>
            <a:r>
              <a:rPr lang="en-GB" sz="1200" dirty="0" err="1"/>
              <a:t>global.current_zone</a:t>
            </a:r>
            <a:r>
              <a:rPr lang="en-GB" sz="1200" dirty="0"/>
              <a:t> which was theorised to be the cause of previous problems.</a:t>
            </a:r>
          </a:p>
        </p:txBody>
      </p:sp>
      <p:sp>
        <p:nvSpPr>
          <p:cNvPr id="6" name="TextBox 5">
            <a:extLst>
              <a:ext uri="{FF2B5EF4-FFF2-40B4-BE49-F238E27FC236}">
                <a16:creationId xmlns:a16="http://schemas.microsoft.com/office/drawing/2014/main" id="{A73144A0-1615-3C12-C65C-A1A0E7AB63BD}"/>
              </a:ext>
            </a:extLst>
          </p:cNvPr>
          <p:cNvSpPr txBox="1"/>
          <p:nvPr/>
        </p:nvSpPr>
        <p:spPr>
          <a:xfrm>
            <a:off x="5651845" y="2283607"/>
            <a:ext cx="3307343" cy="122341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To do next session</a:t>
            </a:r>
          </a:p>
          <a:p>
            <a:endParaRPr lang="en-GB" sz="1050" dirty="0"/>
          </a:p>
          <a:p>
            <a:r>
              <a:rPr lang="en-GB" sz="1050" dirty="0"/>
              <a:t>Refine </a:t>
            </a:r>
            <a:r>
              <a:rPr lang="en-GB" sz="1050" dirty="0" err="1"/>
              <a:t>Gwiber’s</a:t>
            </a:r>
            <a:r>
              <a:rPr lang="en-GB" sz="1050" dirty="0"/>
              <a:t> code. Gwiber might be moving but he doesn’t have much in terms of behaviour such as delayed movement in zone 0 before jump scare, sounds and speed.</a:t>
            </a:r>
          </a:p>
          <a:p>
            <a:endParaRPr lang="en-GB" sz="1050" dirty="0"/>
          </a:p>
        </p:txBody>
      </p:sp>
      <p:pic>
        <p:nvPicPr>
          <p:cNvPr id="9" name="Picture 8" descr="A screenshot of a computer program&#10;&#10;AI-generated content may be incorrect.">
            <a:extLst>
              <a:ext uri="{FF2B5EF4-FFF2-40B4-BE49-F238E27FC236}">
                <a16:creationId xmlns:a16="http://schemas.microsoft.com/office/drawing/2014/main" id="{AD60EDFF-9126-A283-EAF4-804EE44BF60D}"/>
              </a:ext>
            </a:extLst>
          </p:cNvPr>
          <p:cNvPicPr>
            <a:picLocks noChangeAspect="1"/>
          </p:cNvPicPr>
          <p:nvPr/>
        </p:nvPicPr>
        <p:blipFill>
          <a:blip r:embed="rId2"/>
          <a:stretch>
            <a:fillRect/>
          </a:stretch>
        </p:blipFill>
        <p:spPr>
          <a:xfrm>
            <a:off x="244928" y="3525028"/>
            <a:ext cx="4378585" cy="3112201"/>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A47FE8C5-CF31-C1D5-DF77-CFA577455A30}"/>
              </a:ext>
            </a:extLst>
          </p:cNvPr>
          <p:cNvPicPr>
            <a:picLocks noChangeAspect="1"/>
          </p:cNvPicPr>
          <p:nvPr/>
        </p:nvPicPr>
        <p:blipFill>
          <a:blip r:embed="rId3"/>
          <a:stretch>
            <a:fillRect/>
          </a:stretch>
        </p:blipFill>
        <p:spPr>
          <a:xfrm>
            <a:off x="4814143" y="3607856"/>
            <a:ext cx="4182059" cy="3029373"/>
          </a:xfrm>
          <a:prstGeom prst="rect">
            <a:avLst/>
          </a:prstGeom>
        </p:spPr>
      </p:pic>
      <p:pic>
        <p:nvPicPr>
          <p:cNvPr id="14" name="Picture 13" descr="A screen shot of a computer program&#10;&#10;AI-generated content may be incorrect.">
            <a:extLst>
              <a:ext uri="{FF2B5EF4-FFF2-40B4-BE49-F238E27FC236}">
                <a16:creationId xmlns:a16="http://schemas.microsoft.com/office/drawing/2014/main" id="{491A1334-62CA-420F-5DFA-15FC4F8B56E6}"/>
              </a:ext>
            </a:extLst>
          </p:cNvPr>
          <p:cNvPicPr>
            <a:picLocks noChangeAspect="1"/>
          </p:cNvPicPr>
          <p:nvPr/>
        </p:nvPicPr>
        <p:blipFill>
          <a:blip r:embed="rId4"/>
          <a:stretch>
            <a:fillRect/>
          </a:stretch>
        </p:blipFill>
        <p:spPr>
          <a:xfrm>
            <a:off x="9074180" y="2334702"/>
            <a:ext cx="3005168" cy="2667800"/>
          </a:xfrm>
          <a:prstGeom prst="rect">
            <a:avLst/>
          </a:prstGeom>
        </p:spPr>
      </p:pic>
      <p:pic>
        <p:nvPicPr>
          <p:cNvPr id="16" name="Picture 15" descr="A computer screen shot of a program code&#10;&#10;AI-generated content may be incorrect.">
            <a:extLst>
              <a:ext uri="{FF2B5EF4-FFF2-40B4-BE49-F238E27FC236}">
                <a16:creationId xmlns:a16="http://schemas.microsoft.com/office/drawing/2014/main" id="{C010A13C-B8AE-9B62-017A-4F5D37539CA9}"/>
              </a:ext>
            </a:extLst>
          </p:cNvPr>
          <p:cNvPicPr>
            <a:picLocks noChangeAspect="1"/>
          </p:cNvPicPr>
          <p:nvPr/>
        </p:nvPicPr>
        <p:blipFill>
          <a:blip r:embed="rId5"/>
          <a:srcRect t="5113" r="1600" b="18002"/>
          <a:stretch>
            <a:fillRect/>
          </a:stretch>
        </p:blipFill>
        <p:spPr>
          <a:xfrm>
            <a:off x="5651845" y="476261"/>
            <a:ext cx="5671229" cy="1779815"/>
          </a:xfrm>
          <a:prstGeom prst="rect">
            <a:avLst/>
          </a:prstGeom>
        </p:spPr>
      </p:pic>
      <p:sp>
        <p:nvSpPr>
          <p:cNvPr id="17" name="TextBox 16">
            <a:extLst>
              <a:ext uri="{FF2B5EF4-FFF2-40B4-BE49-F238E27FC236}">
                <a16:creationId xmlns:a16="http://schemas.microsoft.com/office/drawing/2014/main" id="{BB773F2C-1740-6DB8-CE63-90FE5236C780}"/>
              </a:ext>
            </a:extLst>
          </p:cNvPr>
          <p:cNvSpPr txBox="1"/>
          <p:nvPr/>
        </p:nvSpPr>
        <p:spPr>
          <a:xfrm>
            <a:off x="9035191" y="5002502"/>
            <a:ext cx="3083145" cy="170816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To do next session 2</a:t>
            </a:r>
          </a:p>
          <a:p>
            <a:endParaRPr lang="en-GB" sz="1050" dirty="0"/>
          </a:p>
          <a:p>
            <a:r>
              <a:rPr lang="en-GB" sz="1050" dirty="0"/>
              <a:t>Create SFX for objects</a:t>
            </a:r>
          </a:p>
          <a:p>
            <a:endParaRPr lang="en-GB" sz="1050" dirty="0"/>
          </a:p>
          <a:p>
            <a:r>
              <a:rPr lang="en-GB" sz="1050" dirty="0"/>
              <a:t>Begin writing Script for Game Start</a:t>
            </a:r>
          </a:p>
          <a:p>
            <a:endParaRPr lang="en-GB" sz="1050" dirty="0"/>
          </a:p>
          <a:p>
            <a:r>
              <a:rPr lang="en-GB" sz="1050" dirty="0"/>
              <a:t>Death Screen</a:t>
            </a:r>
          </a:p>
          <a:p>
            <a:endParaRPr lang="en-GB" sz="1050" dirty="0"/>
          </a:p>
          <a:p>
            <a:r>
              <a:rPr lang="en-GB" sz="1050" dirty="0"/>
              <a:t>Make more zones if possible.</a:t>
            </a:r>
          </a:p>
          <a:p>
            <a:endParaRPr lang="en-GB" sz="1050" dirty="0"/>
          </a:p>
        </p:txBody>
      </p:sp>
    </p:spTree>
    <p:extLst>
      <p:ext uri="{BB962C8B-B14F-4D97-AF65-F5344CB8AC3E}">
        <p14:creationId xmlns:p14="http://schemas.microsoft.com/office/powerpoint/2010/main" val="3891053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D8A3-7B8F-3B4D-A44A-3B98A99A90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5A0D19-4D0C-4B2A-4958-31A0624144EB}"/>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16/01/2026</a:t>
            </a:r>
          </a:p>
        </p:txBody>
      </p:sp>
      <p:sp>
        <p:nvSpPr>
          <p:cNvPr id="2" name="TextBox 1">
            <a:extLst>
              <a:ext uri="{FF2B5EF4-FFF2-40B4-BE49-F238E27FC236}">
                <a16:creationId xmlns:a16="http://schemas.microsoft.com/office/drawing/2014/main" id="{B990C352-E552-B533-904D-3E71A0C206A4}"/>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a:t>
            </a:r>
          </a:p>
        </p:txBody>
      </p:sp>
      <p:sp>
        <p:nvSpPr>
          <p:cNvPr id="3" name="TextBox 2">
            <a:extLst>
              <a:ext uri="{FF2B5EF4-FFF2-40B4-BE49-F238E27FC236}">
                <a16:creationId xmlns:a16="http://schemas.microsoft.com/office/drawing/2014/main" id="{E71E81A6-2768-2FB0-A3B9-0F0338062350}"/>
              </a:ext>
            </a:extLst>
          </p:cNvPr>
          <p:cNvSpPr txBox="1"/>
          <p:nvPr/>
        </p:nvSpPr>
        <p:spPr>
          <a:xfrm>
            <a:off x="0" y="152027"/>
            <a:ext cx="5576207" cy="304698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In this session I begun creating voice-lines for my newly made characters for the first part of the game, the introduction.</a:t>
            </a:r>
          </a:p>
          <a:p>
            <a:endParaRPr lang="en-GB" sz="1200" dirty="0"/>
          </a:p>
          <a:p>
            <a:r>
              <a:rPr lang="en-GB" sz="1200" dirty="0"/>
              <a:t>I’ve also researched throughout the internet for smaller SFX such as Camera Opening, clicking and basic door sounds. I’ve already added a clicking sound to my Camera buttons.</a:t>
            </a:r>
          </a:p>
          <a:p>
            <a:endParaRPr lang="en-GB" sz="1200" dirty="0"/>
          </a:p>
          <a:p>
            <a:r>
              <a:rPr lang="en-GB" sz="1200" dirty="0"/>
              <a:t>The new characters are Rob and ESA.</a:t>
            </a:r>
          </a:p>
          <a:p>
            <a:endParaRPr lang="en-GB" sz="1200" dirty="0"/>
          </a:p>
          <a:p>
            <a:r>
              <a:rPr lang="en-GB" sz="1200" dirty="0"/>
              <a:t>Rob is the now retired security guard who helps settle you into your job role.</a:t>
            </a:r>
          </a:p>
          <a:p>
            <a:endParaRPr lang="en-GB" sz="1200" dirty="0"/>
          </a:p>
          <a:p>
            <a:r>
              <a:rPr lang="en-GB" sz="1200" dirty="0"/>
              <a:t>ESA is an unlikely Ai companion after the devastating Critical Failure affecting the entire facility. ESA stands for Evacuation Safety Assistant.</a:t>
            </a:r>
          </a:p>
          <a:p>
            <a:endParaRPr lang="en-GB" sz="1200" dirty="0"/>
          </a:p>
          <a:p>
            <a:r>
              <a:rPr lang="en-GB" sz="1200" dirty="0"/>
              <a:t>I have also written a word document, a script for the first part of the game, the intro. This is to help future plan animations and storytelling.</a:t>
            </a:r>
          </a:p>
        </p:txBody>
      </p:sp>
      <p:sp>
        <p:nvSpPr>
          <p:cNvPr id="6" name="TextBox 5">
            <a:extLst>
              <a:ext uri="{FF2B5EF4-FFF2-40B4-BE49-F238E27FC236}">
                <a16:creationId xmlns:a16="http://schemas.microsoft.com/office/drawing/2014/main" id="{A73144A0-1615-3C12-C65C-A1A0E7AB63BD}"/>
              </a:ext>
            </a:extLst>
          </p:cNvPr>
          <p:cNvSpPr txBox="1"/>
          <p:nvPr/>
        </p:nvSpPr>
        <p:spPr>
          <a:xfrm>
            <a:off x="8215430" y="971482"/>
            <a:ext cx="3307343" cy="122341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To do next session</a:t>
            </a:r>
          </a:p>
          <a:p>
            <a:endParaRPr lang="en-GB" sz="1050" dirty="0"/>
          </a:p>
          <a:p>
            <a:r>
              <a:rPr lang="en-GB" sz="1050" dirty="0"/>
              <a:t>Refine </a:t>
            </a:r>
            <a:r>
              <a:rPr lang="en-GB" sz="1050" dirty="0" err="1"/>
              <a:t>Gwiber’s</a:t>
            </a:r>
            <a:r>
              <a:rPr lang="en-GB" sz="1050" dirty="0"/>
              <a:t> code. Gwiber might be moving but he doesn’t have much in terms of behaviour such as delayed movement in zone 0 before jump scare, sounds and speed.</a:t>
            </a:r>
          </a:p>
          <a:p>
            <a:endParaRPr lang="en-GB" sz="1050" dirty="0"/>
          </a:p>
        </p:txBody>
      </p:sp>
      <p:pic>
        <p:nvPicPr>
          <p:cNvPr id="7" name="Picture 6">
            <a:extLst>
              <a:ext uri="{FF2B5EF4-FFF2-40B4-BE49-F238E27FC236}">
                <a16:creationId xmlns:a16="http://schemas.microsoft.com/office/drawing/2014/main" id="{0D1459EC-013F-C194-16B8-D3B62BC01385}"/>
              </a:ext>
            </a:extLst>
          </p:cNvPr>
          <p:cNvPicPr>
            <a:picLocks noChangeAspect="1"/>
          </p:cNvPicPr>
          <p:nvPr/>
        </p:nvPicPr>
        <p:blipFill>
          <a:blip r:embed="rId2"/>
          <a:stretch>
            <a:fillRect/>
          </a:stretch>
        </p:blipFill>
        <p:spPr>
          <a:xfrm>
            <a:off x="0" y="3257549"/>
            <a:ext cx="3136974" cy="3510643"/>
          </a:xfrm>
          <a:prstGeom prst="rect">
            <a:avLst/>
          </a:prstGeom>
        </p:spPr>
      </p:pic>
      <p:pic>
        <p:nvPicPr>
          <p:cNvPr id="10" name="Picture 9">
            <a:extLst>
              <a:ext uri="{FF2B5EF4-FFF2-40B4-BE49-F238E27FC236}">
                <a16:creationId xmlns:a16="http://schemas.microsoft.com/office/drawing/2014/main" id="{38A5E218-F8C7-3B61-5121-1017DAE4C403}"/>
              </a:ext>
            </a:extLst>
          </p:cNvPr>
          <p:cNvPicPr>
            <a:picLocks noChangeAspect="1"/>
          </p:cNvPicPr>
          <p:nvPr/>
        </p:nvPicPr>
        <p:blipFill>
          <a:blip r:embed="rId3"/>
          <a:stretch>
            <a:fillRect/>
          </a:stretch>
        </p:blipFill>
        <p:spPr>
          <a:xfrm>
            <a:off x="3279473" y="3322864"/>
            <a:ext cx="2007980" cy="3168739"/>
          </a:xfrm>
          <a:prstGeom prst="rect">
            <a:avLst/>
          </a:prstGeom>
        </p:spPr>
      </p:pic>
      <p:pic>
        <p:nvPicPr>
          <p:cNvPr id="13" name="Picture 12">
            <a:extLst>
              <a:ext uri="{FF2B5EF4-FFF2-40B4-BE49-F238E27FC236}">
                <a16:creationId xmlns:a16="http://schemas.microsoft.com/office/drawing/2014/main" id="{FE3E36C1-B5A8-9987-ED52-8ADDEA0B7227}"/>
              </a:ext>
            </a:extLst>
          </p:cNvPr>
          <p:cNvPicPr>
            <a:picLocks noChangeAspect="1"/>
          </p:cNvPicPr>
          <p:nvPr/>
        </p:nvPicPr>
        <p:blipFill>
          <a:blip r:embed="rId4"/>
          <a:stretch>
            <a:fillRect/>
          </a:stretch>
        </p:blipFill>
        <p:spPr>
          <a:xfrm>
            <a:off x="5576207" y="4663107"/>
            <a:ext cx="5153744" cy="1686160"/>
          </a:xfrm>
          <a:prstGeom prst="rect">
            <a:avLst/>
          </a:prstGeom>
        </p:spPr>
      </p:pic>
      <p:pic>
        <p:nvPicPr>
          <p:cNvPr id="18" name="Picture 17">
            <a:extLst>
              <a:ext uri="{FF2B5EF4-FFF2-40B4-BE49-F238E27FC236}">
                <a16:creationId xmlns:a16="http://schemas.microsoft.com/office/drawing/2014/main" id="{8756A3F4-4507-03E6-68D7-47AD98CE3B1F}"/>
              </a:ext>
            </a:extLst>
          </p:cNvPr>
          <p:cNvPicPr>
            <a:picLocks noChangeAspect="1"/>
          </p:cNvPicPr>
          <p:nvPr/>
        </p:nvPicPr>
        <p:blipFill>
          <a:blip r:embed="rId5"/>
          <a:stretch>
            <a:fillRect/>
          </a:stretch>
        </p:blipFill>
        <p:spPr>
          <a:xfrm>
            <a:off x="5429952" y="3683479"/>
            <a:ext cx="6716062" cy="704948"/>
          </a:xfrm>
          <a:prstGeom prst="rect">
            <a:avLst/>
          </a:prstGeom>
        </p:spPr>
      </p:pic>
      <p:sp>
        <p:nvSpPr>
          <p:cNvPr id="19" name="TextBox 18">
            <a:extLst>
              <a:ext uri="{FF2B5EF4-FFF2-40B4-BE49-F238E27FC236}">
                <a16:creationId xmlns:a16="http://schemas.microsoft.com/office/drawing/2014/main" id="{44C16819-E7A4-D348-653C-D9D934529CBE}"/>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8" name="Picture 7" descr="A screenshot of a computer screen&#10;&#10;AI-generated content may be incorrect.">
            <a:extLst>
              <a:ext uri="{FF2B5EF4-FFF2-40B4-BE49-F238E27FC236}">
                <a16:creationId xmlns:a16="http://schemas.microsoft.com/office/drawing/2014/main" id="{B7A6EDD6-433A-1B4B-50AF-8D3B71F79BF1}"/>
              </a:ext>
            </a:extLst>
          </p:cNvPr>
          <p:cNvPicPr>
            <a:picLocks noChangeAspect="1"/>
          </p:cNvPicPr>
          <p:nvPr/>
        </p:nvPicPr>
        <p:blipFill>
          <a:blip r:embed="rId6"/>
          <a:stretch>
            <a:fillRect/>
          </a:stretch>
        </p:blipFill>
        <p:spPr>
          <a:xfrm>
            <a:off x="5677991" y="2447811"/>
            <a:ext cx="2114845" cy="809738"/>
          </a:xfrm>
          <a:prstGeom prst="rect">
            <a:avLst/>
          </a:prstGeom>
        </p:spPr>
      </p:pic>
    </p:spTree>
    <p:extLst>
      <p:ext uri="{BB962C8B-B14F-4D97-AF65-F5344CB8AC3E}">
        <p14:creationId xmlns:p14="http://schemas.microsoft.com/office/powerpoint/2010/main" val="325832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C2B3A-BEBF-F44B-2678-AD12220052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BB28B7-F361-995F-947D-001C40ECDFBF}"/>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17/01/2026</a:t>
            </a:r>
          </a:p>
        </p:txBody>
      </p:sp>
      <p:sp>
        <p:nvSpPr>
          <p:cNvPr id="2" name="TextBox 1">
            <a:extLst>
              <a:ext uri="{FF2B5EF4-FFF2-40B4-BE49-F238E27FC236}">
                <a16:creationId xmlns:a16="http://schemas.microsoft.com/office/drawing/2014/main" id="{AA92E289-B709-C849-297B-8FC5D01C2DD2}"/>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V.0.6.1</a:t>
            </a:r>
          </a:p>
        </p:txBody>
      </p:sp>
      <p:sp>
        <p:nvSpPr>
          <p:cNvPr id="3" name="TextBox 2">
            <a:extLst>
              <a:ext uri="{FF2B5EF4-FFF2-40B4-BE49-F238E27FC236}">
                <a16:creationId xmlns:a16="http://schemas.microsoft.com/office/drawing/2014/main" id="{0F1E3482-7F5A-4FDE-7C91-37D302F5BFB7}"/>
              </a:ext>
            </a:extLst>
          </p:cNvPr>
          <p:cNvSpPr txBox="1"/>
          <p:nvPr/>
        </p:nvSpPr>
        <p:spPr>
          <a:xfrm>
            <a:off x="0" y="152027"/>
            <a:ext cx="5576207" cy="193899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This Build Is the finished refined code for Enemy Gwiber.</a:t>
            </a:r>
          </a:p>
          <a:p>
            <a:r>
              <a:rPr lang="en-GB" sz="1200" dirty="0"/>
              <a:t>Mainly what he does while inside of zone 0, the main office.</a:t>
            </a:r>
          </a:p>
          <a:p>
            <a:endParaRPr lang="en-GB" sz="1200" dirty="0"/>
          </a:p>
          <a:p>
            <a:r>
              <a:rPr lang="en-GB" sz="1200" dirty="0"/>
              <a:t>This was done by using timed alarms for when Gwiber is in zone 0. Alarm one only triggers when </a:t>
            </a:r>
            <a:r>
              <a:rPr lang="en-GB" sz="1200" dirty="0" err="1"/>
              <a:t>Gwiberpos</a:t>
            </a:r>
            <a:r>
              <a:rPr lang="en-GB" sz="1200" dirty="0"/>
              <a:t> = 0 and </a:t>
            </a:r>
            <a:r>
              <a:rPr lang="en-GB" sz="1200" dirty="0" err="1"/>
              <a:t>door_left_open</a:t>
            </a:r>
            <a:r>
              <a:rPr lang="en-GB" sz="1200" dirty="0"/>
              <a:t> = true same goes for alarm 3 but with the door = false. Alarm 1 triggers after 500 frames and then jump-scares the player. Alarm 3 triggers after 300 frames to then have Gwiber change to zone 2.</a:t>
            </a:r>
          </a:p>
          <a:p>
            <a:endParaRPr lang="en-GB" sz="1200" dirty="0"/>
          </a:p>
          <a:p>
            <a:r>
              <a:rPr lang="en-GB" sz="1200" dirty="0"/>
              <a:t>I also finished all of ESA’s voice lines and all of Rob’s Voice Lines using a Text to Speech AI software. I also had to convert them to MP3 to work in Gamemaker.</a:t>
            </a:r>
          </a:p>
        </p:txBody>
      </p:sp>
      <p:sp>
        <p:nvSpPr>
          <p:cNvPr id="6" name="TextBox 5">
            <a:extLst>
              <a:ext uri="{FF2B5EF4-FFF2-40B4-BE49-F238E27FC236}">
                <a16:creationId xmlns:a16="http://schemas.microsoft.com/office/drawing/2014/main" id="{7BFDDCD7-356A-BBD7-B72D-2284BED1C08B}"/>
              </a:ext>
            </a:extLst>
          </p:cNvPr>
          <p:cNvSpPr txBox="1"/>
          <p:nvPr/>
        </p:nvSpPr>
        <p:spPr>
          <a:xfrm>
            <a:off x="8542002" y="612254"/>
            <a:ext cx="3307343" cy="154657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To do next session</a:t>
            </a:r>
          </a:p>
          <a:p>
            <a:endParaRPr lang="en-GB" sz="1050" dirty="0"/>
          </a:p>
          <a:p>
            <a:r>
              <a:rPr lang="en-GB" sz="1050" dirty="0"/>
              <a:t>Create sounds for objects.</a:t>
            </a:r>
          </a:p>
          <a:p>
            <a:endParaRPr lang="en-GB" sz="1050" dirty="0"/>
          </a:p>
          <a:p>
            <a:r>
              <a:rPr lang="en-GB" sz="1050" dirty="0"/>
              <a:t>Begin storyboarding intro sequence.</a:t>
            </a:r>
          </a:p>
          <a:p>
            <a:endParaRPr lang="en-GB" sz="1050" dirty="0"/>
          </a:p>
          <a:p>
            <a:r>
              <a:rPr lang="en-GB" sz="1050" dirty="0"/>
              <a:t>Start Designing Zones.</a:t>
            </a:r>
          </a:p>
          <a:p>
            <a:endParaRPr lang="en-GB" sz="1050" dirty="0"/>
          </a:p>
          <a:p>
            <a:r>
              <a:rPr lang="en-GB" sz="1050" dirty="0"/>
              <a:t>Finish Adding ESA voice-lines to Game-Maker.</a:t>
            </a:r>
          </a:p>
        </p:txBody>
      </p:sp>
      <p:sp>
        <p:nvSpPr>
          <p:cNvPr id="19" name="TextBox 18">
            <a:extLst>
              <a:ext uri="{FF2B5EF4-FFF2-40B4-BE49-F238E27FC236}">
                <a16:creationId xmlns:a16="http://schemas.microsoft.com/office/drawing/2014/main" id="{20CFE538-1D18-0E62-7F8D-669AF94CD9B9}"/>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7" name="Picture 6" descr="A computer screen shot of a program&#10;&#10;AI-generated content may be incorrect.">
            <a:extLst>
              <a:ext uri="{FF2B5EF4-FFF2-40B4-BE49-F238E27FC236}">
                <a16:creationId xmlns:a16="http://schemas.microsoft.com/office/drawing/2014/main" id="{B6635DDA-8CA4-E3AF-0C47-AAEC60C373C0}"/>
              </a:ext>
            </a:extLst>
          </p:cNvPr>
          <p:cNvPicPr>
            <a:picLocks noChangeAspect="1"/>
          </p:cNvPicPr>
          <p:nvPr/>
        </p:nvPicPr>
        <p:blipFill>
          <a:blip r:embed="rId2"/>
          <a:stretch>
            <a:fillRect/>
          </a:stretch>
        </p:blipFill>
        <p:spPr>
          <a:xfrm>
            <a:off x="146561" y="2277031"/>
            <a:ext cx="5677692" cy="1781424"/>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77A6A3ED-31F2-6841-7C87-BF39035034EA}"/>
              </a:ext>
            </a:extLst>
          </p:cNvPr>
          <p:cNvPicPr>
            <a:picLocks noChangeAspect="1"/>
          </p:cNvPicPr>
          <p:nvPr/>
        </p:nvPicPr>
        <p:blipFill>
          <a:blip r:embed="rId3"/>
          <a:stretch>
            <a:fillRect/>
          </a:stretch>
        </p:blipFill>
        <p:spPr>
          <a:xfrm>
            <a:off x="8105205" y="4469433"/>
            <a:ext cx="4086795" cy="847843"/>
          </a:xfrm>
          <a:prstGeom prst="rect">
            <a:avLst/>
          </a:prstGeom>
        </p:spPr>
      </p:pic>
      <p:pic>
        <p:nvPicPr>
          <p:cNvPr id="11" name="Picture 10">
            <a:extLst>
              <a:ext uri="{FF2B5EF4-FFF2-40B4-BE49-F238E27FC236}">
                <a16:creationId xmlns:a16="http://schemas.microsoft.com/office/drawing/2014/main" id="{7545EF03-9520-CFB0-9439-35A969F7ECE7}"/>
              </a:ext>
            </a:extLst>
          </p:cNvPr>
          <p:cNvPicPr>
            <a:picLocks noChangeAspect="1"/>
          </p:cNvPicPr>
          <p:nvPr/>
        </p:nvPicPr>
        <p:blipFill>
          <a:blip r:embed="rId4"/>
          <a:stretch>
            <a:fillRect/>
          </a:stretch>
        </p:blipFill>
        <p:spPr>
          <a:xfrm>
            <a:off x="9255811" y="3195605"/>
            <a:ext cx="1971950" cy="466790"/>
          </a:xfrm>
          <a:prstGeom prst="rect">
            <a:avLst/>
          </a:prstGeom>
        </p:spPr>
      </p:pic>
      <p:sp>
        <p:nvSpPr>
          <p:cNvPr id="12" name="TextBox 11">
            <a:extLst>
              <a:ext uri="{FF2B5EF4-FFF2-40B4-BE49-F238E27FC236}">
                <a16:creationId xmlns:a16="http://schemas.microsoft.com/office/drawing/2014/main" id="{737B9E21-4748-3E51-38B6-B5CC6E836728}"/>
              </a:ext>
            </a:extLst>
          </p:cNvPr>
          <p:cNvSpPr txBox="1"/>
          <p:nvPr/>
        </p:nvSpPr>
        <p:spPr>
          <a:xfrm>
            <a:off x="9704261" y="3662395"/>
            <a:ext cx="1004207" cy="369332"/>
          </a:xfrm>
          <a:prstGeom prst="rect">
            <a:avLst/>
          </a:prstGeom>
          <a:noFill/>
        </p:spPr>
        <p:txBody>
          <a:bodyPr wrap="square" rtlCol="0">
            <a:spAutoFit/>
          </a:bodyPr>
          <a:lstStyle/>
          <a:p>
            <a:r>
              <a:rPr lang="en-GB" dirty="0"/>
              <a:t>Alarm 3</a:t>
            </a:r>
          </a:p>
        </p:txBody>
      </p:sp>
      <p:pic>
        <p:nvPicPr>
          <p:cNvPr id="8" name="Picture 7" descr="A screenshot of a computer&#10;&#10;AI-generated content may be incorrect.">
            <a:extLst>
              <a:ext uri="{FF2B5EF4-FFF2-40B4-BE49-F238E27FC236}">
                <a16:creationId xmlns:a16="http://schemas.microsoft.com/office/drawing/2014/main" id="{9E47A17C-0154-1827-6834-5A639929311E}"/>
              </a:ext>
            </a:extLst>
          </p:cNvPr>
          <p:cNvPicPr>
            <a:picLocks noChangeAspect="1"/>
          </p:cNvPicPr>
          <p:nvPr/>
        </p:nvPicPr>
        <p:blipFill>
          <a:blip r:embed="rId5"/>
          <a:stretch>
            <a:fillRect/>
          </a:stretch>
        </p:blipFill>
        <p:spPr>
          <a:xfrm>
            <a:off x="146561" y="4058455"/>
            <a:ext cx="4449932" cy="2780752"/>
          </a:xfrm>
          <a:prstGeom prst="rect">
            <a:avLst/>
          </a:prstGeom>
        </p:spPr>
      </p:pic>
    </p:spTree>
    <p:extLst>
      <p:ext uri="{BB962C8B-B14F-4D97-AF65-F5344CB8AC3E}">
        <p14:creationId xmlns:p14="http://schemas.microsoft.com/office/powerpoint/2010/main" val="2644026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41FE-B5A8-CF0B-AFF6-BC95DCD029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2E52E4-7673-A4F1-0E0A-B11C1DE5C0B3}"/>
              </a:ext>
            </a:extLst>
          </p:cNvPr>
          <p:cNvSpPr txBox="1"/>
          <p:nvPr/>
        </p:nvSpPr>
        <p:spPr>
          <a:xfrm>
            <a:off x="7894620" y="121250"/>
            <a:ext cx="1809641"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20/01/2026</a:t>
            </a:r>
          </a:p>
        </p:txBody>
      </p:sp>
      <p:sp>
        <p:nvSpPr>
          <p:cNvPr id="2" name="TextBox 1">
            <a:extLst>
              <a:ext uri="{FF2B5EF4-FFF2-40B4-BE49-F238E27FC236}">
                <a16:creationId xmlns:a16="http://schemas.microsoft.com/office/drawing/2014/main" id="{715B53AE-BD35-971D-0775-5D55E0ABAAA6}"/>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V.0.6.2</a:t>
            </a:r>
          </a:p>
        </p:txBody>
      </p:sp>
      <p:sp>
        <p:nvSpPr>
          <p:cNvPr id="3" name="TextBox 2">
            <a:extLst>
              <a:ext uri="{FF2B5EF4-FFF2-40B4-BE49-F238E27FC236}">
                <a16:creationId xmlns:a16="http://schemas.microsoft.com/office/drawing/2014/main" id="{59B4515B-38B8-24F2-BFD9-DEAFC931946B}"/>
              </a:ext>
            </a:extLst>
          </p:cNvPr>
          <p:cNvSpPr txBox="1"/>
          <p:nvPr/>
        </p:nvSpPr>
        <p:spPr>
          <a:xfrm>
            <a:off x="0" y="152027"/>
            <a:ext cx="5576207" cy="230832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have finished converting 85% of ESA’s Voice-Lines and put them inside of the Sounds folder.</a:t>
            </a:r>
          </a:p>
          <a:p>
            <a:endParaRPr lang="en-GB" sz="1200" dirty="0"/>
          </a:p>
          <a:p>
            <a:r>
              <a:rPr lang="en-GB" sz="1200" dirty="0"/>
              <a:t>The Attempted zone 0 code for Gwiber from the previous build has caused some issues for the rest of </a:t>
            </a:r>
            <a:r>
              <a:rPr lang="en-GB" sz="1200" dirty="0" err="1"/>
              <a:t>Gwibers</a:t>
            </a:r>
            <a:r>
              <a:rPr lang="en-GB" sz="1200" dirty="0"/>
              <a:t> Movement code and at the time of typing, actively searching for the reason behind the problems. (Visit Build Test 7 in alpha testing table for more details)</a:t>
            </a:r>
          </a:p>
          <a:p>
            <a:endParaRPr lang="en-GB" sz="1200" dirty="0"/>
          </a:p>
          <a:p>
            <a:r>
              <a:rPr lang="en-GB" sz="1200" dirty="0"/>
              <a:t>To help resolve this issue I have made a folder containing Build V.0.6 (Functioning Enemy Movement) then in the same folder added the latest version Build V.0.6.3 Which has the attempted updated code to try and give Gwiber movement behaviour in zone 0+jump-scare, however, this came with some issues.</a:t>
            </a:r>
          </a:p>
        </p:txBody>
      </p:sp>
      <p:sp>
        <p:nvSpPr>
          <p:cNvPr id="6" name="TextBox 5">
            <a:extLst>
              <a:ext uri="{FF2B5EF4-FFF2-40B4-BE49-F238E27FC236}">
                <a16:creationId xmlns:a16="http://schemas.microsoft.com/office/drawing/2014/main" id="{8E2776C1-38CF-1399-C2BB-27CAEC927C99}"/>
              </a:ext>
            </a:extLst>
          </p:cNvPr>
          <p:cNvSpPr txBox="1"/>
          <p:nvPr/>
        </p:nvSpPr>
        <p:spPr>
          <a:xfrm>
            <a:off x="8542002" y="612254"/>
            <a:ext cx="3307343" cy="170816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To do next session</a:t>
            </a:r>
          </a:p>
          <a:p>
            <a:endParaRPr lang="en-GB" sz="1050" dirty="0"/>
          </a:p>
          <a:p>
            <a:r>
              <a:rPr lang="en-GB" sz="1050" dirty="0"/>
              <a:t>Resolve </a:t>
            </a:r>
            <a:r>
              <a:rPr lang="en-GB" sz="1050" dirty="0" err="1"/>
              <a:t>Gwiber’s</a:t>
            </a:r>
            <a:r>
              <a:rPr lang="en-GB" sz="1050" dirty="0"/>
              <a:t> movement Code</a:t>
            </a:r>
          </a:p>
          <a:p>
            <a:endParaRPr lang="en-GB" sz="1050" dirty="0"/>
          </a:p>
          <a:p>
            <a:r>
              <a:rPr lang="en-GB" sz="1050" dirty="0"/>
              <a:t>Design Jump-Scares for AMCD’s</a:t>
            </a:r>
          </a:p>
          <a:p>
            <a:endParaRPr lang="en-GB" sz="1050" dirty="0"/>
          </a:p>
          <a:p>
            <a:r>
              <a:rPr lang="en-GB" sz="1050" dirty="0"/>
              <a:t>Start adding minor mechanics such as end game, game menu, pause menu and control scheme.</a:t>
            </a:r>
          </a:p>
          <a:p>
            <a:endParaRPr lang="en-GB" sz="1050" dirty="0"/>
          </a:p>
          <a:p>
            <a:r>
              <a:rPr lang="en-GB" sz="1050" dirty="0"/>
              <a:t>Finish AMCD’s Designs.</a:t>
            </a:r>
          </a:p>
        </p:txBody>
      </p:sp>
      <p:sp>
        <p:nvSpPr>
          <p:cNvPr id="19" name="TextBox 18">
            <a:extLst>
              <a:ext uri="{FF2B5EF4-FFF2-40B4-BE49-F238E27FC236}">
                <a16:creationId xmlns:a16="http://schemas.microsoft.com/office/drawing/2014/main" id="{465B3F42-895A-AB1A-6047-6DCB76D7E379}"/>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15" name="Picture 14" descr="A screenshot of a computer&#10;&#10;AI-generated content may be incorrect.">
            <a:extLst>
              <a:ext uri="{FF2B5EF4-FFF2-40B4-BE49-F238E27FC236}">
                <a16:creationId xmlns:a16="http://schemas.microsoft.com/office/drawing/2014/main" id="{BAA95945-622E-82A3-842D-BC19245DB53F}"/>
              </a:ext>
            </a:extLst>
          </p:cNvPr>
          <p:cNvPicPr>
            <a:picLocks noChangeAspect="1"/>
          </p:cNvPicPr>
          <p:nvPr/>
        </p:nvPicPr>
        <p:blipFill>
          <a:blip r:embed="rId2"/>
          <a:stretch>
            <a:fillRect/>
          </a:stretch>
        </p:blipFill>
        <p:spPr>
          <a:xfrm>
            <a:off x="6047333" y="720049"/>
            <a:ext cx="2248214" cy="4829849"/>
          </a:xfrm>
          <a:prstGeom prst="rect">
            <a:avLst/>
          </a:prstGeom>
        </p:spPr>
      </p:pic>
    </p:spTree>
    <p:extLst>
      <p:ext uri="{BB962C8B-B14F-4D97-AF65-F5344CB8AC3E}">
        <p14:creationId xmlns:p14="http://schemas.microsoft.com/office/powerpoint/2010/main" val="3031119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683C6-9EAB-BF99-A8E9-F70058DB46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ABC83A-2F60-A128-7935-33D69B2019DF}"/>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21/01/2026</a:t>
            </a:r>
          </a:p>
        </p:txBody>
      </p:sp>
      <p:sp>
        <p:nvSpPr>
          <p:cNvPr id="2" name="TextBox 1">
            <a:extLst>
              <a:ext uri="{FF2B5EF4-FFF2-40B4-BE49-F238E27FC236}">
                <a16:creationId xmlns:a16="http://schemas.microsoft.com/office/drawing/2014/main" id="{3A076CD0-5B22-5B0C-7DEB-EB0030A78E36}"/>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V.0.6.3</a:t>
            </a:r>
          </a:p>
        </p:txBody>
      </p:sp>
      <p:sp>
        <p:nvSpPr>
          <p:cNvPr id="3" name="TextBox 2">
            <a:extLst>
              <a:ext uri="{FF2B5EF4-FFF2-40B4-BE49-F238E27FC236}">
                <a16:creationId xmlns:a16="http://schemas.microsoft.com/office/drawing/2014/main" id="{3CE4025F-D7E1-0680-998A-332B9A883D5F}"/>
              </a:ext>
            </a:extLst>
          </p:cNvPr>
          <p:cNvSpPr txBox="1"/>
          <p:nvPr/>
        </p:nvSpPr>
        <p:spPr>
          <a:xfrm>
            <a:off x="0" y="152027"/>
            <a:ext cx="5576207" cy="452431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was able to fix </a:t>
            </a:r>
            <a:r>
              <a:rPr lang="en-GB" sz="1200" dirty="0" err="1"/>
              <a:t>Gwibers</a:t>
            </a:r>
            <a:r>
              <a:rPr lang="en-GB" sz="1200" dirty="0"/>
              <a:t> Movement code and now his movement is more concrete.</a:t>
            </a:r>
          </a:p>
          <a:p>
            <a:endParaRPr lang="en-GB" sz="1200" dirty="0"/>
          </a:p>
          <a:p>
            <a:r>
              <a:rPr lang="en-GB" sz="1200" dirty="0"/>
              <a:t>The issue before was that my original code was made on light scaffolding, so when I tried adding zone 0, the whole movement code broke.</a:t>
            </a:r>
          </a:p>
          <a:p>
            <a:endParaRPr lang="en-GB" sz="1200" dirty="0"/>
          </a:p>
          <a:p>
            <a:r>
              <a:rPr lang="en-GB" sz="1200" dirty="0"/>
              <a:t>Having some assistance from a friend, we were able to discover the flaws and now Gwiber moves correctly and his behaviour is working 100%. We did remove </a:t>
            </a:r>
            <a:r>
              <a:rPr lang="en-GB" sz="1200" dirty="0" err="1"/>
              <a:t>gwiberpos</a:t>
            </a:r>
            <a:r>
              <a:rPr lang="en-GB" sz="1200" dirty="0"/>
              <a:t> zone 0 from his code due to the realisation that it wasn’t needed for his movement.</a:t>
            </a:r>
          </a:p>
          <a:p>
            <a:endParaRPr lang="en-GB" sz="1200" dirty="0"/>
          </a:p>
          <a:p>
            <a:r>
              <a:rPr lang="en-GB" sz="1200" dirty="0"/>
              <a:t>The jump-scare is also working, however for some reason the </a:t>
            </a:r>
            <a:r>
              <a:rPr lang="en-GB" sz="1200" dirty="0" err="1"/>
              <a:t>instance_create</a:t>
            </a:r>
            <a:r>
              <a:rPr lang="en-GB" sz="1200" dirty="0"/>
              <a:t> isn’t creating the </a:t>
            </a:r>
            <a:r>
              <a:rPr lang="en-GB" sz="1200" dirty="0" err="1"/>
              <a:t>jump_scare</a:t>
            </a:r>
            <a:r>
              <a:rPr lang="en-GB" sz="1200" dirty="0"/>
              <a:t> object for Gwiber.</a:t>
            </a:r>
          </a:p>
          <a:p>
            <a:endParaRPr lang="en-GB" sz="1200" dirty="0"/>
          </a:p>
          <a:p>
            <a:r>
              <a:rPr lang="en-GB" sz="1200" dirty="0"/>
              <a:t>Also, with Gwiber finished, I moved onto K9 in which I altered the original camera layout to have K9 attack both the left and right doors. He, is also extremely quick but the enemy's speeds will be adjusted once all of them are completed.</a:t>
            </a:r>
          </a:p>
          <a:p>
            <a:endParaRPr lang="en-GB" sz="1200" dirty="0"/>
          </a:p>
          <a:p>
            <a:r>
              <a:rPr lang="en-GB" sz="1200" dirty="0"/>
              <a:t>Lastly, instead of the watched code making the enemies movement timers longer, it instead makes the movement countdown slower when watched and faster when not watched, since the original code caused some problems with other timers.</a:t>
            </a:r>
          </a:p>
          <a:p>
            <a:endParaRPr lang="en-GB" sz="1200" dirty="0"/>
          </a:p>
          <a:p>
            <a:r>
              <a:rPr lang="en-GB" sz="1200" dirty="0"/>
              <a:t>Also, most of the code in the step event has instead been moved into alarms, for all of </a:t>
            </a:r>
            <a:r>
              <a:rPr lang="en-GB" sz="1200" dirty="0" err="1"/>
              <a:t>Gwiber’s</a:t>
            </a:r>
            <a:r>
              <a:rPr lang="en-GB" sz="1200" dirty="0"/>
              <a:t> code was running off one frame, which caused a lot of issues.</a:t>
            </a:r>
          </a:p>
        </p:txBody>
      </p:sp>
      <p:sp>
        <p:nvSpPr>
          <p:cNvPr id="6" name="TextBox 5">
            <a:extLst>
              <a:ext uri="{FF2B5EF4-FFF2-40B4-BE49-F238E27FC236}">
                <a16:creationId xmlns:a16="http://schemas.microsoft.com/office/drawing/2014/main" id="{FA16B7EC-75FE-9B28-5F3C-34E6D0B29A9A}"/>
              </a:ext>
            </a:extLst>
          </p:cNvPr>
          <p:cNvSpPr txBox="1"/>
          <p:nvPr/>
        </p:nvSpPr>
        <p:spPr>
          <a:xfrm>
            <a:off x="8542002" y="612254"/>
            <a:ext cx="3307343" cy="219290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What to do Next Session </a:t>
            </a:r>
          </a:p>
          <a:p>
            <a:endParaRPr lang="en-GB" sz="1050" dirty="0"/>
          </a:p>
          <a:p>
            <a:r>
              <a:rPr lang="en-GB" sz="1050" dirty="0"/>
              <a:t>Complete the rest of the </a:t>
            </a:r>
            <a:r>
              <a:rPr lang="en-GB" sz="1050" dirty="0" err="1"/>
              <a:t>enemie’s</a:t>
            </a:r>
            <a:r>
              <a:rPr lang="en-GB" sz="1050" dirty="0"/>
              <a:t> code.</a:t>
            </a:r>
          </a:p>
          <a:p>
            <a:endParaRPr lang="en-GB" sz="1050" dirty="0"/>
          </a:p>
          <a:p>
            <a:r>
              <a:rPr lang="en-GB" sz="1050" dirty="0"/>
              <a:t>Start making new levels</a:t>
            </a:r>
          </a:p>
          <a:p>
            <a:endParaRPr lang="en-GB" sz="1050" dirty="0"/>
          </a:p>
          <a:p>
            <a:r>
              <a:rPr lang="en-GB" sz="1050" dirty="0"/>
              <a:t>Finish making the death-screen room and menu options.</a:t>
            </a:r>
          </a:p>
          <a:p>
            <a:endParaRPr lang="en-GB" sz="1050" dirty="0"/>
          </a:p>
          <a:p>
            <a:r>
              <a:rPr lang="en-GB" sz="1050" dirty="0"/>
              <a:t>Shrink current zones to 400x200 due to size issues and memory. Then adjust code in Camera controller, Gwiber and K9 to new co-ordinates. This will open the opportunity to add more zones.</a:t>
            </a:r>
          </a:p>
        </p:txBody>
      </p:sp>
      <p:sp>
        <p:nvSpPr>
          <p:cNvPr id="19" name="TextBox 18">
            <a:extLst>
              <a:ext uri="{FF2B5EF4-FFF2-40B4-BE49-F238E27FC236}">
                <a16:creationId xmlns:a16="http://schemas.microsoft.com/office/drawing/2014/main" id="{97D54616-45F4-1EDC-63D8-B9CEF19E3521}"/>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7" name="Picture 6" descr="A screenshot of a computer&#10;&#10;AI-generated content may be incorrect.">
            <a:extLst>
              <a:ext uri="{FF2B5EF4-FFF2-40B4-BE49-F238E27FC236}">
                <a16:creationId xmlns:a16="http://schemas.microsoft.com/office/drawing/2014/main" id="{67931DB4-D69C-7870-1C86-362938E93E85}"/>
              </a:ext>
            </a:extLst>
          </p:cNvPr>
          <p:cNvPicPr>
            <a:picLocks noChangeAspect="1"/>
          </p:cNvPicPr>
          <p:nvPr/>
        </p:nvPicPr>
        <p:blipFill>
          <a:blip r:embed="rId2"/>
          <a:stretch>
            <a:fillRect/>
          </a:stretch>
        </p:blipFill>
        <p:spPr>
          <a:xfrm>
            <a:off x="5856734" y="546940"/>
            <a:ext cx="2576455" cy="4508796"/>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10D13559-9A24-1E71-A0B5-1DA41A81AEAD}"/>
              </a:ext>
            </a:extLst>
          </p:cNvPr>
          <p:cNvPicPr>
            <a:picLocks noChangeAspect="1"/>
          </p:cNvPicPr>
          <p:nvPr/>
        </p:nvPicPr>
        <p:blipFill>
          <a:blip r:embed="rId3"/>
          <a:stretch>
            <a:fillRect/>
          </a:stretch>
        </p:blipFill>
        <p:spPr>
          <a:xfrm>
            <a:off x="8822529" y="4014275"/>
            <a:ext cx="2843384" cy="2677213"/>
          </a:xfrm>
          <a:prstGeom prst="rect">
            <a:avLst/>
          </a:prstGeom>
        </p:spPr>
      </p:pic>
      <p:pic>
        <p:nvPicPr>
          <p:cNvPr id="11" name="Picture 10" descr="A screen shot of a computer&#10;&#10;AI-generated content may be incorrect.">
            <a:extLst>
              <a:ext uri="{FF2B5EF4-FFF2-40B4-BE49-F238E27FC236}">
                <a16:creationId xmlns:a16="http://schemas.microsoft.com/office/drawing/2014/main" id="{4C7DB0C1-607E-8B66-D755-44A61F7E5347}"/>
              </a:ext>
            </a:extLst>
          </p:cNvPr>
          <p:cNvPicPr>
            <a:picLocks noChangeAspect="1"/>
          </p:cNvPicPr>
          <p:nvPr/>
        </p:nvPicPr>
        <p:blipFill>
          <a:blip r:embed="rId4"/>
          <a:stretch>
            <a:fillRect/>
          </a:stretch>
        </p:blipFill>
        <p:spPr>
          <a:xfrm>
            <a:off x="4302785" y="5457467"/>
            <a:ext cx="4239217" cy="895475"/>
          </a:xfrm>
          <a:prstGeom prst="rect">
            <a:avLst/>
          </a:prstGeom>
        </p:spPr>
      </p:pic>
      <p:pic>
        <p:nvPicPr>
          <p:cNvPr id="13" name="Picture 12" descr="A screen shot of a computer program&#10;&#10;AI-generated content may be incorrect.">
            <a:extLst>
              <a:ext uri="{FF2B5EF4-FFF2-40B4-BE49-F238E27FC236}">
                <a16:creationId xmlns:a16="http://schemas.microsoft.com/office/drawing/2014/main" id="{CBC0D0F0-074B-BBE9-3687-77AF4E303676}"/>
              </a:ext>
            </a:extLst>
          </p:cNvPr>
          <p:cNvPicPr>
            <a:picLocks noChangeAspect="1"/>
          </p:cNvPicPr>
          <p:nvPr/>
        </p:nvPicPr>
        <p:blipFill>
          <a:blip r:embed="rId5"/>
          <a:srcRect b="23587"/>
          <a:stretch>
            <a:fillRect/>
          </a:stretch>
        </p:blipFill>
        <p:spPr>
          <a:xfrm>
            <a:off x="0" y="5310893"/>
            <a:ext cx="1835990" cy="1485181"/>
          </a:xfrm>
          <a:prstGeom prst="rect">
            <a:avLst/>
          </a:prstGeom>
        </p:spPr>
      </p:pic>
      <p:sp>
        <p:nvSpPr>
          <p:cNvPr id="14" name="TextBox 13">
            <a:extLst>
              <a:ext uri="{FF2B5EF4-FFF2-40B4-BE49-F238E27FC236}">
                <a16:creationId xmlns:a16="http://schemas.microsoft.com/office/drawing/2014/main" id="{C1CAFA85-24A1-783C-4821-BC513F34CB45}"/>
              </a:ext>
            </a:extLst>
          </p:cNvPr>
          <p:cNvSpPr txBox="1"/>
          <p:nvPr/>
        </p:nvSpPr>
        <p:spPr>
          <a:xfrm>
            <a:off x="1944803" y="5380672"/>
            <a:ext cx="2466589" cy="1477328"/>
          </a:xfrm>
          <a:prstGeom prst="rect">
            <a:avLst/>
          </a:prstGeom>
          <a:noFill/>
        </p:spPr>
        <p:txBody>
          <a:bodyPr wrap="square" rtlCol="0">
            <a:spAutoFit/>
          </a:bodyPr>
          <a:lstStyle/>
          <a:p>
            <a:r>
              <a:rPr lang="en-GB" dirty="0"/>
              <a:t>K9 follows the same code format as Gwiber just with the addition of the right zones and door.</a:t>
            </a:r>
          </a:p>
        </p:txBody>
      </p:sp>
    </p:spTree>
    <p:extLst>
      <p:ext uri="{BB962C8B-B14F-4D97-AF65-F5344CB8AC3E}">
        <p14:creationId xmlns:p14="http://schemas.microsoft.com/office/powerpoint/2010/main" val="2175222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331C-8449-0DAD-D1C3-E85B448858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159D22-CEFB-AFF4-F638-1B2579888140}"/>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22/01/2026</a:t>
            </a:r>
          </a:p>
        </p:txBody>
      </p:sp>
      <p:sp>
        <p:nvSpPr>
          <p:cNvPr id="2" name="TextBox 1">
            <a:extLst>
              <a:ext uri="{FF2B5EF4-FFF2-40B4-BE49-F238E27FC236}">
                <a16:creationId xmlns:a16="http://schemas.microsoft.com/office/drawing/2014/main" id="{3C6BBB91-A2E6-AEA6-C6C4-20AC820CD169}"/>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V.0.6.4</a:t>
            </a:r>
          </a:p>
        </p:txBody>
      </p:sp>
      <p:sp>
        <p:nvSpPr>
          <p:cNvPr id="3" name="TextBox 2">
            <a:extLst>
              <a:ext uri="{FF2B5EF4-FFF2-40B4-BE49-F238E27FC236}">
                <a16:creationId xmlns:a16="http://schemas.microsoft.com/office/drawing/2014/main" id="{91C5E40A-822F-899E-6D80-3F311DDAF6A9}"/>
              </a:ext>
            </a:extLst>
          </p:cNvPr>
          <p:cNvSpPr txBox="1"/>
          <p:nvPr/>
        </p:nvSpPr>
        <p:spPr>
          <a:xfrm>
            <a:off x="0" y="152027"/>
            <a:ext cx="5576207" cy="378565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decreased the size of the current zones and then made the correct adjustments to the Camera and Enemies co-ordinates for where the zones are.</a:t>
            </a:r>
          </a:p>
          <a:p>
            <a:endParaRPr lang="en-GB" sz="1200" dirty="0"/>
          </a:p>
          <a:p>
            <a:r>
              <a:rPr lang="en-GB" sz="1200" dirty="0"/>
              <a:t>I finished designing the buttons for the menu screen room and finished creating the death-screen room.</a:t>
            </a:r>
          </a:p>
          <a:p>
            <a:endParaRPr lang="en-GB" sz="1200" dirty="0"/>
          </a:p>
          <a:p>
            <a:r>
              <a:rPr lang="en-GB" sz="1200" dirty="0"/>
              <a:t>The new starting room is now the menu screen room with buttons allowing the player to start game. I Have also made a 3</a:t>
            </a:r>
            <a:r>
              <a:rPr lang="en-GB" sz="1200" baseline="30000" dirty="0"/>
              <a:t>rd</a:t>
            </a:r>
            <a:r>
              <a:rPr lang="en-GB" sz="1200" dirty="0"/>
              <a:t> room for displaying the control schemes as an optional button for the player to use while in menu screen room.</a:t>
            </a:r>
          </a:p>
          <a:p>
            <a:endParaRPr lang="en-GB" sz="1200" dirty="0"/>
          </a:p>
          <a:p>
            <a:r>
              <a:rPr lang="en-GB" sz="1200" dirty="0"/>
              <a:t>The Main zones such as the office were tricky to re-size so I did some maths and for the doors/vents to match the size of the new zones 400x225, I will divide their current size by 4.8 which was the divided decrease the camera zones shrunk by. 1920 divided by 400 = 4.8. So, the doors are 1000x1000, so I divide 1000 by 4.8 to get a more accurate measurement. 1000/4.8 is 208.3 to the nearest 10. So, to make it easier I’ll just shrink it to 208. For the main view doors, they are 200x740, however, I don’t need to divide their numbers for I can just use my eyes to size them to the new scales.</a:t>
            </a:r>
          </a:p>
          <a:p>
            <a:endParaRPr lang="en-GB" sz="1200" dirty="0"/>
          </a:p>
          <a:p>
            <a:endParaRPr lang="en-GB" sz="1200" dirty="0"/>
          </a:p>
        </p:txBody>
      </p:sp>
      <p:sp>
        <p:nvSpPr>
          <p:cNvPr id="6" name="TextBox 5">
            <a:extLst>
              <a:ext uri="{FF2B5EF4-FFF2-40B4-BE49-F238E27FC236}">
                <a16:creationId xmlns:a16="http://schemas.microsoft.com/office/drawing/2014/main" id="{BC19F5DA-D971-E655-3114-179D39E77071}"/>
              </a:ext>
            </a:extLst>
          </p:cNvPr>
          <p:cNvSpPr txBox="1"/>
          <p:nvPr/>
        </p:nvSpPr>
        <p:spPr>
          <a:xfrm>
            <a:off x="8542002" y="612254"/>
            <a:ext cx="3307343" cy="122341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What to do Next Session </a:t>
            </a:r>
          </a:p>
          <a:p>
            <a:endParaRPr lang="en-GB" sz="1050" dirty="0"/>
          </a:p>
          <a:p>
            <a:r>
              <a:rPr lang="en-GB" sz="1050" dirty="0"/>
              <a:t>Make Zones Smaller without breaking the viewports.</a:t>
            </a:r>
          </a:p>
          <a:p>
            <a:endParaRPr lang="en-GB" sz="1050" dirty="0"/>
          </a:p>
          <a:p>
            <a:r>
              <a:rPr lang="en-GB" sz="1050" dirty="0"/>
              <a:t>Safely Remove Smooth Movement.</a:t>
            </a:r>
          </a:p>
          <a:p>
            <a:endParaRPr lang="en-GB" sz="1050" dirty="0"/>
          </a:p>
          <a:p>
            <a:r>
              <a:rPr lang="en-GB" sz="1050" dirty="0"/>
              <a:t>Make Death-Screen</a:t>
            </a:r>
          </a:p>
        </p:txBody>
      </p:sp>
      <p:sp>
        <p:nvSpPr>
          <p:cNvPr id="19" name="TextBox 18">
            <a:extLst>
              <a:ext uri="{FF2B5EF4-FFF2-40B4-BE49-F238E27FC236}">
                <a16:creationId xmlns:a16="http://schemas.microsoft.com/office/drawing/2014/main" id="{05CF4C08-117B-9194-B590-2430D0ADE4FB}"/>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23" name="Picture 22" descr="A screenshot of a computer&#10;&#10;AI-generated content may be incorrect.">
            <a:extLst>
              <a:ext uri="{FF2B5EF4-FFF2-40B4-BE49-F238E27FC236}">
                <a16:creationId xmlns:a16="http://schemas.microsoft.com/office/drawing/2014/main" id="{5C3BAF57-CEBC-E822-3C04-1019C35AF6C4}"/>
              </a:ext>
            </a:extLst>
          </p:cNvPr>
          <p:cNvPicPr>
            <a:picLocks noChangeAspect="1"/>
          </p:cNvPicPr>
          <p:nvPr/>
        </p:nvPicPr>
        <p:blipFill>
          <a:blip r:embed="rId2"/>
          <a:stretch>
            <a:fillRect/>
          </a:stretch>
        </p:blipFill>
        <p:spPr>
          <a:xfrm>
            <a:off x="215994" y="3569566"/>
            <a:ext cx="2572109" cy="1943371"/>
          </a:xfrm>
          <a:prstGeom prst="rect">
            <a:avLst/>
          </a:prstGeom>
        </p:spPr>
      </p:pic>
      <p:pic>
        <p:nvPicPr>
          <p:cNvPr id="25" name="Picture 24" descr="A screenshot of a computer&#10;&#10;AI-generated content may be incorrect.">
            <a:extLst>
              <a:ext uri="{FF2B5EF4-FFF2-40B4-BE49-F238E27FC236}">
                <a16:creationId xmlns:a16="http://schemas.microsoft.com/office/drawing/2014/main" id="{C19EC527-655E-BA37-4AB1-8C1ADFD1B6E6}"/>
              </a:ext>
            </a:extLst>
          </p:cNvPr>
          <p:cNvPicPr>
            <a:picLocks noChangeAspect="1"/>
          </p:cNvPicPr>
          <p:nvPr/>
        </p:nvPicPr>
        <p:blipFill>
          <a:blip r:embed="rId3"/>
          <a:stretch>
            <a:fillRect/>
          </a:stretch>
        </p:blipFill>
        <p:spPr>
          <a:xfrm>
            <a:off x="5706365" y="534613"/>
            <a:ext cx="2705478" cy="2114845"/>
          </a:xfrm>
          <a:prstGeom prst="rect">
            <a:avLst/>
          </a:prstGeom>
        </p:spPr>
      </p:pic>
      <p:pic>
        <p:nvPicPr>
          <p:cNvPr id="27" name="Picture 26" descr="A blue rectangle with white border&#10;&#10;AI-generated content may be incorrect.">
            <a:extLst>
              <a:ext uri="{FF2B5EF4-FFF2-40B4-BE49-F238E27FC236}">
                <a16:creationId xmlns:a16="http://schemas.microsoft.com/office/drawing/2014/main" id="{B55928DA-C613-664F-E7D1-488E62CB1086}"/>
              </a:ext>
            </a:extLst>
          </p:cNvPr>
          <p:cNvPicPr>
            <a:picLocks noChangeAspect="1"/>
          </p:cNvPicPr>
          <p:nvPr/>
        </p:nvPicPr>
        <p:blipFill>
          <a:blip r:embed="rId4"/>
          <a:stretch>
            <a:fillRect/>
          </a:stretch>
        </p:blipFill>
        <p:spPr>
          <a:xfrm>
            <a:off x="2949919" y="3429000"/>
            <a:ext cx="1771897" cy="952633"/>
          </a:xfrm>
          <a:prstGeom prst="rect">
            <a:avLst/>
          </a:prstGeom>
        </p:spPr>
      </p:pic>
      <p:pic>
        <p:nvPicPr>
          <p:cNvPr id="29" name="Picture 28">
            <a:extLst>
              <a:ext uri="{FF2B5EF4-FFF2-40B4-BE49-F238E27FC236}">
                <a16:creationId xmlns:a16="http://schemas.microsoft.com/office/drawing/2014/main" id="{21705148-A5FF-6ED5-9DC6-5C61848F301C}"/>
              </a:ext>
            </a:extLst>
          </p:cNvPr>
          <p:cNvPicPr>
            <a:picLocks noChangeAspect="1"/>
          </p:cNvPicPr>
          <p:nvPr/>
        </p:nvPicPr>
        <p:blipFill>
          <a:blip r:embed="rId5"/>
          <a:stretch>
            <a:fillRect/>
          </a:stretch>
        </p:blipFill>
        <p:spPr>
          <a:xfrm>
            <a:off x="215994" y="5633055"/>
            <a:ext cx="10078857" cy="1009791"/>
          </a:xfrm>
          <a:prstGeom prst="rect">
            <a:avLst/>
          </a:prstGeom>
        </p:spPr>
      </p:pic>
      <p:sp>
        <p:nvSpPr>
          <p:cNvPr id="30" name="TextBox 29">
            <a:extLst>
              <a:ext uri="{FF2B5EF4-FFF2-40B4-BE49-F238E27FC236}">
                <a16:creationId xmlns:a16="http://schemas.microsoft.com/office/drawing/2014/main" id="{1CA8D09C-DF4E-54F0-847D-659B3EBD7337}"/>
              </a:ext>
            </a:extLst>
          </p:cNvPr>
          <p:cNvSpPr txBox="1"/>
          <p:nvPr/>
        </p:nvSpPr>
        <p:spPr>
          <a:xfrm>
            <a:off x="5780314" y="2873829"/>
            <a:ext cx="3307342" cy="2492990"/>
          </a:xfrm>
          <a:prstGeom prst="rect">
            <a:avLst/>
          </a:prstGeom>
          <a:noFill/>
        </p:spPr>
        <p:txBody>
          <a:bodyPr wrap="square" rtlCol="0">
            <a:spAutoFit/>
          </a:bodyPr>
          <a:lstStyle/>
          <a:p>
            <a:r>
              <a:rPr lang="en-GB" sz="1200" dirty="0"/>
              <a:t>The Vents currently are 2000x1050. So, 2000/4.8 and 1050/4.8. 2000/4.8 = 416.7 to the nearest 10 so I’ll round it up to 417. 1050/4,8 = 218.75, so It will be rounded to 219.</a:t>
            </a:r>
          </a:p>
          <a:p>
            <a:endParaRPr lang="en-GB" sz="1200" dirty="0"/>
          </a:p>
          <a:p>
            <a:r>
              <a:rPr lang="en-GB" sz="1200" dirty="0"/>
              <a:t>New vents sizes. Width 417, Height 219. Unfortunately, for no reason, I cannot resize the current vents correctly, so I will re-do them in their new sizes.</a:t>
            </a:r>
          </a:p>
          <a:p>
            <a:endParaRPr lang="en-GB" sz="1200" dirty="0"/>
          </a:p>
          <a:p>
            <a:r>
              <a:rPr lang="en-GB" sz="1200" dirty="0"/>
              <a:t>The enemies have also been scaled down from 1040x1040 to 200x200. Besides Arach because he has a unique size, so for Arach its 200x133.</a:t>
            </a:r>
          </a:p>
        </p:txBody>
      </p:sp>
      <p:pic>
        <p:nvPicPr>
          <p:cNvPr id="32" name="Picture 31" descr="A yellow x on a grey surface&#10;&#10;AI-generated content may be incorrect.">
            <a:extLst>
              <a:ext uri="{FF2B5EF4-FFF2-40B4-BE49-F238E27FC236}">
                <a16:creationId xmlns:a16="http://schemas.microsoft.com/office/drawing/2014/main" id="{2547702E-3E1A-744C-56B9-B7E1EA1B5FBE}"/>
              </a:ext>
            </a:extLst>
          </p:cNvPr>
          <p:cNvPicPr>
            <a:picLocks noChangeAspect="1"/>
          </p:cNvPicPr>
          <p:nvPr/>
        </p:nvPicPr>
        <p:blipFill>
          <a:blip r:embed="rId6"/>
          <a:stretch>
            <a:fillRect/>
          </a:stretch>
        </p:blipFill>
        <p:spPr>
          <a:xfrm>
            <a:off x="3004097" y="4416748"/>
            <a:ext cx="2308281" cy="1181191"/>
          </a:xfrm>
          <a:prstGeom prst="rect">
            <a:avLst/>
          </a:prstGeom>
        </p:spPr>
      </p:pic>
      <p:sp>
        <p:nvSpPr>
          <p:cNvPr id="33" name="TextBox 32">
            <a:extLst>
              <a:ext uri="{FF2B5EF4-FFF2-40B4-BE49-F238E27FC236}">
                <a16:creationId xmlns:a16="http://schemas.microsoft.com/office/drawing/2014/main" id="{D777E7E7-6EAE-DCBD-4553-9625D56A5CC8}"/>
              </a:ext>
            </a:extLst>
          </p:cNvPr>
          <p:cNvSpPr txBox="1"/>
          <p:nvPr/>
        </p:nvSpPr>
        <p:spPr>
          <a:xfrm>
            <a:off x="9242081" y="1799935"/>
            <a:ext cx="2705478" cy="3785652"/>
          </a:xfrm>
          <a:prstGeom prst="rect">
            <a:avLst/>
          </a:prstGeom>
          <a:noFill/>
        </p:spPr>
        <p:txBody>
          <a:bodyPr wrap="square" rtlCol="0">
            <a:spAutoFit/>
          </a:bodyPr>
          <a:lstStyle/>
          <a:p>
            <a:r>
              <a:rPr lang="en-GB" sz="1200" dirty="0"/>
              <a:t>After shrinking everything down and correcting the Co-ordinates of the Camera Positions, I attempted to make the game go full screen while not affecting the viewports size. However, I figured Out that I haven’t defined the size of each </a:t>
            </a:r>
            <a:r>
              <a:rPr lang="en-GB" sz="1200" dirty="0" err="1"/>
              <a:t>camerapos</a:t>
            </a:r>
            <a:r>
              <a:rPr lang="en-GB" sz="1200" dirty="0"/>
              <a:t> since the old code worked fine when everything was 1920x1080 but this time the zones are 400x225 and the viewport is offset. </a:t>
            </a:r>
          </a:p>
          <a:p>
            <a:endParaRPr lang="en-GB" sz="1200" dirty="0"/>
          </a:p>
          <a:p>
            <a:r>
              <a:rPr lang="en-GB" sz="1200" dirty="0"/>
              <a:t>I have also removed smooth transitions and discovered that my camera code was reliant on smooth transition to create variables for the rest of the camera’s code to use. So, removing it caused the cameras to stop working. Visit test 9 for more details.</a:t>
            </a:r>
          </a:p>
        </p:txBody>
      </p:sp>
    </p:spTree>
    <p:extLst>
      <p:ext uri="{BB962C8B-B14F-4D97-AF65-F5344CB8AC3E}">
        <p14:creationId xmlns:p14="http://schemas.microsoft.com/office/powerpoint/2010/main" val="1769043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331C-8449-0DAD-D1C3-E85B448858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159D22-CEFB-AFF4-F638-1B2579888140}"/>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23/01/2026</a:t>
            </a:r>
          </a:p>
        </p:txBody>
      </p:sp>
      <p:sp>
        <p:nvSpPr>
          <p:cNvPr id="2" name="TextBox 1">
            <a:extLst>
              <a:ext uri="{FF2B5EF4-FFF2-40B4-BE49-F238E27FC236}">
                <a16:creationId xmlns:a16="http://schemas.microsoft.com/office/drawing/2014/main" id="{3C6BBB91-A2E6-AEA6-C6C4-20AC820CD169}"/>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V.0.6.4.5</a:t>
            </a:r>
          </a:p>
        </p:txBody>
      </p:sp>
      <p:sp>
        <p:nvSpPr>
          <p:cNvPr id="3" name="TextBox 2">
            <a:extLst>
              <a:ext uri="{FF2B5EF4-FFF2-40B4-BE49-F238E27FC236}">
                <a16:creationId xmlns:a16="http://schemas.microsoft.com/office/drawing/2014/main" id="{91C5E40A-822F-899E-6D80-3F311DDAF6A9}"/>
              </a:ext>
            </a:extLst>
          </p:cNvPr>
          <p:cNvSpPr txBox="1"/>
          <p:nvPr/>
        </p:nvSpPr>
        <p:spPr>
          <a:xfrm>
            <a:off x="0" y="152027"/>
            <a:ext cx="5576207" cy="692497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In this build I went back to Build V.0.6.4 Failed and made it build V.0.6.4.5</a:t>
            </a:r>
          </a:p>
          <a:p>
            <a:endParaRPr lang="en-GB" sz="1200" dirty="0"/>
          </a:p>
          <a:p>
            <a:r>
              <a:rPr lang="en-GB" sz="1200" dirty="0"/>
              <a:t>This time instead of shrinking and resolving the viewports in the current room, I will make a new room in a more appropriate size for more optimization.</a:t>
            </a:r>
          </a:p>
          <a:p>
            <a:endParaRPr lang="en-GB" sz="1200" dirty="0"/>
          </a:p>
          <a:p>
            <a:r>
              <a:rPr lang="en-GB" sz="1200" dirty="0"/>
              <a:t>The new co-ordinates for the zones are…</a:t>
            </a:r>
          </a:p>
          <a:p>
            <a:endParaRPr lang="en-GB" sz="1200" dirty="0"/>
          </a:p>
          <a:p>
            <a:r>
              <a:rPr lang="en-GB" sz="1200" dirty="0"/>
              <a:t>Zone 0 – (30,576)</a:t>
            </a:r>
          </a:p>
          <a:p>
            <a:r>
              <a:rPr lang="en-GB" sz="1200" dirty="0"/>
              <a:t>Zone 1 – (479,575)</a:t>
            </a:r>
          </a:p>
          <a:p>
            <a:r>
              <a:rPr lang="en-GB" sz="1200" dirty="0"/>
              <a:t>Zone 2 – (31,31)</a:t>
            </a:r>
          </a:p>
          <a:p>
            <a:r>
              <a:rPr lang="en-GB" sz="1200" dirty="0"/>
              <a:t>Zone 3 – (479,31)</a:t>
            </a:r>
          </a:p>
          <a:p>
            <a:r>
              <a:rPr lang="en-GB" sz="1200" dirty="0"/>
              <a:t>Zone 4 – (927,31)</a:t>
            </a:r>
          </a:p>
          <a:p>
            <a:r>
              <a:rPr lang="en-GB" sz="1200" dirty="0"/>
              <a:t>Zone 5 – (1375,31)</a:t>
            </a:r>
          </a:p>
          <a:p>
            <a:r>
              <a:rPr lang="en-GB" sz="1200" dirty="0"/>
              <a:t>Zone 6 – (31,319)</a:t>
            </a:r>
          </a:p>
          <a:p>
            <a:r>
              <a:rPr lang="en-GB" sz="1200" dirty="0"/>
              <a:t>Zone 7 – (479, 319)</a:t>
            </a:r>
          </a:p>
          <a:p>
            <a:r>
              <a:rPr lang="en-GB" sz="1200" dirty="0"/>
              <a:t>Zone 8 – (927,319)</a:t>
            </a:r>
          </a:p>
          <a:p>
            <a:r>
              <a:rPr lang="en-GB" sz="1200" dirty="0"/>
              <a:t>Zone 9 – (1375,319)</a:t>
            </a:r>
          </a:p>
          <a:p>
            <a:r>
              <a:rPr lang="en-GB" sz="1200" dirty="0"/>
              <a:t>Zone 10 – (31,831)</a:t>
            </a:r>
          </a:p>
          <a:p>
            <a:r>
              <a:rPr lang="en-GB" sz="1200" dirty="0"/>
              <a:t>Zone 11 – (479,831)</a:t>
            </a:r>
          </a:p>
          <a:p>
            <a:r>
              <a:rPr lang="en-GB" sz="1200" dirty="0"/>
              <a:t>Zone 12 – (927,575)</a:t>
            </a:r>
          </a:p>
          <a:p>
            <a:r>
              <a:rPr lang="en-GB" sz="1200" dirty="0"/>
              <a:t>Zone 13 – (1375,575)</a:t>
            </a:r>
          </a:p>
          <a:p>
            <a:endParaRPr lang="en-GB" sz="1200" dirty="0"/>
          </a:p>
          <a:p>
            <a:r>
              <a:rPr lang="en-GB" sz="1200" dirty="0"/>
              <a:t>I have also re-added the code that allowed </a:t>
            </a:r>
            <a:r>
              <a:rPr lang="en-GB" sz="1200" dirty="0" err="1"/>
              <a:t>Gwibers</a:t>
            </a:r>
            <a:r>
              <a:rPr lang="en-GB" sz="1200" dirty="0"/>
              <a:t> Object to originally move parallel to his movement code. So, then the object appears.</a:t>
            </a:r>
          </a:p>
          <a:p>
            <a:r>
              <a:rPr lang="en-GB" sz="1200" dirty="0"/>
              <a:t>Of course, with the new positions of the zones.</a:t>
            </a:r>
          </a:p>
          <a:p>
            <a:endParaRPr lang="en-GB" sz="1200" dirty="0"/>
          </a:p>
          <a:p>
            <a:r>
              <a:rPr lang="en-GB" sz="1200" dirty="0"/>
              <a:t>This code is also put inside of K9 with the correct variables.</a:t>
            </a:r>
          </a:p>
          <a:p>
            <a:endParaRPr lang="en-GB" sz="1200" dirty="0"/>
          </a:p>
          <a:p>
            <a:r>
              <a:rPr lang="en-GB" sz="1200" dirty="0"/>
              <a:t>Re-adding this code back has offered me the opportunity to have the enemies Jump-scares trigger when they are physically in zone 0 for the current trigger code doesn’t seem to work in the movement code for the enemies..</a:t>
            </a:r>
          </a:p>
          <a:p>
            <a:endParaRPr lang="en-GB" sz="1200" dirty="0"/>
          </a:p>
          <a:p>
            <a:r>
              <a:rPr lang="en-GB" sz="1200" dirty="0"/>
              <a:t>I’m using the door state code for changing sprites based off certain conditions which will help greatly in having the enemies jump-scares appear.</a:t>
            </a:r>
          </a:p>
          <a:p>
            <a:endParaRPr lang="en-GB" sz="1200" dirty="0"/>
          </a:p>
          <a:p>
            <a:endParaRPr lang="en-GB" sz="1200" dirty="0"/>
          </a:p>
        </p:txBody>
      </p:sp>
      <p:sp>
        <p:nvSpPr>
          <p:cNvPr id="6" name="TextBox 5">
            <a:extLst>
              <a:ext uri="{FF2B5EF4-FFF2-40B4-BE49-F238E27FC236}">
                <a16:creationId xmlns:a16="http://schemas.microsoft.com/office/drawing/2014/main" id="{BC19F5DA-D971-E655-3114-179D39E77071}"/>
              </a:ext>
            </a:extLst>
          </p:cNvPr>
          <p:cNvSpPr txBox="1"/>
          <p:nvPr/>
        </p:nvSpPr>
        <p:spPr>
          <a:xfrm>
            <a:off x="8542002" y="612254"/>
            <a:ext cx="3307343" cy="170816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50" dirty="0"/>
              <a:t>What to do Next Session </a:t>
            </a:r>
          </a:p>
          <a:p>
            <a:endParaRPr lang="en-GB" sz="1050" dirty="0"/>
          </a:p>
          <a:p>
            <a:r>
              <a:rPr lang="en-GB" sz="1050" dirty="0"/>
              <a:t>Make Death Screen</a:t>
            </a:r>
          </a:p>
          <a:p>
            <a:endParaRPr lang="en-GB" sz="1050" dirty="0"/>
          </a:p>
          <a:p>
            <a:r>
              <a:rPr lang="en-GB" sz="1050" dirty="0"/>
              <a:t>Create Menu Buttons and Death Screen buttons.</a:t>
            </a:r>
          </a:p>
          <a:p>
            <a:endParaRPr lang="en-GB" sz="1050" dirty="0"/>
          </a:p>
          <a:p>
            <a:r>
              <a:rPr lang="en-GB" sz="1050" dirty="0"/>
              <a:t>Begin making Level 2</a:t>
            </a:r>
          </a:p>
          <a:p>
            <a:endParaRPr lang="en-GB" sz="1050" dirty="0"/>
          </a:p>
          <a:p>
            <a:r>
              <a:rPr lang="en-GB" sz="1050" dirty="0"/>
              <a:t>Create Jump-Scares for rest of the enemies.</a:t>
            </a:r>
          </a:p>
          <a:p>
            <a:endParaRPr lang="en-GB" sz="1050" dirty="0"/>
          </a:p>
        </p:txBody>
      </p:sp>
      <p:sp>
        <p:nvSpPr>
          <p:cNvPr id="19" name="TextBox 18">
            <a:extLst>
              <a:ext uri="{FF2B5EF4-FFF2-40B4-BE49-F238E27FC236}">
                <a16:creationId xmlns:a16="http://schemas.microsoft.com/office/drawing/2014/main" id="{05CF4C08-117B-9194-B590-2430D0ADE4FB}"/>
              </a:ext>
            </a:extLst>
          </p:cNvPr>
          <p:cNvSpPr txBox="1"/>
          <p:nvPr/>
        </p:nvSpPr>
        <p:spPr>
          <a:xfrm>
            <a:off x="5662412" y="720049"/>
            <a:ext cx="2408464" cy="369332"/>
          </a:xfrm>
          <a:prstGeom prst="rect">
            <a:avLst/>
          </a:prstGeom>
          <a:noFill/>
        </p:spPr>
        <p:txBody>
          <a:bodyPr wrap="square" rtlCol="0">
            <a:spAutoFit/>
          </a:bodyPr>
          <a:lstStyle/>
          <a:p>
            <a:r>
              <a:rPr lang="en-GB" dirty="0"/>
              <a:t> </a:t>
            </a:r>
          </a:p>
        </p:txBody>
      </p:sp>
      <p:pic>
        <p:nvPicPr>
          <p:cNvPr id="7" name="Picture 6">
            <a:extLst>
              <a:ext uri="{FF2B5EF4-FFF2-40B4-BE49-F238E27FC236}">
                <a16:creationId xmlns:a16="http://schemas.microsoft.com/office/drawing/2014/main" id="{37687C7A-2E84-94CC-BC79-FB8627AF33F0}"/>
              </a:ext>
            </a:extLst>
          </p:cNvPr>
          <p:cNvPicPr>
            <a:picLocks noChangeAspect="1"/>
          </p:cNvPicPr>
          <p:nvPr/>
        </p:nvPicPr>
        <p:blipFill>
          <a:blip r:embed="rId2"/>
          <a:stretch>
            <a:fillRect/>
          </a:stretch>
        </p:blipFill>
        <p:spPr>
          <a:xfrm>
            <a:off x="5739708" y="659858"/>
            <a:ext cx="2638793" cy="1657581"/>
          </a:xfrm>
          <a:prstGeom prst="rect">
            <a:avLst/>
          </a:prstGeom>
        </p:spPr>
      </p:pic>
      <p:pic>
        <p:nvPicPr>
          <p:cNvPr id="9" name="Picture 8">
            <a:extLst>
              <a:ext uri="{FF2B5EF4-FFF2-40B4-BE49-F238E27FC236}">
                <a16:creationId xmlns:a16="http://schemas.microsoft.com/office/drawing/2014/main" id="{E616CFFC-457E-A832-986D-F92F2150F1C1}"/>
              </a:ext>
            </a:extLst>
          </p:cNvPr>
          <p:cNvPicPr>
            <a:picLocks noChangeAspect="1"/>
          </p:cNvPicPr>
          <p:nvPr/>
        </p:nvPicPr>
        <p:blipFill>
          <a:blip r:embed="rId3"/>
          <a:stretch>
            <a:fillRect/>
          </a:stretch>
        </p:blipFill>
        <p:spPr>
          <a:xfrm>
            <a:off x="5739708" y="2577684"/>
            <a:ext cx="2446199" cy="2982646"/>
          </a:xfrm>
          <a:prstGeom prst="rect">
            <a:avLst/>
          </a:prstGeom>
        </p:spPr>
      </p:pic>
      <p:pic>
        <p:nvPicPr>
          <p:cNvPr id="11" name="Picture 10">
            <a:extLst>
              <a:ext uri="{FF2B5EF4-FFF2-40B4-BE49-F238E27FC236}">
                <a16:creationId xmlns:a16="http://schemas.microsoft.com/office/drawing/2014/main" id="{8B098DB9-F16B-830A-299C-8E6D322B471D}"/>
              </a:ext>
            </a:extLst>
          </p:cNvPr>
          <p:cNvPicPr>
            <a:picLocks noChangeAspect="1"/>
          </p:cNvPicPr>
          <p:nvPr/>
        </p:nvPicPr>
        <p:blipFill>
          <a:blip r:embed="rId4"/>
          <a:stretch>
            <a:fillRect/>
          </a:stretch>
        </p:blipFill>
        <p:spPr>
          <a:xfrm>
            <a:off x="5739708" y="5737032"/>
            <a:ext cx="4269039" cy="801837"/>
          </a:xfrm>
          <a:prstGeom prst="rect">
            <a:avLst/>
          </a:prstGeom>
        </p:spPr>
      </p:pic>
      <p:sp>
        <p:nvSpPr>
          <p:cNvPr id="12" name="TextBox 11">
            <a:extLst>
              <a:ext uri="{FF2B5EF4-FFF2-40B4-BE49-F238E27FC236}">
                <a16:creationId xmlns:a16="http://schemas.microsoft.com/office/drawing/2014/main" id="{79C5F1C5-069A-7158-3B93-495328A95D36}"/>
              </a:ext>
            </a:extLst>
          </p:cNvPr>
          <p:cNvSpPr txBox="1"/>
          <p:nvPr/>
        </p:nvSpPr>
        <p:spPr>
          <a:xfrm>
            <a:off x="8324338" y="2618108"/>
            <a:ext cx="2983197" cy="1954381"/>
          </a:xfrm>
          <a:prstGeom prst="rect">
            <a:avLst/>
          </a:prstGeom>
          <a:noFill/>
        </p:spPr>
        <p:txBody>
          <a:bodyPr wrap="square" rtlCol="0">
            <a:spAutoFit/>
          </a:bodyPr>
          <a:lstStyle/>
          <a:p>
            <a:r>
              <a:rPr lang="en-GB" sz="1100" dirty="0"/>
              <a:t>I had to make </a:t>
            </a:r>
            <a:r>
              <a:rPr lang="en-GB" sz="1100" dirty="0" err="1"/>
              <a:t>Gwibers</a:t>
            </a:r>
            <a:r>
              <a:rPr lang="en-GB" sz="1100" dirty="0"/>
              <a:t> </a:t>
            </a:r>
            <a:r>
              <a:rPr lang="en-GB" sz="1100" dirty="0" err="1"/>
              <a:t>Killstate</a:t>
            </a:r>
            <a:r>
              <a:rPr lang="en-GB" sz="1100" dirty="0"/>
              <a:t> a global to have the jump-scare have a condition for when it should change </a:t>
            </a:r>
            <a:r>
              <a:rPr lang="en-GB" sz="1100" dirty="0" err="1"/>
              <a:t>Gwibers</a:t>
            </a:r>
            <a:r>
              <a:rPr lang="en-GB" sz="1100" dirty="0"/>
              <a:t> Sprite.</a:t>
            </a:r>
          </a:p>
          <a:p>
            <a:endParaRPr lang="en-GB" sz="1100" dirty="0"/>
          </a:p>
          <a:p>
            <a:r>
              <a:rPr lang="en-GB" sz="1100" dirty="0"/>
              <a:t>I also, re-attempted to re-do my camera code for I no longer wish to have smooth transition and I believe to have found a method that doesn’t require viewports. To ensure that I don’t lose the old code for safety reasons I will make Build V.0.6.5. This new code was tested in test 11 build V.0.6.5.</a:t>
            </a:r>
          </a:p>
        </p:txBody>
      </p:sp>
    </p:spTree>
    <p:extLst>
      <p:ext uri="{BB962C8B-B14F-4D97-AF65-F5344CB8AC3E}">
        <p14:creationId xmlns:p14="http://schemas.microsoft.com/office/powerpoint/2010/main" val="2446944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2C5E8-779C-7113-034F-7329FCC5DC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C012F9-0808-A8B2-491D-A16C8FFA92E0}"/>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23/01/2026</a:t>
            </a:r>
          </a:p>
        </p:txBody>
      </p:sp>
      <p:sp>
        <p:nvSpPr>
          <p:cNvPr id="2" name="TextBox 1">
            <a:extLst>
              <a:ext uri="{FF2B5EF4-FFF2-40B4-BE49-F238E27FC236}">
                <a16:creationId xmlns:a16="http://schemas.microsoft.com/office/drawing/2014/main" id="{72322FD7-25B7-1D72-92EF-2B798F661297}"/>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9AA725A4-F00C-30FC-D8E4-3F6F95150895}"/>
              </a:ext>
            </a:extLst>
          </p:cNvPr>
          <p:cNvSpPr txBox="1"/>
          <p:nvPr/>
        </p:nvSpPr>
        <p:spPr>
          <a:xfrm>
            <a:off x="0" y="152027"/>
            <a:ext cx="5576207" cy="101566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Build V.0.6.5 has working enemies (Gwiber and K9) and the new camera controller is 100% completed.</a:t>
            </a:r>
          </a:p>
          <a:p>
            <a:r>
              <a:rPr lang="en-GB" sz="1200" dirty="0" err="1"/>
              <a:t>Rm_office</a:t>
            </a:r>
            <a:r>
              <a:rPr lang="en-GB" sz="1200" dirty="0"/>
              <a:t> is now Level 1. (rm_level1)</a:t>
            </a:r>
          </a:p>
          <a:p>
            <a:r>
              <a:rPr lang="en-GB" sz="1200" dirty="0"/>
              <a:t>I have also finished designing the buttons and background for the menu and death screens. The start button takes the player to level one with Gwiber and K9.</a:t>
            </a:r>
          </a:p>
        </p:txBody>
      </p:sp>
      <p:pic>
        <p:nvPicPr>
          <p:cNvPr id="6" name="Picture 5" descr="A screenshot of a video game&#10;&#10;AI-generated content may be incorrect.">
            <a:extLst>
              <a:ext uri="{FF2B5EF4-FFF2-40B4-BE49-F238E27FC236}">
                <a16:creationId xmlns:a16="http://schemas.microsoft.com/office/drawing/2014/main" id="{C234081F-9781-74E4-546E-83D67303384D}"/>
              </a:ext>
            </a:extLst>
          </p:cNvPr>
          <p:cNvPicPr>
            <a:picLocks noChangeAspect="1"/>
          </p:cNvPicPr>
          <p:nvPr/>
        </p:nvPicPr>
        <p:blipFill>
          <a:blip r:embed="rId2"/>
          <a:stretch>
            <a:fillRect/>
          </a:stretch>
        </p:blipFill>
        <p:spPr>
          <a:xfrm>
            <a:off x="269422" y="1275873"/>
            <a:ext cx="9004534" cy="5259902"/>
          </a:xfrm>
          <a:prstGeom prst="rect">
            <a:avLst/>
          </a:prstGeom>
        </p:spPr>
      </p:pic>
      <p:pic>
        <p:nvPicPr>
          <p:cNvPr id="8" name="Picture 7" descr="A close up of a text&#10;&#10;AI-generated content may be incorrect.">
            <a:extLst>
              <a:ext uri="{FF2B5EF4-FFF2-40B4-BE49-F238E27FC236}">
                <a16:creationId xmlns:a16="http://schemas.microsoft.com/office/drawing/2014/main" id="{1393A406-5096-761B-E908-8F1B7D23D32B}"/>
              </a:ext>
            </a:extLst>
          </p:cNvPr>
          <p:cNvPicPr>
            <a:picLocks noChangeAspect="1"/>
          </p:cNvPicPr>
          <p:nvPr/>
        </p:nvPicPr>
        <p:blipFill>
          <a:blip r:embed="rId3"/>
          <a:stretch>
            <a:fillRect/>
          </a:stretch>
        </p:blipFill>
        <p:spPr>
          <a:xfrm>
            <a:off x="5992381" y="567987"/>
            <a:ext cx="2934109" cy="590632"/>
          </a:xfrm>
          <a:prstGeom prst="rect">
            <a:avLst/>
          </a:prstGeom>
        </p:spPr>
      </p:pic>
      <p:sp>
        <p:nvSpPr>
          <p:cNvPr id="9" name="TextBox 8">
            <a:extLst>
              <a:ext uri="{FF2B5EF4-FFF2-40B4-BE49-F238E27FC236}">
                <a16:creationId xmlns:a16="http://schemas.microsoft.com/office/drawing/2014/main" id="{11897B8E-B835-6E46-C041-E0E3C6F112ED}"/>
              </a:ext>
            </a:extLst>
          </p:cNvPr>
          <p:cNvSpPr txBox="1"/>
          <p:nvPr/>
        </p:nvSpPr>
        <p:spPr>
          <a:xfrm>
            <a:off x="9519557" y="1036864"/>
            <a:ext cx="2073729" cy="2462213"/>
          </a:xfrm>
          <a:prstGeom prst="rect">
            <a:avLst/>
          </a:prstGeom>
          <a:noFill/>
        </p:spPr>
        <p:txBody>
          <a:bodyPr wrap="square" rtlCol="0">
            <a:spAutoFit/>
          </a:bodyPr>
          <a:lstStyle/>
          <a:p>
            <a:r>
              <a:rPr lang="en-GB" sz="1400" dirty="0"/>
              <a:t>What to Do next session</a:t>
            </a:r>
          </a:p>
          <a:p>
            <a:endParaRPr lang="en-GB" sz="1400" dirty="0"/>
          </a:p>
          <a:p>
            <a:r>
              <a:rPr lang="en-GB" sz="1400" dirty="0"/>
              <a:t>Create Level 2</a:t>
            </a:r>
          </a:p>
          <a:p>
            <a:endParaRPr lang="en-GB" sz="1400" dirty="0"/>
          </a:p>
          <a:p>
            <a:r>
              <a:rPr lang="en-GB" sz="1400" dirty="0"/>
              <a:t>Finish Death Screen</a:t>
            </a:r>
          </a:p>
          <a:p>
            <a:endParaRPr lang="en-GB" sz="1400" dirty="0"/>
          </a:p>
          <a:p>
            <a:r>
              <a:rPr lang="en-GB" sz="1400" dirty="0"/>
              <a:t>Code Bulker and the other enemies for level 2.</a:t>
            </a:r>
          </a:p>
          <a:p>
            <a:endParaRPr lang="en-GB" sz="1400" dirty="0"/>
          </a:p>
          <a:p>
            <a:endParaRPr lang="en-GB" sz="1400" dirty="0"/>
          </a:p>
        </p:txBody>
      </p:sp>
    </p:spTree>
    <p:extLst>
      <p:ext uri="{BB962C8B-B14F-4D97-AF65-F5344CB8AC3E}">
        <p14:creationId xmlns:p14="http://schemas.microsoft.com/office/powerpoint/2010/main" val="3310580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A4C11-FA38-DBC3-860F-01B73BA013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3436AC-4570-BE1E-6AD7-BBD26FF628B4}"/>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26/01/2026</a:t>
            </a:r>
          </a:p>
        </p:txBody>
      </p:sp>
      <p:sp>
        <p:nvSpPr>
          <p:cNvPr id="2" name="TextBox 1">
            <a:extLst>
              <a:ext uri="{FF2B5EF4-FFF2-40B4-BE49-F238E27FC236}">
                <a16:creationId xmlns:a16="http://schemas.microsoft.com/office/drawing/2014/main" id="{ACDF2AE4-8804-15D9-BC33-3E18CE6B1EF7}"/>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95FB4D45-69BE-38D4-7538-98B5EDBB45A8}"/>
              </a:ext>
            </a:extLst>
          </p:cNvPr>
          <p:cNvSpPr txBox="1"/>
          <p:nvPr/>
        </p:nvSpPr>
        <p:spPr>
          <a:xfrm>
            <a:off x="0" y="152027"/>
            <a:ext cx="5576207" cy="286232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Bulker’s code is a copy of </a:t>
            </a:r>
            <a:r>
              <a:rPr lang="en-GB" sz="1200" dirty="0" err="1"/>
              <a:t>Gwibers</a:t>
            </a:r>
            <a:r>
              <a:rPr lang="en-GB" sz="1200" dirty="0"/>
              <a:t> just with re-named variables and timing.</a:t>
            </a:r>
          </a:p>
          <a:p>
            <a:endParaRPr lang="en-GB" sz="1200" dirty="0"/>
          </a:p>
          <a:p>
            <a:r>
              <a:rPr lang="en-GB" sz="1200" dirty="0"/>
              <a:t>I have begun making Level 2 for my game, expanding off the current zones. Level 2 will introduce Bulker into the roster of enemies.</a:t>
            </a:r>
          </a:p>
          <a:p>
            <a:r>
              <a:rPr lang="en-GB" sz="1200" dirty="0"/>
              <a:t>In total there are 20 zones for level 2. I do need to note that every time I add a new zone, I need to update the script and the value that the buttons represent. 14/20 of these zones are camera zones for both the player and the enemies.</a:t>
            </a:r>
          </a:p>
          <a:p>
            <a:endParaRPr lang="en-GB" sz="1200" dirty="0"/>
          </a:p>
          <a:p>
            <a:r>
              <a:rPr lang="en-GB" sz="1200" dirty="0"/>
              <a:t>Also, the new updated camera </a:t>
            </a:r>
            <a:r>
              <a:rPr lang="en-GB" sz="1200" dirty="0" err="1"/>
              <a:t>hud</a:t>
            </a:r>
            <a:r>
              <a:rPr lang="en-GB" sz="1200" dirty="0"/>
              <a:t> layout is much bigger meaning I will have to try and work around the camera view, at least for zone 1 (Camera Hud).</a:t>
            </a:r>
          </a:p>
          <a:p>
            <a:endParaRPr lang="en-GB" sz="1200" dirty="0"/>
          </a:p>
          <a:p>
            <a:r>
              <a:rPr lang="en-GB" sz="1200" dirty="0"/>
              <a:t>Also, added some Place-holder sound effects to use for key parts of the games like enemy movement and doors closing.</a:t>
            </a:r>
          </a:p>
          <a:p>
            <a:r>
              <a:rPr lang="en-GB" sz="1200" dirty="0"/>
              <a:t>Also, for some reason, when game starts somehow level 2 is affecting level 1 so all I get is a dark screen when I click start.</a:t>
            </a:r>
          </a:p>
        </p:txBody>
      </p:sp>
      <p:pic>
        <p:nvPicPr>
          <p:cNvPr id="7" name="Picture 6" descr="A screen shot of a computer program&#10;&#10;AI-generated content may be incorrect.">
            <a:extLst>
              <a:ext uri="{FF2B5EF4-FFF2-40B4-BE49-F238E27FC236}">
                <a16:creationId xmlns:a16="http://schemas.microsoft.com/office/drawing/2014/main" id="{6C57EF37-7BFA-6462-C4AD-34C9F5FD698D}"/>
              </a:ext>
            </a:extLst>
          </p:cNvPr>
          <p:cNvPicPr>
            <a:picLocks noChangeAspect="1"/>
          </p:cNvPicPr>
          <p:nvPr/>
        </p:nvPicPr>
        <p:blipFill>
          <a:blip r:embed="rId2"/>
          <a:stretch>
            <a:fillRect/>
          </a:stretch>
        </p:blipFill>
        <p:spPr>
          <a:xfrm>
            <a:off x="5992585" y="540352"/>
            <a:ext cx="2960686" cy="203678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F9FA7D4-550C-11FA-6D93-E8BACDAE3642}"/>
              </a:ext>
            </a:extLst>
          </p:cNvPr>
          <p:cNvPicPr>
            <a:picLocks noChangeAspect="1"/>
          </p:cNvPicPr>
          <p:nvPr/>
        </p:nvPicPr>
        <p:blipFill>
          <a:blip r:embed="rId3"/>
          <a:stretch>
            <a:fillRect/>
          </a:stretch>
        </p:blipFill>
        <p:spPr>
          <a:xfrm>
            <a:off x="171450" y="2968602"/>
            <a:ext cx="3671000" cy="3531986"/>
          </a:xfrm>
          <a:prstGeom prst="rect">
            <a:avLst/>
          </a:prstGeom>
        </p:spPr>
      </p:pic>
      <p:pic>
        <p:nvPicPr>
          <p:cNvPr id="11" name="Picture 10" descr="A computer screen shot of a network&#10;&#10;AI-generated content may be incorrect.">
            <a:extLst>
              <a:ext uri="{FF2B5EF4-FFF2-40B4-BE49-F238E27FC236}">
                <a16:creationId xmlns:a16="http://schemas.microsoft.com/office/drawing/2014/main" id="{0D560ABB-4855-DD0D-61F6-C6A570725988}"/>
              </a:ext>
            </a:extLst>
          </p:cNvPr>
          <p:cNvPicPr>
            <a:picLocks noChangeAspect="1"/>
          </p:cNvPicPr>
          <p:nvPr/>
        </p:nvPicPr>
        <p:blipFill>
          <a:blip r:embed="rId4"/>
          <a:stretch>
            <a:fillRect/>
          </a:stretch>
        </p:blipFill>
        <p:spPr>
          <a:xfrm>
            <a:off x="4571231" y="2878587"/>
            <a:ext cx="5372850" cy="3858163"/>
          </a:xfrm>
          <a:prstGeom prst="rect">
            <a:avLst/>
          </a:prstGeom>
        </p:spPr>
      </p:pic>
    </p:spTree>
    <p:extLst>
      <p:ext uri="{BB962C8B-B14F-4D97-AF65-F5344CB8AC3E}">
        <p14:creationId xmlns:p14="http://schemas.microsoft.com/office/powerpoint/2010/main" val="1396102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9345-4628-A3C1-2D0D-7A1BE0C93B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A7A869-587A-4435-F2BD-37298F2AF70A}"/>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26/01/2026</a:t>
            </a:r>
          </a:p>
        </p:txBody>
      </p:sp>
      <p:sp>
        <p:nvSpPr>
          <p:cNvPr id="2" name="TextBox 1">
            <a:extLst>
              <a:ext uri="{FF2B5EF4-FFF2-40B4-BE49-F238E27FC236}">
                <a16:creationId xmlns:a16="http://schemas.microsoft.com/office/drawing/2014/main" id="{00C0F9FF-1952-A285-05A3-B7251FBE5424}"/>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CA69D0FE-BAFE-3A86-FFF6-BC078FFB9587}"/>
              </a:ext>
            </a:extLst>
          </p:cNvPr>
          <p:cNvSpPr txBox="1"/>
          <p:nvPr/>
        </p:nvSpPr>
        <p:spPr>
          <a:xfrm>
            <a:off x="0" y="152027"/>
            <a:ext cx="5576207" cy="193899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This an continuation of the previous slide. I have discovered the problem, and it was my lack of care. I was making edits to the same camera controller level 1 was using.</a:t>
            </a:r>
          </a:p>
          <a:p>
            <a:endParaRPr lang="en-GB" sz="1200" dirty="0"/>
          </a:p>
          <a:p>
            <a:r>
              <a:rPr lang="en-GB" sz="1200" dirty="0"/>
              <a:t>I’ve made two controllers now both for their respective rooms and I’ve restored the original Camera Controller.</a:t>
            </a:r>
          </a:p>
          <a:p>
            <a:endParaRPr lang="en-GB" sz="1200" dirty="0"/>
          </a:p>
          <a:p>
            <a:r>
              <a:rPr lang="en-GB" sz="1200" dirty="0"/>
              <a:t>Turns out I need duplicate versions of everything that uses the </a:t>
            </a:r>
            <a:r>
              <a:rPr lang="en-GB" sz="1200" dirty="0" err="1"/>
              <a:t>change_camera_script</a:t>
            </a:r>
            <a:r>
              <a:rPr lang="en-GB" sz="1200" dirty="0"/>
              <a:t> to have the camera work for each new room.</a:t>
            </a:r>
          </a:p>
          <a:p>
            <a:endParaRPr lang="en-GB" sz="1200" dirty="0"/>
          </a:p>
        </p:txBody>
      </p:sp>
      <p:sp>
        <p:nvSpPr>
          <p:cNvPr id="12" name="TextBox 11">
            <a:extLst>
              <a:ext uri="{FF2B5EF4-FFF2-40B4-BE49-F238E27FC236}">
                <a16:creationId xmlns:a16="http://schemas.microsoft.com/office/drawing/2014/main" id="{E4657D6D-732E-851C-6391-3731DE728E98}"/>
              </a:ext>
            </a:extLst>
          </p:cNvPr>
          <p:cNvSpPr txBox="1"/>
          <p:nvPr/>
        </p:nvSpPr>
        <p:spPr>
          <a:xfrm>
            <a:off x="9570683" y="508708"/>
            <a:ext cx="2073729" cy="3754874"/>
          </a:xfrm>
          <a:prstGeom prst="rect">
            <a:avLst/>
          </a:prstGeom>
          <a:noFill/>
        </p:spPr>
        <p:txBody>
          <a:bodyPr wrap="square" rtlCol="0">
            <a:spAutoFit/>
          </a:bodyPr>
          <a:lstStyle/>
          <a:p>
            <a:r>
              <a:rPr lang="en-GB" sz="1400" dirty="0"/>
              <a:t>What to Do next session</a:t>
            </a:r>
          </a:p>
          <a:p>
            <a:endParaRPr lang="en-GB" sz="1400" dirty="0"/>
          </a:p>
          <a:p>
            <a:r>
              <a:rPr lang="en-GB" sz="1400" dirty="0"/>
              <a:t>Finish Enemies code based on new zones.</a:t>
            </a:r>
          </a:p>
          <a:p>
            <a:endParaRPr lang="en-GB" sz="1400" dirty="0"/>
          </a:p>
          <a:p>
            <a:r>
              <a:rPr lang="en-GB" sz="1400" dirty="0"/>
              <a:t>Start on Level 3</a:t>
            </a:r>
          </a:p>
          <a:p>
            <a:endParaRPr lang="en-GB" sz="1400" dirty="0"/>
          </a:p>
          <a:p>
            <a:r>
              <a:rPr lang="en-GB" sz="1400" dirty="0"/>
              <a:t>Code Arach</a:t>
            </a:r>
          </a:p>
          <a:p>
            <a:endParaRPr lang="en-GB" sz="1400" dirty="0"/>
          </a:p>
          <a:p>
            <a:r>
              <a:rPr lang="en-GB" sz="1400" dirty="0"/>
              <a:t>Make player go to death screen when killed.</a:t>
            </a:r>
          </a:p>
          <a:p>
            <a:endParaRPr lang="en-GB" sz="1400" dirty="0"/>
          </a:p>
          <a:p>
            <a:r>
              <a:rPr lang="en-GB" sz="1400" dirty="0"/>
              <a:t>Make about button</a:t>
            </a:r>
          </a:p>
          <a:p>
            <a:endParaRPr lang="en-GB" sz="1400" dirty="0"/>
          </a:p>
          <a:p>
            <a:endParaRPr lang="en-GB" sz="1400" dirty="0"/>
          </a:p>
          <a:p>
            <a:endParaRPr lang="en-GB" sz="1400" dirty="0"/>
          </a:p>
          <a:p>
            <a:endParaRPr lang="en-GB" sz="1400" dirty="0"/>
          </a:p>
        </p:txBody>
      </p:sp>
      <p:pic>
        <p:nvPicPr>
          <p:cNvPr id="6" name="Picture 5" descr="A screenshot of a computer&#10;&#10;AI-generated content may be incorrect.">
            <a:extLst>
              <a:ext uri="{FF2B5EF4-FFF2-40B4-BE49-F238E27FC236}">
                <a16:creationId xmlns:a16="http://schemas.microsoft.com/office/drawing/2014/main" id="{662060B5-0FB4-40CF-4218-4D8024EBE90C}"/>
              </a:ext>
            </a:extLst>
          </p:cNvPr>
          <p:cNvPicPr>
            <a:picLocks noChangeAspect="1"/>
          </p:cNvPicPr>
          <p:nvPr/>
        </p:nvPicPr>
        <p:blipFill>
          <a:blip r:embed="rId2"/>
          <a:stretch>
            <a:fillRect/>
          </a:stretch>
        </p:blipFill>
        <p:spPr>
          <a:xfrm>
            <a:off x="547588" y="2610492"/>
            <a:ext cx="2019582" cy="543001"/>
          </a:xfrm>
          <a:prstGeom prst="rect">
            <a:avLst/>
          </a:prstGeom>
        </p:spPr>
      </p:pic>
      <p:pic>
        <p:nvPicPr>
          <p:cNvPr id="10" name="Picture 9">
            <a:extLst>
              <a:ext uri="{FF2B5EF4-FFF2-40B4-BE49-F238E27FC236}">
                <a16:creationId xmlns:a16="http://schemas.microsoft.com/office/drawing/2014/main" id="{E9603090-F2BE-8DAF-A1C6-06B389A2D6DF}"/>
              </a:ext>
            </a:extLst>
          </p:cNvPr>
          <p:cNvPicPr>
            <a:picLocks noChangeAspect="1"/>
          </p:cNvPicPr>
          <p:nvPr/>
        </p:nvPicPr>
        <p:blipFill>
          <a:blip r:embed="rId3"/>
          <a:stretch>
            <a:fillRect/>
          </a:stretch>
        </p:blipFill>
        <p:spPr>
          <a:xfrm>
            <a:off x="662512" y="3771884"/>
            <a:ext cx="2229161" cy="228632"/>
          </a:xfrm>
          <a:prstGeom prst="rect">
            <a:avLst/>
          </a:prstGeom>
        </p:spPr>
      </p:pic>
      <p:pic>
        <p:nvPicPr>
          <p:cNvPr id="14" name="Picture 13" descr="A screen shot of a computer program&#10;&#10;AI-generated content may be incorrect.">
            <a:extLst>
              <a:ext uri="{FF2B5EF4-FFF2-40B4-BE49-F238E27FC236}">
                <a16:creationId xmlns:a16="http://schemas.microsoft.com/office/drawing/2014/main" id="{7AAF0E6D-B186-0978-16A8-40F8067C20B9}"/>
              </a:ext>
            </a:extLst>
          </p:cNvPr>
          <p:cNvPicPr>
            <a:picLocks noChangeAspect="1"/>
          </p:cNvPicPr>
          <p:nvPr/>
        </p:nvPicPr>
        <p:blipFill>
          <a:blip r:embed="rId4"/>
          <a:stretch>
            <a:fillRect/>
          </a:stretch>
        </p:blipFill>
        <p:spPr>
          <a:xfrm>
            <a:off x="3174544" y="3400882"/>
            <a:ext cx="4039164" cy="1438476"/>
          </a:xfrm>
          <a:prstGeom prst="rect">
            <a:avLst/>
          </a:prstGeom>
        </p:spPr>
      </p:pic>
    </p:spTree>
    <p:extLst>
      <p:ext uri="{BB962C8B-B14F-4D97-AF65-F5344CB8AC3E}">
        <p14:creationId xmlns:p14="http://schemas.microsoft.com/office/powerpoint/2010/main" val="3270231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625D-F1E3-37EE-DD87-D5E1D0DBEE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ABAE57-1604-5296-2401-1A924AA5EFE1}"/>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27/01/2026</a:t>
            </a:r>
          </a:p>
        </p:txBody>
      </p:sp>
      <p:sp>
        <p:nvSpPr>
          <p:cNvPr id="2" name="TextBox 1">
            <a:extLst>
              <a:ext uri="{FF2B5EF4-FFF2-40B4-BE49-F238E27FC236}">
                <a16:creationId xmlns:a16="http://schemas.microsoft.com/office/drawing/2014/main" id="{76734B0F-95AE-27E0-5BB9-9877C7FA7087}"/>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3FE027C8-FF0C-B56F-752D-F73E66BA5C9B}"/>
              </a:ext>
            </a:extLst>
          </p:cNvPr>
          <p:cNvSpPr txBox="1"/>
          <p:nvPr/>
        </p:nvSpPr>
        <p:spPr>
          <a:xfrm>
            <a:off x="0" y="152027"/>
            <a:ext cx="5576207" cy="32316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have changed the options button to be an about me page which basically just me talking about why the game was made.</a:t>
            </a:r>
          </a:p>
          <a:p>
            <a:endParaRPr lang="en-GB" sz="1200" dirty="0"/>
          </a:p>
          <a:p>
            <a:r>
              <a:rPr lang="en-GB" sz="1200" dirty="0"/>
              <a:t>I also made ait so that when the player dies either from an enemy or due to low oxygen, they get teleported to the death screen room.</a:t>
            </a:r>
          </a:p>
          <a:p>
            <a:endParaRPr lang="en-GB" sz="1200" dirty="0"/>
          </a:p>
          <a:p>
            <a:r>
              <a:rPr lang="en-GB" sz="1200" dirty="0"/>
              <a:t>Made Multiple new rooms, including a level selector for the player to choose what level they wish to begin in.</a:t>
            </a:r>
          </a:p>
          <a:p>
            <a:endParaRPr lang="en-GB" sz="1200" dirty="0"/>
          </a:p>
          <a:p>
            <a:r>
              <a:rPr lang="en-GB" sz="1200" dirty="0"/>
              <a:t>For the enemies, they will have duplicate versions of themselves per level. Mainly due to the problem of them containing future zone code in the first level but breaking if they tried access a non-existent zone.</a:t>
            </a:r>
          </a:p>
          <a:p>
            <a:endParaRPr lang="en-GB" sz="1200" dirty="0"/>
          </a:p>
          <a:p>
            <a:r>
              <a:rPr lang="en-GB" sz="1200" dirty="0"/>
              <a:t>Altering their code is very simple, for all I need to do is just add the extra zones to their pre-existing movement.</a:t>
            </a:r>
          </a:p>
          <a:p>
            <a:endParaRPr lang="en-GB" sz="1200" dirty="0"/>
          </a:p>
          <a:p>
            <a:endParaRPr lang="en-GB" sz="1200" dirty="0"/>
          </a:p>
        </p:txBody>
      </p:sp>
      <p:pic>
        <p:nvPicPr>
          <p:cNvPr id="7" name="Picture 6" descr="A screen shot of a computer&#10;&#10;AI-generated content may be incorrect.">
            <a:extLst>
              <a:ext uri="{FF2B5EF4-FFF2-40B4-BE49-F238E27FC236}">
                <a16:creationId xmlns:a16="http://schemas.microsoft.com/office/drawing/2014/main" id="{D562636A-310A-95F9-3800-C3558D751CF7}"/>
              </a:ext>
            </a:extLst>
          </p:cNvPr>
          <p:cNvPicPr>
            <a:picLocks noChangeAspect="1"/>
          </p:cNvPicPr>
          <p:nvPr/>
        </p:nvPicPr>
        <p:blipFill>
          <a:blip r:embed="rId2"/>
          <a:stretch>
            <a:fillRect/>
          </a:stretch>
        </p:blipFill>
        <p:spPr>
          <a:xfrm>
            <a:off x="216829" y="2973759"/>
            <a:ext cx="2924583" cy="117173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C8EA18A-6B10-7535-B098-75BF335D3BF7}"/>
              </a:ext>
            </a:extLst>
          </p:cNvPr>
          <p:cNvPicPr>
            <a:picLocks noChangeAspect="1"/>
          </p:cNvPicPr>
          <p:nvPr/>
        </p:nvPicPr>
        <p:blipFill>
          <a:blip r:embed="rId3"/>
          <a:stretch>
            <a:fillRect/>
          </a:stretch>
        </p:blipFill>
        <p:spPr>
          <a:xfrm>
            <a:off x="136930" y="4158978"/>
            <a:ext cx="4992381" cy="2546995"/>
          </a:xfrm>
          <a:prstGeom prst="rect">
            <a:avLst/>
          </a:prstGeom>
        </p:spPr>
      </p:pic>
      <p:pic>
        <p:nvPicPr>
          <p:cNvPr id="13" name="Picture 12" descr="A computer screen shot of a program&#10;&#10;AI-generated content may be incorrect.">
            <a:extLst>
              <a:ext uri="{FF2B5EF4-FFF2-40B4-BE49-F238E27FC236}">
                <a16:creationId xmlns:a16="http://schemas.microsoft.com/office/drawing/2014/main" id="{F17C99F0-37EF-1E4C-553C-C4FE89C93B0D}"/>
              </a:ext>
            </a:extLst>
          </p:cNvPr>
          <p:cNvPicPr>
            <a:picLocks noChangeAspect="1"/>
          </p:cNvPicPr>
          <p:nvPr/>
        </p:nvPicPr>
        <p:blipFill>
          <a:blip r:embed="rId4"/>
          <a:stretch>
            <a:fillRect/>
          </a:stretch>
        </p:blipFill>
        <p:spPr>
          <a:xfrm>
            <a:off x="5925410" y="1276169"/>
            <a:ext cx="3677163" cy="2591162"/>
          </a:xfrm>
          <a:prstGeom prst="rect">
            <a:avLst/>
          </a:prstGeom>
        </p:spPr>
      </p:pic>
      <p:pic>
        <p:nvPicPr>
          <p:cNvPr id="16" name="Picture 15" descr="A computer screen shot of a computer&#10;&#10;AI-generated content may be incorrect.">
            <a:extLst>
              <a:ext uri="{FF2B5EF4-FFF2-40B4-BE49-F238E27FC236}">
                <a16:creationId xmlns:a16="http://schemas.microsoft.com/office/drawing/2014/main" id="{8C8D8E10-C46D-09FF-9576-EEFF9D15491D}"/>
              </a:ext>
            </a:extLst>
          </p:cNvPr>
          <p:cNvPicPr>
            <a:picLocks noChangeAspect="1"/>
          </p:cNvPicPr>
          <p:nvPr/>
        </p:nvPicPr>
        <p:blipFill>
          <a:blip r:embed="rId5"/>
          <a:stretch>
            <a:fillRect/>
          </a:stretch>
        </p:blipFill>
        <p:spPr>
          <a:xfrm>
            <a:off x="6226150" y="4030616"/>
            <a:ext cx="3476314" cy="2457673"/>
          </a:xfrm>
          <a:prstGeom prst="rect">
            <a:avLst/>
          </a:prstGeom>
        </p:spPr>
      </p:pic>
    </p:spTree>
    <p:extLst>
      <p:ext uri="{BB962C8B-B14F-4D97-AF65-F5344CB8AC3E}">
        <p14:creationId xmlns:p14="http://schemas.microsoft.com/office/powerpoint/2010/main" val="3766735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9C88-0599-9A43-9145-341E9145CD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EFC79D-BB55-F205-BF9B-81A79A16132B}"/>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27/01/2026</a:t>
            </a:r>
          </a:p>
        </p:txBody>
      </p:sp>
      <p:sp>
        <p:nvSpPr>
          <p:cNvPr id="2" name="TextBox 1">
            <a:extLst>
              <a:ext uri="{FF2B5EF4-FFF2-40B4-BE49-F238E27FC236}">
                <a16:creationId xmlns:a16="http://schemas.microsoft.com/office/drawing/2014/main" id="{DCDAF045-3BB1-1CA7-73DA-1B093AF47E9E}"/>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55AC8A76-26E2-6D0D-F18E-5F33536DC810}"/>
              </a:ext>
            </a:extLst>
          </p:cNvPr>
          <p:cNvSpPr txBox="1"/>
          <p:nvPr/>
        </p:nvSpPr>
        <p:spPr>
          <a:xfrm>
            <a:off x="0" y="152027"/>
            <a:ext cx="5576207" cy="397031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Extension of previous slide. I want to mention how Bulker remain at the door longer than the other enemies do.</a:t>
            </a:r>
          </a:p>
          <a:p>
            <a:r>
              <a:rPr lang="en-GB" sz="1200" dirty="0"/>
              <a:t> its simply this code</a:t>
            </a:r>
          </a:p>
          <a:p>
            <a:r>
              <a:rPr lang="en-GB" sz="1200" dirty="0"/>
              <a:t>In alarm 6. </a:t>
            </a:r>
          </a:p>
          <a:p>
            <a:r>
              <a:rPr lang="en-GB" sz="1200" dirty="0"/>
              <a:t>When the office right door is closed his movement time increases from 1500 to 2000. (Adjustments may be made in the future)</a:t>
            </a:r>
          </a:p>
          <a:p>
            <a:endParaRPr lang="en-GB" sz="1200" dirty="0"/>
          </a:p>
          <a:p>
            <a:r>
              <a:rPr lang="en-GB" sz="1200" dirty="0"/>
              <a:t>Now all the enemies in my game at least for level 2 move correctly and have the correct behaviour.</a:t>
            </a:r>
          </a:p>
          <a:p>
            <a:endParaRPr lang="en-GB" sz="1200" dirty="0"/>
          </a:p>
          <a:p>
            <a:r>
              <a:rPr lang="en-GB" sz="1200" dirty="0"/>
              <a:t>To solve the size difference for camera Hud zone I just changed the set size view for when you both exit and open the camera.</a:t>
            </a:r>
          </a:p>
          <a:p>
            <a:endParaRPr lang="en-GB" sz="1200" dirty="0"/>
          </a:p>
          <a:p>
            <a:r>
              <a:rPr lang="en-GB" sz="1200" dirty="0"/>
              <a:t>Next with the death screen finished, coded for the player to change room to </a:t>
            </a:r>
            <a:r>
              <a:rPr lang="en-GB" sz="1200" dirty="0" err="1"/>
              <a:t>rm_death_screen</a:t>
            </a:r>
            <a:r>
              <a:rPr lang="en-GB" sz="1200" dirty="0"/>
              <a:t> when oxygen = 0 or when enemy jump-scares. To do this I gave each enemy a </a:t>
            </a:r>
            <a:r>
              <a:rPr lang="en-GB" sz="1200" dirty="0" err="1"/>
              <a:t>deathscreentimer</a:t>
            </a:r>
            <a:r>
              <a:rPr lang="en-GB" sz="1200" dirty="0"/>
              <a:t>. This timer is to give time for the jump-scare to finish before the player moves to the death screen room. </a:t>
            </a:r>
          </a:p>
          <a:p>
            <a:endParaRPr lang="en-GB" sz="1200" dirty="0"/>
          </a:p>
          <a:p>
            <a:r>
              <a:rPr lang="en-GB" sz="1200" dirty="0"/>
              <a:t>For oxygen, I added a somewhat new mechanic, I had this mechanic originally but removed it for I didn’t see a need for it is the health bar. When oxygen = 0 the health bar goes down by 0.5 and cannot be restored.</a:t>
            </a:r>
          </a:p>
        </p:txBody>
      </p:sp>
      <p:pic>
        <p:nvPicPr>
          <p:cNvPr id="10" name="Picture 9">
            <a:extLst>
              <a:ext uri="{FF2B5EF4-FFF2-40B4-BE49-F238E27FC236}">
                <a16:creationId xmlns:a16="http://schemas.microsoft.com/office/drawing/2014/main" id="{31A709FD-52CC-69FE-CC07-23F8B9BB779B}"/>
              </a:ext>
            </a:extLst>
          </p:cNvPr>
          <p:cNvPicPr>
            <a:picLocks noChangeAspect="1"/>
          </p:cNvPicPr>
          <p:nvPr/>
        </p:nvPicPr>
        <p:blipFill>
          <a:blip r:embed="rId2"/>
          <a:stretch>
            <a:fillRect/>
          </a:stretch>
        </p:blipFill>
        <p:spPr>
          <a:xfrm>
            <a:off x="1432034" y="577787"/>
            <a:ext cx="1686160" cy="266737"/>
          </a:xfrm>
          <a:prstGeom prst="rect">
            <a:avLst/>
          </a:prstGeom>
        </p:spPr>
      </p:pic>
      <p:pic>
        <p:nvPicPr>
          <p:cNvPr id="14" name="Picture 13" descr="A screen shot of a computer program&#10;&#10;AI-generated content may be incorrect.">
            <a:extLst>
              <a:ext uri="{FF2B5EF4-FFF2-40B4-BE49-F238E27FC236}">
                <a16:creationId xmlns:a16="http://schemas.microsoft.com/office/drawing/2014/main" id="{D4D1E843-F525-D20E-1198-1DA885633E10}"/>
              </a:ext>
            </a:extLst>
          </p:cNvPr>
          <p:cNvPicPr>
            <a:picLocks noChangeAspect="1"/>
          </p:cNvPicPr>
          <p:nvPr/>
        </p:nvPicPr>
        <p:blipFill>
          <a:blip r:embed="rId3"/>
          <a:stretch>
            <a:fillRect/>
          </a:stretch>
        </p:blipFill>
        <p:spPr>
          <a:xfrm>
            <a:off x="5836411" y="577787"/>
            <a:ext cx="3961101" cy="3139424"/>
          </a:xfrm>
          <a:prstGeom prst="rect">
            <a:avLst/>
          </a:prstGeom>
        </p:spPr>
      </p:pic>
      <p:pic>
        <p:nvPicPr>
          <p:cNvPr id="19" name="Picture 18" descr="A screen shot of a computer&#10;&#10;AI-generated content may be incorrect.">
            <a:extLst>
              <a:ext uri="{FF2B5EF4-FFF2-40B4-BE49-F238E27FC236}">
                <a16:creationId xmlns:a16="http://schemas.microsoft.com/office/drawing/2014/main" id="{DC67ADB5-A443-9964-296D-F14A58425929}"/>
              </a:ext>
            </a:extLst>
          </p:cNvPr>
          <p:cNvPicPr>
            <a:picLocks noChangeAspect="1"/>
          </p:cNvPicPr>
          <p:nvPr/>
        </p:nvPicPr>
        <p:blipFill>
          <a:blip r:embed="rId4"/>
          <a:stretch>
            <a:fillRect/>
          </a:stretch>
        </p:blipFill>
        <p:spPr>
          <a:xfrm>
            <a:off x="8507186" y="3835195"/>
            <a:ext cx="3555823" cy="1359828"/>
          </a:xfrm>
          <a:prstGeom prst="rect">
            <a:avLst/>
          </a:prstGeom>
        </p:spPr>
      </p:pic>
      <p:pic>
        <p:nvPicPr>
          <p:cNvPr id="21" name="Picture 20" descr="A black background with colorful text&#10;&#10;AI-generated content may be incorrect.">
            <a:extLst>
              <a:ext uri="{FF2B5EF4-FFF2-40B4-BE49-F238E27FC236}">
                <a16:creationId xmlns:a16="http://schemas.microsoft.com/office/drawing/2014/main" id="{FB730EDF-438D-3CAC-35C6-C5CEB705698B}"/>
              </a:ext>
            </a:extLst>
          </p:cNvPr>
          <p:cNvPicPr>
            <a:picLocks noChangeAspect="1"/>
          </p:cNvPicPr>
          <p:nvPr/>
        </p:nvPicPr>
        <p:blipFill>
          <a:blip r:embed="rId5"/>
          <a:stretch>
            <a:fillRect/>
          </a:stretch>
        </p:blipFill>
        <p:spPr>
          <a:xfrm>
            <a:off x="66423" y="4422573"/>
            <a:ext cx="4143953" cy="647790"/>
          </a:xfrm>
          <a:prstGeom prst="rect">
            <a:avLst/>
          </a:prstGeom>
        </p:spPr>
      </p:pic>
      <p:pic>
        <p:nvPicPr>
          <p:cNvPr id="25" name="Picture 24">
            <a:extLst>
              <a:ext uri="{FF2B5EF4-FFF2-40B4-BE49-F238E27FC236}">
                <a16:creationId xmlns:a16="http://schemas.microsoft.com/office/drawing/2014/main" id="{D6577D31-EFBC-0275-A429-A944A2808245}"/>
              </a:ext>
            </a:extLst>
          </p:cNvPr>
          <p:cNvPicPr>
            <a:picLocks noChangeAspect="1"/>
          </p:cNvPicPr>
          <p:nvPr/>
        </p:nvPicPr>
        <p:blipFill>
          <a:blip r:embed="rId6"/>
          <a:stretch>
            <a:fillRect/>
          </a:stretch>
        </p:blipFill>
        <p:spPr>
          <a:xfrm>
            <a:off x="66423" y="4218414"/>
            <a:ext cx="1914792" cy="181000"/>
          </a:xfrm>
          <a:prstGeom prst="rect">
            <a:avLst/>
          </a:prstGeom>
        </p:spPr>
      </p:pic>
      <p:pic>
        <p:nvPicPr>
          <p:cNvPr id="27" name="Picture 26">
            <a:extLst>
              <a:ext uri="{FF2B5EF4-FFF2-40B4-BE49-F238E27FC236}">
                <a16:creationId xmlns:a16="http://schemas.microsoft.com/office/drawing/2014/main" id="{0C263AFF-0270-CD3A-C702-D0E6CE2754AB}"/>
              </a:ext>
            </a:extLst>
          </p:cNvPr>
          <p:cNvPicPr>
            <a:picLocks noChangeAspect="1"/>
          </p:cNvPicPr>
          <p:nvPr/>
        </p:nvPicPr>
        <p:blipFill>
          <a:blip r:embed="rId7"/>
          <a:stretch>
            <a:fillRect/>
          </a:stretch>
        </p:blipFill>
        <p:spPr>
          <a:xfrm>
            <a:off x="66423" y="5480610"/>
            <a:ext cx="1409897" cy="181000"/>
          </a:xfrm>
          <a:prstGeom prst="rect">
            <a:avLst/>
          </a:prstGeom>
        </p:spPr>
      </p:pic>
      <p:pic>
        <p:nvPicPr>
          <p:cNvPr id="29" name="Picture 28" descr="A screenshot of a computer program&#10;&#10;AI-generated content may be incorrect.">
            <a:extLst>
              <a:ext uri="{FF2B5EF4-FFF2-40B4-BE49-F238E27FC236}">
                <a16:creationId xmlns:a16="http://schemas.microsoft.com/office/drawing/2014/main" id="{F962A779-271C-426C-1975-2608A7747F33}"/>
              </a:ext>
            </a:extLst>
          </p:cNvPr>
          <p:cNvPicPr>
            <a:picLocks noChangeAspect="1"/>
          </p:cNvPicPr>
          <p:nvPr/>
        </p:nvPicPr>
        <p:blipFill>
          <a:blip r:embed="rId8"/>
          <a:stretch>
            <a:fillRect/>
          </a:stretch>
        </p:blipFill>
        <p:spPr>
          <a:xfrm>
            <a:off x="75949" y="5726467"/>
            <a:ext cx="2800741" cy="1066949"/>
          </a:xfrm>
          <a:prstGeom prst="rect">
            <a:avLst/>
          </a:prstGeom>
        </p:spPr>
      </p:pic>
      <p:pic>
        <p:nvPicPr>
          <p:cNvPr id="31" name="Picture 30" descr="A screenshot of a computer program&#10;&#10;AI-generated content may be incorrect.">
            <a:extLst>
              <a:ext uri="{FF2B5EF4-FFF2-40B4-BE49-F238E27FC236}">
                <a16:creationId xmlns:a16="http://schemas.microsoft.com/office/drawing/2014/main" id="{8D902745-7EBB-E42D-2E4F-E8C14E9BA457}"/>
              </a:ext>
            </a:extLst>
          </p:cNvPr>
          <p:cNvPicPr>
            <a:picLocks noChangeAspect="1"/>
          </p:cNvPicPr>
          <p:nvPr/>
        </p:nvPicPr>
        <p:blipFill>
          <a:blip r:embed="rId9"/>
          <a:stretch>
            <a:fillRect/>
          </a:stretch>
        </p:blipFill>
        <p:spPr>
          <a:xfrm>
            <a:off x="4407299" y="4218414"/>
            <a:ext cx="3986129" cy="2537202"/>
          </a:xfrm>
          <a:prstGeom prst="rect">
            <a:avLst/>
          </a:prstGeom>
        </p:spPr>
      </p:pic>
    </p:spTree>
    <p:extLst>
      <p:ext uri="{BB962C8B-B14F-4D97-AF65-F5344CB8AC3E}">
        <p14:creationId xmlns:p14="http://schemas.microsoft.com/office/powerpoint/2010/main" val="1365547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07953-DEE8-D255-D8FE-2172E6953C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FD068E-4385-CD29-2B36-944D147ADC19}"/>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27/01/2026</a:t>
            </a:r>
          </a:p>
        </p:txBody>
      </p:sp>
      <p:sp>
        <p:nvSpPr>
          <p:cNvPr id="2" name="TextBox 1">
            <a:extLst>
              <a:ext uri="{FF2B5EF4-FFF2-40B4-BE49-F238E27FC236}">
                <a16:creationId xmlns:a16="http://schemas.microsoft.com/office/drawing/2014/main" id="{F1ABDC10-C9E5-ADDA-5F10-97A0C3B591BE}"/>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V.0.6.5</a:t>
            </a:r>
          </a:p>
        </p:txBody>
      </p:sp>
      <p:sp>
        <p:nvSpPr>
          <p:cNvPr id="3" name="TextBox 2">
            <a:extLst>
              <a:ext uri="{FF2B5EF4-FFF2-40B4-BE49-F238E27FC236}">
                <a16:creationId xmlns:a16="http://schemas.microsoft.com/office/drawing/2014/main" id="{0BA054E2-5A8A-1344-B5D9-D379C4B286E0}"/>
              </a:ext>
            </a:extLst>
          </p:cNvPr>
          <p:cNvSpPr txBox="1"/>
          <p:nvPr/>
        </p:nvSpPr>
        <p:spPr>
          <a:xfrm>
            <a:off x="0" y="152027"/>
            <a:ext cx="5576207" cy="193899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Continuation.</a:t>
            </a:r>
          </a:p>
          <a:p>
            <a:endParaRPr lang="en-GB" sz="1200" dirty="0"/>
          </a:p>
          <a:p>
            <a:r>
              <a:rPr lang="en-GB" sz="1200" dirty="0"/>
              <a:t>This is just to mention the player health mechanic.</a:t>
            </a:r>
          </a:p>
          <a:p>
            <a:endParaRPr lang="en-GB" sz="1200" dirty="0"/>
          </a:p>
          <a:p>
            <a:r>
              <a:rPr lang="en-GB" sz="1200" dirty="0"/>
              <a:t>When oxygen = 0, player health goes down by 0.5. When player health = 0, go to death screen room. Then the timer resets itself back to 100.</a:t>
            </a:r>
          </a:p>
          <a:p>
            <a:endParaRPr lang="en-GB" sz="1200" dirty="0"/>
          </a:p>
          <a:p>
            <a:r>
              <a:rPr lang="en-GB" sz="1200" dirty="0"/>
              <a:t>I also copied over the GUI code for the oxygen to get a status bar that decreases and increases. However, the player Health cannot be restored if oxygen is restored.</a:t>
            </a:r>
          </a:p>
        </p:txBody>
      </p:sp>
      <p:sp>
        <p:nvSpPr>
          <p:cNvPr id="12" name="TextBox 11">
            <a:extLst>
              <a:ext uri="{FF2B5EF4-FFF2-40B4-BE49-F238E27FC236}">
                <a16:creationId xmlns:a16="http://schemas.microsoft.com/office/drawing/2014/main" id="{AC84ABBC-F0AD-4A94-2998-F05AAA42C866}"/>
              </a:ext>
            </a:extLst>
          </p:cNvPr>
          <p:cNvSpPr txBox="1"/>
          <p:nvPr/>
        </p:nvSpPr>
        <p:spPr>
          <a:xfrm>
            <a:off x="8815512" y="753345"/>
            <a:ext cx="2073729" cy="2462213"/>
          </a:xfrm>
          <a:prstGeom prst="rect">
            <a:avLst/>
          </a:prstGeom>
          <a:noFill/>
        </p:spPr>
        <p:txBody>
          <a:bodyPr wrap="square" rtlCol="0">
            <a:spAutoFit/>
          </a:bodyPr>
          <a:lstStyle/>
          <a:p>
            <a:r>
              <a:rPr lang="en-GB" sz="1400" dirty="0"/>
              <a:t>What to Do next session</a:t>
            </a:r>
          </a:p>
          <a:p>
            <a:endParaRPr lang="en-GB" sz="1400" dirty="0"/>
          </a:p>
          <a:p>
            <a:r>
              <a:rPr lang="en-GB" sz="1400" dirty="0"/>
              <a:t>Code </a:t>
            </a:r>
            <a:r>
              <a:rPr lang="en-GB" sz="1400" dirty="0" err="1"/>
              <a:t>Arach</a:t>
            </a:r>
            <a:endParaRPr lang="en-GB" sz="1400" dirty="0"/>
          </a:p>
          <a:p>
            <a:endParaRPr lang="en-GB" sz="1400" dirty="0"/>
          </a:p>
          <a:p>
            <a:r>
              <a:rPr lang="en-GB" sz="1400" dirty="0"/>
              <a:t>Create Level 3</a:t>
            </a:r>
          </a:p>
          <a:p>
            <a:endParaRPr lang="en-GB" sz="1400" dirty="0"/>
          </a:p>
          <a:p>
            <a:r>
              <a:rPr lang="en-GB" sz="1400" dirty="0"/>
              <a:t>Create more zones</a:t>
            </a:r>
          </a:p>
          <a:p>
            <a:endParaRPr lang="en-GB" sz="1400" dirty="0"/>
          </a:p>
          <a:p>
            <a:endParaRPr lang="en-GB" sz="1400" dirty="0"/>
          </a:p>
          <a:p>
            <a:endParaRPr lang="en-GB" sz="1400" dirty="0"/>
          </a:p>
          <a:p>
            <a:endParaRPr lang="en-GB" sz="1400" dirty="0"/>
          </a:p>
        </p:txBody>
      </p:sp>
      <p:pic>
        <p:nvPicPr>
          <p:cNvPr id="8" name="Picture 7" descr="A screenshot of a computer program&#10;&#10;AI-generated content may be incorrect.">
            <a:extLst>
              <a:ext uri="{FF2B5EF4-FFF2-40B4-BE49-F238E27FC236}">
                <a16:creationId xmlns:a16="http://schemas.microsoft.com/office/drawing/2014/main" id="{2001273F-305B-C176-64BC-2DC71D923DE8}"/>
              </a:ext>
            </a:extLst>
          </p:cNvPr>
          <p:cNvPicPr>
            <a:picLocks noChangeAspect="1"/>
          </p:cNvPicPr>
          <p:nvPr/>
        </p:nvPicPr>
        <p:blipFill>
          <a:blip r:embed="rId2"/>
          <a:stretch>
            <a:fillRect/>
          </a:stretch>
        </p:blipFill>
        <p:spPr>
          <a:xfrm>
            <a:off x="97972" y="2448256"/>
            <a:ext cx="6230219" cy="4134427"/>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482D21FF-7080-2E9A-A1C0-AE31D040268B}"/>
              </a:ext>
            </a:extLst>
          </p:cNvPr>
          <p:cNvPicPr>
            <a:picLocks noChangeAspect="1"/>
          </p:cNvPicPr>
          <p:nvPr/>
        </p:nvPicPr>
        <p:blipFill>
          <a:blip r:embed="rId3"/>
          <a:stretch>
            <a:fillRect/>
          </a:stretch>
        </p:blipFill>
        <p:spPr>
          <a:xfrm>
            <a:off x="6230219" y="1733781"/>
            <a:ext cx="1857634" cy="714475"/>
          </a:xfrm>
          <a:prstGeom prst="rect">
            <a:avLst/>
          </a:prstGeom>
        </p:spPr>
      </p:pic>
    </p:spTree>
    <p:extLst>
      <p:ext uri="{BB962C8B-B14F-4D97-AF65-F5344CB8AC3E}">
        <p14:creationId xmlns:p14="http://schemas.microsoft.com/office/powerpoint/2010/main" val="541209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07953-DEE8-D255-D8FE-2172E6953C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FD068E-4385-CD29-2B36-944D147ADC19}"/>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29/01/2026</a:t>
            </a:r>
          </a:p>
        </p:txBody>
      </p:sp>
      <p:sp>
        <p:nvSpPr>
          <p:cNvPr id="2" name="TextBox 1">
            <a:extLst>
              <a:ext uri="{FF2B5EF4-FFF2-40B4-BE49-F238E27FC236}">
                <a16:creationId xmlns:a16="http://schemas.microsoft.com/office/drawing/2014/main" id="{F1ABDC10-C9E5-ADDA-5F10-97A0C3B591BE}"/>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V.0.7/.1</a:t>
            </a:r>
          </a:p>
        </p:txBody>
      </p:sp>
      <p:sp>
        <p:nvSpPr>
          <p:cNvPr id="3" name="TextBox 2">
            <a:extLst>
              <a:ext uri="{FF2B5EF4-FFF2-40B4-BE49-F238E27FC236}">
                <a16:creationId xmlns:a16="http://schemas.microsoft.com/office/drawing/2014/main" id="{0BA054E2-5A8A-1344-B5D9-D379C4B286E0}"/>
              </a:ext>
            </a:extLst>
          </p:cNvPr>
          <p:cNvSpPr txBox="1"/>
          <p:nvPr/>
        </p:nvSpPr>
        <p:spPr>
          <a:xfrm>
            <a:off x="0" y="152027"/>
            <a:ext cx="5576207" cy="452431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Arach’s code allows him to move between zones 5 and 8. During this, if the front vent is open while he’s in camera 5, he will proceed to go on the offensive but just a second after the attack timer begins Arach plays a vent sound so the player can have time to react fast enough to close the vent. This plays the same for when he is in camera 8.</a:t>
            </a:r>
          </a:p>
          <a:p>
            <a:endParaRPr lang="en-GB" sz="1200" dirty="0"/>
          </a:p>
          <a:p>
            <a:r>
              <a:rPr lang="en-GB" sz="1200" dirty="0"/>
              <a:t>I can now move onto my next build V.0.7.1 where I’ll begin designing the prototype and begin transferring the level 3 objects into level 4 which is easier for, I do not plan to add more zones at this time.</a:t>
            </a:r>
          </a:p>
          <a:p>
            <a:endParaRPr lang="en-GB" sz="1200" dirty="0"/>
          </a:p>
          <a:p>
            <a:r>
              <a:rPr lang="en-GB" sz="1200" dirty="0"/>
              <a:t>Also, making Level 4 was a breeze since I didn’t need any more new zones meaning I could just copy level 3 without needing to change much besides variable names.</a:t>
            </a:r>
          </a:p>
          <a:p>
            <a:endParaRPr lang="en-GB" sz="1200" dirty="0"/>
          </a:p>
          <a:p>
            <a:r>
              <a:rPr lang="en-GB" sz="1200" dirty="0"/>
              <a:t>If you are looking through my versions, you might have noticed that I recently started using </a:t>
            </a:r>
            <a:r>
              <a:rPr lang="en-GB" sz="1200" dirty="0" err="1"/>
              <a:t>lvl</a:t>
            </a:r>
            <a:r>
              <a:rPr lang="en-GB" sz="1200" dirty="0"/>
              <a:t> instead of level. This was done just to safe time and make naming much easier to do. So, </a:t>
            </a:r>
            <a:r>
              <a:rPr lang="en-GB" sz="1200" dirty="0" err="1"/>
              <a:t>lvl</a:t>
            </a:r>
            <a:r>
              <a:rPr lang="en-GB" sz="1200" dirty="0"/>
              <a:t> is just Level.</a:t>
            </a:r>
          </a:p>
          <a:p>
            <a:endParaRPr lang="en-GB" sz="1200" dirty="0"/>
          </a:p>
          <a:p>
            <a:r>
              <a:rPr lang="en-GB" sz="1200" dirty="0"/>
              <a:t>To make Prototype I will use level 3 K9 as the foundation for the prototypes code.</a:t>
            </a:r>
          </a:p>
          <a:p>
            <a:endParaRPr lang="en-GB" sz="1200" dirty="0"/>
          </a:p>
          <a:p>
            <a:r>
              <a:rPr lang="en-GB" sz="1200" dirty="0"/>
              <a:t>Finally Prototypes design is completed.</a:t>
            </a:r>
          </a:p>
          <a:p>
            <a:r>
              <a:rPr lang="en-GB" sz="1200" dirty="0"/>
              <a:t>I always planned for him to me a fusion</a:t>
            </a:r>
          </a:p>
          <a:p>
            <a:r>
              <a:rPr lang="en-GB" sz="1200" dirty="0"/>
              <a:t>Of the other AMCD’s and I think it came</a:t>
            </a:r>
          </a:p>
          <a:p>
            <a:r>
              <a:rPr lang="en-GB" sz="1200" dirty="0"/>
              <a:t>Out perfectly.</a:t>
            </a:r>
          </a:p>
        </p:txBody>
      </p:sp>
      <p:pic>
        <p:nvPicPr>
          <p:cNvPr id="11" name="Picture 10" descr="A screen shot of a computer&#10;&#10;AI-generated content may be incorrect.">
            <a:extLst>
              <a:ext uri="{FF2B5EF4-FFF2-40B4-BE49-F238E27FC236}">
                <a16:creationId xmlns:a16="http://schemas.microsoft.com/office/drawing/2014/main" id="{4560D85E-4DCB-4F35-6ADC-A6787A918037}"/>
              </a:ext>
            </a:extLst>
          </p:cNvPr>
          <p:cNvPicPr>
            <a:picLocks noChangeAspect="1"/>
          </p:cNvPicPr>
          <p:nvPr/>
        </p:nvPicPr>
        <p:blipFill>
          <a:blip r:embed="rId2"/>
          <a:stretch>
            <a:fillRect/>
          </a:stretch>
        </p:blipFill>
        <p:spPr>
          <a:xfrm>
            <a:off x="6533679" y="5709053"/>
            <a:ext cx="4991797" cy="676369"/>
          </a:xfrm>
          <a:prstGeom prst="rect">
            <a:avLst/>
          </a:prstGeom>
        </p:spPr>
      </p:pic>
      <p:pic>
        <p:nvPicPr>
          <p:cNvPr id="14" name="Picture 13" descr="A screen shot of a computer program&#10;&#10;AI-generated content may be incorrect.">
            <a:extLst>
              <a:ext uri="{FF2B5EF4-FFF2-40B4-BE49-F238E27FC236}">
                <a16:creationId xmlns:a16="http://schemas.microsoft.com/office/drawing/2014/main" id="{E1164DD6-C6E7-C4EB-CACF-C7BB87978DDB}"/>
              </a:ext>
            </a:extLst>
          </p:cNvPr>
          <p:cNvPicPr>
            <a:picLocks noChangeAspect="1"/>
          </p:cNvPicPr>
          <p:nvPr/>
        </p:nvPicPr>
        <p:blipFill>
          <a:blip r:embed="rId3"/>
          <a:stretch>
            <a:fillRect/>
          </a:stretch>
        </p:blipFill>
        <p:spPr>
          <a:xfrm>
            <a:off x="6407670" y="1439343"/>
            <a:ext cx="4553585" cy="4039164"/>
          </a:xfrm>
          <a:prstGeom prst="rect">
            <a:avLst/>
          </a:prstGeom>
        </p:spPr>
      </p:pic>
      <p:pic>
        <p:nvPicPr>
          <p:cNvPr id="6" name="Picture 5" descr="A screenshot of a computer screen&#10;&#10;AI-generated content may be incorrect.">
            <a:extLst>
              <a:ext uri="{FF2B5EF4-FFF2-40B4-BE49-F238E27FC236}">
                <a16:creationId xmlns:a16="http://schemas.microsoft.com/office/drawing/2014/main" id="{722DC87C-C839-85D9-FAF5-F2BF44603B15}"/>
              </a:ext>
            </a:extLst>
          </p:cNvPr>
          <p:cNvPicPr>
            <a:picLocks noChangeAspect="1"/>
          </p:cNvPicPr>
          <p:nvPr/>
        </p:nvPicPr>
        <p:blipFill>
          <a:blip r:embed="rId4"/>
          <a:stretch>
            <a:fillRect/>
          </a:stretch>
        </p:blipFill>
        <p:spPr>
          <a:xfrm>
            <a:off x="2694874" y="3985262"/>
            <a:ext cx="2963448" cy="2751488"/>
          </a:xfrm>
          <a:prstGeom prst="rect">
            <a:avLst/>
          </a:prstGeom>
        </p:spPr>
      </p:pic>
    </p:spTree>
    <p:extLst>
      <p:ext uri="{BB962C8B-B14F-4D97-AF65-F5344CB8AC3E}">
        <p14:creationId xmlns:p14="http://schemas.microsoft.com/office/powerpoint/2010/main" val="4147215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A59C-A830-8604-FCEE-F5252D38F9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338D4A-55EF-DFF3-7166-23A778A7C0D6}"/>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29/01/2026</a:t>
            </a:r>
          </a:p>
        </p:txBody>
      </p:sp>
      <p:sp>
        <p:nvSpPr>
          <p:cNvPr id="2" name="TextBox 1">
            <a:extLst>
              <a:ext uri="{FF2B5EF4-FFF2-40B4-BE49-F238E27FC236}">
                <a16:creationId xmlns:a16="http://schemas.microsoft.com/office/drawing/2014/main" id="{21128225-20AA-F6B7-3FEB-4DEC1E8A6E68}"/>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V.0.7.1</a:t>
            </a:r>
          </a:p>
        </p:txBody>
      </p:sp>
      <p:sp>
        <p:nvSpPr>
          <p:cNvPr id="3" name="TextBox 2">
            <a:extLst>
              <a:ext uri="{FF2B5EF4-FFF2-40B4-BE49-F238E27FC236}">
                <a16:creationId xmlns:a16="http://schemas.microsoft.com/office/drawing/2014/main" id="{4CC9AE2D-BE2D-4E45-7F1B-DF6BE48BEF73}"/>
              </a:ext>
            </a:extLst>
          </p:cNvPr>
          <p:cNvSpPr txBox="1"/>
          <p:nvPr/>
        </p:nvSpPr>
        <p:spPr>
          <a:xfrm>
            <a:off x="0" y="152027"/>
            <a:ext cx="5576207" cy="397031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Continuation.</a:t>
            </a:r>
          </a:p>
          <a:p>
            <a:endParaRPr lang="en-GB" sz="1200" dirty="0"/>
          </a:p>
          <a:p>
            <a:r>
              <a:rPr lang="en-GB" sz="1200" dirty="0"/>
              <a:t>The Prototype or AMCD 00 will just like its design take attributes from the other AMCD’s into itself.</a:t>
            </a:r>
          </a:p>
          <a:p>
            <a:endParaRPr lang="en-GB" sz="1200" dirty="0"/>
          </a:p>
          <a:p>
            <a:r>
              <a:rPr lang="en-GB" sz="1200" u="sng" dirty="0"/>
              <a:t>Prototype will have…</a:t>
            </a:r>
          </a:p>
          <a:p>
            <a:r>
              <a:rPr lang="en-GB" sz="1200" dirty="0"/>
              <a:t>K9 speed</a:t>
            </a:r>
          </a:p>
          <a:p>
            <a:r>
              <a:rPr lang="en-GB" sz="1200" dirty="0"/>
              <a:t>Bulker waiting Time</a:t>
            </a:r>
          </a:p>
          <a:p>
            <a:r>
              <a:rPr lang="en-GB" sz="1200" dirty="0" err="1"/>
              <a:t>Gwiber’s</a:t>
            </a:r>
            <a:r>
              <a:rPr lang="en-GB" sz="1200" dirty="0"/>
              <a:t> low </a:t>
            </a:r>
            <a:r>
              <a:rPr lang="en-GB" sz="1200"/>
              <a:t>sound movement.</a:t>
            </a:r>
          </a:p>
          <a:p>
            <a:r>
              <a:rPr lang="en-GB" sz="1200" dirty="0"/>
              <a:t>Arach Audio </a:t>
            </a:r>
          </a:p>
          <a:p>
            <a:r>
              <a:rPr lang="en-GB" sz="1200" dirty="0"/>
              <a:t>For coding the Prototypes code will be setup similarly to K9 with adjustments made of all the AMCD’s behaviours into Prototype.</a:t>
            </a:r>
          </a:p>
          <a:p>
            <a:endParaRPr lang="en-GB" sz="1200" dirty="0"/>
          </a:p>
          <a:p>
            <a:r>
              <a:rPr lang="en-GB" sz="1200" dirty="0"/>
              <a:t>there will also be 2 special features for the prototype to increase its difficulty.</a:t>
            </a:r>
          </a:p>
          <a:p>
            <a:endParaRPr lang="en-GB" sz="1200" dirty="0"/>
          </a:p>
          <a:p>
            <a:pPr marL="228600" indent="-228600">
              <a:buAutoNum type="arabicPeriod"/>
            </a:pPr>
            <a:r>
              <a:rPr lang="en-GB" sz="1200" dirty="0"/>
              <a:t>Random movement times. This will make Prototype unpredictable and require you to be constantly active on the camera’s or else he’ll reach your office while your distracted by Arach.</a:t>
            </a:r>
          </a:p>
          <a:p>
            <a:pPr marL="228600" indent="-228600">
              <a:buAutoNum type="arabicPeriod"/>
            </a:pPr>
            <a:r>
              <a:rPr lang="en-GB" sz="1200" dirty="0"/>
              <a:t>Fake sounds. The Prototype will sometimes make fake sounds, tricking the player into thinking he’s moved or is about to attack.</a:t>
            </a:r>
          </a:p>
          <a:p>
            <a:endParaRPr lang="en-GB" sz="1200" dirty="0"/>
          </a:p>
        </p:txBody>
      </p:sp>
      <p:sp>
        <p:nvSpPr>
          <p:cNvPr id="12" name="TextBox 11">
            <a:extLst>
              <a:ext uri="{FF2B5EF4-FFF2-40B4-BE49-F238E27FC236}">
                <a16:creationId xmlns:a16="http://schemas.microsoft.com/office/drawing/2014/main" id="{030308C4-355A-2456-55F1-B1A59C3FFB3C}"/>
              </a:ext>
            </a:extLst>
          </p:cNvPr>
          <p:cNvSpPr txBox="1"/>
          <p:nvPr/>
        </p:nvSpPr>
        <p:spPr>
          <a:xfrm>
            <a:off x="8555487" y="722845"/>
            <a:ext cx="2073729" cy="5909310"/>
          </a:xfrm>
          <a:prstGeom prst="rect">
            <a:avLst/>
          </a:prstGeom>
          <a:noFill/>
        </p:spPr>
        <p:txBody>
          <a:bodyPr wrap="square" rtlCol="0">
            <a:spAutoFit/>
          </a:bodyPr>
          <a:lstStyle/>
          <a:p>
            <a:r>
              <a:rPr lang="en-GB" sz="1400" dirty="0"/>
              <a:t>What to Do next session</a:t>
            </a:r>
          </a:p>
          <a:p>
            <a:endParaRPr lang="en-GB" sz="1400" dirty="0"/>
          </a:p>
          <a:p>
            <a:r>
              <a:rPr lang="en-GB" sz="1400" dirty="0"/>
              <a:t>Design Zones</a:t>
            </a:r>
          </a:p>
          <a:p>
            <a:endParaRPr lang="en-GB" sz="1400" dirty="0"/>
          </a:p>
          <a:p>
            <a:r>
              <a:rPr lang="en-GB" sz="1400" dirty="0"/>
              <a:t>Find suitable Place Holder sounds</a:t>
            </a:r>
          </a:p>
          <a:p>
            <a:endParaRPr lang="en-GB" sz="1400" dirty="0"/>
          </a:p>
          <a:p>
            <a:r>
              <a:rPr lang="en-GB" sz="1400" dirty="0"/>
              <a:t>Make level 5 with all the AMCD’s.</a:t>
            </a:r>
          </a:p>
          <a:p>
            <a:endParaRPr lang="en-GB" sz="1400" dirty="0"/>
          </a:p>
          <a:p>
            <a:r>
              <a:rPr lang="en-GB" sz="1400" dirty="0"/>
              <a:t>Adjust enemies code for more balanced gameplay.</a:t>
            </a:r>
          </a:p>
          <a:p>
            <a:endParaRPr lang="en-GB" sz="1400" dirty="0"/>
          </a:p>
          <a:p>
            <a:r>
              <a:rPr lang="en-GB" sz="1400" dirty="0"/>
              <a:t>Display level timer.</a:t>
            </a:r>
          </a:p>
          <a:p>
            <a:endParaRPr lang="en-GB" sz="1400" dirty="0"/>
          </a:p>
          <a:p>
            <a:r>
              <a:rPr lang="en-GB" sz="1400" dirty="0"/>
              <a:t>Re-do Health Bar.</a:t>
            </a:r>
          </a:p>
          <a:p>
            <a:endParaRPr lang="en-GB" sz="1400" dirty="0"/>
          </a:p>
          <a:p>
            <a:r>
              <a:rPr lang="en-GB" sz="1400" dirty="0"/>
              <a:t>Finally, in the main menu add the Soundtrack I created for Critical Failure.</a:t>
            </a:r>
          </a:p>
          <a:p>
            <a:endParaRPr lang="en-GB" sz="1400" dirty="0"/>
          </a:p>
          <a:p>
            <a:endParaRPr lang="en-GB" sz="1400" dirty="0"/>
          </a:p>
          <a:p>
            <a:endParaRPr lang="en-GB" sz="1400" dirty="0"/>
          </a:p>
          <a:p>
            <a:endParaRPr lang="en-GB" sz="1400" dirty="0"/>
          </a:p>
          <a:p>
            <a:endParaRPr lang="en-GB" sz="1400" dirty="0"/>
          </a:p>
        </p:txBody>
      </p:sp>
    </p:spTree>
    <p:extLst>
      <p:ext uri="{BB962C8B-B14F-4D97-AF65-F5344CB8AC3E}">
        <p14:creationId xmlns:p14="http://schemas.microsoft.com/office/powerpoint/2010/main" val="2078405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A59C-A830-8604-FCEE-F5252D38F9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338D4A-55EF-DFF3-7166-23A778A7C0D6}"/>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30/01/2026</a:t>
            </a:r>
          </a:p>
        </p:txBody>
      </p:sp>
      <p:sp>
        <p:nvSpPr>
          <p:cNvPr id="2" name="TextBox 1">
            <a:extLst>
              <a:ext uri="{FF2B5EF4-FFF2-40B4-BE49-F238E27FC236}">
                <a16:creationId xmlns:a16="http://schemas.microsoft.com/office/drawing/2014/main" id="{21128225-20AA-F6B7-3FEB-4DEC1E8A6E68}"/>
              </a:ext>
            </a:extLst>
          </p:cNvPr>
          <p:cNvSpPr txBox="1"/>
          <p:nvPr/>
        </p:nvSpPr>
        <p:spPr>
          <a:xfrm>
            <a:off x="5651845"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V.0.7.2</a:t>
            </a:r>
          </a:p>
        </p:txBody>
      </p:sp>
      <p:sp>
        <p:nvSpPr>
          <p:cNvPr id="3" name="TextBox 2">
            <a:extLst>
              <a:ext uri="{FF2B5EF4-FFF2-40B4-BE49-F238E27FC236}">
                <a16:creationId xmlns:a16="http://schemas.microsoft.com/office/drawing/2014/main" id="{4CC9AE2D-BE2D-4E45-7F1B-DF6BE48BEF73}"/>
              </a:ext>
            </a:extLst>
          </p:cNvPr>
          <p:cNvSpPr txBox="1"/>
          <p:nvPr/>
        </p:nvSpPr>
        <p:spPr>
          <a:xfrm>
            <a:off x="0" y="121250"/>
            <a:ext cx="5576207" cy="63709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This part is the next big step In completing all the code for my game and refining it to full functionality.</a:t>
            </a:r>
          </a:p>
          <a:p>
            <a:endParaRPr lang="en-GB" sz="1200" dirty="0"/>
          </a:p>
          <a:p>
            <a:r>
              <a:rPr lang="en-GB" sz="1200" dirty="0"/>
              <a:t>This session, I implemented Bulkers long waiting time at door to the Prototype.</a:t>
            </a:r>
          </a:p>
          <a:p>
            <a:endParaRPr lang="en-GB" sz="1200" dirty="0"/>
          </a:p>
          <a:p>
            <a:r>
              <a:rPr lang="en-GB" sz="1200" dirty="0"/>
              <a:t>The Game will Run at 60fps. Doing this allows me to get the correct amount of time in seconds or minutes in game by using the equation (frames = minutes x 60 x </a:t>
            </a:r>
            <a:r>
              <a:rPr lang="en-GB" sz="1200" dirty="0" err="1"/>
              <a:t>room_speed</a:t>
            </a:r>
            <a:r>
              <a:rPr lang="en-GB" sz="1200" dirty="0"/>
              <a:t>). This will allow me to properly adjust the timers used by objects in each level. </a:t>
            </a:r>
          </a:p>
          <a:p>
            <a:endParaRPr lang="en-GB" sz="1200" dirty="0"/>
          </a:p>
          <a:p>
            <a:r>
              <a:rPr lang="en-GB" sz="1200" dirty="0"/>
              <a:t>I have also implemented a Pause screen during the levels, just in case the player wishes to go back to main menu or take a break.</a:t>
            </a:r>
          </a:p>
          <a:p>
            <a:endParaRPr lang="en-GB" sz="1200" dirty="0"/>
          </a:p>
          <a:p>
            <a:r>
              <a:rPr lang="en-GB" sz="1200" dirty="0"/>
              <a:t>Narratively, the game would take the main character 12 hours to survive until 12pm. However, that time doesn’t translate well in terms of gameplay. So, the level will be 7 minutes and 30 seconds long and the level timer will change its sprite based off what stage the timer is at. So, using the equation  frames for 7min and 30sec minutes of gameplay per level is 27,000 frames.</a:t>
            </a:r>
          </a:p>
          <a:p>
            <a:endParaRPr lang="en-GB" sz="1200" dirty="0"/>
          </a:p>
          <a:p>
            <a:r>
              <a:rPr lang="en-GB" sz="1200" dirty="0"/>
              <a:t>I’ve also added new rooms for the levels for when the player completes a night that has a transition into the next room.</a:t>
            </a:r>
          </a:p>
          <a:p>
            <a:endParaRPr lang="en-GB" sz="1200" dirty="0"/>
          </a:p>
          <a:p>
            <a:endParaRPr lang="en-GB" sz="1200" dirty="0"/>
          </a:p>
          <a:p>
            <a:r>
              <a:rPr lang="en-GB" sz="1200" dirty="0"/>
              <a:t>I did run into an issue and that was having the Enemies physically move alongside their movement code. They do, but they are so offset you can’t see them. Despite me using the same exact co-ordinates as the camera controller, it turns out the enemies don’t follow the top left co-ordinate like the camera. So, I’ve spent over an hour getting the right co-ordinates and adjusting the enemy’s sprite origin to centre middle.</a:t>
            </a:r>
          </a:p>
          <a:p>
            <a:endParaRPr lang="en-GB" sz="1200" dirty="0"/>
          </a:p>
          <a:p>
            <a:r>
              <a:rPr lang="en-GB" sz="1200" dirty="0"/>
              <a:t>This has proven to be very time consuming for I need to constantly start up the game check An AMCD’s physically position and adjust their code, rinse and repeat for all variants of the enemies in all the levels. I was only able to do lvl1 Gwiber and K9 and lvl2 Bulker, the other level 2’s have been difficult.</a:t>
            </a:r>
          </a:p>
        </p:txBody>
      </p:sp>
      <p:sp>
        <p:nvSpPr>
          <p:cNvPr id="12" name="TextBox 11">
            <a:extLst>
              <a:ext uri="{FF2B5EF4-FFF2-40B4-BE49-F238E27FC236}">
                <a16:creationId xmlns:a16="http://schemas.microsoft.com/office/drawing/2014/main" id="{030308C4-355A-2456-55F1-B1A59C3FFB3C}"/>
              </a:ext>
            </a:extLst>
          </p:cNvPr>
          <p:cNvSpPr txBox="1"/>
          <p:nvPr/>
        </p:nvSpPr>
        <p:spPr>
          <a:xfrm>
            <a:off x="8555487" y="722845"/>
            <a:ext cx="2073729" cy="2677656"/>
          </a:xfrm>
          <a:prstGeom prst="rect">
            <a:avLst/>
          </a:prstGeom>
          <a:noFill/>
        </p:spPr>
        <p:txBody>
          <a:bodyPr wrap="square" rtlCol="0">
            <a:spAutoFit/>
          </a:bodyPr>
          <a:lstStyle/>
          <a:p>
            <a:r>
              <a:rPr lang="en-GB" sz="1400" dirty="0"/>
              <a:t>What to Do next session</a:t>
            </a:r>
          </a:p>
          <a:p>
            <a:endParaRPr lang="en-GB" sz="1400" dirty="0"/>
          </a:p>
          <a:p>
            <a:endParaRPr lang="en-GB" sz="1400" dirty="0"/>
          </a:p>
          <a:p>
            <a:r>
              <a:rPr lang="en-GB" sz="1400" dirty="0"/>
              <a:t>Fix offset enemies.</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spTree>
    <p:extLst>
      <p:ext uri="{BB962C8B-B14F-4D97-AF65-F5344CB8AC3E}">
        <p14:creationId xmlns:p14="http://schemas.microsoft.com/office/powerpoint/2010/main" val="3428172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46527-0379-7DCB-AEDE-EA081D39C5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58B659-D1A5-6243-A490-07CA1D78C6E6}"/>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31/01/2026</a:t>
            </a:r>
          </a:p>
        </p:txBody>
      </p:sp>
      <p:sp>
        <p:nvSpPr>
          <p:cNvPr id="2" name="TextBox 1">
            <a:extLst>
              <a:ext uri="{FF2B5EF4-FFF2-40B4-BE49-F238E27FC236}">
                <a16:creationId xmlns:a16="http://schemas.microsoft.com/office/drawing/2014/main" id="{ED540E2B-C8CB-73FF-E64D-B1300659E93B}"/>
              </a:ext>
            </a:extLst>
          </p:cNvPr>
          <p:cNvSpPr txBox="1"/>
          <p:nvPr/>
        </p:nvSpPr>
        <p:spPr>
          <a:xfrm>
            <a:off x="5679340"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V.0.8</a:t>
            </a:r>
          </a:p>
        </p:txBody>
      </p:sp>
      <p:sp>
        <p:nvSpPr>
          <p:cNvPr id="3" name="TextBox 2">
            <a:extLst>
              <a:ext uri="{FF2B5EF4-FFF2-40B4-BE49-F238E27FC236}">
                <a16:creationId xmlns:a16="http://schemas.microsoft.com/office/drawing/2014/main" id="{9A4FCE44-D8B6-B201-EED5-51307B1B2674}"/>
              </a:ext>
            </a:extLst>
          </p:cNvPr>
          <p:cNvSpPr txBox="1"/>
          <p:nvPr/>
        </p:nvSpPr>
        <p:spPr>
          <a:xfrm>
            <a:off x="0" y="121250"/>
            <a:ext cx="5576207" cy="138499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have made the soundtrack for the intro part of my game. When the player clicks the button to go to the next level, the sound stops.</a:t>
            </a:r>
          </a:p>
          <a:p>
            <a:endParaRPr lang="en-GB" sz="1200" dirty="0"/>
          </a:p>
          <a:p>
            <a:r>
              <a:rPr lang="en-GB" sz="1200" dirty="0"/>
              <a:t>I’m </a:t>
            </a:r>
            <a:r>
              <a:rPr lang="en-GB" sz="1200" dirty="0" err="1"/>
              <a:t>gonna</a:t>
            </a:r>
            <a:r>
              <a:rPr lang="en-GB" sz="1200" dirty="0"/>
              <a:t> use the Windows XP error </a:t>
            </a:r>
            <a:r>
              <a:rPr lang="en-GB" sz="1200" dirty="0" err="1"/>
              <a:t>sfx</a:t>
            </a:r>
            <a:r>
              <a:rPr lang="en-GB" sz="1200" dirty="0"/>
              <a:t> for when Prototype makes a fake noise. I also want to add lots of small rare easter eggs in my game, just to bring some more life into the game. These are extremely rare and probably won’t happen on most peoples first playthrough.</a:t>
            </a:r>
          </a:p>
        </p:txBody>
      </p:sp>
      <p:sp>
        <p:nvSpPr>
          <p:cNvPr id="12" name="TextBox 11">
            <a:extLst>
              <a:ext uri="{FF2B5EF4-FFF2-40B4-BE49-F238E27FC236}">
                <a16:creationId xmlns:a16="http://schemas.microsoft.com/office/drawing/2014/main" id="{BD93A3B1-0749-37C1-9A50-2EE1EA46B84D}"/>
              </a:ext>
            </a:extLst>
          </p:cNvPr>
          <p:cNvSpPr txBox="1"/>
          <p:nvPr/>
        </p:nvSpPr>
        <p:spPr>
          <a:xfrm>
            <a:off x="8555487" y="722845"/>
            <a:ext cx="2073729" cy="3108543"/>
          </a:xfrm>
          <a:prstGeom prst="rect">
            <a:avLst/>
          </a:prstGeom>
          <a:noFill/>
        </p:spPr>
        <p:txBody>
          <a:bodyPr wrap="square" rtlCol="0">
            <a:spAutoFit/>
          </a:bodyPr>
          <a:lstStyle/>
          <a:p>
            <a:r>
              <a:rPr lang="en-GB" sz="1400" dirty="0"/>
              <a:t>What to Do next session</a:t>
            </a:r>
          </a:p>
          <a:p>
            <a:endParaRPr lang="en-GB" sz="1400" dirty="0"/>
          </a:p>
          <a:p>
            <a:endParaRPr lang="en-GB" sz="1400" dirty="0"/>
          </a:p>
          <a:p>
            <a:r>
              <a:rPr lang="en-GB" sz="1400" dirty="0"/>
              <a:t>Fix offset enemies.</a:t>
            </a:r>
          </a:p>
          <a:p>
            <a:endParaRPr lang="en-GB" sz="1400" dirty="0"/>
          </a:p>
          <a:p>
            <a:r>
              <a:rPr lang="en-GB" sz="1400" dirty="0"/>
              <a:t>Design Zones.</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spTree>
    <p:extLst>
      <p:ext uri="{BB962C8B-B14F-4D97-AF65-F5344CB8AC3E}">
        <p14:creationId xmlns:p14="http://schemas.microsoft.com/office/powerpoint/2010/main" val="3903059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E589B-990F-8860-4638-237B5862F0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F2269E-3881-5A24-4B03-5C9AF405D81B}"/>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1/02/2026</a:t>
            </a:r>
          </a:p>
        </p:txBody>
      </p:sp>
      <p:sp>
        <p:nvSpPr>
          <p:cNvPr id="2" name="TextBox 1">
            <a:extLst>
              <a:ext uri="{FF2B5EF4-FFF2-40B4-BE49-F238E27FC236}">
                <a16:creationId xmlns:a16="http://schemas.microsoft.com/office/drawing/2014/main" id="{DA40A170-E1C7-DC9A-6D71-A7C690245B1E}"/>
              </a:ext>
            </a:extLst>
          </p:cNvPr>
          <p:cNvSpPr txBox="1"/>
          <p:nvPr/>
        </p:nvSpPr>
        <p:spPr>
          <a:xfrm>
            <a:off x="5679340"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V.0.8.1</a:t>
            </a:r>
          </a:p>
        </p:txBody>
      </p:sp>
      <p:sp>
        <p:nvSpPr>
          <p:cNvPr id="3" name="TextBox 2">
            <a:extLst>
              <a:ext uri="{FF2B5EF4-FFF2-40B4-BE49-F238E27FC236}">
                <a16:creationId xmlns:a16="http://schemas.microsoft.com/office/drawing/2014/main" id="{369DC118-DC4C-CDC2-2775-7F44EFE4262C}"/>
              </a:ext>
            </a:extLst>
          </p:cNvPr>
          <p:cNvSpPr txBox="1"/>
          <p:nvPr/>
        </p:nvSpPr>
        <p:spPr>
          <a:xfrm>
            <a:off x="0" y="121250"/>
            <a:ext cx="5576207" cy="267765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have designed all the zones and have also found a solution to the offset issue.</a:t>
            </a:r>
          </a:p>
          <a:p>
            <a:endParaRPr lang="en-GB" sz="1200" dirty="0"/>
          </a:p>
          <a:p>
            <a:r>
              <a:rPr lang="en-GB" sz="1200" dirty="0"/>
              <a:t>I plan to make the zones sprites change when the enemies enter them. This means I won’t need my enemies to have sprites and provides me full customisability within each zone.</a:t>
            </a:r>
          </a:p>
          <a:p>
            <a:endParaRPr lang="en-GB" sz="1200" dirty="0"/>
          </a:p>
          <a:p>
            <a:r>
              <a:rPr lang="en-GB" sz="1200" dirty="0"/>
              <a:t>The way it works is that I have my current zones with no enemies, I will duplicate these and add the AMCD’s into them separate. So, Gwiber Zones, Bulker Zones and K9 Zones etc.</a:t>
            </a:r>
          </a:p>
          <a:p>
            <a:endParaRPr lang="en-GB" sz="1200" dirty="0"/>
          </a:p>
          <a:p>
            <a:r>
              <a:rPr lang="en-GB" sz="1200" dirty="0"/>
              <a:t>To have the zones change sprite I will create a Zone Controller that basically acts as a way for the Zones to know when to change sprites based off certain conditions. (This will also be good for sounds).</a:t>
            </a:r>
          </a:p>
          <a:p>
            <a:endParaRPr lang="en-GB" sz="1200" dirty="0"/>
          </a:p>
        </p:txBody>
      </p:sp>
      <p:sp>
        <p:nvSpPr>
          <p:cNvPr id="12" name="TextBox 11">
            <a:extLst>
              <a:ext uri="{FF2B5EF4-FFF2-40B4-BE49-F238E27FC236}">
                <a16:creationId xmlns:a16="http://schemas.microsoft.com/office/drawing/2014/main" id="{2186328D-9647-E460-1A4B-1B381BCDDD19}"/>
              </a:ext>
            </a:extLst>
          </p:cNvPr>
          <p:cNvSpPr txBox="1"/>
          <p:nvPr/>
        </p:nvSpPr>
        <p:spPr>
          <a:xfrm>
            <a:off x="8555487" y="722845"/>
            <a:ext cx="2073729" cy="5047536"/>
          </a:xfrm>
          <a:prstGeom prst="rect">
            <a:avLst/>
          </a:prstGeom>
          <a:noFill/>
        </p:spPr>
        <p:txBody>
          <a:bodyPr wrap="square" rtlCol="0">
            <a:spAutoFit/>
          </a:bodyPr>
          <a:lstStyle/>
          <a:p>
            <a:r>
              <a:rPr lang="en-GB" sz="1400" dirty="0"/>
              <a:t>What to Do next session</a:t>
            </a:r>
          </a:p>
          <a:p>
            <a:endParaRPr lang="en-GB" sz="1400" dirty="0"/>
          </a:p>
          <a:p>
            <a:r>
              <a:rPr lang="en-GB" sz="1400" dirty="0"/>
              <a:t>Make Zone Controller</a:t>
            </a:r>
          </a:p>
          <a:p>
            <a:endParaRPr lang="en-GB" sz="1400" dirty="0"/>
          </a:p>
          <a:p>
            <a:r>
              <a:rPr lang="en-GB" sz="1400" dirty="0"/>
              <a:t>Make Level lock (stop the player from going to level 2 unless level 1 is beaten.</a:t>
            </a:r>
          </a:p>
          <a:p>
            <a:endParaRPr lang="en-GB" sz="1400" dirty="0"/>
          </a:p>
          <a:p>
            <a:r>
              <a:rPr lang="en-GB" sz="1400" dirty="0"/>
              <a:t>Make AMCD versions of zone sprites.</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6" name="Picture 5" descr="A screenshot of a video game&#10;&#10;AI-generated content may be incorrect.">
            <a:extLst>
              <a:ext uri="{FF2B5EF4-FFF2-40B4-BE49-F238E27FC236}">
                <a16:creationId xmlns:a16="http://schemas.microsoft.com/office/drawing/2014/main" id="{520155B2-5599-6697-A30B-9678C2EC53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29" y="2654634"/>
            <a:ext cx="3810000" cy="2143125"/>
          </a:xfrm>
          <a:prstGeom prst="rect">
            <a:avLst/>
          </a:prstGeom>
        </p:spPr>
      </p:pic>
      <p:pic>
        <p:nvPicPr>
          <p:cNvPr id="8" name="Picture 7" descr="A black rectangular object with a brown x&#10;&#10;AI-generated content may be incorrect.">
            <a:extLst>
              <a:ext uri="{FF2B5EF4-FFF2-40B4-BE49-F238E27FC236}">
                <a16:creationId xmlns:a16="http://schemas.microsoft.com/office/drawing/2014/main" id="{2ADC7D25-A6AC-DF0A-67C2-500B45F6D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0279" y="3059566"/>
            <a:ext cx="3810000" cy="2143125"/>
          </a:xfrm>
          <a:prstGeom prst="rect">
            <a:avLst/>
          </a:prstGeom>
        </p:spPr>
      </p:pic>
    </p:spTree>
    <p:extLst>
      <p:ext uri="{BB962C8B-B14F-4D97-AF65-F5344CB8AC3E}">
        <p14:creationId xmlns:p14="http://schemas.microsoft.com/office/powerpoint/2010/main" val="2446947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9338-87C8-E82E-2624-E0CCAAE75B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4C7ED0-0115-43C8-8149-B6FFD54450AF}"/>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2/02/2026</a:t>
            </a:r>
          </a:p>
        </p:txBody>
      </p:sp>
      <p:sp>
        <p:nvSpPr>
          <p:cNvPr id="2" name="TextBox 1">
            <a:extLst>
              <a:ext uri="{FF2B5EF4-FFF2-40B4-BE49-F238E27FC236}">
                <a16:creationId xmlns:a16="http://schemas.microsoft.com/office/drawing/2014/main" id="{AFEBC780-BA62-793A-4C81-DCA14DD778CE}"/>
              </a:ext>
            </a:extLst>
          </p:cNvPr>
          <p:cNvSpPr txBox="1"/>
          <p:nvPr/>
        </p:nvSpPr>
        <p:spPr>
          <a:xfrm>
            <a:off x="5679340"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V.0.8.2</a:t>
            </a:r>
          </a:p>
        </p:txBody>
      </p:sp>
      <p:sp>
        <p:nvSpPr>
          <p:cNvPr id="3" name="TextBox 2">
            <a:extLst>
              <a:ext uri="{FF2B5EF4-FFF2-40B4-BE49-F238E27FC236}">
                <a16:creationId xmlns:a16="http://schemas.microsoft.com/office/drawing/2014/main" id="{A6A304AE-9C3F-5240-DD1D-BEC7360FB613}"/>
              </a:ext>
            </a:extLst>
          </p:cNvPr>
          <p:cNvSpPr txBox="1"/>
          <p:nvPr/>
        </p:nvSpPr>
        <p:spPr>
          <a:xfrm>
            <a:off x="0" y="121250"/>
            <a:ext cx="5576207" cy="304698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All zones are fully designed and have duplicate variants for each AMCD.</a:t>
            </a:r>
          </a:p>
          <a:p>
            <a:endParaRPr lang="en-GB" sz="1200" dirty="0"/>
          </a:p>
          <a:p>
            <a:r>
              <a:rPr lang="en-GB" sz="1200" dirty="0"/>
              <a:t>The way this works is that the camera zones change their sprites based off whether an enemy is inside of them or not.</a:t>
            </a:r>
          </a:p>
          <a:p>
            <a:endParaRPr lang="en-GB" sz="1200" dirty="0"/>
          </a:p>
          <a:p>
            <a:r>
              <a:rPr lang="en-GB" sz="1200" dirty="0"/>
              <a:t>Here’s a flow chart of what I want the mechanic to do.</a:t>
            </a:r>
          </a:p>
          <a:p>
            <a:endParaRPr lang="en-GB" sz="1200" dirty="0"/>
          </a:p>
          <a:p>
            <a:pPr marL="228600" indent="-228600">
              <a:buAutoNum type="arabicPeriod"/>
            </a:pPr>
            <a:r>
              <a:rPr lang="en-GB" sz="1200" dirty="0"/>
              <a:t>Gwiber moves to Cam 1</a:t>
            </a:r>
          </a:p>
          <a:p>
            <a:pPr marL="228600" indent="-228600">
              <a:buAutoNum type="arabicPeriod"/>
            </a:pPr>
            <a:r>
              <a:rPr lang="en-GB" sz="1200" dirty="0" err="1"/>
              <a:t>Gwiberpos</a:t>
            </a:r>
            <a:r>
              <a:rPr lang="en-GB" sz="1200" dirty="0"/>
              <a:t> = 1</a:t>
            </a:r>
          </a:p>
          <a:p>
            <a:pPr marL="228600" indent="-228600">
              <a:buAutoNum type="arabicPeriod"/>
            </a:pPr>
            <a:r>
              <a:rPr lang="en-GB" sz="1200" dirty="0"/>
              <a:t>If </a:t>
            </a:r>
            <a:r>
              <a:rPr lang="en-GB" sz="1200" dirty="0" err="1"/>
              <a:t>gwiberpos</a:t>
            </a:r>
            <a:r>
              <a:rPr lang="en-GB" sz="1200" dirty="0"/>
              <a:t> = 1 (inside zone object)</a:t>
            </a:r>
          </a:p>
          <a:p>
            <a:pPr marL="228600" indent="-228600">
              <a:buAutoNum type="arabicPeriod"/>
            </a:pPr>
            <a:r>
              <a:rPr lang="en-GB" sz="1200" dirty="0"/>
              <a:t>Change obj_cam_zone_1 sprite to spr_zone_1_gwiber</a:t>
            </a:r>
          </a:p>
          <a:p>
            <a:pPr marL="228600" indent="-228600">
              <a:buAutoNum type="arabicPeriod"/>
            </a:pPr>
            <a:r>
              <a:rPr lang="en-GB" sz="1200" dirty="0"/>
              <a:t>If !</a:t>
            </a:r>
            <a:r>
              <a:rPr lang="en-GB" sz="1200" dirty="0" err="1"/>
              <a:t>gwiberpos</a:t>
            </a:r>
            <a:r>
              <a:rPr lang="en-GB" sz="1200" dirty="0"/>
              <a:t> = 1</a:t>
            </a:r>
          </a:p>
          <a:p>
            <a:pPr marL="228600" indent="-228600">
              <a:buAutoNum type="arabicPeriod"/>
            </a:pPr>
            <a:r>
              <a:rPr lang="en-GB" sz="1200" dirty="0"/>
              <a:t>Change obj_cam_zone_1 sprite to spr_zone_1</a:t>
            </a:r>
          </a:p>
          <a:p>
            <a:pPr marL="228600" indent="-228600">
              <a:buAutoNum type="arabicPeriod"/>
            </a:pPr>
            <a:endParaRPr lang="en-GB" sz="1200" dirty="0"/>
          </a:p>
          <a:p>
            <a:r>
              <a:rPr lang="en-GB" sz="1200" dirty="0"/>
              <a:t>That’s the flow of how this mechanic will work.</a:t>
            </a:r>
          </a:p>
          <a:p>
            <a:pPr marL="228600" indent="-228600">
              <a:buAutoNum type="arabicPeriod"/>
            </a:pPr>
            <a:endParaRPr lang="en-GB" sz="1200" dirty="0"/>
          </a:p>
        </p:txBody>
      </p:sp>
      <p:sp>
        <p:nvSpPr>
          <p:cNvPr id="12" name="TextBox 11">
            <a:extLst>
              <a:ext uri="{FF2B5EF4-FFF2-40B4-BE49-F238E27FC236}">
                <a16:creationId xmlns:a16="http://schemas.microsoft.com/office/drawing/2014/main" id="{AB36E85F-0529-201D-1AC6-2134890FE3A8}"/>
              </a:ext>
            </a:extLst>
          </p:cNvPr>
          <p:cNvSpPr txBox="1"/>
          <p:nvPr/>
        </p:nvSpPr>
        <p:spPr>
          <a:xfrm>
            <a:off x="8555487" y="722845"/>
            <a:ext cx="2073729" cy="6986528"/>
          </a:xfrm>
          <a:prstGeom prst="rect">
            <a:avLst/>
          </a:prstGeom>
          <a:noFill/>
        </p:spPr>
        <p:txBody>
          <a:bodyPr wrap="square" rtlCol="0">
            <a:spAutoFit/>
          </a:bodyPr>
          <a:lstStyle/>
          <a:p>
            <a:r>
              <a:rPr lang="en-GB" sz="1400" dirty="0"/>
              <a:t>What to Do next session</a:t>
            </a:r>
          </a:p>
          <a:p>
            <a:endParaRPr lang="en-GB" sz="1400" dirty="0"/>
          </a:p>
          <a:p>
            <a:r>
              <a:rPr lang="en-GB" sz="1400" dirty="0"/>
              <a:t>Draw enemies inside the same zone as their position to show they are in it.</a:t>
            </a:r>
          </a:p>
          <a:p>
            <a:endParaRPr lang="en-GB" sz="1400" dirty="0"/>
          </a:p>
          <a:p>
            <a:endParaRPr lang="en-GB" sz="1400" dirty="0"/>
          </a:p>
          <a:p>
            <a:r>
              <a:rPr lang="en-GB" sz="1400" dirty="0"/>
              <a:t>Fix Cam 7 on Level 3.</a:t>
            </a:r>
          </a:p>
          <a:p>
            <a:endParaRPr lang="en-GB" sz="1400" dirty="0"/>
          </a:p>
          <a:p>
            <a:r>
              <a:rPr lang="en-GB" sz="1400" dirty="0"/>
              <a:t>Finish adding place-holder sounds.</a:t>
            </a:r>
          </a:p>
          <a:p>
            <a:endParaRPr lang="en-GB" sz="1400" dirty="0"/>
          </a:p>
          <a:p>
            <a:r>
              <a:rPr lang="en-GB" sz="1400" dirty="0"/>
              <a:t>Adjust Enemy movement timers</a:t>
            </a:r>
          </a:p>
          <a:p>
            <a:endParaRPr lang="en-GB" sz="1400" dirty="0"/>
          </a:p>
          <a:p>
            <a:r>
              <a:rPr lang="en-GB" sz="1400" dirty="0"/>
              <a:t>Adjust level timer</a:t>
            </a:r>
          </a:p>
          <a:p>
            <a:endParaRPr lang="en-GB" sz="1400" dirty="0"/>
          </a:p>
          <a:p>
            <a:r>
              <a:rPr lang="en-GB" sz="1400" dirty="0"/>
              <a:t>Adjust oxygen depletion</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7" name="Picture 6" descr="A screen shot of a computer program&#10;&#10;AI-generated content may be incorrect.">
            <a:extLst>
              <a:ext uri="{FF2B5EF4-FFF2-40B4-BE49-F238E27FC236}">
                <a16:creationId xmlns:a16="http://schemas.microsoft.com/office/drawing/2014/main" id="{31911AB7-DD4B-BFA6-125D-ACA98465190B}"/>
              </a:ext>
            </a:extLst>
          </p:cNvPr>
          <p:cNvPicPr>
            <a:picLocks noChangeAspect="1"/>
          </p:cNvPicPr>
          <p:nvPr/>
        </p:nvPicPr>
        <p:blipFill>
          <a:blip r:embed="rId2"/>
          <a:stretch>
            <a:fillRect/>
          </a:stretch>
        </p:blipFill>
        <p:spPr>
          <a:xfrm>
            <a:off x="87547" y="3913990"/>
            <a:ext cx="3134162" cy="1495634"/>
          </a:xfrm>
          <a:prstGeom prst="rect">
            <a:avLst/>
          </a:prstGeom>
        </p:spPr>
      </p:pic>
      <p:sp>
        <p:nvSpPr>
          <p:cNvPr id="9" name="TextBox 8">
            <a:extLst>
              <a:ext uri="{FF2B5EF4-FFF2-40B4-BE49-F238E27FC236}">
                <a16:creationId xmlns:a16="http://schemas.microsoft.com/office/drawing/2014/main" id="{1CDF575A-4919-5A0B-064D-D3EA7E33611B}"/>
              </a:ext>
            </a:extLst>
          </p:cNvPr>
          <p:cNvSpPr txBox="1"/>
          <p:nvPr/>
        </p:nvSpPr>
        <p:spPr>
          <a:xfrm>
            <a:off x="-14969" y="3233336"/>
            <a:ext cx="3339193" cy="738664"/>
          </a:xfrm>
          <a:prstGeom prst="rect">
            <a:avLst/>
          </a:prstGeom>
          <a:noFill/>
        </p:spPr>
        <p:txBody>
          <a:bodyPr wrap="square" rtlCol="0">
            <a:spAutoFit/>
          </a:bodyPr>
          <a:lstStyle/>
          <a:p>
            <a:r>
              <a:rPr lang="en-GB" sz="1400" dirty="0"/>
              <a:t>This is all the code needed per position. This is done for all AMCD’s. The code is done inside of the object zones.</a:t>
            </a:r>
          </a:p>
        </p:txBody>
      </p:sp>
      <p:pic>
        <p:nvPicPr>
          <p:cNvPr id="11" name="Picture 10" descr="A screen shot of a computer program&#10;&#10;AI-generated content may be incorrect.">
            <a:extLst>
              <a:ext uri="{FF2B5EF4-FFF2-40B4-BE49-F238E27FC236}">
                <a16:creationId xmlns:a16="http://schemas.microsoft.com/office/drawing/2014/main" id="{4C83D34A-A7D7-DD06-E841-148D37809D23}"/>
              </a:ext>
            </a:extLst>
          </p:cNvPr>
          <p:cNvPicPr>
            <a:picLocks noChangeAspect="1"/>
          </p:cNvPicPr>
          <p:nvPr/>
        </p:nvPicPr>
        <p:blipFill>
          <a:blip r:embed="rId3"/>
          <a:stretch>
            <a:fillRect/>
          </a:stretch>
        </p:blipFill>
        <p:spPr>
          <a:xfrm>
            <a:off x="4164926" y="4517470"/>
            <a:ext cx="3143689" cy="1448002"/>
          </a:xfrm>
          <a:prstGeom prst="rect">
            <a:avLst/>
          </a:prstGeom>
        </p:spPr>
      </p:pic>
    </p:spTree>
    <p:extLst>
      <p:ext uri="{BB962C8B-B14F-4D97-AF65-F5344CB8AC3E}">
        <p14:creationId xmlns:p14="http://schemas.microsoft.com/office/powerpoint/2010/main" val="1577146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BAA7-7F44-F9F3-9424-C0010C550B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3134BE-59EF-5D80-3127-3B2BF32DE3E7}"/>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3/02/2026</a:t>
            </a:r>
          </a:p>
        </p:txBody>
      </p:sp>
      <p:sp>
        <p:nvSpPr>
          <p:cNvPr id="2" name="TextBox 1">
            <a:extLst>
              <a:ext uri="{FF2B5EF4-FFF2-40B4-BE49-F238E27FC236}">
                <a16:creationId xmlns:a16="http://schemas.microsoft.com/office/drawing/2014/main" id="{C2FED3F3-5484-58D8-A667-E41109861B87}"/>
              </a:ext>
            </a:extLst>
          </p:cNvPr>
          <p:cNvSpPr txBox="1"/>
          <p:nvPr/>
        </p:nvSpPr>
        <p:spPr>
          <a:xfrm>
            <a:off x="5679340" y="121250"/>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V.0.8.2</a:t>
            </a:r>
          </a:p>
        </p:txBody>
      </p:sp>
      <p:sp>
        <p:nvSpPr>
          <p:cNvPr id="3" name="TextBox 2">
            <a:extLst>
              <a:ext uri="{FF2B5EF4-FFF2-40B4-BE49-F238E27FC236}">
                <a16:creationId xmlns:a16="http://schemas.microsoft.com/office/drawing/2014/main" id="{45552579-2D3F-D93B-FD25-557A695335B5}"/>
              </a:ext>
            </a:extLst>
          </p:cNvPr>
          <p:cNvSpPr txBox="1"/>
          <p:nvPr/>
        </p:nvSpPr>
        <p:spPr>
          <a:xfrm>
            <a:off x="0" y="121250"/>
            <a:ext cx="5576207" cy="249299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In this session I adjusted the enemies and all of the timers to giver critical failure more appropriate gameplay. I also fixed the Cam 7 problem and adjusted the oxygen depletion.</a:t>
            </a:r>
          </a:p>
          <a:p>
            <a:endParaRPr lang="en-GB" sz="1200" dirty="0"/>
          </a:p>
          <a:p>
            <a:r>
              <a:rPr lang="en-GB" sz="1200" dirty="0"/>
              <a:t>I also, added some more sounds into the game such as for cameras and enemy movement.</a:t>
            </a:r>
          </a:p>
          <a:p>
            <a:endParaRPr lang="en-GB" sz="1200" dirty="0"/>
          </a:p>
          <a:p>
            <a:r>
              <a:rPr lang="en-GB" sz="1200" dirty="0"/>
              <a:t>I also Started Drawing in the enemy versions of my now designed zones. In addition, I’ve made a new category of zones in which if 2 or more enemies are in the same zone then they’ll both appear.</a:t>
            </a:r>
          </a:p>
          <a:p>
            <a:endParaRPr lang="en-GB" sz="1200" dirty="0"/>
          </a:p>
          <a:p>
            <a:r>
              <a:rPr lang="en-GB" sz="1200" dirty="0"/>
              <a:t>I also made a small fix and that was to remove the oxygen flash sprite after death for it continued to persist throughout all rooms.</a:t>
            </a:r>
          </a:p>
        </p:txBody>
      </p:sp>
      <p:sp>
        <p:nvSpPr>
          <p:cNvPr id="12" name="TextBox 11">
            <a:extLst>
              <a:ext uri="{FF2B5EF4-FFF2-40B4-BE49-F238E27FC236}">
                <a16:creationId xmlns:a16="http://schemas.microsoft.com/office/drawing/2014/main" id="{CFEDDD55-0318-0FCA-A5C1-B75438787764}"/>
              </a:ext>
            </a:extLst>
          </p:cNvPr>
          <p:cNvSpPr txBox="1"/>
          <p:nvPr/>
        </p:nvSpPr>
        <p:spPr>
          <a:xfrm>
            <a:off x="8555487" y="722845"/>
            <a:ext cx="2073729" cy="5047536"/>
          </a:xfrm>
          <a:prstGeom prst="rect">
            <a:avLst/>
          </a:prstGeom>
          <a:noFill/>
        </p:spPr>
        <p:txBody>
          <a:bodyPr wrap="square" rtlCol="0">
            <a:spAutoFit/>
          </a:bodyPr>
          <a:lstStyle/>
          <a:p>
            <a:r>
              <a:rPr lang="en-GB" sz="1400" dirty="0"/>
              <a:t>What to Do next session</a:t>
            </a:r>
          </a:p>
          <a:p>
            <a:endParaRPr lang="en-GB" sz="1400" dirty="0"/>
          </a:p>
          <a:p>
            <a:r>
              <a:rPr lang="en-GB" sz="1400" dirty="0"/>
              <a:t>Continue with enemy sprite zones.</a:t>
            </a:r>
          </a:p>
          <a:p>
            <a:endParaRPr lang="en-GB" sz="1400" dirty="0"/>
          </a:p>
          <a:p>
            <a:r>
              <a:rPr lang="en-GB" sz="1400" dirty="0"/>
              <a:t>Adjust timers</a:t>
            </a:r>
          </a:p>
          <a:p>
            <a:endParaRPr lang="en-GB" sz="1400" dirty="0"/>
          </a:p>
          <a:p>
            <a:r>
              <a:rPr lang="en-GB" sz="1400" dirty="0"/>
              <a:t>Refine mechanics</a:t>
            </a:r>
          </a:p>
          <a:p>
            <a:endParaRPr lang="en-GB" sz="1400" dirty="0"/>
          </a:p>
          <a:p>
            <a:r>
              <a:rPr lang="en-GB" sz="1400" dirty="0"/>
              <a:t>Add remaining sounds.</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6" name="Picture 5" descr="A screen shot of a computer program&#10;&#10;AI-generated content may be incorrect.">
            <a:extLst>
              <a:ext uri="{FF2B5EF4-FFF2-40B4-BE49-F238E27FC236}">
                <a16:creationId xmlns:a16="http://schemas.microsoft.com/office/drawing/2014/main" id="{C12717CB-D8ED-885B-B386-78C6AAE29FCE}"/>
              </a:ext>
            </a:extLst>
          </p:cNvPr>
          <p:cNvPicPr>
            <a:picLocks noChangeAspect="1"/>
          </p:cNvPicPr>
          <p:nvPr/>
        </p:nvPicPr>
        <p:blipFill>
          <a:blip r:embed="rId2"/>
          <a:stretch>
            <a:fillRect/>
          </a:stretch>
        </p:blipFill>
        <p:spPr>
          <a:xfrm>
            <a:off x="422362" y="2914450"/>
            <a:ext cx="2524477" cy="2857899"/>
          </a:xfrm>
          <a:prstGeom prst="rect">
            <a:avLst/>
          </a:prstGeom>
        </p:spPr>
      </p:pic>
    </p:spTree>
    <p:extLst>
      <p:ext uri="{BB962C8B-B14F-4D97-AF65-F5344CB8AC3E}">
        <p14:creationId xmlns:p14="http://schemas.microsoft.com/office/powerpoint/2010/main" val="893523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3298-BB00-65B0-448E-7520EEF1DC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FB5E39-8B55-EA9A-B8F4-E78BBBF1B99F}"/>
              </a:ext>
            </a:extLst>
          </p:cNvPr>
          <p:cNvSpPr txBox="1"/>
          <p:nvPr/>
        </p:nvSpPr>
        <p:spPr>
          <a:xfrm>
            <a:off x="7894620" y="121250"/>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5/02/2026</a:t>
            </a:r>
          </a:p>
        </p:txBody>
      </p:sp>
      <p:sp>
        <p:nvSpPr>
          <p:cNvPr id="2" name="TextBox 1">
            <a:extLst>
              <a:ext uri="{FF2B5EF4-FFF2-40B4-BE49-F238E27FC236}">
                <a16:creationId xmlns:a16="http://schemas.microsoft.com/office/drawing/2014/main" id="{925C303A-F07E-A65A-E11E-195022AD4B23}"/>
              </a:ext>
            </a:extLst>
          </p:cNvPr>
          <p:cNvSpPr txBox="1"/>
          <p:nvPr/>
        </p:nvSpPr>
        <p:spPr>
          <a:xfrm>
            <a:off x="7894620" y="607618"/>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V.0.9</a:t>
            </a:r>
          </a:p>
        </p:txBody>
      </p:sp>
      <p:sp>
        <p:nvSpPr>
          <p:cNvPr id="3" name="TextBox 2">
            <a:extLst>
              <a:ext uri="{FF2B5EF4-FFF2-40B4-BE49-F238E27FC236}">
                <a16:creationId xmlns:a16="http://schemas.microsoft.com/office/drawing/2014/main" id="{6810E88E-1EEF-282F-4F0B-5E9C2F3EEC62}"/>
              </a:ext>
            </a:extLst>
          </p:cNvPr>
          <p:cNvSpPr txBox="1"/>
          <p:nvPr/>
        </p:nvSpPr>
        <p:spPr>
          <a:xfrm>
            <a:off x="0" y="121250"/>
            <a:ext cx="7829550" cy="452431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I’ve made big changes and I apologies to moderators about not mentioning them separately since this happened across multiple days.</a:t>
            </a:r>
          </a:p>
          <a:p>
            <a:endParaRPr lang="en-GB" sz="1200" dirty="0"/>
          </a:p>
          <a:p>
            <a:r>
              <a:rPr lang="en-GB" sz="1200" dirty="0"/>
              <a:t>So, what did I do.</a:t>
            </a:r>
          </a:p>
          <a:p>
            <a:endParaRPr lang="en-GB" sz="1200" dirty="0"/>
          </a:p>
          <a:p>
            <a:r>
              <a:rPr lang="en-GB" sz="1200" dirty="0"/>
              <a:t>I finished searching for sounds and began implementing them into my Game. There is also directional audio for the left and right sides of the map.</a:t>
            </a:r>
          </a:p>
          <a:p>
            <a:endParaRPr lang="en-GB" sz="1200" dirty="0"/>
          </a:p>
          <a:p>
            <a:r>
              <a:rPr lang="en-GB" sz="1200" dirty="0"/>
              <a:t>Enemies now trigger left/right versions of footstep sounds that play whether an enemy is in Camera zone 2 or 7.</a:t>
            </a:r>
          </a:p>
          <a:p>
            <a:endParaRPr lang="en-GB" sz="1200" dirty="0"/>
          </a:p>
          <a:p>
            <a:r>
              <a:rPr lang="en-GB" sz="1200" dirty="0"/>
              <a:t>I have finished designing the enemy versions </a:t>
            </a:r>
            <a:r>
              <a:rPr lang="en-GB" sz="1200" b="1" dirty="0"/>
              <a:t>(Besides Arach for he doesn’t need one) </a:t>
            </a:r>
            <a:r>
              <a:rPr lang="en-GB" sz="1200" dirty="0"/>
              <a:t>of the Camera zone and the mechanic of the zones changing based on the </a:t>
            </a:r>
            <a:r>
              <a:rPr lang="en-GB" sz="1200" dirty="0" err="1"/>
              <a:t>enenmypos</a:t>
            </a:r>
            <a:r>
              <a:rPr lang="en-GB" sz="1200" dirty="0"/>
              <a:t>. However, my original code didn’t reset the sprites after the enemy leaves it, so I have had to experiment with different methods, one of these methods is having the enemies when they change zone and are in a particular zone, reset the previous one instead of  automatically doing it as soon as it leaves it.</a:t>
            </a:r>
          </a:p>
          <a:p>
            <a:r>
              <a:rPr lang="en-GB" sz="1200" dirty="0"/>
              <a:t>I finished Implementing all the code for the zone change.</a:t>
            </a:r>
          </a:p>
          <a:p>
            <a:endParaRPr lang="en-GB" sz="1200" dirty="0"/>
          </a:p>
          <a:p>
            <a:r>
              <a:rPr lang="en-GB" sz="1200" dirty="0"/>
              <a:t>I properly adjusted the enemies and room timers to be more appropriate.</a:t>
            </a:r>
          </a:p>
          <a:p>
            <a:endParaRPr lang="en-GB" sz="1200" dirty="0"/>
          </a:p>
          <a:p>
            <a:r>
              <a:rPr lang="en-GB" sz="1200" dirty="0"/>
              <a:t>I have also doubled the oxygens decreasing rate for I found that the player could survive the night by having all the doors closed.</a:t>
            </a:r>
          </a:p>
          <a:p>
            <a:endParaRPr lang="en-GB" sz="1200" dirty="0"/>
          </a:p>
          <a:p>
            <a:r>
              <a:rPr lang="en-GB" sz="1200" dirty="0"/>
              <a:t>I also added a debug tool that allows me infinite oxygen for me to check that the enemies are moving correctly and the zones change appropriately. O-on F-off. NOTE: This is for development purposes and will not be a feature.</a:t>
            </a:r>
          </a:p>
        </p:txBody>
      </p:sp>
      <p:sp>
        <p:nvSpPr>
          <p:cNvPr id="12" name="TextBox 11">
            <a:extLst>
              <a:ext uri="{FF2B5EF4-FFF2-40B4-BE49-F238E27FC236}">
                <a16:creationId xmlns:a16="http://schemas.microsoft.com/office/drawing/2014/main" id="{7F9D5535-CF98-86FB-053E-9485F86D9A2C}"/>
              </a:ext>
            </a:extLst>
          </p:cNvPr>
          <p:cNvSpPr txBox="1"/>
          <p:nvPr/>
        </p:nvSpPr>
        <p:spPr>
          <a:xfrm>
            <a:off x="8090807" y="2361528"/>
            <a:ext cx="2073729" cy="4185761"/>
          </a:xfrm>
          <a:prstGeom prst="rect">
            <a:avLst/>
          </a:prstGeom>
          <a:noFill/>
        </p:spPr>
        <p:txBody>
          <a:bodyPr wrap="square" rtlCol="0">
            <a:spAutoFit/>
          </a:bodyPr>
          <a:lstStyle/>
          <a:p>
            <a:r>
              <a:rPr lang="en-GB" sz="1400" dirty="0"/>
              <a:t>What to Do next session</a:t>
            </a:r>
          </a:p>
          <a:p>
            <a:endParaRPr lang="en-GB" sz="1400" dirty="0"/>
          </a:p>
          <a:p>
            <a:r>
              <a:rPr lang="en-GB" sz="1400" dirty="0"/>
              <a:t>Make zone change sprite controller.</a:t>
            </a:r>
          </a:p>
          <a:p>
            <a:endParaRPr lang="en-GB" sz="1400" dirty="0"/>
          </a:p>
          <a:p>
            <a:r>
              <a:rPr lang="en-GB" sz="1400" dirty="0"/>
              <a:t>Design Double Zones for enemies.</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7" name="Picture 6" descr="A screenshot of a computer&#10;&#10;AI-generated content may be incorrect.">
            <a:extLst>
              <a:ext uri="{FF2B5EF4-FFF2-40B4-BE49-F238E27FC236}">
                <a16:creationId xmlns:a16="http://schemas.microsoft.com/office/drawing/2014/main" id="{EE31987A-FF7B-63FA-8884-5D41D9D5559C}"/>
              </a:ext>
            </a:extLst>
          </p:cNvPr>
          <p:cNvPicPr>
            <a:picLocks noChangeAspect="1"/>
          </p:cNvPicPr>
          <p:nvPr/>
        </p:nvPicPr>
        <p:blipFill>
          <a:blip r:embed="rId2"/>
          <a:stretch>
            <a:fillRect/>
          </a:stretch>
        </p:blipFill>
        <p:spPr>
          <a:xfrm>
            <a:off x="108702" y="4793379"/>
            <a:ext cx="11974596" cy="1943371"/>
          </a:xfrm>
          <a:prstGeom prst="rect">
            <a:avLst/>
          </a:prstGeom>
        </p:spPr>
      </p:pic>
      <p:pic>
        <p:nvPicPr>
          <p:cNvPr id="9" name="Picture 8" descr="A screen shot of a computer">
            <a:extLst>
              <a:ext uri="{FF2B5EF4-FFF2-40B4-BE49-F238E27FC236}">
                <a16:creationId xmlns:a16="http://schemas.microsoft.com/office/drawing/2014/main" id="{E8B401EE-600A-8E6E-DC76-F553F175CDE5}"/>
              </a:ext>
            </a:extLst>
          </p:cNvPr>
          <p:cNvPicPr>
            <a:picLocks noChangeAspect="1"/>
          </p:cNvPicPr>
          <p:nvPr/>
        </p:nvPicPr>
        <p:blipFill>
          <a:blip r:embed="rId3"/>
          <a:stretch>
            <a:fillRect/>
          </a:stretch>
        </p:blipFill>
        <p:spPr>
          <a:xfrm>
            <a:off x="8144955" y="1390256"/>
            <a:ext cx="2400635" cy="771633"/>
          </a:xfrm>
          <a:prstGeom prst="rect">
            <a:avLst/>
          </a:prstGeom>
        </p:spPr>
      </p:pic>
    </p:spTree>
    <p:extLst>
      <p:ext uri="{BB962C8B-B14F-4D97-AF65-F5344CB8AC3E}">
        <p14:creationId xmlns:p14="http://schemas.microsoft.com/office/powerpoint/2010/main" val="513964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ECF1-DA48-4B67-A7A6-DE398EF4ED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29FFFD-FA54-2184-B750-40D60A7B7016}"/>
              </a:ext>
            </a:extLst>
          </p:cNvPr>
          <p:cNvSpPr txBox="1"/>
          <p:nvPr/>
        </p:nvSpPr>
        <p:spPr>
          <a:xfrm>
            <a:off x="5015350" y="107525"/>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9/02/2026</a:t>
            </a:r>
          </a:p>
        </p:txBody>
      </p:sp>
      <p:sp>
        <p:nvSpPr>
          <p:cNvPr id="2" name="TextBox 1">
            <a:extLst>
              <a:ext uri="{FF2B5EF4-FFF2-40B4-BE49-F238E27FC236}">
                <a16:creationId xmlns:a16="http://schemas.microsoft.com/office/drawing/2014/main" id="{E123AF8E-C573-278C-31F7-DEF436DA3087}"/>
              </a:ext>
            </a:extLst>
          </p:cNvPr>
          <p:cNvSpPr txBox="1"/>
          <p:nvPr/>
        </p:nvSpPr>
        <p:spPr>
          <a:xfrm>
            <a:off x="5015350" y="542303"/>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V.0.9.3</a:t>
            </a:r>
          </a:p>
        </p:txBody>
      </p:sp>
      <p:sp>
        <p:nvSpPr>
          <p:cNvPr id="3" name="TextBox 2">
            <a:extLst>
              <a:ext uri="{FF2B5EF4-FFF2-40B4-BE49-F238E27FC236}">
                <a16:creationId xmlns:a16="http://schemas.microsoft.com/office/drawing/2014/main" id="{B02B0936-5426-F729-E947-C7D9B8AEEA64}"/>
              </a:ext>
            </a:extLst>
          </p:cNvPr>
          <p:cNvSpPr txBox="1"/>
          <p:nvPr/>
        </p:nvSpPr>
        <p:spPr>
          <a:xfrm>
            <a:off x="0" y="121250"/>
            <a:ext cx="4906736" cy="674030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apologies for this gap in my development log and me not mentioning the two previous versions before V.0.9.3.</a:t>
            </a:r>
          </a:p>
          <a:p>
            <a:endParaRPr lang="en-GB" sz="1200" dirty="0"/>
          </a:p>
          <a:p>
            <a:r>
              <a:rPr lang="en-GB" sz="1200" dirty="0"/>
              <a:t>To catch things up V.0.9.1 to V.0.9.2 were my attempts in making the zone sprite change controller. Unfortunately, I failed in both versions to create a working version of the zone sprite change mechanic.</a:t>
            </a:r>
          </a:p>
          <a:p>
            <a:endParaRPr lang="en-GB" sz="1200" dirty="0"/>
          </a:p>
          <a:p>
            <a:r>
              <a:rPr lang="en-GB" sz="1200" dirty="0"/>
              <a:t>I started by giving each individual zone object code telling them to change their sprites based on if an enemy or enemies are in it. The zones changed sprites but didn’t return to normal and was separate from the enemies' movement.</a:t>
            </a:r>
          </a:p>
          <a:p>
            <a:endParaRPr lang="en-GB" sz="1200" dirty="0"/>
          </a:p>
          <a:p>
            <a:r>
              <a:rPr lang="en-GB" sz="1200" dirty="0"/>
              <a:t>In, V.0.9.2 I tried adding the zone sprite change into the enemy's movement code using </a:t>
            </a:r>
            <a:r>
              <a:rPr lang="en-GB" sz="1200" dirty="0" err="1"/>
              <a:t>object_set_sprite</a:t>
            </a:r>
            <a:r>
              <a:rPr lang="en-GB" sz="1200" dirty="0"/>
              <a:t>(). This also didn’t work same as V.0.9.1. The issue seemed to lie with the fact that the zones couldn’t revert to their original sprite.</a:t>
            </a:r>
          </a:p>
          <a:p>
            <a:endParaRPr lang="en-GB" sz="1200" dirty="0"/>
          </a:p>
          <a:p>
            <a:r>
              <a:rPr lang="en-GB" sz="1200" dirty="0"/>
              <a:t>V.0.9.3 is where I have a working change zone mechanic. A Friend of mine gave me guidance and explained to me that instead of using </a:t>
            </a:r>
            <a:r>
              <a:rPr lang="en-GB" sz="1200" dirty="0" err="1"/>
              <a:t>object_set_sprite</a:t>
            </a:r>
            <a:r>
              <a:rPr lang="en-GB" sz="1200" dirty="0"/>
              <a:t>, I instead make the alternate zone sprite versions into objects and use </a:t>
            </a:r>
            <a:r>
              <a:rPr lang="en-GB" sz="1200" dirty="0" err="1"/>
              <a:t>instance_layer</a:t>
            </a:r>
            <a:r>
              <a:rPr lang="en-GB" sz="1200" dirty="0"/>
              <a:t> to create the object zones and destroy them. </a:t>
            </a:r>
          </a:p>
          <a:p>
            <a:endParaRPr lang="en-GB" sz="1200" dirty="0"/>
          </a:p>
          <a:p>
            <a:r>
              <a:rPr lang="en-GB" sz="1200" dirty="0"/>
              <a:t>The way it works is quite simple. What the </a:t>
            </a:r>
            <a:r>
              <a:rPr lang="en-GB" sz="1200" dirty="0" err="1"/>
              <a:t>instance_layer</a:t>
            </a:r>
            <a:r>
              <a:rPr lang="en-GB" sz="1200" dirty="0"/>
              <a:t> does is guarantee that the zone object is removed and then replaced. This code was used inside of Level 1 </a:t>
            </a:r>
            <a:r>
              <a:rPr lang="en-GB" sz="1200" dirty="0" err="1"/>
              <a:t>Gwibers</a:t>
            </a:r>
            <a:r>
              <a:rPr lang="en-GB" sz="1200" dirty="0"/>
              <a:t> movement code. The code checks if </a:t>
            </a:r>
            <a:r>
              <a:rPr lang="en-GB" sz="1200" dirty="0" err="1"/>
              <a:t>Gwibers</a:t>
            </a:r>
            <a:r>
              <a:rPr lang="en-GB" sz="1200" dirty="0"/>
              <a:t> next zone, the one he’s moving to is or isn’t occupied by K9. This allows Gwiber to destroy the next zones instance layer and replace it with the correct one based on if K9 is or isn’t in it. This also works the other way around and if Gwiber moves to lets say 1 from 2, </a:t>
            </a:r>
            <a:r>
              <a:rPr lang="en-GB" sz="1200" dirty="0" err="1"/>
              <a:t>Giwber</a:t>
            </a:r>
            <a:r>
              <a:rPr lang="en-GB" sz="1200" dirty="0"/>
              <a:t> will check if K9 is or isn’t in Zone 2 and Replace Zones 2 object accordingly.</a:t>
            </a:r>
          </a:p>
          <a:p>
            <a:endParaRPr lang="en-GB" sz="1200" dirty="0"/>
          </a:p>
          <a:p>
            <a:r>
              <a:rPr lang="en-GB" sz="1200" dirty="0"/>
              <a:t>Note: Only Level 1 and Level 1 Gwiber have this code.</a:t>
            </a:r>
          </a:p>
          <a:p>
            <a:endParaRPr lang="en-GB" sz="1200" dirty="0"/>
          </a:p>
          <a:p>
            <a:r>
              <a:rPr lang="en-GB" sz="1200" dirty="0"/>
              <a:t>I also designed the Double Zones for when enemies are in the same zone together.</a:t>
            </a:r>
          </a:p>
        </p:txBody>
      </p:sp>
      <p:sp>
        <p:nvSpPr>
          <p:cNvPr id="12" name="TextBox 11">
            <a:extLst>
              <a:ext uri="{FF2B5EF4-FFF2-40B4-BE49-F238E27FC236}">
                <a16:creationId xmlns:a16="http://schemas.microsoft.com/office/drawing/2014/main" id="{83339772-E0CC-C0C2-7CD9-7328158EA734}"/>
              </a:ext>
            </a:extLst>
          </p:cNvPr>
          <p:cNvSpPr txBox="1"/>
          <p:nvPr/>
        </p:nvSpPr>
        <p:spPr>
          <a:xfrm>
            <a:off x="7537550" y="107525"/>
            <a:ext cx="4286175" cy="4401205"/>
          </a:xfrm>
          <a:prstGeom prst="rect">
            <a:avLst/>
          </a:prstGeom>
          <a:noFill/>
        </p:spPr>
        <p:txBody>
          <a:bodyPr wrap="square" rtlCol="0">
            <a:spAutoFit/>
          </a:bodyPr>
          <a:lstStyle/>
          <a:p>
            <a:r>
              <a:rPr lang="en-GB" sz="1400" dirty="0"/>
              <a:t>What to Do next session</a:t>
            </a:r>
          </a:p>
          <a:p>
            <a:endParaRPr lang="en-GB" sz="1400" dirty="0"/>
          </a:p>
          <a:p>
            <a:r>
              <a:rPr lang="en-GB" sz="1400" dirty="0"/>
              <a:t>Finish level 1 enemies zone change mechanic</a:t>
            </a:r>
          </a:p>
          <a:p>
            <a:endParaRPr lang="en-GB" sz="1400" dirty="0"/>
          </a:p>
          <a:p>
            <a:r>
              <a:rPr lang="en-GB" sz="1400" dirty="0"/>
              <a:t>Design jump-scares</a:t>
            </a:r>
          </a:p>
          <a:p>
            <a:endParaRPr lang="en-GB" sz="1400" dirty="0"/>
          </a:p>
          <a:p>
            <a:r>
              <a:rPr lang="en-GB" sz="1400" dirty="0"/>
              <a:t>Implement Jump-scares into the game.</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6" name="Picture 5" descr="A screen shot of a computer program&#10;&#10;AI-generated content may be incorrect.">
            <a:extLst>
              <a:ext uri="{FF2B5EF4-FFF2-40B4-BE49-F238E27FC236}">
                <a16:creationId xmlns:a16="http://schemas.microsoft.com/office/drawing/2014/main" id="{45C09BB4-6063-9416-F5F4-473ED8B94638}"/>
              </a:ext>
            </a:extLst>
          </p:cNvPr>
          <p:cNvPicPr>
            <a:picLocks noChangeAspect="1"/>
          </p:cNvPicPr>
          <p:nvPr/>
        </p:nvPicPr>
        <p:blipFill>
          <a:blip r:embed="rId2"/>
          <a:stretch>
            <a:fillRect/>
          </a:stretch>
        </p:blipFill>
        <p:spPr>
          <a:xfrm>
            <a:off x="5316789" y="2113037"/>
            <a:ext cx="6096883" cy="4484159"/>
          </a:xfrm>
          <a:prstGeom prst="rect">
            <a:avLst/>
          </a:prstGeom>
        </p:spPr>
      </p:pic>
      <p:sp>
        <p:nvSpPr>
          <p:cNvPr id="8" name="TextBox 7">
            <a:extLst>
              <a:ext uri="{FF2B5EF4-FFF2-40B4-BE49-F238E27FC236}">
                <a16:creationId xmlns:a16="http://schemas.microsoft.com/office/drawing/2014/main" id="{88E7019B-9FB6-BEDE-7214-5C543DB0234D}"/>
              </a:ext>
            </a:extLst>
          </p:cNvPr>
          <p:cNvSpPr txBox="1"/>
          <p:nvPr/>
        </p:nvSpPr>
        <p:spPr>
          <a:xfrm>
            <a:off x="5015350" y="1028700"/>
            <a:ext cx="1875307" cy="830997"/>
          </a:xfrm>
          <a:prstGeom prst="rect">
            <a:avLst/>
          </a:prstGeom>
          <a:noFill/>
        </p:spPr>
        <p:txBody>
          <a:bodyPr wrap="square" rtlCol="0">
            <a:spAutoFit/>
          </a:bodyPr>
          <a:lstStyle/>
          <a:p>
            <a:r>
              <a:rPr lang="en-GB" sz="1200" dirty="0"/>
              <a:t>Last thing, I made a sound controller to make it easier to manage the sounds in the game.</a:t>
            </a:r>
          </a:p>
        </p:txBody>
      </p:sp>
    </p:spTree>
    <p:extLst>
      <p:ext uri="{BB962C8B-B14F-4D97-AF65-F5344CB8AC3E}">
        <p14:creationId xmlns:p14="http://schemas.microsoft.com/office/powerpoint/2010/main" val="3293056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52D63-0913-40A3-A082-16F5A498D5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2472B1-828A-C8FC-269C-59E5229378E0}"/>
              </a:ext>
            </a:extLst>
          </p:cNvPr>
          <p:cNvSpPr txBox="1"/>
          <p:nvPr/>
        </p:nvSpPr>
        <p:spPr>
          <a:xfrm>
            <a:off x="5015350" y="107525"/>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10/02/2026</a:t>
            </a:r>
          </a:p>
        </p:txBody>
      </p:sp>
      <p:sp>
        <p:nvSpPr>
          <p:cNvPr id="2" name="TextBox 1">
            <a:extLst>
              <a:ext uri="{FF2B5EF4-FFF2-40B4-BE49-F238E27FC236}">
                <a16:creationId xmlns:a16="http://schemas.microsoft.com/office/drawing/2014/main" id="{34289866-E8F5-AD39-D6C7-2BD8012A7032}"/>
              </a:ext>
            </a:extLst>
          </p:cNvPr>
          <p:cNvSpPr txBox="1"/>
          <p:nvPr/>
        </p:nvSpPr>
        <p:spPr>
          <a:xfrm>
            <a:off x="5015350" y="542303"/>
            <a:ext cx="2112147"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V.0.9.3</a:t>
            </a:r>
          </a:p>
        </p:txBody>
      </p:sp>
      <p:sp>
        <p:nvSpPr>
          <p:cNvPr id="3" name="TextBox 2">
            <a:extLst>
              <a:ext uri="{FF2B5EF4-FFF2-40B4-BE49-F238E27FC236}">
                <a16:creationId xmlns:a16="http://schemas.microsoft.com/office/drawing/2014/main" id="{0C64B911-15FF-5BFC-4CB8-1A785568E084}"/>
              </a:ext>
            </a:extLst>
          </p:cNvPr>
          <p:cNvSpPr txBox="1"/>
          <p:nvPr/>
        </p:nvSpPr>
        <p:spPr>
          <a:xfrm>
            <a:off x="0" y="121250"/>
            <a:ext cx="4906736" cy="489364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In this session I implemented to Jump-scares to work similarly to how the enemies change zone.</a:t>
            </a:r>
          </a:p>
          <a:p>
            <a:endParaRPr lang="en-GB" sz="1200" dirty="0"/>
          </a:p>
          <a:p>
            <a:r>
              <a:rPr lang="en-GB" sz="1200" dirty="0"/>
              <a:t>How the jump-scares work is that when dead = true the death screen timer begins, counting down to when the player should change to the death screen room. During this time, the jump-scare happens. What the Jump-scare is, is just the enemies forcing the players camera view to go to the jump-scare zone in which the enemies can then change it into their jump-scare. Scaring the Player :).</a:t>
            </a:r>
          </a:p>
          <a:p>
            <a:endParaRPr lang="en-GB" sz="1200" dirty="0"/>
          </a:p>
          <a:p>
            <a:r>
              <a:rPr lang="en-GB" sz="1200" dirty="0"/>
              <a:t>This was done using a newly added zone that only the enemies can interact with. This will be the jump-scare zone. The enemies can change this zone as they please into the version related to the enemy that killed you.</a:t>
            </a:r>
          </a:p>
          <a:p>
            <a:endParaRPr lang="en-GB" sz="1200" dirty="0"/>
          </a:p>
          <a:p>
            <a:r>
              <a:rPr lang="en-GB" sz="1200" dirty="0"/>
              <a:t>I have run into a problem concerning the aftermath of player death. The door and vent controller is persistent meaning that even after dying the doors/vents that are closed, remain that way after death. The issue with the doors/vents is that their code isn’t as simple as making </a:t>
            </a:r>
            <a:r>
              <a:rPr lang="en-GB" sz="1200" dirty="0" err="1"/>
              <a:t>global.door_open</a:t>
            </a:r>
            <a:r>
              <a:rPr lang="en-GB" sz="1200" dirty="0"/>
              <a:t> = true. The doors and vents are synced with each other and require themselves to change sprite as well as know what state they are in for the oxygen count. I’m going to try and find a solution to this.</a:t>
            </a:r>
          </a:p>
          <a:p>
            <a:endParaRPr lang="en-GB" sz="1200" dirty="0"/>
          </a:p>
          <a:p>
            <a:r>
              <a:rPr lang="en-GB" sz="1200" dirty="0"/>
              <a:t>Zone change code didn’t work in the sense that the enemies did change the camera zones sprite but didn’t revert it back to normal.</a:t>
            </a:r>
          </a:p>
        </p:txBody>
      </p:sp>
      <p:sp>
        <p:nvSpPr>
          <p:cNvPr id="12" name="TextBox 11">
            <a:extLst>
              <a:ext uri="{FF2B5EF4-FFF2-40B4-BE49-F238E27FC236}">
                <a16:creationId xmlns:a16="http://schemas.microsoft.com/office/drawing/2014/main" id="{98A250EB-DC51-5D1D-5E2C-D7A3E200CF2F}"/>
              </a:ext>
            </a:extLst>
          </p:cNvPr>
          <p:cNvSpPr txBox="1"/>
          <p:nvPr/>
        </p:nvSpPr>
        <p:spPr>
          <a:xfrm>
            <a:off x="7537550" y="107525"/>
            <a:ext cx="4286175" cy="4185761"/>
          </a:xfrm>
          <a:prstGeom prst="rect">
            <a:avLst/>
          </a:prstGeom>
          <a:noFill/>
        </p:spPr>
        <p:txBody>
          <a:bodyPr wrap="square" rtlCol="0">
            <a:spAutoFit/>
          </a:bodyPr>
          <a:lstStyle/>
          <a:p>
            <a:r>
              <a:rPr lang="en-GB" sz="1400" dirty="0"/>
              <a:t>What to Do next session</a:t>
            </a:r>
          </a:p>
          <a:p>
            <a:endParaRPr lang="en-GB" sz="1400" dirty="0"/>
          </a:p>
          <a:p>
            <a:r>
              <a:rPr lang="en-GB" sz="1400" dirty="0"/>
              <a:t>Make Doors and Vents be in an open state after death.</a:t>
            </a:r>
          </a:p>
          <a:p>
            <a:endParaRPr lang="en-GB" sz="1400" dirty="0"/>
          </a:p>
          <a:p>
            <a:r>
              <a:rPr lang="en-GB" sz="1400" dirty="0"/>
              <a:t>Find a solution to the zone change</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spTree>
    <p:extLst>
      <p:ext uri="{BB962C8B-B14F-4D97-AF65-F5344CB8AC3E}">
        <p14:creationId xmlns:p14="http://schemas.microsoft.com/office/powerpoint/2010/main" val="1411057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04C35-6ED1-743F-B9F5-53D7F97EF8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06680A-C841-E60D-9D87-A953C732C8A2}"/>
              </a:ext>
            </a:extLst>
          </p:cNvPr>
          <p:cNvSpPr txBox="1"/>
          <p:nvPr/>
        </p:nvSpPr>
        <p:spPr>
          <a:xfrm>
            <a:off x="5015350" y="107525"/>
            <a:ext cx="2269916"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Date – 12/02/2026</a:t>
            </a:r>
          </a:p>
        </p:txBody>
      </p:sp>
      <p:sp>
        <p:nvSpPr>
          <p:cNvPr id="2" name="TextBox 1">
            <a:extLst>
              <a:ext uri="{FF2B5EF4-FFF2-40B4-BE49-F238E27FC236}">
                <a16:creationId xmlns:a16="http://schemas.microsoft.com/office/drawing/2014/main" id="{35D3F74D-E071-E5CB-206F-9CAB5CD06E57}"/>
              </a:ext>
            </a:extLst>
          </p:cNvPr>
          <p:cNvSpPr txBox="1"/>
          <p:nvPr/>
        </p:nvSpPr>
        <p:spPr>
          <a:xfrm>
            <a:off x="5015350" y="542303"/>
            <a:ext cx="2112147" cy="5847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Game Build V.0.10 and V.0.10.1</a:t>
            </a:r>
          </a:p>
        </p:txBody>
      </p:sp>
      <p:sp>
        <p:nvSpPr>
          <p:cNvPr id="3" name="TextBox 2">
            <a:extLst>
              <a:ext uri="{FF2B5EF4-FFF2-40B4-BE49-F238E27FC236}">
                <a16:creationId xmlns:a16="http://schemas.microsoft.com/office/drawing/2014/main" id="{CA48F9F1-982B-72B8-84E8-53C6CD510847}"/>
              </a:ext>
            </a:extLst>
          </p:cNvPr>
          <p:cNvSpPr txBox="1"/>
          <p:nvPr/>
        </p:nvSpPr>
        <p:spPr>
          <a:xfrm>
            <a:off x="0" y="121250"/>
            <a:ext cx="4906736" cy="692497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I have found a solution to the zone change and made sure to test it constantly to ensure full functionality.</a:t>
            </a:r>
          </a:p>
          <a:p>
            <a:endParaRPr lang="en-GB" sz="1200" dirty="0"/>
          </a:p>
          <a:p>
            <a:r>
              <a:rPr lang="en-GB" sz="1200" dirty="0"/>
              <a:t>The Camera zones now do change based on whether an enemy is or isn’t in the zone.</a:t>
            </a:r>
          </a:p>
          <a:p>
            <a:endParaRPr lang="en-GB" sz="1200" dirty="0"/>
          </a:p>
          <a:p>
            <a:r>
              <a:rPr lang="en-GB" sz="1200" dirty="0"/>
              <a:t>This was done by changing and destroying the zones instances every time the enemy is about move.</a:t>
            </a:r>
          </a:p>
          <a:p>
            <a:endParaRPr lang="en-GB" sz="1200" dirty="0"/>
          </a:p>
          <a:p>
            <a:r>
              <a:rPr lang="en-GB" sz="1200" dirty="0"/>
              <a:t>Instead of changing the sprite I decided to change the object instead. This did come with some challenges, mainly because this code is extremely fragile. If I were to name 1 variable wrong, the entire code collapses. To ensure full functionality, I made sure to focus primarily on Level 1 Gwiber before adding the code to level 1 K9 and so on so forth.</a:t>
            </a:r>
          </a:p>
          <a:p>
            <a:endParaRPr lang="en-GB" sz="1200" dirty="0"/>
          </a:p>
          <a:p>
            <a:r>
              <a:rPr lang="en-GB" sz="1200" dirty="0"/>
              <a:t>I’ve added the zone change code into K9 by copying </a:t>
            </a:r>
            <a:r>
              <a:rPr lang="en-GB" sz="1200" dirty="0" err="1"/>
              <a:t>Gwibers</a:t>
            </a:r>
            <a:r>
              <a:rPr lang="en-GB" sz="1200" dirty="0"/>
              <a:t> version. However, I needed to be careful about using the correct naming.</a:t>
            </a:r>
          </a:p>
          <a:p>
            <a:endParaRPr lang="en-GB" sz="1200" dirty="0"/>
          </a:p>
          <a:p>
            <a:r>
              <a:rPr lang="en-GB" sz="1200" dirty="0"/>
              <a:t>Level 1 is now fully playable, and I also made it so that you automatically move onto the next night after finishing the current one. </a:t>
            </a:r>
          </a:p>
          <a:p>
            <a:r>
              <a:rPr lang="en-GB" sz="1200" dirty="0"/>
              <a:t>Level 2 is </a:t>
            </a:r>
            <a:r>
              <a:rPr lang="en-GB" sz="1200"/>
              <a:t>also complete.</a:t>
            </a:r>
            <a:endParaRPr lang="en-GB" sz="1200" dirty="0"/>
          </a:p>
          <a:p>
            <a:endParaRPr lang="en-GB" sz="1200" dirty="0"/>
          </a:p>
          <a:p>
            <a:r>
              <a:rPr lang="en-GB" sz="1200" dirty="0"/>
              <a:t>Also, vent/door open state after death was a very easy fix and it was just the fact that my controller was persistent and only existed in 1 room. After, turning persistent off and placing 1 in each level the vents/doors return to normal since room restarts itself after the player leaves it.</a:t>
            </a:r>
          </a:p>
          <a:p>
            <a:endParaRPr lang="en-GB" sz="1200" dirty="0"/>
          </a:p>
          <a:p>
            <a:r>
              <a:rPr lang="en-GB" sz="1200" dirty="0"/>
              <a:t>I want to mention the steps for the zone change. Step 1, the enemy checks what zone they are leaving, then step to they check what zone they are moving to. This is the core of the code and one I must follow if I wish to have my enemies change zones correctly.</a:t>
            </a:r>
          </a:p>
          <a:p>
            <a:endParaRPr lang="en-GB" sz="1200" dirty="0"/>
          </a:p>
          <a:p>
            <a:r>
              <a:rPr lang="en-GB" sz="1200" dirty="0"/>
              <a:t>I also gave the enemies a room start event that changes their zone as soon as the room begins, this just makes them visible before they move.</a:t>
            </a:r>
          </a:p>
          <a:p>
            <a:endParaRPr lang="en-GB" sz="1200" dirty="0"/>
          </a:p>
          <a:p>
            <a:endParaRPr lang="en-GB" sz="1200" dirty="0"/>
          </a:p>
          <a:p>
            <a:endParaRPr lang="en-GB" sz="1200" dirty="0"/>
          </a:p>
        </p:txBody>
      </p:sp>
      <p:sp>
        <p:nvSpPr>
          <p:cNvPr id="12" name="TextBox 11">
            <a:extLst>
              <a:ext uri="{FF2B5EF4-FFF2-40B4-BE49-F238E27FC236}">
                <a16:creationId xmlns:a16="http://schemas.microsoft.com/office/drawing/2014/main" id="{BA6CF913-F102-27E5-5822-7BF46B018CD8}"/>
              </a:ext>
            </a:extLst>
          </p:cNvPr>
          <p:cNvSpPr txBox="1"/>
          <p:nvPr/>
        </p:nvSpPr>
        <p:spPr>
          <a:xfrm>
            <a:off x="7537550" y="107525"/>
            <a:ext cx="4286175" cy="3323987"/>
          </a:xfrm>
          <a:prstGeom prst="rect">
            <a:avLst/>
          </a:prstGeom>
          <a:noFill/>
        </p:spPr>
        <p:txBody>
          <a:bodyPr wrap="square" rtlCol="0">
            <a:spAutoFit/>
          </a:bodyPr>
          <a:lstStyle/>
          <a:p>
            <a:r>
              <a:rPr lang="en-GB" sz="1400" dirty="0"/>
              <a:t>What to Do next session</a:t>
            </a:r>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p:pic>
        <p:nvPicPr>
          <p:cNvPr id="6" name="Picture 5" descr="A computer screen shot of a program code&#10;&#10;AI-generated content may be incorrect.">
            <a:extLst>
              <a:ext uri="{FF2B5EF4-FFF2-40B4-BE49-F238E27FC236}">
                <a16:creationId xmlns:a16="http://schemas.microsoft.com/office/drawing/2014/main" id="{23742B60-2768-1334-B776-CE154C91B9CE}"/>
              </a:ext>
            </a:extLst>
          </p:cNvPr>
          <p:cNvPicPr>
            <a:picLocks noChangeAspect="1"/>
          </p:cNvPicPr>
          <p:nvPr/>
        </p:nvPicPr>
        <p:blipFill>
          <a:blip r:embed="rId2"/>
          <a:stretch>
            <a:fillRect/>
          </a:stretch>
        </p:blipFill>
        <p:spPr>
          <a:xfrm>
            <a:off x="5015350" y="1124614"/>
            <a:ext cx="5946316" cy="3560357"/>
          </a:xfrm>
          <a:prstGeom prst="rect">
            <a:avLst/>
          </a:prstGeom>
        </p:spPr>
      </p:pic>
    </p:spTree>
    <p:extLst>
      <p:ext uri="{BB962C8B-B14F-4D97-AF65-F5344CB8AC3E}">
        <p14:creationId xmlns:p14="http://schemas.microsoft.com/office/powerpoint/2010/main" val="2757790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CDCD7CC-FF07-70A3-611E-3D7FC910C776}"/>
              </a:ext>
            </a:extLst>
          </p:cNvPr>
          <p:cNvGraphicFramePr>
            <a:graphicFrameLocks noGrp="1"/>
          </p:cNvGraphicFramePr>
          <p:nvPr>
            <p:extLst>
              <p:ext uri="{D42A27DB-BD31-4B8C-83A1-F6EECF244321}">
                <p14:modId xmlns:p14="http://schemas.microsoft.com/office/powerpoint/2010/main" val="3281645487"/>
              </p:ext>
            </p:extLst>
          </p:nvPr>
        </p:nvGraphicFramePr>
        <p:xfrm>
          <a:off x="97155" y="84201"/>
          <a:ext cx="11988463" cy="9726150"/>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572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1 – Build V.0.3</a:t>
                      </a:r>
                    </a:p>
                  </a:txBody>
                  <a:tcPr/>
                </a:tc>
                <a:tc>
                  <a:txBody>
                    <a:bodyPr/>
                    <a:lstStyle/>
                    <a:p>
                      <a:r>
                        <a:rPr lang="en-GB" sz="1100" dirty="0"/>
                        <a:t>rm_office/</a:t>
                      </a:r>
                      <a:r>
                        <a:rPr lang="en-GB" sz="1100" dirty="0" err="1"/>
                        <a:t>rm_start_up_screen_init</a:t>
                      </a:r>
                      <a:endParaRPr lang="en-GB" sz="1100" dirty="0"/>
                    </a:p>
                  </a:txBody>
                  <a:tcPr/>
                </a:tc>
                <a:tc>
                  <a:txBody>
                    <a:bodyPr/>
                    <a:lstStyle/>
                    <a:p>
                      <a:r>
                        <a:rPr lang="en-GB" sz="1100" dirty="0" err="1"/>
                        <a:t>obj_camera</a:t>
                      </a:r>
                      <a:r>
                        <a:rPr lang="en-GB" sz="1100" dirty="0"/>
                        <a:t>, </a:t>
                      </a:r>
                      <a:r>
                        <a:rPr lang="en-GB" sz="1100" dirty="0" err="1"/>
                        <a:t>scr_change_camera</a:t>
                      </a:r>
                      <a:r>
                        <a:rPr lang="en-GB" sz="1100" dirty="0"/>
                        <a:t>, </a:t>
                      </a:r>
                      <a:r>
                        <a:rPr lang="en-GB" sz="1100" dirty="0" err="1"/>
                        <a:t>obj_office</a:t>
                      </a:r>
                      <a:r>
                        <a:rPr lang="en-GB" sz="1100" dirty="0"/>
                        <a:t>, </a:t>
                      </a:r>
                      <a:r>
                        <a:rPr lang="en-GB" sz="1100" dirty="0" err="1"/>
                        <a:t>obj_cam_zone</a:t>
                      </a:r>
                      <a:r>
                        <a:rPr lang="en-GB" sz="1100" dirty="0"/>
                        <a:t> 1-8, Close Up scene zones.</a:t>
                      </a:r>
                    </a:p>
                  </a:txBody>
                  <a:tcPr/>
                </a:tc>
                <a:tc>
                  <a:txBody>
                    <a:bodyPr/>
                    <a:lstStyle/>
                    <a:p>
                      <a:r>
                        <a:rPr lang="en-GB" sz="1100" dirty="0"/>
                        <a:t>When the game runs, the camera goes to the office zone from there the player can click on the doors to move to the close-up door zones. In addition, when Pressing Key C, they change camera view to the Camera Hud Zone where they can interact with the obj_cam_1-8 to change cameras. They can press C again to return to camera Hud or press V to return to office.</a:t>
                      </a:r>
                    </a:p>
                  </a:txBody>
                  <a:tcPr/>
                </a:tc>
                <a:tc>
                  <a:txBody>
                    <a:bodyPr/>
                    <a:lstStyle/>
                    <a:p>
                      <a:r>
                        <a:rPr lang="en-GB" sz="1100" dirty="0"/>
                        <a:t>When the game starts I am taken to the office zone and are able to interact with the buttons and they all go to their respective zones and all keys function properly.</a:t>
                      </a:r>
                    </a:p>
                  </a:txBody>
                  <a:tcPr/>
                </a:tc>
                <a:tc>
                  <a:txBody>
                    <a:bodyPr/>
                    <a:lstStyle/>
                    <a:p>
                      <a:r>
                        <a:rPr lang="en-GB" sz="1100" dirty="0"/>
                        <a:t>During practise with this code I did have to correct the co-ordinates due to them not being accurate, in addition I had issues due to my background being off which caused Duplicates of the zones to appear.</a:t>
                      </a:r>
                    </a:p>
                    <a:p>
                      <a:endParaRPr lang="en-GB" sz="1100" dirty="0"/>
                    </a:p>
                    <a:p>
                      <a:r>
                        <a:rPr lang="en-GB" sz="1100" dirty="0"/>
                        <a:t>Both were fixed by changing the Co-ordinates and turning on background.</a:t>
                      </a:r>
                    </a:p>
                  </a:txBody>
                  <a:tcPr/>
                </a:tc>
                <a:extLst>
                  <a:ext uri="{0D108BD9-81ED-4DB2-BD59-A6C34878D82A}">
                    <a16:rowId xmlns:a16="http://schemas.microsoft.com/office/drawing/2014/main" val="4028166049"/>
                  </a:ext>
                </a:extLst>
              </a:tr>
              <a:tr h="595728">
                <a:tc>
                  <a:txBody>
                    <a:bodyPr/>
                    <a:lstStyle/>
                    <a:p>
                      <a:r>
                        <a:rPr lang="en-GB" sz="1100" dirty="0"/>
                        <a:t>2 – Build V.0.4</a:t>
                      </a:r>
                    </a:p>
                  </a:txBody>
                  <a:tcPr/>
                </a:tc>
                <a:tc>
                  <a:txBody>
                    <a:bodyPr/>
                    <a:lstStyle/>
                    <a:p>
                      <a:r>
                        <a:rPr lang="en-GB" sz="1100" dirty="0"/>
                        <a:t>rm_office</a:t>
                      </a:r>
                    </a:p>
                  </a:txBody>
                  <a:tcPr/>
                </a:tc>
                <a:tc>
                  <a:txBody>
                    <a:bodyPr/>
                    <a:lstStyle/>
                    <a:p>
                      <a:r>
                        <a:rPr lang="en-GB" sz="1100" dirty="0"/>
                        <a:t>Door and vent objects </a:t>
                      </a:r>
                      <a:r>
                        <a:rPr lang="en-GB" sz="1100" b="1" dirty="0"/>
                        <a:t>open/closed</a:t>
                      </a:r>
                      <a:r>
                        <a:rPr lang="en-GB" sz="1100" dirty="0"/>
                        <a:t>, </a:t>
                      </a:r>
                      <a:r>
                        <a:rPr lang="en-GB" sz="1100" dirty="0" err="1"/>
                        <a:t>obj_oxygen_door_controller</a:t>
                      </a:r>
                      <a:endParaRPr lang="en-GB" sz="1100" dirty="0"/>
                    </a:p>
                  </a:txBody>
                  <a:tcPr/>
                </a:tc>
                <a:tc>
                  <a:txBody>
                    <a:bodyPr/>
                    <a:lstStyle/>
                    <a:p>
                      <a:r>
                        <a:rPr lang="en-GB" sz="1100" dirty="0"/>
                        <a:t>When doors/vents are open oxygen increases, when doors/vents are closed oxygen decreases. When door/button is pressed the doors/vents of both main view and up-close will open and close according to the players selection. In addition, if multiple doors/vents are open or closed the oxygen rate increases or decreases. The text displaying oxygen will change its percentage based on oxygen amount.</a:t>
                      </a:r>
                    </a:p>
                  </a:txBody>
                  <a:tcPr/>
                </a:tc>
                <a:tc>
                  <a:txBody>
                    <a:bodyPr/>
                    <a:lstStyle/>
                    <a:p>
                      <a:r>
                        <a:rPr lang="en-GB" sz="1100" dirty="0"/>
                        <a:t>The game starts with all doors closed so oxygen is 0%. When two doors are opened nothing happens, but when the back vent opens the oxygen rapidly increases but reaches 100% despite one vent still being closed.</a:t>
                      </a:r>
                    </a:p>
                    <a:p>
                      <a:endParaRPr lang="en-GB" sz="1100" dirty="0"/>
                    </a:p>
                    <a:p>
                      <a:r>
                        <a:rPr lang="en-GB" sz="1100" dirty="0"/>
                        <a:t>The doors/vents buttons work and the vents/doors open and close correctly.</a:t>
                      </a:r>
                    </a:p>
                    <a:p>
                      <a:endParaRPr lang="en-GB" sz="1100" dirty="0"/>
                    </a:p>
                    <a:p>
                      <a:r>
                        <a:rPr lang="en-GB" sz="1100" dirty="0"/>
                        <a:t>The code works, just have an issue with the front vent not being open at start.</a:t>
                      </a:r>
                    </a:p>
                  </a:txBody>
                  <a:tcPr/>
                </a:tc>
                <a:tc>
                  <a:txBody>
                    <a:bodyPr/>
                    <a:lstStyle/>
                    <a:p>
                      <a:r>
                        <a:rPr lang="en-GB" sz="1100" dirty="0"/>
                        <a:t>I changed the controllers code to have all the doors and vents set to open upon starting the game. This allows for the game to start with 100% oxygen.</a:t>
                      </a:r>
                    </a:p>
                    <a:p>
                      <a:endParaRPr lang="en-GB" sz="1100" dirty="0"/>
                    </a:p>
                    <a:p>
                      <a:r>
                        <a:rPr lang="en-GB" sz="1100" dirty="0"/>
                        <a:t>I have solved the issue with oxygen rate increasing and decreasing incorrectly. So, now if more than 1 door or vent is open, based on the amount open/closed the oxygens rate will Increase/decrease.</a:t>
                      </a:r>
                    </a:p>
                    <a:p>
                      <a:endParaRPr lang="en-GB" sz="1100" dirty="0"/>
                    </a:p>
                    <a:p>
                      <a:r>
                        <a:rPr lang="en-GB" sz="1100" dirty="0"/>
                        <a:t>Only issue is that the front vent for some reason starts with the closed variant of its sprite but that can be easily solved next session.</a:t>
                      </a:r>
                    </a:p>
                    <a:p>
                      <a:endParaRPr lang="en-GB" sz="1100" dirty="0"/>
                    </a:p>
                    <a:p>
                      <a:endParaRPr lang="en-GB" sz="1100" dirty="0"/>
                    </a:p>
                  </a:txBody>
                  <a:tcPr/>
                </a:tc>
                <a:extLst>
                  <a:ext uri="{0D108BD9-81ED-4DB2-BD59-A6C34878D82A}">
                    <a16:rowId xmlns:a16="http://schemas.microsoft.com/office/drawing/2014/main" val="2721134836"/>
                  </a:ext>
                </a:extLst>
              </a:tr>
              <a:tr h="595728">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extLst>
                  <a:ext uri="{0D108BD9-81ED-4DB2-BD59-A6C34878D82A}">
                    <a16:rowId xmlns:a16="http://schemas.microsoft.com/office/drawing/2014/main" val="3824402784"/>
                  </a:ext>
                </a:extLst>
              </a:tr>
              <a:tr h="595728">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extLst>
                  <a:ext uri="{0D108BD9-81ED-4DB2-BD59-A6C34878D82A}">
                    <a16:rowId xmlns:a16="http://schemas.microsoft.com/office/drawing/2014/main" val="3098605140"/>
                  </a:ext>
                </a:extLst>
              </a:tr>
              <a:tr h="595728">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extLst>
                  <a:ext uri="{0D108BD9-81ED-4DB2-BD59-A6C34878D82A}">
                    <a16:rowId xmlns:a16="http://schemas.microsoft.com/office/drawing/2014/main" val="215744234"/>
                  </a:ext>
                </a:extLst>
              </a:tr>
              <a:tr h="595728">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extLst>
                  <a:ext uri="{0D108BD9-81ED-4DB2-BD59-A6C34878D82A}">
                    <a16:rowId xmlns:a16="http://schemas.microsoft.com/office/drawing/2014/main" val="2606308168"/>
                  </a:ext>
                </a:extLst>
              </a:tr>
            </a:tbl>
          </a:graphicData>
        </a:graphic>
      </p:graphicFrame>
    </p:spTree>
    <p:extLst>
      <p:ext uri="{BB962C8B-B14F-4D97-AF65-F5344CB8AC3E}">
        <p14:creationId xmlns:p14="http://schemas.microsoft.com/office/powerpoint/2010/main" val="701652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2AC58-2574-8815-0827-A939B508173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E38888-3476-8917-8812-7E849684F7AB}"/>
              </a:ext>
            </a:extLst>
          </p:cNvPr>
          <p:cNvGraphicFramePr>
            <a:graphicFrameLocks noGrp="1"/>
          </p:cNvGraphicFramePr>
          <p:nvPr>
            <p:extLst>
              <p:ext uri="{D42A27DB-BD31-4B8C-83A1-F6EECF244321}">
                <p14:modId xmlns:p14="http://schemas.microsoft.com/office/powerpoint/2010/main" val="2775184045"/>
              </p:ext>
            </p:extLst>
          </p:nvPr>
        </p:nvGraphicFramePr>
        <p:xfrm>
          <a:off x="97155" y="84201"/>
          <a:ext cx="11988463" cy="667582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3. Build V.0.5.4</a:t>
                      </a:r>
                    </a:p>
                    <a:p>
                      <a:r>
                        <a:rPr lang="en-GB" sz="1100" dirty="0"/>
                        <a:t>(Note: there was a test for build V.0.4.5 however I accidently overwritten this PowerPoint causing me to lose it. However, that test was for the amcd’s movement which worked and this test is for the new updated enemy movement.</a:t>
                      </a:r>
                    </a:p>
                  </a:txBody>
                  <a:tcPr/>
                </a:tc>
                <a:tc>
                  <a:txBody>
                    <a:bodyPr/>
                    <a:lstStyle/>
                    <a:p>
                      <a:r>
                        <a:rPr lang="en-GB" sz="1100" dirty="0" err="1"/>
                        <a:t>Rm_office</a:t>
                      </a:r>
                      <a:endParaRPr lang="en-GB" sz="1100" dirty="0"/>
                    </a:p>
                  </a:txBody>
                  <a:tcPr/>
                </a:tc>
                <a:tc>
                  <a:txBody>
                    <a:bodyPr/>
                    <a:lstStyle/>
                    <a:p>
                      <a:r>
                        <a:rPr lang="en-GB" sz="1100" dirty="0" err="1"/>
                        <a:t>Obj_amcd_gwiber</a:t>
                      </a:r>
                      <a:endParaRPr lang="en-GB" sz="1100" dirty="0"/>
                    </a:p>
                  </a:txBody>
                  <a:tcPr/>
                </a:tc>
                <a:tc>
                  <a:txBody>
                    <a:bodyPr/>
                    <a:lstStyle/>
                    <a:p>
                      <a:r>
                        <a:rPr lang="en-GB" sz="1100" dirty="0"/>
                        <a:t>Gwiber is to change zones based on what zone its currently in and whether or not it is currently able to go to zone 0 from zone 2. Gwiber should also have its movement delayed when </a:t>
                      </a:r>
                      <a:r>
                        <a:rPr lang="en-GB" sz="1100" dirty="0" err="1"/>
                        <a:t>global.gwiberpos</a:t>
                      </a:r>
                      <a:r>
                        <a:rPr lang="en-GB" sz="1100" dirty="0"/>
                        <a:t> = </a:t>
                      </a:r>
                      <a:r>
                        <a:rPr lang="en-GB" sz="1100" dirty="0" err="1"/>
                        <a:t>global.current_zone</a:t>
                      </a:r>
                      <a:r>
                        <a:rPr lang="en-GB" sz="1100" dirty="0"/>
                        <a:t>.</a:t>
                      </a:r>
                    </a:p>
                  </a:txBody>
                  <a:tcPr/>
                </a:tc>
                <a:tc>
                  <a:txBody>
                    <a:bodyPr/>
                    <a:lstStyle/>
                    <a:p>
                      <a:r>
                        <a:rPr lang="en-GB" sz="1100" dirty="0"/>
                        <a:t>Gwiber moved from zone 1 to zone 5 but remained their, it didn’t move back to zone 1 for it to move to zone 2 </a:t>
                      </a:r>
                      <a:r>
                        <a:rPr lang="en-GB" sz="1100" dirty="0" err="1"/>
                        <a:t>ect</a:t>
                      </a:r>
                      <a:r>
                        <a:rPr lang="en-GB" sz="1100" dirty="0"/>
                        <a:t>. Due to this I couldn’t confirm if the watched mechanic was working or not.</a:t>
                      </a:r>
                    </a:p>
                  </a:txBody>
                  <a:tcPr/>
                </a:tc>
                <a:tc>
                  <a:txBody>
                    <a:bodyPr/>
                    <a:lstStyle/>
                    <a:p>
                      <a:r>
                        <a:rPr lang="en-GB" sz="1100" dirty="0"/>
                        <a:t>At the time of this test, I have not made any changes besides trying to give Gwiber a draw GUI to see if he is in fact moving or not.</a:t>
                      </a:r>
                    </a:p>
                    <a:p>
                      <a:endParaRPr lang="en-GB" sz="1100" dirty="0"/>
                    </a:p>
                    <a:p>
                      <a:r>
                        <a:rPr lang="en-GB" sz="1100" dirty="0"/>
                        <a:t>Update: got a GUI draw and I can confirm that Gwiber doesn’t move from zone 1.</a:t>
                      </a:r>
                    </a:p>
                    <a:p>
                      <a:endParaRPr lang="en-GB" sz="1100" dirty="0"/>
                    </a:p>
                    <a:p>
                      <a:r>
                        <a:rPr lang="en-GB" sz="1100" dirty="0"/>
                        <a:t>Also, using debug show I can confirm that Gwiber is running its step event but alarm 0 is not, meaning that the step event is having problems triggering alarm [0].</a:t>
                      </a:r>
                    </a:p>
                  </a:txBody>
                  <a:tcPr/>
                </a:tc>
                <a:extLst>
                  <a:ext uri="{0D108BD9-81ED-4DB2-BD59-A6C34878D82A}">
                    <a16:rowId xmlns:a16="http://schemas.microsoft.com/office/drawing/2014/main" val="4028166049"/>
                  </a:ext>
                </a:extLst>
              </a:tr>
              <a:tr h="595728">
                <a:tc>
                  <a:txBody>
                    <a:bodyPr/>
                    <a:lstStyle/>
                    <a:p>
                      <a:r>
                        <a:rPr lang="en-GB" sz="1100" dirty="0"/>
                        <a:t>4. Build V.0.5.5</a:t>
                      </a:r>
                    </a:p>
                  </a:txBody>
                  <a:tcPr/>
                </a:tc>
                <a:tc>
                  <a:txBody>
                    <a:bodyPr/>
                    <a:lstStyle/>
                    <a:p>
                      <a:r>
                        <a:rPr lang="en-GB" sz="1100" dirty="0" err="1"/>
                        <a:t>Rm_office</a:t>
                      </a:r>
                      <a:endParaRPr lang="en-GB" sz="1100" dirty="0"/>
                    </a:p>
                  </a:txBody>
                  <a:tcPr/>
                </a:tc>
                <a:tc>
                  <a:txBody>
                    <a:bodyPr/>
                    <a:lstStyle/>
                    <a:p>
                      <a:r>
                        <a:rPr lang="en-GB" sz="1100" dirty="0" err="1"/>
                        <a:t>Obj_gwiber</a:t>
                      </a:r>
                      <a:r>
                        <a:rPr lang="en-GB" sz="1100" dirty="0"/>
                        <a:t>, </a:t>
                      </a:r>
                      <a:r>
                        <a:rPr lang="en-GB" sz="1100" dirty="0" err="1"/>
                        <a:t>obj_oxygen_door_controller</a:t>
                      </a:r>
                      <a:endParaRPr lang="en-GB" sz="1100" dirty="0"/>
                    </a:p>
                  </a:txBody>
                  <a:tcPr/>
                </a:tc>
                <a:tc>
                  <a:txBody>
                    <a:bodyPr/>
                    <a:lstStyle/>
                    <a:p>
                      <a:r>
                        <a:rPr lang="en-GB" sz="1100" dirty="0"/>
                        <a:t>Gwiber has a move timer that when it reaches 0, will reset to 600. when it goes 0 Gwiber does a zone check and determines based on a 50/50 chance which zone it can move two. Specifically for zone 2, Gwiber must understand if the door is In an open or closed state before moving into zone 0 (The Office).</a:t>
                      </a:r>
                    </a:p>
                  </a:txBody>
                  <a:tcPr/>
                </a:tc>
                <a:tc>
                  <a:txBody>
                    <a:bodyPr/>
                    <a:lstStyle/>
                    <a:p>
                      <a:r>
                        <a:rPr lang="en-GB" sz="1100" dirty="0"/>
                        <a:t>Gwiber does move between zones based on the timers. However, Gwiber moves from zone 1 straight to zone 0 when it should only be able to go to zone 2 or 5. Also, for some reason the code that tells Gwiber if the doors are open or closed had caused the door sprites to disappear in addition to teleporting the other enemy objects when button is pressed. Gwiber does not go into zone 0 when </a:t>
                      </a:r>
                      <a:r>
                        <a:rPr lang="en-GB" sz="1100" dirty="0" err="1"/>
                        <a:t>left_door_state</a:t>
                      </a:r>
                      <a:r>
                        <a:rPr lang="en-GB" sz="1100" dirty="0"/>
                        <a:t>  is closed.</a:t>
                      </a:r>
                    </a:p>
                  </a:txBody>
                  <a:tcPr/>
                </a:tc>
                <a:tc>
                  <a:txBody>
                    <a:bodyPr/>
                    <a:lstStyle/>
                    <a:p>
                      <a:r>
                        <a:rPr lang="en-GB" sz="1100" dirty="0"/>
                        <a:t>This code causes the doors sprites disappearing</a:t>
                      </a:r>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r>
                        <a:rPr lang="en-GB" sz="1100" dirty="0"/>
                        <a:t>But it is also needed to give Gwiber information in whether the door is in an open state.</a:t>
                      </a:r>
                    </a:p>
                    <a:p>
                      <a:r>
                        <a:rPr lang="en-GB" sz="1100" dirty="0"/>
                        <a:t>(Ok don’t know why or how but the doors are fixed?)</a:t>
                      </a:r>
                    </a:p>
                  </a:txBody>
                  <a:tcPr/>
                </a:tc>
                <a:extLst>
                  <a:ext uri="{0D108BD9-81ED-4DB2-BD59-A6C34878D82A}">
                    <a16:rowId xmlns:a16="http://schemas.microsoft.com/office/drawing/2014/main" val="2721134836"/>
                  </a:ext>
                </a:extLst>
              </a:tr>
            </a:tbl>
          </a:graphicData>
        </a:graphic>
      </p:graphicFrame>
      <p:pic>
        <p:nvPicPr>
          <p:cNvPr id="3" name="Picture 2" descr="A screen shot of a computer code&#10;&#10;AI-generated content may be incorrect.">
            <a:extLst>
              <a:ext uri="{FF2B5EF4-FFF2-40B4-BE49-F238E27FC236}">
                <a16:creationId xmlns:a16="http://schemas.microsoft.com/office/drawing/2014/main" id="{F214B762-8CA8-0BB1-6864-D871DB33B96D}"/>
              </a:ext>
            </a:extLst>
          </p:cNvPr>
          <p:cNvPicPr>
            <a:picLocks noChangeAspect="1"/>
          </p:cNvPicPr>
          <p:nvPr/>
        </p:nvPicPr>
        <p:blipFill>
          <a:blip r:embed="rId2"/>
          <a:stretch>
            <a:fillRect/>
          </a:stretch>
        </p:blipFill>
        <p:spPr>
          <a:xfrm>
            <a:off x="10165310" y="4212771"/>
            <a:ext cx="1645897" cy="1429609"/>
          </a:xfrm>
          <a:prstGeom prst="rect">
            <a:avLst/>
          </a:prstGeom>
        </p:spPr>
      </p:pic>
    </p:spTree>
    <p:extLst>
      <p:ext uri="{BB962C8B-B14F-4D97-AF65-F5344CB8AC3E}">
        <p14:creationId xmlns:p14="http://schemas.microsoft.com/office/powerpoint/2010/main" val="3532854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2AC58-2574-8815-0827-A939B508173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E38888-3476-8917-8812-7E849684F7AB}"/>
              </a:ext>
            </a:extLst>
          </p:cNvPr>
          <p:cNvGraphicFramePr>
            <a:graphicFrameLocks noGrp="1"/>
          </p:cNvGraphicFramePr>
          <p:nvPr>
            <p:extLst>
              <p:ext uri="{D42A27DB-BD31-4B8C-83A1-F6EECF244321}">
                <p14:modId xmlns:p14="http://schemas.microsoft.com/office/powerpoint/2010/main" val="3791948444"/>
              </p:ext>
            </p:extLst>
          </p:nvPr>
        </p:nvGraphicFramePr>
        <p:xfrm>
          <a:off x="0" y="0"/>
          <a:ext cx="11988463" cy="566998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5. Build V.0.6</a:t>
                      </a:r>
                    </a:p>
                  </a:txBody>
                  <a:tcPr/>
                </a:tc>
                <a:tc>
                  <a:txBody>
                    <a:bodyPr/>
                    <a:lstStyle/>
                    <a:p>
                      <a:r>
                        <a:rPr lang="en-GB" sz="1100" dirty="0" err="1"/>
                        <a:t>rm_office</a:t>
                      </a:r>
                      <a:endParaRPr lang="en-GB" sz="1100" dirty="0"/>
                    </a:p>
                  </a:txBody>
                  <a:tcPr/>
                </a:tc>
                <a:tc>
                  <a:txBody>
                    <a:bodyPr/>
                    <a:lstStyle/>
                    <a:p>
                      <a:r>
                        <a:rPr lang="en-GB" sz="1100" dirty="0"/>
                        <a:t>Obj_cam_1</a:t>
                      </a:r>
                    </a:p>
                  </a:txBody>
                  <a:tcPr/>
                </a:tc>
                <a:tc>
                  <a:txBody>
                    <a:bodyPr/>
                    <a:lstStyle/>
                    <a:p>
                      <a:r>
                        <a:rPr lang="en-GB" sz="1100" dirty="0"/>
                        <a:t>When player clicks on obj_cam_1 sound </a:t>
                      </a:r>
                      <a:r>
                        <a:rPr lang="en-GB" sz="1100" dirty="0" err="1"/>
                        <a:t>snd_click_camera</a:t>
                      </a:r>
                      <a:r>
                        <a:rPr lang="en-GB" sz="1100" dirty="0"/>
                        <a:t> plays.</a:t>
                      </a:r>
                    </a:p>
                  </a:txBody>
                  <a:tcPr/>
                </a:tc>
                <a:tc>
                  <a:txBody>
                    <a:bodyPr/>
                    <a:lstStyle/>
                    <a:p>
                      <a:r>
                        <a:rPr lang="en-GB" sz="1100" dirty="0"/>
                        <a:t>The sound does not player when player clicks on </a:t>
                      </a:r>
                      <a:r>
                        <a:rPr lang="en-GB" sz="1100" dirty="0" err="1"/>
                        <a:t>obj_click_camera</a:t>
                      </a:r>
                      <a:r>
                        <a:rPr lang="en-GB" sz="1100" dirty="0"/>
                        <a:t>.</a:t>
                      </a:r>
                    </a:p>
                  </a:txBody>
                  <a:tcPr/>
                </a:tc>
                <a:tc>
                  <a:txBody>
                    <a:bodyPr/>
                    <a:lstStyle/>
                    <a:p>
                      <a:r>
                        <a:rPr lang="en-GB" sz="1100" dirty="0"/>
                        <a:t>To fix I made some adjustments and chose a different sound code and now it works, the sound code that works is </a:t>
                      </a:r>
                      <a:r>
                        <a:rPr lang="en-GB" sz="1100" dirty="0" err="1"/>
                        <a:t>audio_play_sound_ext</a:t>
                      </a:r>
                      <a:r>
                        <a:rPr lang="en-GB" sz="1100" dirty="0"/>
                        <a:t>({ sound: </a:t>
                      </a:r>
                      <a:r>
                        <a:rPr lang="en-GB" sz="1100" dirty="0" err="1"/>
                        <a:t>snd_click_camera</a:t>
                      </a:r>
                      <a:r>
                        <a:rPr lang="en-GB" sz="1100" dirty="0"/>
                        <a:t> }); which replaced, </a:t>
                      </a:r>
                      <a:r>
                        <a:rPr lang="en-GB" sz="1100" dirty="0" err="1"/>
                        <a:t>audio_play_sound</a:t>
                      </a:r>
                      <a:r>
                        <a:rPr lang="en-GB" sz="1100" dirty="0"/>
                        <a:t>(</a:t>
                      </a:r>
                      <a:r>
                        <a:rPr lang="en-GB" sz="1100" dirty="0" err="1"/>
                        <a:t>snd_click_camera</a:t>
                      </a:r>
                      <a:r>
                        <a:rPr lang="en-GB" sz="1100" dirty="0"/>
                        <a:t>, 1, 1, 1, 7336,10,100).</a:t>
                      </a:r>
                    </a:p>
                  </a:txBody>
                  <a:tcPr/>
                </a:tc>
                <a:extLst>
                  <a:ext uri="{0D108BD9-81ED-4DB2-BD59-A6C34878D82A}">
                    <a16:rowId xmlns:a16="http://schemas.microsoft.com/office/drawing/2014/main" val="4028166049"/>
                  </a:ext>
                </a:extLst>
              </a:tr>
              <a:tr h="595728">
                <a:tc>
                  <a:txBody>
                    <a:bodyPr/>
                    <a:lstStyle/>
                    <a:p>
                      <a:r>
                        <a:rPr lang="en-GB" sz="1100" dirty="0"/>
                        <a:t>6. Build V.0.6.1</a:t>
                      </a:r>
                    </a:p>
                  </a:txBody>
                  <a:tcPr/>
                </a:tc>
                <a:tc>
                  <a:txBody>
                    <a:bodyPr/>
                    <a:lstStyle/>
                    <a:p>
                      <a:r>
                        <a:rPr lang="en-GB" sz="1100" dirty="0" err="1"/>
                        <a:t>Rm_office</a:t>
                      </a:r>
                      <a:endParaRPr lang="en-GB" sz="1100" dirty="0"/>
                    </a:p>
                  </a:txBody>
                  <a:tcPr/>
                </a:tc>
                <a:tc>
                  <a:txBody>
                    <a:bodyPr/>
                    <a:lstStyle/>
                    <a:p>
                      <a:r>
                        <a:rPr lang="en-GB" sz="1100" dirty="0" err="1"/>
                        <a:t>Obj_gwiber</a:t>
                      </a:r>
                      <a:r>
                        <a:rPr lang="en-GB" sz="1100" dirty="0"/>
                        <a:t>, object doors</a:t>
                      </a:r>
                    </a:p>
                  </a:txBody>
                  <a:tcPr/>
                </a:tc>
                <a:tc>
                  <a:txBody>
                    <a:bodyPr/>
                    <a:lstStyle/>
                    <a:p>
                      <a:r>
                        <a:rPr lang="en-GB" sz="1100" dirty="0"/>
                        <a:t>When Gwiber is in zone zero wait for a certain amount of time before triggering a </a:t>
                      </a:r>
                      <a:r>
                        <a:rPr lang="en-GB" sz="1100" dirty="0" err="1"/>
                        <a:t>jumpscare</a:t>
                      </a:r>
                      <a:r>
                        <a:rPr lang="en-GB" sz="1100" dirty="0"/>
                        <a:t>, if door is closed while Gwiber is in zone 0 before the wait timer runs out, retreat back to zone 2.</a:t>
                      </a:r>
                    </a:p>
                  </a:txBody>
                  <a:tcPr/>
                </a:tc>
                <a:tc>
                  <a:txBody>
                    <a:bodyPr/>
                    <a:lstStyle/>
                    <a:p>
                      <a:r>
                        <a:rPr lang="en-GB" sz="1100" dirty="0"/>
                        <a:t>When Gwiber moves from zone 4, to zone 3, then to zone 2, when he enters zone 0 the wait timer doesn’t trigger and jump scare sprite doesn’t trigger before room restart.</a:t>
                      </a:r>
                    </a:p>
                  </a:txBody>
                  <a:tcPr/>
                </a:tc>
                <a:tc>
                  <a:txBody>
                    <a:bodyPr/>
                    <a:lstStyle/>
                    <a:p>
                      <a:r>
                        <a:rPr lang="en-GB" sz="1100" dirty="0"/>
                        <a:t>Solution was to create a alarm timers and have </a:t>
                      </a:r>
                      <a:r>
                        <a:rPr lang="en-GB" sz="1100" dirty="0" err="1"/>
                        <a:t>Gwibers</a:t>
                      </a:r>
                      <a:r>
                        <a:rPr lang="en-GB" sz="1100" dirty="0"/>
                        <a:t> movement from Zone 0 not be related to his forward and !forward code. So, now he is working as intended, jump-scaring only when the door is open and if he’s in zone zero, if he’s in zone 0 and door is closed then alarm 3 will trigger for 500 frames then have him move back to zone 2. If door is open trigger alarm 1 after 500 frames, then jump-scare unless door is closed during that time.</a:t>
                      </a:r>
                    </a:p>
                  </a:txBody>
                  <a:tcPr/>
                </a:tc>
                <a:extLst>
                  <a:ext uri="{0D108BD9-81ED-4DB2-BD59-A6C34878D82A}">
                    <a16:rowId xmlns:a16="http://schemas.microsoft.com/office/drawing/2014/main" val="2721134836"/>
                  </a:ext>
                </a:extLst>
              </a:tr>
            </a:tbl>
          </a:graphicData>
        </a:graphic>
      </p:graphicFrame>
    </p:spTree>
    <p:extLst>
      <p:ext uri="{BB962C8B-B14F-4D97-AF65-F5344CB8AC3E}">
        <p14:creationId xmlns:p14="http://schemas.microsoft.com/office/powerpoint/2010/main" val="4202022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5A23-1C0E-B1BD-8CC0-A89FDF2E395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733012D-0A5E-4B70-6048-0094AF001901}"/>
              </a:ext>
            </a:extLst>
          </p:cNvPr>
          <p:cNvGraphicFramePr>
            <a:graphicFrameLocks noGrp="1"/>
          </p:cNvGraphicFramePr>
          <p:nvPr>
            <p:extLst>
              <p:ext uri="{D42A27DB-BD31-4B8C-83A1-F6EECF244321}">
                <p14:modId xmlns:p14="http://schemas.microsoft.com/office/powerpoint/2010/main" val="576041408"/>
              </p:ext>
            </p:extLst>
          </p:nvPr>
        </p:nvGraphicFramePr>
        <p:xfrm>
          <a:off x="0" y="0"/>
          <a:ext cx="11988463" cy="634054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7. Build V.0.6.2</a:t>
                      </a:r>
                    </a:p>
                  </a:txBody>
                  <a:tcPr/>
                </a:tc>
                <a:tc>
                  <a:txBody>
                    <a:bodyPr/>
                    <a:lstStyle/>
                    <a:p>
                      <a:r>
                        <a:rPr lang="en-GB" sz="1100" dirty="0" err="1"/>
                        <a:t>Rm_office</a:t>
                      </a:r>
                      <a:endParaRPr lang="en-GB" sz="1100" dirty="0"/>
                    </a:p>
                  </a:txBody>
                  <a:tcPr/>
                </a:tc>
                <a:tc>
                  <a:txBody>
                    <a:bodyPr/>
                    <a:lstStyle/>
                    <a:p>
                      <a:r>
                        <a:rPr lang="en-GB" sz="1100" dirty="0" err="1"/>
                        <a:t>Obj_enemy_gwiber</a:t>
                      </a:r>
                      <a:endParaRPr lang="en-GB" sz="1100" dirty="0"/>
                    </a:p>
                  </a:txBody>
                  <a:tcPr/>
                </a:tc>
                <a:tc>
                  <a:txBody>
                    <a:bodyPr/>
                    <a:lstStyle/>
                    <a:p>
                      <a:r>
                        <a:rPr lang="en-GB" sz="1100" dirty="0"/>
                        <a:t>When Gwiber enters zone 0, if the left door state is open, he triggers alarm 1 which has a count down of 500 frames then jump-scare sound plays and a jump-scare sprite appears (No death Screens Made Yet). If door is not in an open state trigger alarm 3 which runs for 300 frames before executing its code for Gwiber to move back to zone 2.</a:t>
                      </a:r>
                    </a:p>
                  </a:txBody>
                  <a:tcPr/>
                </a:tc>
                <a:tc>
                  <a:txBody>
                    <a:bodyPr/>
                    <a:lstStyle/>
                    <a:p>
                      <a:r>
                        <a:rPr lang="en-GB" sz="1100" dirty="0"/>
                        <a:t>At start of Game Gwiber immediately moves to zone 3 from 4 and all timers are frozen.</a:t>
                      </a:r>
                    </a:p>
                    <a:p>
                      <a:endParaRPr lang="en-GB" sz="1100" dirty="0"/>
                    </a:p>
                    <a:p>
                      <a:r>
                        <a:rPr lang="en-GB" sz="1100" dirty="0"/>
                        <a:t>This is not meant to happen, and it appears that the new zone 0 code may have disrupted the rest of </a:t>
                      </a:r>
                      <a:r>
                        <a:rPr lang="en-GB" sz="1100" dirty="0" err="1"/>
                        <a:t>Gwibers</a:t>
                      </a:r>
                      <a:r>
                        <a:rPr lang="en-GB" sz="1100" dirty="0"/>
                        <a:t> movement code.</a:t>
                      </a:r>
                    </a:p>
                  </a:txBody>
                  <a:tcPr/>
                </a:tc>
                <a:tc>
                  <a:txBody>
                    <a:bodyPr/>
                    <a:lstStyle/>
                    <a:p>
                      <a:r>
                        <a:rPr lang="en-GB" sz="1100" dirty="0"/>
                        <a:t>Fixes will be made in the next session for Build V.0.6.3</a:t>
                      </a:r>
                    </a:p>
                  </a:txBody>
                  <a:tcPr/>
                </a:tc>
                <a:extLst>
                  <a:ext uri="{0D108BD9-81ED-4DB2-BD59-A6C34878D82A}">
                    <a16:rowId xmlns:a16="http://schemas.microsoft.com/office/drawing/2014/main" val="4028166049"/>
                  </a:ext>
                </a:extLst>
              </a:tr>
              <a:tr h="595728">
                <a:tc>
                  <a:txBody>
                    <a:bodyPr/>
                    <a:lstStyle/>
                    <a:p>
                      <a:r>
                        <a:rPr lang="en-GB" sz="1100" dirty="0"/>
                        <a:t>8. Build V.0.6.3</a:t>
                      </a:r>
                    </a:p>
                    <a:p>
                      <a:endParaRPr lang="en-GB" sz="1100" dirty="0"/>
                    </a:p>
                    <a:p>
                      <a:r>
                        <a:rPr lang="en-GB" sz="1100" dirty="0"/>
                        <a:t>The Updated repaired code for enemy movement.</a:t>
                      </a:r>
                    </a:p>
                  </a:txBody>
                  <a:tcPr/>
                </a:tc>
                <a:tc>
                  <a:txBody>
                    <a:bodyPr/>
                    <a:lstStyle/>
                    <a:p>
                      <a:r>
                        <a:rPr lang="en-GB" sz="1100" dirty="0" err="1"/>
                        <a:t>Rm_office</a:t>
                      </a:r>
                      <a:endParaRPr lang="en-GB" sz="1100" dirty="0"/>
                    </a:p>
                  </a:txBody>
                  <a:tcPr/>
                </a:tc>
                <a:tc>
                  <a:txBody>
                    <a:bodyPr/>
                    <a:lstStyle/>
                    <a:p>
                      <a:r>
                        <a:rPr lang="en-GB" sz="1100" dirty="0" err="1"/>
                        <a:t>Obj_gwiber</a:t>
                      </a:r>
                      <a:r>
                        <a:rPr lang="en-GB" sz="1100" dirty="0"/>
                        <a:t> and K9</a:t>
                      </a:r>
                    </a:p>
                  </a:txBody>
                  <a:tcPr/>
                </a:tc>
                <a:tc>
                  <a:txBody>
                    <a:bodyPr/>
                    <a:lstStyle/>
                    <a:p>
                      <a:r>
                        <a:rPr lang="en-GB" sz="1100" dirty="0"/>
                        <a:t>When game starts Gwiber starts in zone 4 and makes his way to the office. If the office doors are closed Gwiber can’t enter zone 0. If Gwiber is in zone 0 but the door is now closed, he will retreat to zone 2.</a:t>
                      </a:r>
                    </a:p>
                    <a:p>
                      <a:endParaRPr lang="en-GB" sz="1100" dirty="0"/>
                    </a:p>
                    <a:p>
                      <a:r>
                        <a:rPr lang="en-GB" sz="1100" dirty="0"/>
                        <a:t>K9 starts in zone 5 where he decides whether to go left to CAM1 or right to CAM8. K9 only goes forwards, but when he’s at zone 2 (left door) or zone 7 (right door) if the doors are closed, he’ll go back to zone 5 then he will repeat this cycle.</a:t>
                      </a:r>
                    </a:p>
                  </a:txBody>
                  <a:tcPr/>
                </a:tc>
                <a:tc>
                  <a:txBody>
                    <a:bodyPr/>
                    <a:lstStyle/>
                    <a:p>
                      <a:r>
                        <a:rPr lang="en-GB" sz="1100" dirty="0"/>
                        <a:t>Gwiber does exactly what he’s supposed to do and so does K9.</a:t>
                      </a:r>
                    </a:p>
                    <a:p>
                      <a:endParaRPr lang="en-GB" sz="1100" dirty="0"/>
                    </a:p>
                    <a:p>
                      <a:r>
                        <a:rPr lang="en-GB" sz="1100" dirty="0"/>
                        <a:t>There are still no end game screen at this point so soon after jump-scaring from either K9 or Gwiber their movement freezes and they remain stationary.</a:t>
                      </a:r>
                    </a:p>
                  </a:txBody>
                  <a:tcPr/>
                </a:tc>
                <a:tc>
                  <a:txBody>
                    <a:bodyPr/>
                    <a:lstStyle/>
                    <a:p>
                      <a:r>
                        <a:rPr lang="en-GB" sz="1100" dirty="0"/>
                        <a:t>I have added a death-screen room and started creating the buttons for the menu and death-screen.</a:t>
                      </a:r>
                    </a:p>
                    <a:p>
                      <a:endParaRPr lang="en-GB" sz="1100" dirty="0"/>
                    </a:p>
                    <a:p>
                      <a:r>
                        <a:rPr lang="en-GB" sz="1100" dirty="0"/>
                        <a:t>The Jump-scare not appearing was fixed</a:t>
                      </a:r>
                    </a:p>
                  </a:txBody>
                  <a:tcPr/>
                </a:tc>
                <a:extLst>
                  <a:ext uri="{0D108BD9-81ED-4DB2-BD59-A6C34878D82A}">
                    <a16:rowId xmlns:a16="http://schemas.microsoft.com/office/drawing/2014/main" val="2721134836"/>
                  </a:ext>
                </a:extLst>
              </a:tr>
            </a:tbl>
          </a:graphicData>
        </a:graphic>
      </p:graphicFrame>
    </p:spTree>
    <p:extLst>
      <p:ext uri="{BB962C8B-B14F-4D97-AF65-F5344CB8AC3E}">
        <p14:creationId xmlns:p14="http://schemas.microsoft.com/office/powerpoint/2010/main" val="21516318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E28F7-68C3-2BF9-469F-F81B9F201AE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B6EA9D7-824A-31E8-D982-9A521123EE9A}"/>
              </a:ext>
            </a:extLst>
          </p:cNvPr>
          <p:cNvGraphicFramePr>
            <a:graphicFrameLocks noGrp="1"/>
          </p:cNvGraphicFramePr>
          <p:nvPr>
            <p:extLst>
              <p:ext uri="{D42A27DB-BD31-4B8C-83A1-F6EECF244321}">
                <p14:modId xmlns:p14="http://schemas.microsoft.com/office/powerpoint/2010/main" val="487480933"/>
              </p:ext>
            </p:extLst>
          </p:nvPr>
        </p:nvGraphicFramePr>
        <p:xfrm>
          <a:off x="0" y="0"/>
          <a:ext cx="11988463" cy="634054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9. Build V.0.6.4</a:t>
                      </a:r>
                    </a:p>
                  </a:txBody>
                  <a:tcPr/>
                </a:tc>
                <a:tc>
                  <a:txBody>
                    <a:bodyPr/>
                    <a:lstStyle/>
                    <a:p>
                      <a:r>
                        <a:rPr lang="en-GB" sz="1100" dirty="0" err="1"/>
                        <a:t>Rm_office</a:t>
                      </a:r>
                      <a:endParaRPr lang="en-GB" sz="1100" dirty="0"/>
                    </a:p>
                  </a:txBody>
                  <a:tcPr/>
                </a:tc>
                <a:tc>
                  <a:txBody>
                    <a:bodyPr/>
                    <a:lstStyle/>
                    <a:p>
                      <a:r>
                        <a:rPr lang="en-GB" sz="1100" dirty="0" err="1"/>
                        <a:t>Obj_camera_controller</a:t>
                      </a:r>
                      <a:r>
                        <a:rPr lang="en-GB" sz="1100" dirty="0"/>
                        <a:t> and </a:t>
                      </a:r>
                      <a:r>
                        <a:rPr lang="en-GB" sz="1100" dirty="0" err="1"/>
                        <a:t>obj_game_state</a:t>
                      </a:r>
                      <a:r>
                        <a:rPr lang="en-GB" sz="1100" dirty="0"/>
                        <a:t>.</a:t>
                      </a:r>
                    </a:p>
                  </a:txBody>
                  <a:tcPr/>
                </a:tc>
                <a:tc>
                  <a:txBody>
                    <a:bodyPr/>
                    <a:lstStyle/>
                    <a:p>
                      <a:r>
                        <a:rPr lang="en-GB" sz="1100" dirty="0"/>
                        <a:t>When game starts, the game should be set to full screen and with the zones still being 400x225. Also, the smooth transition code has been removed due to that feature not being needed for the cameras.</a:t>
                      </a:r>
                    </a:p>
                  </a:txBody>
                  <a:tcPr/>
                </a:tc>
                <a:tc>
                  <a:txBody>
                    <a:bodyPr/>
                    <a:lstStyle/>
                    <a:p>
                      <a:r>
                        <a:rPr lang="en-GB" sz="1100" dirty="0"/>
                        <a:t>The game doesn’t start in full screen correctly and the screen is blurry.</a:t>
                      </a:r>
                    </a:p>
                    <a:p>
                      <a:endParaRPr lang="en-GB" sz="1100" dirty="0"/>
                    </a:p>
                    <a:p>
                      <a:r>
                        <a:rPr lang="en-GB" sz="1100" dirty="0"/>
                        <a:t>The removal of the smooth code caused the rest of the camera’s code to break. This is because when I first made the code, I considered transitions and made a place-holder one, but accidently made the place-holder also the essential part in creating variables for the camera code</a:t>
                      </a:r>
                    </a:p>
                  </a:txBody>
                  <a:tcPr/>
                </a:tc>
                <a:tc>
                  <a:txBody>
                    <a:bodyPr/>
                    <a:lstStyle/>
                    <a:p>
                      <a:r>
                        <a:rPr lang="en-GB" sz="1100" dirty="0"/>
                        <a:t>I couldn’t fix the camera problem so, everything will return back to its </a:t>
                      </a:r>
                      <a:r>
                        <a:rPr lang="en-GB" sz="1100"/>
                        <a:t>normal size for now.</a:t>
                      </a:r>
                      <a:endParaRPr lang="en-GB" sz="1100" dirty="0"/>
                    </a:p>
                  </a:txBody>
                  <a:tcPr/>
                </a:tc>
                <a:extLst>
                  <a:ext uri="{0D108BD9-81ED-4DB2-BD59-A6C34878D82A}">
                    <a16:rowId xmlns:a16="http://schemas.microsoft.com/office/drawing/2014/main" val="4028166049"/>
                  </a:ext>
                </a:extLst>
              </a:tr>
              <a:tr h="595728">
                <a:tc>
                  <a:txBody>
                    <a:bodyPr/>
                    <a:lstStyle/>
                    <a:p>
                      <a:r>
                        <a:rPr lang="en-GB" sz="1100" dirty="0"/>
                        <a:t>10. Build V.0.6.4.5</a:t>
                      </a:r>
                    </a:p>
                  </a:txBody>
                  <a:tcPr/>
                </a:tc>
                <a:tc>
                  <a:txBody>
                    <a:bodyPr/>
                    <a:lstStyle/>
                    <a:p>
                      <a:r>
                        <a:rPr lang="en-GB" sz="1100" dirty="0"/>
                        <a:t>(new)  </a:t>
                      </a:r>
                      <a:r>
                        <a:rPr lang="en-GB" sz="1100" dirty="0" err="1"/>
                        <a:t>rm_office</a:t>
                      </a:r>
                      <a:endParaRPr lang="en-GB" sz="1100" dirty="0"/>
                    </a:p>
                  </a:txBody>
                  <a:tcPr/>
                </a:tc>
                <a:tc>
                  <a:txBody>
                    <a:bodyPr/>
                    <a:lstStyle/>
                    <a:p>
                      <a:r>
                        <a:rPr lang="en-GB" sz="1100" dirty="0"/>
                        <a:t>All Objects</a:t>
                      </a:r>
                    </a:p>
                  </a:txBody>
                  <a:tcPr/>
                </a:tc>
                <a:tc>
                  <a:txBody>
                    <a:bodyPr/>
                    <a:lstStyle/>
                    <a:p>
                      <a:r>
                        <a:rPr lang="en-GB" sz="1100" dirty="0"/>
                        <a:t>Game now in a room size of 2000x2000 and all objects correctly sized, the game should boot quicker than before and the camera code with the new positions of the zones should function normally. I adjusted the speed of smooth amount to be faster due to the fact that it was a placeholder and I have no need for it but removing it breaks the camera so the plan is just to make it so fast that it’s not noticeable. Gwiber and K9 are the only enemies in the level for this is level 1.</a:t>
                      </a:r>
                    </a:p>
                  </a:txBody>
                  <a:tcPr/>
                </a:tc>
                <a:tc>
                  <a:txBody>
                    <a:bodyPr/>
                    <a:lstStyle/>
                    <a:p>
                      <a:r>
                        <a:rPr lang="en-GB" sz="1100" dirty="0"/>
                        <a:t>The Game runs normally, however, the screen is not full, so I need to enable the game to be full screen.</a:t>
                      </a:r>
                    </a:p>
                    <a:p>
                      <a:endParaRPr lang="en-GB" sz="1100" dirty="0"/>
                    </a:p>
                    <a:p>
                      <a:r>
                        <a:rPr lang="en-GB" sz="1100" dirty="0"/>
                        <a:t>All objects works just like they normally would and in addition, the game starts faster than before making my game more optimized now.</a:t>
                      </a:r>
                    </a:p>
                  </a:txBody>
                  <a:tcPr/>
                </a:tc>
                <a:tc>
                  <a:txBody>
                    <a:bodyPr/>
                    <a:lstStyle/>
                    <a:p>
                      <a:endParaRPr lang="en-GB" sz="1100" dirty="0"/>
                    </a:p>
                  </a:txBody>
                  <a:tcPr/>
                </a:tc>
                <a:extLst>
                  <a:ext uri="{0D108BD9-81ED-4DB2-BD59-A6C34878D82A}">
                    <a16:rowId xmlns:a16="http://schemas.microsoft.com/office/drawing/2014/main" val="2721134836"/>
                  </a:ext>
                </a:extLst>
              </a:tr>
            </a:tbl>
          </a:graphicData>
        </a:graphic>
      </p:graphicFrame>
    </p:spTree>
    <p:extLst>
      <p:ext uri="{BB962C8B-B14F-4D97-AF65-F5344CB8AC3E}">
        <p14:creationId xmlns:p14="http://schemas.microsoft.com/office/powerpoint/2010/main" val="3077568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E28F7-68C3-2BF9-469F-F81B9F201AE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B6EA9D7-824A-31E8-D982-9A521123EE9A}"/>
              </a:ext>
            </a:extLst>
          </p:cNvPr>
          <p:cNvGraphicFramePr>
            <a:graphicFrameLocks noGrp="1"/>
          </p:cNvGraphicFramePr>
          <p:nvPr>
            <p:extLst>
              <p:ext uri="{D42A27DB-BD31-4B8C-83A1-F6EECF244321}">
                <p14:modId xmlns:p14="http://schemas.microsoft.com/office/powerpoint/2010/main" val="1402193734"/>
              </p:ext>
            </p:extLst>
          </p:nvPr>
        </p:nvGraphicFramePr>
        <p:xfrm>
          <a:off x="0" y="0"/>
          <a:ext cx="11988463" cy="635578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11. Build V.0.6.5</a:t>
                      </a:r>
                    </a:p>
                  </a:txBody>
                  <a:tcPr/>
                </a:tc>
                <a:tc>
                  <a:txBody>
                    <a:bodyPr/>
                    <a:lstStyle/>
                    <a:p>
                      <a:r>
                        <a:rPr lang="en-GB" sz="1100" dirty="0" err="1"/>
                        <a:t>Rm_office</a:t>
                      </a:r>
                      <a:endParaRPr lang="en-GB" sz="1100" dirty="0"/>
                    </a:p>
                  </a:txBody>
                  <a:tcPr/>
                </a:tc>
                <a:tc>
                  <a:txBody>
                    <a:bodyPr/>
                    <a:lstStyle/>
                    <a:p>
                      <a:r>
                        <a:rPr lang="en-GB" sz="1100" dirty="0" err="1"/>
                        <a:t>Obj_camera_controller</a:t>
                      </a:r>
                      <a:endParaRPr lang="en-GB" sz="1100" dirty="0"/>
                    </a:p>
                  </a:txBody>
                  <a:tcPr/>
                </a:tc>
                <a:tc>
                  <a:txBody>
                    <a:bodyPr/>
                    <a:lstStyle/>
                    <a:p>
                      <a:r>
                        <a:rPr lang="en-GB" sz="1100" dirty="0"/>
                        <a:t>When the game starts, the view should only be for the main office at the correct size.</a:t>
                      </a:r>
                    </a:p>
                  </a:txBody>
                  <a:tcPr/>
                </a:tc>
                <a:tc>
                  <a:txBody>
                    <a:bodyPr/>
                    <a:lstStyle/>
                    <a:p>
                      <a:r>
                        <a:rPr lang="en-GB" sz="1100" dirty="0"/>
                        <a:t>The view was set, however the view is stretched vertically and no matter that the dimensions are it continues to stretch.</a:t>
                      </a:r>
                    </a:p>
                  </a:txBody>
                  <a:tcPr/>
                </a:tc>
                <a:tc>
                  <a:txBody>
                    <a:bodyPr/>
                    <a:lstStyle/>
                    <a:p>
                      <a:endParaRPr lang="en-GB" sz="1100" dirty="0"/>
                    </a:p>
                  </a:txBody>
                  <a:tcPr/>
                </a:tc>
                <a:extLst>
                  <a:ext uri="{0D108BD9-81ED-4DB2-BD59-A6C34878D82A}">
                    <a16:rowId xmlns:a16="http://schemas.microsoft.com/office/drawing/2014/main" val="4028166049"/>
                  </a:ext>
                </a:extLst>
              </a:tr>
              <a:tr h="595728">
                <a:tc>
                  <a:txBody>
                    <a:bodyPr/>
                    <a:lstStyle/>
                    <a:p>
                      <a:r>
                        <a:rPr lang="en-GB" sz="1100" dirty="0"/>
                        <a:t>12. Build V.0.6.5</a:t>
                      </a:r>
                    </a:p>
                  </a:txBody>
                  <a:tcPr/>
                </a:tc>
                <a:tc>
                  <a:txBody>
                    <a:bodyPr/>
                    <a:lstStyle/>
                    <a:p>
                      <a:r>
                        <a:rPr lang="en-GB" sz="1100" dirty="0"/>
                        <a:t>Rm_level1</a:t>
                      </a:r>
                    </a:p>
                  </a:txBody>
                  <a:tcPr/>
                </a:tc>
                <a:tc>
                  <a:txBody>
                    <a:bodyPr/>
                    <a:lstStyle/>
                    <a:p>
                      <a:r>
                        <a:rPr lang="en-GB" sz="1100" dirty="0" err="1"/>
                        <a:t>Obj_camera_controller</a:t>
                      </a:r>
                      <a:r>
                        <a:rPr lang="en-GB" sz="1100" dirty="0"/>
                        <a:t> and door controller</a:t>
                      </a:r>
                    </a:p>
                  </a:txBody>
                  <a:tcPr/>
                </a:tc>
                <a:tc>
                  <a:txBody>
                    <a:bodyPr/>
                    <a:lstStyle/>
                    <a:p>
                      <a:r>
                        <a:rPr lang="en-GB" sz="1100" dirty="0"/>
                        <a:t>When I close either the left or right door a sound will play signifying the fact the door has been closed.</a:t>
                      </a:r>
                    </a:p>
                  </a:txBody>
                  <a:tcPr/>
                </a:tc>
                <a:tc>
                  <a:txBody>
                    <a:bodyPr/>
                    <a:lstStyle/>
                    <a:p>
                      <a:r>
                        <a:rPr lang="en-GB" sz="1100" dirty="0"/>
                        <a:t>Game breaks when trying to move to an up-close zone but this can just be a simple cause of when I tried altering the camera controllers code incorrectly.</a:t>
                      </a:r>
                    </a:p>
                  </a:txBody>
                  <a:tcPr/>
                </a:tc>
                <a:tc>
                  <a:txBody>
                    <a:bodyPr/>
                    <a:lstStyle/>
                    <a:p>
                      <a:r>
                        <a:rPr lang="en-GB" sz="1100" dirty="0"/>
                        <a:t>Fixed it, it was just because I altered the wrongly, now its fixed and I’m making duplicate Versions Of the Objects to have work in Level 2.</a:t>
                      </a:r>
                    </a:p>
                  </a:txBody>
                  <a:tcPr/>
                </a:tc>
                <a:extLst>
                  <a:ext uri="{0D108BD9-81ED-4DB2-BD59-A6C34878D82A}">
                    <a16:rowId xmlns:a16="http://schemas.microsoft.com/office/drawing/2014/main" val="2721134836"/>
                  </a:ext>
                </a:extLst>
              </a:tr>
              <a:tr h="595728">
                <a:tc>
                  <a:txBody>
                    <a:bodyPr/>
                    <a:lstStyle/>
                    <a:p>
                      <a:r>
                        <a:rPr lang="en-GB" sz="1100" dirty="0"/>
                        <a:t>13. Build V.0.6.5</a:t>
                      </a:r>
                    </a:p>
                  </a:txBody>
                  <a:tcPr/>
                </a:tc>
                <a:tc>
                  <a:txBody>
                    <a:bodyPr/>
                    <a:lstStyle/>
                    <a:p>
                      <a:r>
                        <a:rPr lang="en-GB" sz="1100" dirty="0"/>
                        <a:t>Rm_level2</a:t>
                      </a:r>
                    </a:p>
                  </a:txBody>
                  <a:tcPr/>
                </a:tc>
                <a:tc>
                  <a:txBody>
                    <a:bodyPr/>
                    <a:lstStyle/>
                    <a:p>
                      <a:r>
                        <a:rPr lang="en-GB" sz="1100" dirty="0"/>
                        <a:t>Obj_amcd_bulker_lvl2</a:t>
                      </a:r>
                    </a:p>
                    <a:p>
                      <a:r>
                        <a:rPr lang="en-GB" sz="1100" dirty="0"/>
                        <a:t>Obj_amcd_gwiber_lvl2</a:t>
                      </a:r>
                    </a:p>
                    <a:p>
                      <a:r>
                        <a:rPr lang="en-GB" sz="1100" dirty="0"/>
                        <a:t>Obj_amcd_gwiber_lvl2</a:t>
                      </a:r>
                    </a:p>
                  </a:txBody>
                  <a:tcPr/>
                </a:tc>
                <a:tc>
                  <a:txBody>
                    <a:bodyPr/>
                    <a:lstStyle/>
                    <a:p>
                      <a:r>
                        <a:rPr lang="en-GB" sz="1100" dirty="0"/>
                        <a:t>Gwiber and K9 retain their original movement but now have access to extra zones.</a:t>
                      </a:r>
                    </a:p>
                    <a:p>
                      <a:endParaRPr lang="en-GB" sz="1100" dirty="0"/>
                    </a:p>
                    <a:p>
                      <a:r>
                        <a:rPr lang="en-GB" sz="1100" dirty="0"/>
                        <a:t>Both Gwiber and K9 should know what to do when they are in zones 14,13,12 and original lot.</a:t>
                      </a:r>
                    </a:p>
                    <a:p>
                      <a:endParaRPr lang="en-GB" sz="1100" dirty="0"/>
                    </a:p>
                    <a:p>
                      <a:r>
                        <a:rPr lang="en-GB" sz="1100" dirty="0"/>
                        <a:t>Bulker now fully coded and should move correctly and stop moving when watched.</a:t>
                      </a:r>
                    </a:p>
                  </a:txBody>
                  <a:tcPr/>
                </a:tc>
                <a:tc>
                  <a:txBody>
                    <a:bodyPr/>
                    <a:lstStyle/>
                    <a:p>
                      <a:r>
                        <a:rPr lang="en-GB" sz="1100" dirty="0"/>
                        <a:t>Gwiber and K9 move like normal.</a:t>
                      </a:r>
                    </a:p>
                    <a:p>
                      <a:endParaRPr lang="en-GB" sz="1100" dirty="0"/>
                    </a:p>
                    <a:p>
                      <a:r>
                        <a:rPr lang="en-GB" sz="1100" dirty="0"/>
                        <a:t>Bulker also moves and he does stop moving when watched, however he is a little fast so adjustments will need to be made.</a:t>
                      </a:r>
                    </a:p>
                  </a:txBody>
                  <a:tcPr/>
                </a:tc>
                <a:tc>
                  <a:txBody>
                    <a:bodyPr/>
                    <a:lstStyle/>
                    <a:p>
                      <a:endParaRPr lang="en-GB" sz="1100" dirty="0"/>
                    </a:p>
                  </a:txBody>
                  <a:tcPr/>
                </a:tc>
                <a:extLst>
                  <a:ext uri="{0D108BD9-81ED-4DB2-BD59-A6C34878D82A}">
                    <a16:rowId xmlns:a16="http://schemas.microsoft.com/office/drawing/2014/main" val="421941911"/>
                  </a:ext>
                </a:extLst>
              </a:tr>
              <a:tr h="595728">
                <a:tc>
                  <a:txBody>
                    <a:bodyPr/>
                    <a:lstStyle/>
                    <a:p>
                      <a:r>
                        <a:rPr lang="en-GB" sz="1100" dirty="0"/>
                        <a:t>14. Build V.0.6.5</a:t>
                      </a:r>
                    </a:p>
                  </a:txBody>
                  <a:tcPr/>
                </a:tc>
                <a:tc>
                  <a:txBody>
                    <a:bodyPr/>
                    <a:lstStyle/>
                    <a:p>
                      <a:r>
                        <a:rPr lang="en-GB" sz="1100" dirty="0"/>
                        <a:t>Rm_level2</a:t>
                      </a:r>
                    </a:p>
                  </a:txBody>
                  <a:tcPr/>
                </a:tc>
                <a:tc>
                  <a:txBody>
                    <a:bodyPr/>
                    <a:lstStyle/>
                    <a:p>
                      <a:r>
                        <a:rPr lang="en-GB" sz="1100" dirty="0"/>
                        <a:t>Obj_camera_controller_lvl2</a:t>
                      </a:r>
                    </a:p>
                    <a:p>
                      <a:r>
                        <a:rPr lang="en-GB" sz="1100" dirty="0"/>
                        <a:t>Obj_exit_camera_lvl2</a:t>
                      </a:r>
                    </a:p>
                    <a:p>
                      <a:r>
                        <a:rPr lang="en-GB" sz="1100" dirty="0"/>
                        <a:t>Obj_open_camera_lvl2</a:t>
                      </a:r>
                    </a:p>
                  </a:txBody>
                  <a:tcPr/>
                </a:tc>
                <a:tc>
                  <a:txBody>
                    <a:bodyPr/>
                    <a:lstStyle/>
                    <a:p>
                      <a:r>
                        <a:rPr lang="en-GB" sz="1100" dirty="0"/>
                        <a:t>When the player opens the Camera, the view size changes to the same size as the Camera Hud zone and when the player exits the Camera, the zone returns to its original size.</a:t>
                      </a:r>
                    </a:p>
                  </a:txBody>
                  <a:tcPr/>
                </a:tc>
                <a:tc>
                  <a:txBody>
                    <a:bodyPr/>
                    <a:lstStyle/>
                    <a:p>
                      <a:r>
                        <a:rPr lang="en-GB" sz="1100" dirty="0"/>
                        <a:t>It did exactly what I wanted it to do and there are zero bugs from it.</a:t>
                      </a:r>
                    </a:p>
                    <a:p>
                      <a:endParaRPr lang="en-GB" sz="1100" dirty="0"/>
                    </a:p>
                    <a:p>
                      <a:r>
                        <a:rPr lang="en-GB" sz="1100" dirty="0"/>
                        <a:t>This means I can expand my camera Hud zone even more to have additional zones.</a:t>
                      </a:r>
                    </a:p>
                  </a:txBody>
                  <a:tcPr/>
                </a:tc>
                <a:tc>
                  <a:txBody>
                    <a:bodyPr/>
                    <a:lstStyle/>
                    <a:p>
                      <a:endParaRPr lang="en-GB" sz="1100" dirty="0"/>
                    </a:p>
                  </a:txBody>
                  <a:tcPr/>
                </a:tc>
                <a:extLst>
                  <a:ext uri="{0D108BD9-81ED-4DB2-BD59-A6C34878D82A}">
                    <a16:rowId xmlns:a16="http://schemas.microsoft.com/office/drawing/2014/main" val="4157697822"/>
                  </a:ext>
                </a:extLst>
              </a:tr>
            </a:tbl>
          </a:graphicData>
        </a:graphic>
      </p:graphicFrame>
    </p:spTree>
    <p:extLst>
      <p:ext uri="{BB962C8B-B14F-4D97-AF65-F5344CB8AC3E}">
        <p14:creationId xmlns:p14="http://schemas.microsoft.com/office/powerpoint/2010/main" val="735828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3689435829"/>
              </p:ext>
            </p:extLst>
          </p:nvPr>
        </p:nvGraphicFramePr>
        <p:xfrm>
          <a:off x="0" y="0"/>
          <a:ext cx="11988463" cy="6691068"/>
        </p:xfrm>
        <a:graphic>
          <a:graphicData uri="http://schemas.openxmlformats.org/drawingml/2006/table">
            <a:tbl>
              <a:tblPr firstRow="1" bandRow="1">
                <a:tableStyleId>{5C22544A-7EE6-4342-B048-85BDC9FD1C3A}</a:tableStyleId>
              </a:tblPr>
              <a:tblGrid>
                <a:gridCol w="1876424">
                  <a:extLst>
                    <a:ext uri="{9D8B030D-6E8A-4147-A177-3AD203B41FA5}">
                      <a16:colId xmlns:a16="http://schemas.microsoft.com/office/drawing/2014/main" val="2041145262"/>
                    </a:ext>
                  </a:extLst>
                </a:gridCol>
                <a:gridCol w="2119731">
                  <a:extLst>
                    <a:ext uri="{9D8B030D-6E8A-4147-A177-3AD203B41FA5}">
                      <a16:colId xmlns:a16="http://schemas.microsoft.com/office/drawing/2014/main" val="4080696647"/>
                    </a:ext>
                  </a:extLst>
                </a:gridCol>
                <a:gridCol w="1998077">
                  <a:extLst>
                    <a:ext uri="{9D8B030D-6E8A-4147-A177-3AD203B41FA5}">
                      <a16:colId xmlns:a16="http://schemas.microsoft.com/office/drawing/2014/main" val="132880537"/>
                    </a:ext>
                  </a:extLst>
                </a:gridCol>
                <a:gridCol w="1998077">
                  <a:extLst>
                    <a:ext uri="{9D8B030D-6E8A-4147-A177-3AD203B41FA5}">
                      <a16:colId xmlns:a16="http://schemas.microsoft.com/office/drawing/2014/main" val="786884226"/>
                    </a:ext>
                  </a:extLst>
                </a:gridCol>
                <a:gridCol w="1998077">
                  <a:extLst>
                    <a:ext uri="{9D8B030D-6E8A-4147-A177-3AD203B41FA5}">
                      <a16:colId xmlns:a16="http://schemas.microsoft.com/office/drawing/2014/main" val="259252547"/>
                    </a:ext>
                  </a:extLst>
                </a:gridCol>
                <a:gridCol w="1998077">
                  <a:extLst>
                    <a:ext uri="{9D8B030D-6E8A-4147-A177-3AD203B41FA5}">
                      <a16:colId xmlns:a16="http://schemas.microsoft.com/office/drawing/2014/main" val="3694476725"/>
                    </a:ext>
                  </a:extLst>
                </a:gridCol>
              </a:tblGrid>
              <a:tr h="361950">
                <a:tc>
                  <a:txBody>
                    <a:bodyPr/>
                    <a:lstStyle/>
                    <a:p>
                      <a:r>
                        <a:rPr lang="en-GB" sz="1100" dirty="0"/>
                        <a:t>Test Number</a:t>
                      </a:r>
                    </a:p>
                  </a:txBody>
                  <a:tcPr/>
                </a:tc>
                <a:tc>
                  <a:txBody>
                    <a:bodyPr/>
                    <a:lstStyle/>
                    <a:p>
                      <a:r>
                        <a:rPr lang="en-GB" sz="1100" dirty="0"/>
                        <a:t>Room</a:t>
                      </a:r>
                    </a:p>
                  </a:txBody>
                  <a:tcPr/>
                </a:tc>
                <a:tc>
                  <a:txBody>
                    <a:bodyPr/>
                    <a:lstStyle/>
                    <a:p>
                      <a:r>
                        <a:rPr lang="en-GB" sz="1100" dirty="0"/>
                        <a:t>Objects Involved</a:t>
                      </a:r>
                    </a:p>
                  </a:txBody>
                  <a:tcPr/>
                </a:tc>
                <a:tc>
                  <a:txBody>
                    <a:bodyPr/>
                    <a:lstStyle/>
                    <a:p>
                      <a:r>
                        <a:rPr lang="en-GB" sz="1100" dirty="0"/>
                        <a:t>Expected Outcome</a:t>
                      </a:r>
                    </a:p>
                  </a:txBody>
                  <a:tcPr/>
                </a:tc>
                <a:tc>
                  <a:txBody>
                    <a:bodyPr/>
                    <a:lstStyle/>
                    <a:p>
                      <a:r>
                        <a:rPr lang="en-GB" sz="1100" dirty="0"/>
                        <a:t>Actual Outcome</a:t>
                      </a:r>
                    </a:p>
                  </a:txBody>
                  <a:tcPr/>
                </a:tc>
                <a:tc>
                  <a:txBody>
                    <a:bodyPr/>
                    <a:lstStyle/>
                    <a:p>
                      <a:r>
                        <a:rPr lang="en-GB" sz="1100" dirty="0"/>
                        <a:t>Test Outcome</a:t>
                      </a:r>
                    </a:p>
                  </a:txBody>
                  <a:tcPr/>
                </a:tc>
                <a:extLst>
                  <a:ext uri="{0D108BD9-81ED-4DB2-BD59-A6C34878D82A}">
                    <a16:rowId xmlns:a16="http://schemas.microsoft.com/office/drawing/2014/main" val="1296324342"/>
                  </a:ext>
                </a:extLst>
              </a:tr>
              <a:tr h="598878">
                <a:tc>
                  <a:txBody>
                    <a:bodyPr/>
                    <a:lstStyle/>
                    <a:p>
                      <a:r>
                        <a:rPr lang="en-GB" sz="1100" dirty="0"/>
                        <a:t>Numerical Value of test beginning with 1.</a:t>
                      </a:r>
                    </a:p>
                  </a:txBody>
                  <a:tcPr/>
                </a:tc>
                <a:tc>
                  <a:txBody>
                    <a:bodyPr/>
                    <a:lstStyle/>
                    <a:p>
                      <a:r>
                        <a:rPr lang="en-GB" sz="1100" dirty="0"/>
                        <a:t>What Room your test will be conducted in. </a:t>
                      </a:r>
                    </a:p>
                  </a:txBody>
                  <a:tcPr/>
                </a:tc>
                <a:tc>
                  <a:txBody>
                    <a:bodyPr/>
                    <a:lstStyle/>
                    <a:p>
                      <a:r>
                        <a:rPr lang="en-GB" sz="1100" dirty="0"/>
                        <a:t>The Objects that your test will utilise during the test.</a:t>
                      </a:r>
                    </a:p>
                  </a:txBody>
                  <a:tcPr/>
                </a:tc>
                <a:tc>
                  <a:txBody>
                    <a:bodyPr/>
                    <a:lstStyle/>
                    <a:p>
                      <a:r>
                        <a:rPr lang="en-GB" sz="1100" dirty="0"/>
                        <a:t>What is expected to happen during the test.</a:t>
                      </a:r>
                    </a:p>
                  </a:txBody>
                  <a:tcPr/>
                </a:tc>
                <a:tc>
                  <a:txBody>
                    <a:bodyPr/>
                    <a:lstStyle/>
                    <a:p>
                      <a:r>
                        <a:rPr lang="en-GB" sz="1100" dirty="0"/>
                        <a:t>What Actually happened.</a:t>
                      </a:r>
                    </a:p>
                  </a:txBody>
                  <a:tcPr/>
                </a:tc>
                <a:tc>
                  <a:txBody>
                    <a:bodyPr/>
                    <a:lstStyle/>
                    <a:p>
                      <a:r>
                        <a:rPr lang="en-GB" sz="1100" dirty="0"/>
                        <a:t>Did you have to do anything In reaction to the test? Fixing errors or changing code.</a:t>
                      </a:r>
                    </a:p>
                  </a:txBody>
                  <a:tcPr/>
                </a:tc>
                <a:extLst>
                  <a:ext uri="{0D108BD9-81ED-4DB2-BD59-A6C34878D82A}">
                    <a16:rowId xmlns:a16="http://schemas.microsoft.com/office/drawing/2014/main" val="892039820"/>
                  </a:ext>
                </a:extLst>
              </a:tr>
              <a:tr h="649481">
                <a:tc>
                  <a:txBody>
                    <a:bodyPr/>
                    <a:lstStyle/>
                    <a:p>
                      <a:r>
                        <a:rPr lang="en-GB" sz="1100" dirty="0"/>
                        <a:t>15. Build V.0.6.5</a:t>
                      </a:r>
                    </a:p>
                  </a:txBody>
                  <a:tcPr/>
                </a:tc>
                <a:tc>
                  <a:txBody>
                    <a:bodyPr/>
                    <a:lstStyle/>
                    <a:p>
                      <a:r>
                        <a:rPr lang="en-GB" sz="1100" dirty="0"/>
                        <a:t>Rm_level2, </a:t>
                      </a:r>
                      <a:r>
                        <a:rPr lang="en-GB" sz="1100" dirty="0" err="1"/>
                        <a:t>rm_death_screen</a:t>
                      </a:r>
                      <a:r>
                        <a:rPr lang="en-GB" sz="1100" dirty="0"/>
                        <a:t> and 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t>Object enemies</a:t>
                      </a:r>
                    </a:p>
                  </a:txBody>
                  <a:tcPr/>
                </a:tc>
                <a:tc>
                  <a:txBody>
                    <a:bodyPr/>
                    <a:lstStyle/>
                    <a:p>
                      <a:r>
                        <a:rPr lang="en-GB" sz="1100" dirty="0"/>
                        <a:t>When dead = true, </a:t>
                      </a:r>
                      <a:r>
                        <a:rPr lang="en-GB" sz="1100" dirty="0" err="1"/>
                        <a:t>deathscreentimer</a:t>
                      </a:r>
                      <a:r>
                        <a:rPr lang="en-GB" sz="1100" dirty="0"/>
                        <a:t> decreases by -1 and when it reaches 0, moves the player to the death screen room.</a:t>
                      </a:r>
                    </a:p>
                    <a:p>
                      <a:endParaRPr lang="en-GB" sz="1100" dirty="0"/>
                    </a:p>
                  </a:txBody>
                  <a:tcPr/>
                </a:tc>
                <a:tc>
                  <a:txBody>
                    <a:bodyPr/>
                    <a:lstStyle/>
                    <a:p>
                      <a:r>
                        <a:rPr lang="en-GB" sz="1100" dirty="0"/>
                        <a:t>When dead = true, timer goes down and when it hits zero player is taken to rm_death_screen, however, for some reason some assets are appearing in the death room which is not meant to happen. Besides that the code is working.</a:t>
                      </a:r>
                    </a:p>
                  </a:txBody>
                  <a:tcPr/>
                </a:tc>
                <a:tc>
                  <a:txBody>
                    <a:bodyPr/>
                    <a:lstStyle/>
                    <a:p>
                      <a:r>
                        <a:rPr lang="en-GB" sz="1100" dirty="0"/>
                        <a:t>The issue was that they were all persistent. So, to prevent this form happening again, I will disable the persistent objects for they have no connection to any other room.</a:t>
                      </a:r>
                    </a:p>
                  </a:txBody>
                  <a:tcPr/>
                </a:tc>
                <a:extLst>
                  <a:ext uri="{0D108BD9-81ED-4DB2-BD59-A6C34878D82A}">
                    <a16:rowId xmlns:a16="http://schemas.microsoft.com/office/drawing/2014/main" val="4028166049"/>
                  </a:ext>
                </a:extLst>
              </a:tr>
              <a:tr h="595728">
                <a:tc>
                  <a:txBody>
                    <a:bodyPr/>
                    <a:lstStyle/>
                    <a:p>
                      <a:r>
                        <a:rPr lang="en-GB" sz="1100" dirty="0"/>
                        <a:t>16. Build V.0.6.5</a:t>
                      </a:r>
                    </a:p>
                  </a:txBody>
                  <a:tcPr/>
                </a:tc>
                <a:tc>
                  <a:txBody>
                    <a:bodyPr/>
                    <a:lstStyle/>
                    <a:p>
                      <a:r>
                        <a:rPr lang="en-GB" sz="1100" dirty="0"/>
                        <a:t>Rm_level1 and 2.</a:t>
                      </a:r>
                    </a:p>
                  </a:txBody>
                  <a:tcPr/>
                </a:tc>
                <a:tc>
                  <a:txBody>
                    <a:bodyPr/>
                    <a:lstStyle/>
                    <a:p>
                      <a:r>
                        <a:rPr lang="en-GB" sz="1100" dirty="0" err="1"/>
                        <a:t>Obj_oxygen_door_controller</a:t>
                      </a:r>
                      <a:endParaRPr lang="en-GB" sz="1100" dirty="0"/>
                    </a:p>
                  </a:txBody>
                  <a:tcPr/>
                </a:tc>
                <a:tc>
                  <a:txBody>
                    <a:bodyPr/>
                    <a:lstStyle/>
                    <a:p>
                      <a:r>
                        <a:rPr lang="en-GB" sz="1100" dirty="0"/>
                        <a:t>When oxygen 0, </a:t>
                      </a:r>
                      <a:r>
                        <a:rPr lang="en-GB" sz="1100" dirty="0" err="1"/>
                        <a:t>playerhealth</a:t>
                      </a:r>
                      <a:r>
                        <a:rPr lang="en-GB" sz="1100" dirty="0"/>
                        <a:t> decreases by 0.5.</a:t>
                      </a:r>
                    </a:p>
                    <a:p>
                      <a:endParaRPr lang="en-GB" sz="1100" dirty="0"/>
                    </a:p>
                    <a:p>
                      <a:r>
                        <a:rPr lang="en-GB" sz="1100" dirty="0"/>
                        <a:t>When health = 0, go to death screen room.</a:t>
                      </a:r>
                    </a:p>
                  </a:txBody>
                  <a:tcPr/>
                </a:tc>
                <a:tc>
                  <a:txBody>
                    <a:bodyPr/>
                    <a:lstStyle/>
                    <a:p>
                      <a:r>
                        <a:rPr lang="en-GB" sz="1100" dirty="0"/>
                        <a:t>When the oxygen = 0, health goes down and when health = 0, death screen appears. However, the timer continues afterwards which I do not want. It might be because I have the code in the step event which is set to persistent = true.</a:t>
                      </a:r>
                    </a:p>
                  </a:txBody>
                  <a:tcPr/>
                </a:tc>
                <a:tc>
                  <a:txBody>
                    <a:bodyPr/>
                    <a:lstStyle/>
                    <a:p>
                      <a:r>
                        <a:rPr lang="en-GB" sz="1100" dirty="0"/>
                        <a:t>I’m going to try and make the </a:t>
                      </a:r>
                      <a:r>
                        <a:rPr lang="en-GB" sz="1100" dirty="0" err="1"/>
                        <a:t>healthbar</a:t>
                      </a:r>
                      <a:r>
                        <a:rPr lang="en-GB" sz="1100" dirty="0"/>
                        <a:t> a separate object instead of having be persistent in door controller. Also, in addition to this to fix the health bar not resetting, I made it so that if the value of </a:t>
                      </a:r>
                      <a:r>
                        <a:rPr lang="en-GB" sz="1100" dirty="0" err="1"/>
                        <a:t>playerhealthbar</a:t>
                      </a:r>
                      <a:r>
                        <a:rPr lang="en-GB" sz="1100" dirty="0"/>
                        <a:t> is ever less than 0, reset back to 100.</a:t>
                      </a:r>
                    </a:p>
                  </a:txBody>
                  <a:tcPr/>
                </a:tc>
                <a:extLst>
                  <a:ext uri="{0D108BD9-81ED-4DB2-BD59-A6C34878D82A}">
                    <a16:rowId xmlns:a16="http://schemas.microsoft.com/office/drawing/2014/main" val="2721134836"/>
                  </a:ext>
                </a:extLst>
              </a:tr>
              <a:tr h="595728">
                <a:tc>
                  <a:txBody>
                    <a:bodyPr/>
                    <a:lstStyle/>
                    <a:p>
                      <a:r>
                        <a:rPr lang="en-GB" sz="1100" dirty="0"/>
                        <a:t>17. Build V.0.7</a:t>
                      </a:r>
                    </a:p>
                  </a:txBody>
                  <a:tcPr/>
                </a:tc>
                <a:tc>
                  <a:txBody>
                    <a:bodyPr/>
                    <a:lstStyle/>
                    <a:p>
                      <a:r>
                        <a:rPr lang="en-GB" sz="1100" dirty="0"/>
                        <a:t>Rm_level3</a:t>
                      </a:r>
                    </a:p>
                  </a:txBody>
                  <a:tcPr/>
                </a:tc>
                <a:tc>
                  <a:txBody>
                    <a:bodyPr/>
                    <a:lstStyle/>
                    <a:p>
                      <a:r>
                        <a:rPr lang="en-GB" sz="1100" dirty="0" err="1"/>
                        <a:t>Obj_amcd_arach</a:t>
                      </a:r>
                      <a:endParaRPr lang="en-GB" sz="1100" dirty="0"/>
                    </a:p>
                  </a:txBody>
                  <a:tcPr/>
                </a:tc>
                <a:tc>
                  <a:txBody>
                    <a:bodyPr/>
                    <a:lstStyle/>
                    <a:p>
                      <a:r>
                        <a:rPr lang="en-GB" sz="1100" dirty="0"/>
                        <a:t>When Arach is on zone 5 and the front vent is open, Arach will start his attack timer and just a second after play the vent crawling sound. When the attack timer = 0 and the front vent is still open. He jump-scares the player. If the door is closed, he will retreat back to zone 5 or 8.</a:t>
                      </a:r>
                    </a:p>
                  </a:txBody>
                  <a:tcPr/>
                </a:tc>
                <a:tc>
                  <a:txBody>
                    <a:bodyPr/>
                    <a:lstStyle/>
                    <a:p>
                      <a:r>
                        <a:rPr lang="en-GB" sz="1100" dirty="0"/>
                        <a:t>Arach moved instantly from 5  to 8 but remains there and his </a:t>
                      </a:r>
                      <a:r>
                        <a:rPr lang="en-GB" sz="1100" dirty="0" err="1"/>
                        <a:t>attacktimer</a:t>
                      </a:r>
                      <a:r>
                        <a:rPr lang="en-GB" sz="1100" dirty="0"/>
                        <a:t> doesn’t reset. This is most likely due to my poor effort of converting K9’s code for Arach. I will re-attempt Arach by duplicating K9 and just having it be Arach and limited to 2 zones.</a:t>
                      </a:r>
                    </a:p>
                  </a:txBody>
                  <a:tcPr/>
                </a:tc>
                <a:tc>
                  <a:txBody>
                    <a:bodyPr/>
                    <a:lstStyle/>
                    <a:p>
                      <a:r>
                        <a:rPr lang="en-GB" sz="1100" dirty="0"/>
                        <a:t>The fix was easily made. All I did was duplicate K9’s code and re-named the variables to Arach and only gave him two zones to move between. He now functions perfectly, makes a sound when he’s about to attack and he moves between zone 5 and 8.</a:t>
                      </a:r>
                    </a:p>
                  </a:txBody>
                  <a:tcPr/>
                </a:tc>
                <a:extLst>
                  <a:ext uri="{0D108BD9-81ED-4DB2-BD59-A6C34878D82A}">
                    <a16:rowId xmlns:a16="http://schemas.microsoft.com/office/drawing/2014/main" val="421941911"/>
                  </a:ext>
                </a:extLst>
              </a:tr>
              <a:tr h="595728">
                <a:tc>
                  <a:txBody>
                    <a:bodyPr/>
                    <a:lstStyle/>
                    <a:p>
                      <a:r>
                        <a:rPr lang="en-GB" sz="1100" dirty="0"/>
                        <a:t>18. Build V.0.7.1</a:t>
                      </a:r>
                    </a:p>
                  </a:txBody>
                  <a:tcPr/>
                </a:tc>
                <a:tc>
                  <a:txBody>
                    <a:bodyPr/>
                    <a:lstStyle/>
                    <a:p>
                      <a:r>
                        <a:rPr lang="en-GB" sz="1100" dirty="0"/>
                        <a:t>All levels</a:t>
                      </a:r>
                    </a:p>
                  </a:txBody>
                  <a:tcPr/>
                </a:tc>
                <a:tc>
                  <a:txBody>
                    <a:bodyPr/>
                    <a:lstStyle/>
                    <a:p>
                      <a:r>
                        <a:rPr lang="en-GB" sz="1100" dirty="0"/>
                        <a:t>Object buttons</a:t>
                      </a:r>
                    </a:p>
                  </a:txBody>
                  <a:tcPr/>
                </a:tc>
                <a:tc>
                  <a:txBody>
                    <a:bodyPr/>
                    <a:lstStyle/>
                    <a:p>
                      <a:r>
                        <a:rPr lang="en-GB" sz="1100" dirty="0"/>
                        <a:t>When mouse hovers over movement buttons and open/close camera buttons, the buttons events trigger.</a:t>
                      </a:r>
                    </a:p>
                  </a:txBody>
                  <a:tcPr/>
                </a:tc>
                <a:tc>
                  <a:txBody>
                    <a:bodyPr/>
                    <a:lstStyle/>
                    <a:p>
                      <a:r>
                        <a:rPr lang="en-GB" sz="1100" dirty="0"/>
                        <a:t>Yes, the buttons do trigger when mouse enters the objects area.</a:t>
                      </a:r>
                    </a:p>
                  </a:txBody>
                  <a:tcPr/>
                </a:tc>
                <a:tc>
                  <a:txBody>
                    <a:bodyPr/>
                    <a:lstStyle/>
                    <a:p>
                      <a:r>
                        <a:rPr lang="en-GB" sz="1100" dirty="0"/>
                        <a:t>I have decided not to go forward with this idea but I’ll leave this here as evidence of experimentation.</a:t>
                      </a:r>
                    </a:p>
                  </a:txBody>
                  <a:tcPr/>
                </a:tc>
                <a:extLst>
                  <a:ext uri="{0D108BD9-81ED-4DB2-BD59-A6C34878D82A}">
                    <a16:rowId xmlns:a16="http://schemas.microsoft.com/office/drawing/2014/main" val="4157697822"/>
                  </a:ext>
                </a:extLst>
              </a:tr>
            </a:tbl>
          </a:graphicData>
        </a:graphic>
      </p:graphicFrame>
    </p:spTree>
    <p:extLst>
      <p:ext uri="{BB962C8B-B14F-4D97-AF65-F5344CB8AC3E}">
        <p14:creationId xmlns:p14="http://schemas.microsoft.com/office/powerpoint/2010/main" val="6063276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8EF3-E610-32D5-33E5-8C4A934B8F0C}"/>
              </a:ext>
            </a:extLst>
          </p:cNvPr>
          <p:cNvSpPr>
            <a:spLocks noGrp="1"/>
          </p:cNvSpPr>
          <p:nvPr>
            <p:ph type="title"/>
          </p:nvPr>
        </p:nvSpPr>
        <p:spPr>
          <a:xfrm>
            <a:off x="838200" y="1916339"/>
            <a:ext cx="10515600" cy="1325563"/>
          </a:xfrm>
        </p:spPr>
        <p:txBody>
          <a:bodyPr>
            <a:normAutofit fontScale="90000"/>
          </a:bodyPr>
          <a:lstStyle/>
          <a:p>
            <a:pPr algn="ctr"/>
            <a:r>
              <a:rPr lang="en-GB" dirty="0"/>
              <a:t>The Next Slides are the tests made for Build</a:t>
            </a:r>
            <a:br>
              <a:rPr lang="en-GB" dirty="0"/>
            </a:br>
            <a:r>
              <a:rPr lang="en-GB" dirty="0"/>
              <a:t>V.1.0 of</a:t>
            </a:r>
            <a:br>
              <a:rPr lang="en-GB" dirty="0"/>
            </a:br>
            <a:r>
              <a:rPr lang="en-GB" dirty="0"/>
              <a:t>Critical Failure</a:t>
            </a:r>
            <a:br>
              <a:rPr lang="en-GB" dirty="0"/>
            </a:br>
            <a:br>
              <a:rPr lang="en-GB" dirty="0"/>
            </a:br>
            <a:r>
              <a:rPr lang="en-GB" dirty="0"/>
              <a:t>Testing</a:t>
            </a:r>
            <a:br>
              <a:rPr lang="en-GB" dirty="0"/>
            </a:br>
            <a:br>
              <a:rPr lang="en-GB" dirty="0"/>
            </a:br>
            <a:r>
              <a:rPr lang="en-GB" dirty="0"/>
              <a:t>The each test will have a video to it at the end</a:t>
            </a:r>
            <a:br>
              <a:rPr lang="en-GB" dirty="0"/>
            </a:br>
            <a:r>
              <a:rPr lang="en-GB" dirty="0"/>
              <a:t>of this PowerPoint, showing the mechanic being tested.</a:t>
            </a:r>
          </a:p>
        </p:txBody>
      </p:sp>
      <p:sp>
        <p:nvSpPr>
          <p:cNvPr id="4" name="TextBox 3">
            <a:extLst>
              <a:ext uri="{FF2B5EF4-FFF2-40B4-BE49-F238E27FC236}">
                <a16:creationId xmlns:a16="http://schemas.microsoft.com/office/drawing/2014/main" id="{0BAA3E30-BFBB-8003-BB5B-D1D448CDCBBE}"/>
              </a:ext>
            </a:extLst>
          </p:cNvPr>
          <p:cNvSpPr txBox="1"/>
          <p:nvPr/>
        </p:nvSpPr>
        <p:spPr>
          <a:xfrm>
            <a:off x="0" y="6211669"/>
            <a:ext cx="10793186" cy="646331"/>
          </a:xfrm>
          <a:prstGeom prst="rect">
            <a:avLst/>
          </a:prstGeom>
          <a:noFill/>
        </p:spPr>
        <p:txBody>
          <a:bodyPr wrap="square">
            <a:spAutoFit/>
          </a:bodyPr>
          <a:lstStyle/>
          <a:p>
            <a:r>
              <a:rPr lang="en-GB" sz="1800" b="1" dirty="0">
                <a:latin typeface="Arial Narrow" panose="020B0606020202030204" pitchFamily="34" charset="0"/>
              </a:rPr>
              <a:t>Note: Each Level has different versions of the zones: Cam_zone_lvl1, Cam_zone_lvl2 etc. Level versions of the enemies and othe</a:t>
            </a:r>
            <a:r>
              <a:rPr lang="en-GB" b="1" dirty="0">
                <a:latin typeface="Arial Narrow" panose="020B0606020202030204" pitchFamily="34" charset="0"/>
              </a:rPr>
              <a:t>r objects follow the </a:t>
            </a:r>
            <a:r>
              <a:rPr lang="en-GB" b="1" dirty="0" err="1">
                <a:latin typeface="Arial Narrow" panose="020B0606020202030204" pitchFamily="34" charset="0"/>
              </a:rPr>
              <a:t>Cam_zone</a:t>
            </a:r>
            <a:r>
              <a:rPr lang="en-GB" b="1" dirty="0">
                <a:latin typeface="Arial Narrow" panose="020B0606020202030204" pitchFamily="34" charset="0"/>
              </a:rPr>
              <a:t> matching the level they are in not ones from other levels.</a:t>
            </a:r>
            <a:endParaRPr lang="en-GB" sz="1800" b="1" dirty="0">
              <a:latin typeface="Arial Narrow" panose="020B0606020202030204" pitchFamily="34" charset="0"/>
            </a:endParaRPr>
          </a:p>
        </p:txBody>
      </p:sp>
    </p:spTree>
    <p:extLst>
      <p:ext uri="{BB962C8B-B14F-4D97-AF65-F5344CB8AC3E}">
        <p14:creationId xmlns:p14="http://schemas.microsoft.com/office/powerpoint/2010/main" val="17745523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122315289"/>
              </p:ext>
            </p:extLst>
          </p:nvPr>
        </p:nvGraphicFramePr>
        <p:xfrm>
          <a:off x="38100" y="391885"/>
          <a:ext cx="12115800" cy="6218272"/>
        </p:xfrm>
        <a:graphic>
          <a:graphicData uri="http://schemas.openxmlformats.org/drawingml/2006/table">
            <a:tbl>
              <a:tblPr firstRow="1" bandRow="1">
                <a:tableStyleId>{5C22544A-7EE6-4342-B048-85BDC9FD1C3A}</a:tableStyleId>
              </a:tblPr>
              <a:tblGrid>
                <a:gridCol w="800101">
                  <a:extLst>
                    <a:ext uri="{9D8B030D-6E8A-4147-A177-3AD203B41FA5}">
                      <a16:colId xmlns:a16="http://schemas.microsoft.com/office/drawing/2014/main" val="2041145262"/>
                    </a:ext>
                  </a:extLst>
                </a:gridCol>
                <a:gridCol w="2587189">
                  <a:extLst>
                    <a:ext uri="{9D8B030D-6E8A-4147-A177-3AD203B41FA5}">
                      <a16:colId xmlns:a16="http://schemas.microsoft.com/office/drawing/2014/main" val="3102287305"/>
                    </a:ext>
                  </a:extLst>
                </a:gridCol>
                <a:gridCol w="814089">
                  <a:extLst>
                    <a:ext uri="{9D8B030D-6E8A-4147-A177-3AD203B41FA5}">
                      <a16:colId xmlns:a16="http://schemas.microsoft.com/office/drawing/2014/main" val="4080696647"/>
                    </a:ext>
                  </a:extLst>
                </a:gridCol>
                <a:gridCol w="1350336">
                  <a:extLst>
                    <a:ext uri="{9D8B030D-6E8A-4147-A177-3AD203B41FA5}">
                      <a16:colId xmlns:a16="http://schemas.microsoft.com/office/drawing/2014/main" val="132880537"/>
                    </a:ext>
                  </a:extLst>
                </a:gridCol>
                <a:gridCol w="4248695">
                  <a:extLst>
                    <a:ext uri="{9D8B030D-6E8A-4147-A177-3AD203B41FA5}">
                      <a16:colId xmlns:a16="http://schemas.microsoft.com/office/drawing/2014/main" val="786884226"/>
                    </a:ext>
                  </a:extLst>
                </a:gridCol>
                <a:gridCol w="2315390">
                  <a:extLst>
                    <a:ext uri="{9D8B030D-6E8A-4147-A177-3AD203B41FA5}">
                      <a16:colId xmlns:a16="http://schemas.microsoft.com/office/drawing/2014/main" val="259252547"/>
                    </a:ext>
                  </a:extLst>
                </a:gridCol>
              </a:tblGrid>
              <a:tr h="353746">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0">
                <a:tc>
                  <a:txBody>
                    <a:bodyPr/>
                    <a:lstStyle/>
                    <a:p>
                      <a:r>
                        <a:rPr lang="en-GB" sz="800" dirty="0"/>
                        <a:t>1.</a:t>
                      </a:r>
                    </a:p>
                  </a:txBody>
                  <a:tcPr/>
                </a:tc>
                <a:tc>
                  <a:txBody>
                    <a:bodyPr/>
                    <a:lstStyle/>
                    <a:p>
                      <a:r>
                        <a:rPr lang="en-GB" sz="800" dirty="0" err="1"/>
                        <a:t>Gwiber</a:t>
                      </a:r>
                      <a:r>
                        <a:rPr lang="en-GB" sz="800" dirty="0"/>
                        <a:t> level 1 Enemy Movement Test</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err="1"/>
                        <a:t>Gwiber</a:t>
                      </a:r>
                      <a:r>
                        <a:rPr lang="en-GB" sz="800" dirty="0"/>
                        <a:t> starts in camera zone 4 then makes his way towards the left door which is camera zone 2. His movement chances are 50/50 to go forwards or backwards. He can only access Camera Zones 4,3,2,1,5. if door is in a closed state and </a:t>
                      </a:r>
                      <a:r>
                        <a:rPr lang="en-GB" sz="800" dirty="0" err="1"/>
                        <a:t>Gwiber</a:t>
                      </a:r>
                      <a:r>
                        <a:rPr lang="en-GB" sz="800" dirty="0"/>
                        <a:t> is in Camera zone 2, then he moves away from the door to Camera Zone 1 or 3. </a:t>
                      </a:r>
                      <a:r>
                        <a:rPr lang="en-GB" sz="800" dirty="0" err="1"/>
                        <a:t>Gwiber</a:t>
                      </a:r>
                      <a:r>
                        <a:rPr lang="en-GB" sz="800" dirty="0"/>
                        <a:t> moves as a normal speed. When watched his movement is delayed slightly</a:t>
                      </a:r>
                    </a:p>
                  </a:txBody>
                  <a:tcPr/>
                </a:tc>
                <a:tc>
                  <a:txBody>
                    <a:bodyPr/>
                    <a:lstStyle/>
                    <a:p>
                      <a:endParaRPr lang="en-GB" sz="800" dirty="0"/>
                    </a:p>
                  </a:txBody>
                  <a:tcPr/>
                </a:tc>
                <a:extLst>
                  <a:ext uri="{0D108BD9-81ED-4DB2-BD59-A6C34878D82A}">
                    <a16:rowId xmlns:a16="http://schemas.microsoft.com/office/drawing/2014/main" val="1068541384"/>
                  </a:ext>
                </a:extLst>
              </a:tr>
              <a:tr h="585303">
                <a:tc>
                  <a:txBody>
                    <a:bodyPr/>
                    <a:lstStyle/>
                    <a:p>
                      <a:r>
                        <a:rPr lang="en-GB" sz="8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2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starts in camera zone 4 then makes his way towards the left door which is camera zone 2. His movement chances are 50/50 to go forwards or backwards. He can only access Camera Zones 4,3,2,1,5. if door is in a closed state and </a:t>
                      </a:r>
                      <a:r>
                        <a:rPr lang="en-GB" sz="800" dirty="0" err="1"/>
                        <a:t>Gwiber</a:t>
                      </a:r>
                      <a:r>
                        <a:rPr lang="en-GB" sz="800" dirty="0"/>
                        <a:t> is in Camera zone 2, then he moves away from the door to Camera Zone 1 or 3. </a:t>
                      </a:r>
                      <a:r>
                        <a:rPr lang="en-GB" sz="800" dirty="0" err="1"/>
                        <a:t>Gwiber</a:t>
                      </a:r>
                      <a:r>
                        <a:rPr lang="en-GB" sz="800" dirty="0"/>
                        <a:t> moves as a normal speed. When watched his movement is delayed slightly</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585303">
                <a:tc>
                  <a:txBody>
                    <a:bodyPr/>
                    <a:lstStyle/>
                    <a:p>
                      <a:r>
                        <a:rPr lang="en-GB" sz="8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3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r>
                        <a:rPr lang="en-GB" sz="800" dirty="0"/>
                        <a:t>Obj_amcd_gwiber_lvl3</a:t>
                      </a:r>
                    </a:p>
                  </a:txBody>
                  <a:tcPr/>
                </a:tc>
                <a:tc>
                  <a:txBody>
                    <a:bodyPr/>
                    <a:lstStyle/>
                    <a:p>
                      <a:r>
                        <a:rPr lang="en-GB" sz="800" dirty="0"/>
                        <a:t>In Level 3 </a:t>
                      </a:r>
                      <a:r>
                        <a:rPr lang="en-GB" sz="800" dirty="0" err="1"/>
                        <a:t>Gwiber</a:t>
                      </a:r>
                      <a:r>
                        <a:rPr lang="en-GB" sz="800" dirty="0"/>
                        <a:t> starts in Camera Zone 17 then makes his way to Camera Zone 2. His code is like the two previous versions of him with the addition of zones 17,13,16 and 12 at his disposal. he moves from Camera Zone. Moves as normal speed.</a:t>
                      </a:r>
                    </a:p>
                  </a:txBody>
                  <a:tcPr/>
                </a:tc>
                <a:tc>
                  <a:txBody>
                    <a:bodyPr/>
                    <a:lstStyle/>
                    <a:p>
                      <a:endParaRPr lang="en-GB" sz="800" dirty="0"/>
                    </a:p>
                  </a:txBody>
                  <a:tcPr/>
                </a:tc>
                <a:extLst>
                  <a:ext uri="{0D108BD9-81ED-4DB2-BD59-A6C34878D82A}">
                    <a16:rowId xmlns:a16="http://schemas.microsoft.com/office/drawing/2014/main" val="4058717911"/>
                  </a:ext>
                </a:extLst>
              </a:tr>
              <a:tr h="585303">
                <a:tc>
                  <a:txBody>
                    <a:bodyPr/>
                    <a:lstStyle/>
                    <a:p>
                      <a:r>
                        <a:rPr lang="en-GB" sz="8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5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r>
                        <a:rPr lang="en-GB" sz="800" dirty="0"/>
                        <a:t>Obj_amcd_gwiber_lvl5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In Level 5 </a:t>
                      </a:r>
                      <a:r>
                        <a:rPr lang="en-GB" sz="800" dirty="0" err="1"/>
                        <a:t>Gwiber</a:t>
                      </a:r>
                      <a:r>
                        <a:rPr lang="en-GB" sz="800" dirty="0"/>
                        <a:t> starts in Camera Zone 17 then makes his way to Camera Zone 2. His code is like the two previous versions of him with the addition of zones 17,13,16 and 12 at his disposal. he moves from Camera Zone. Moves as normal speed.</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585303">
                <a:tc>
                  <a:txBody>
                    <a:bodyPr/>
                    <a:lstStyle/>
                    <a:p>
                      <a:r>
                        <a:rPr lang="en-GB" sz="8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1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r>
                        <a:rPr lang="en-GB" sz="800" dirty="0"/>
                        <a:t>Obj_amcd_k9</a:t>
                      </a:r>
                    </a:p>
                  </a:txBody>
                  <a:tcPr/>
                </a:tc>
                <a:tc>
                  <a:txBody>
                    <a:bodyPr/>
                    <a:lstStyle/>
                    <a:p>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txBody>
                  <a:tcPr/>
                </a:tc>
                <a:tc>
                  <a:txBody>
                    <a:bodyPr/>
                    <a:lstStyle/>
                    <a:p>
                      <a:endParaRPr lang="en-GB" sz="800" dirty="0"/>
                    </a:p>
                  </a:txBody>
                  <a:tcPr/>
                </a:tc>
                <a:extLst>
                  <a:ext uri="{0D108BD9-81ED-4DB2-BD59-A6C34878D82A}">
                    <a16:rowId xmlns:a16="http://schemas.microsoft.com/office/drawing/2014/main" val="1242589453"/>
                  </a:ext>
                </a:extLst>
              </a:tr>
              <a:tr h="585303">
                <a:tc>
                  <a:txBody>
                    <a:bodyPr/>
                    <a:lstStyle/>
                    <a:p>
                      <a:r>
                        <a:rPr lang="en-GB" sz="8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2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Obj_amcd_k9_lvl2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585303">
                <a:tc>
                  <a:txBody>
                    <a:bodyPr/>
                    <a:lstStyle/>
                    <a:p>
                      <a:r>
                        <a:rPr lang="en-GB" sz="8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3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r>
                        <a:rPr lang="en-GB" sz="800" dirty="0"/>
                        <a:t>Obj_amcd_k9_lvl3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585303">
                <a:tc>
                  <a:txBody>
                    <a:bodyPr/>
                    <a:lstStyle/>
                    <a:p>
                      <a:r>
                        <a:rPr lang="en-GB" sz="8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5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r>
                        <a:rPr lang="en-GB" sz="800" dirty="0"/>
                        <a:t>Obj_amcd_k9_lvl5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3698927783"/>
                  </a:ext>
                </a:extLst>
              </a:tr>
            </a:tbl>
          </a:graphicData>
        </a:graphic>
      </p:graphicFrame>
      <p:sp>
        <p:nvSpPr>
          <p:cNvPr id="2" name="TextBox 1">
            <a:extLst>
              <a:ext uri="{FF2B5EF4-FFF2-40B4-BE49-F238E27FC236}">
                <a16:creationId xmlns:a16="http://schemas.microsoft.com/office/drawing/2014/main" id="{F9129CF1-E1CC-4A65-2531-AC82C7C0D75D}"/>
              </a:ext>
            </a:extLst>
          </p:cNvPr>
          <p:cNvSpPr txBox="1"/>
          <p:nvPr/>
        </p:nvSpPr>
        <p:spPr>
          <a:xfrm>
            <a:off x="0" y="22553"/>
            <a:ext cx="1601592"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24688705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2675186991"/>
              </p:ext>
            </p:extLst>
          </p:nvPr>
        </p:nvGraphicFramePr>
        <p:xfrm>
          <a:off x="0" y="391886"/>
          <a:ext cx="12034157" cy="6266361"/>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536104">
                  <a:extLst>
                    <a:ext uri="{9D8B030D-6E8A-4147-A177-3AD203B41FA5}">
                      <a16:colId xmlns:a16="http://schemas.microsoft.com/office/drawing/2014/main" val="3102287305"/>
                    </a:ext>
                  </a:extLst>
                </a:gridCol>
                <a:gridCol w="84698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4120849">
                  <a:extLst>
                    <a:ext uri="{9D8B030D-6E8A-4147-A177-3AD203B41FA5}">
                      <a16:colId xmlns:a16="http://schemas.microsoft.com/office/drawing/2014/main" val="786884226"/>
                    </a:ext>
                  </a:extLst>
                </a:gridCol>
                <a:gridCol w="2310493">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9.</a:t>
                      </a:r>
                    </a:p>
                  </a:txBody>
                  <a:tcPr/>
                </a:tc>
                <a:tc>
                  <a:txBody>
                    <a:bodyPr/>
                    <a:lstStyle/>
                    <a:p>
                      <a:r>
                        <a:rPr lang="en-GB" sz="800" dirty="0"/>
                        <a:t>Bulker Level 2 Enemy Movement Test</a:t>
                      </a:r>
                    </a:p>
                  </a:txBody>
                  <a:tcPr/>
                </a:tc>
                <a:tc>
                  <a:txBody>
                    <a:bodyPr/>
                    <a:lstStyle/>
                    <a:p>
                      <a:r>
                        <a:rPr lang="en-GB" sz="800" dirty="0"/>
                        <a:t>Rm_level2</a:t>
                      </a:r>
                    </a:p>
                  </a:txBody>
                  <a:tcPr/>
                </a:tc>
                <a:tc>
                  <a:txBody>
                    <a:bodyPr/>
                    <a:lstStyle/>
                    <a:p>
                      <a:r>
                        <a:rPr lang="en-GB" sz="800" dirty="0"/>
                        <a:t>Obj_amcd_bulker_level2</a:t>
                      </a:r>
                    </a:p>
                  </a:txBody>
                  <a:tcPr/>
                </a:tc>
                <a:tc>
                  <a:txBody>
                    <a:bodyPr/>
                    <a:lstStyle/>
                    <a:p>
                      <a:r>
                        <a:rPr lang="en-GB" sz="800" dirty="0"/>
                        <a:t>Bulker starts in Camera Zone 11 then makes his way towards the office. He can access zones 20,11,10,9,8,7.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a:t>
                      </a:r>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10.</a:t>
                      </a:r>
                    </a:p>
                  </a:txBody>
                  <a:tcPr/>
                </a:tc>
                <a:tc>
                  <a:txBody>
                    <a:bodyPr/>
                    <a:lstStyle/>
                    <a:p>
                      <a:r>
                        <a:rPr lang="en-GB" sz="800" dirty="0"/>
                        <a:t>Bulker Level 3 Enemy Movement Test</a:t>
                      </a:r>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starts in Camera Zone 11 then makes his way towards the office. He can access zones 20,11,10,9,8,7,18,19.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 Also on start he can choose between starting in zone 11 or 19.</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11.</a:t>
                      </a:r>
                    </a:p>
                  </a:txBody>
                  <a:tcPr/>
                </a:tc>
                <a:tc>
                  <a:txBody>
                    <a:bodyPr/>
                    <a:lstStyle/>
                    <a:p>
                      <a:r>
                        <a:rPr lang="en-GB" sz="800" dirty="0"/>
                        <a:t>Bulker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starts in Camera Zone 11 then makes his way towards the office. He can access zones 20,11,10,9,8,7,18,19.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 Also on start he can choose between starting in zone 11 or 19.</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12.</a:t>
                      </a:r>
                    </a:p>
                  </a:txBody>
                  <a:tcPr/>
                </a:tc>
                <a:tc>
                  <a:txBody>
                    <a:bodyPr/>
                    <a:lstStyle/>
                    <a:p>
                      <a:r>
                        <a:rPr lang="en-GB" sz="800" dirty="0" err="1"/>
                        <a:t>Arach</a:t>
                      </a:r>
                      <a:r>
                        <a:rPr lang="en-GB" sz="800" dirty="0"/>
                        <a:t> Level 4 Enemy Movement Test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Obj_amcd_arach_level4</a:t>
                      </a:r>
                    </a:p>
                    <a:p>
                      <a:endParaRPr lang="en-GB" sz="800" dirty="0"/>
                    </a:p>
                  </a:txBody>
                  <a:tcPr/>
                </a:tc>
                <a:tc>
                  <a:txBody>
                    <a:bodyPr/>
                    <a:lstStyle/>
                    <a:p>
                      <a:r>
                        <a:rPr lang="en-GB" sz="800" dirty="0" err="1"/>
                        <a:t>Arach</a:t>
                      </a:r>
                      <a:r>
                        <a:rPr lang="en-GB" sz="800" dirty="0"/>
                        <a:t> starts in Camera Zone 5. </a:t>
                      </a:r>
                      <a:r>
                        <a:rPr lang="en-GB" sz="800" dirty="0" err="1"/>
                        <a:t>Arach</a:t>
                      </a:r>
                      <a:r>
                        <a:rPr lang="en-GB" sz="800" dirty="0"/>
                        <a:t> works by changing between camera zone 5 and 8 (front vent and back vent) to then move into zone 0. If the front vent is closed as </a:t>
                      </a:r>
                      <a:r>
                        <a:rPr lang="en-GB" sz="800" dirty="0" err="1"/>
                        <a:t>Arach</a:t>
                      </a:r>
                      <a:r>
                        <a:rPr lang="en-GB" sz="800" dirty="0"/>
                        <a:t> is in Camera Zone 5, he cannot attack, same works for Camera zone 8. If he fails an attack he rolls a 50/50 on whether he stays in 5 or moves to 8.</a:t>
                      </a:r>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13.</a:t>
                      </a:r>
                    </a:p>
                  </a:txBody>
                  <a:tcPr/>
                </a:tc>
                <a:tc>
                  <a:txBody>
                    <a:bodyPr/>
                    <a:lstStyle/>
                    <a:p>
                      <a:r>
                        <a:rPr lang="en-GB" sz="800" dirty="0" err="1"/>
                        <a:t>Arach</a:t>
                      </a:r>
                      <a:r>
                        <a:rPr lang="en-GB" sz="800" dirty="0"/>
                        <a:t>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Obj_amcd_arach_level5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Arach</a:t>
                      </a:r>
                      <a:r>
                        <a:rPr lang="en-GB" sz="800" dirty="0"/>
                        <a:t> starts in Camera Zone 5. </a:t>
                      </a:r>
                      <a:r>
                        <a:rPr lang="en-GB" sz="800" dirty="0" err="1"/>
                        <a:t>Arach</a:t>
                      </a:r>
                      <a:r>
                        <a:rPr lang="en-GB" sz="800" dirty="0"/>
                        <a:t> works by changing between camera zone 5 and 8 (front vent and back vent) to then move into zone 0. If the front vent is closed as </a:t>
                      </a:r>
                      <a:r>
                        <a:rPr lang="en-GB" sz="800" dirty="0" err="1"/>
                        <a:t>Arach</a:t>
                      </a:r>
                      <a:r>
                        <a:rPr lang="en-GB" sz="800" dirty="0"/>
                        <a:t> is in Camera Zone 5, he cannot attack, same works for Camera zone 8. If he fails an attack he rolls a 50/50 on whether he stays in 5 or moves to 8.</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14.</a:t>
                      </a:r>
                    </a:p>
                  </a:txBody>
                  <a:tcPr/>
                </a:tc>
                <a:tc>
                  <a:txBody>
                    <a:bodyPr/>
                    <a:lstStyle/>
                    <a:p>
                      <a:r>
                        <a:rPr lang="en-GB" sz="800" dirty="0"/>
                        <a:t>Prototype Level 4 Enemy  Movement Test</a:t>
                      </a:r>
                    </a:p>
                  </a:txBody>
                  <a:tcPr/>
                </a:tc>
                <a:tc>
                  <a:txBody>
                    <a:bodyPr/>
                    <a:lstStyle/>
                    <a:p>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Obj_amcd_prototype_level4</a:t>
                      </a:r>
                    </a:p>
                    <a:p>
                      <a:endParaRPr lang="en-GB" sz="800" dirty="0"/>
                    </a:p>
                  </a:txBody>
                  <a:tcPr/>
                </a:tc>
                <a:tc>
                  <a:txBody>
                    <a:bodyPr/>
                    <a:lstStyle/>
                    <a:p>
                      <a:r>
                        <a:rPr lang="en-GB" sz="800" dirty="0"/>
                        <a:t>Prototype is a full deck, a combination of every enemies behaviours. When he’s at the door, he stays for a long time, he’s silent like </a:t>
                      </a:r>
                      <a:r>
                        <a:rPr lang="en-GB" sz="800" dirty="0" err="1"/>
                        <a:t>Gwiber</a:t>
                      </a:r>
                      <a:r>
                        <a:rPr lang="en-GB" sz="800" dirty="0"/>
                        <a:t> and his main behaviour which is related to K9. Prototype can move from any Camera zone. When he leaves the door he chooses what camera zone he wants to go to between 1,20 (all of them besides the zone he’s currently in). This makes him unpredictable.</a:t>
                      </a:r>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r>
                        <a:rPr lang="en-GB" sz="800" dirty="0"/>
                        <a:t>15.</a:t>
                      </a:r>
                    </a:p>
                  </a:txBody>
                  <a:tcPr/>
                </a:tc>
                <a:tc>
                  <a:txBody>
                    <a:bodyPr/>
                    <a:lstStyle/>
                    <a:p>
                      <a:r>
                        <a:rPr lang="en-GB" sz="800" dirty="0"/>
                        <a:t>Prototype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is a full deck, a combination of every enemies behaviours. When he’s at the door, he stays for a long time, he’s silent like </a:t>
                      </a:r>
                      <a:r>
                        <a:rPr lang="en-GB" sz="800" dirty="0" err="1"/>
                        <a:t>Gwiber</a:t>
                      </a:r>
                      <a:r>
                        <a:rPr lang="en-GB" sz="800" dirty="0"/>
                        <a:t> and his main behaviour which is related to K9. Prototype can move from any Camera zone. When he leaves the door he chooses what camera zone he wants to go to between 1,20 (all of them besides the zone he’s currently in). This makes him unpredictable.</a:t>
                      </a:r>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01592"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838271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2518163840"/>
              </p:ext>
            </p:extLst>
          </p:nvPr>
        </p:nvGraphicFramePr>
        <p:xfrm>
          <a:off x="0" y="391886"/>
          <a:ext cx="12034157" cy="574977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465614">
                  <a:extLst>
                    <a:ext uri="{9D8B030D-6E8A-4147-A177-3AD203B41FA5}">
                      <a16:colId xmlns:a16="http://schemas.microsoft.com/office/drawing/2014/main" val="3102287305"/>
                    </a:ext>
                  </a:extLst>
                </a:gridCol>
                <a:gridCol w="91747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4120849">
                  <a:extLst>
                    <a:ext uri="{9D8B030D-6E8A-4147-A177-3AD203B41FA5}">
                      <a16:colId xmlns:a16="http://schemas.microsoft.com/office/drawing/2014/main" val="786884226"/>
                    </a:ext>
                  </a:extLst>
                </a:gridCol>
                <a:gridCol w="2310493">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16.</a:t>
                      </a:r>
                    </a:p>
                  </a:txBody>
                  <a:tcPr/>
                </a:tc>
                <a:tc>
                  <a:txBody>
                    <a:bodyPr/>
                    <a:lstStyle/>
                    <a:p>
                      <a:r>
                        <a:rPr lang="en-GB" sz="800" dirty="0" err="1"/>
                        <a:t>Gwiber</a:t>
                      </a:r>
                      <a:r>
                        <a:rPr lang="en-GB" sz="800" dirty="0"/>
                        <a:t> Level 1 watched</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20.</a:t>
                      </a:r>
                    </a:p>
                  </a:txBody>
                  <a:tcPr/>
                </a:tc>
                <a:tc>
                  <a:txBody>
                    <a:bodyPr/>
                    <a:lstStyle/>
                    <a:p>
                      <a:r>
                        <a:rPr lang="en-GB" sz="800" dirty="0"/>
                        <a:t>K9 level 1 watched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r>
                        <a:rPr lang="en-GB" sz="800" dirty="0"/>
                        <a:t>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648831">
                <a:tc>
                  <a:txBody>
                    <a:bodyPr/>
                    <a:lstStyle/>
                    <a:p>
                      <a:r>
                        <a:rPr lang="en-GB" sz="800" dirty="0"/>
                        <a:t>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48080"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3802303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1948560174"/>
              </p:ext>
            </p:extLst>
          </p:nvPr>
        </p:nvGraphicFramePr>
        <p:xfrm>
          <a:off x="0" y="391886"/>
          <a:ext cx="12034157" cy="574977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465614">
                  <a:extLst>
                    <a:ext uri="{9D8B030D-6E8A-4147-A177-3AD203B41FA5}">
                      <a16:colId xmlns:a16="http://schemas.microsoft.com/office/drawing/2014/main" val="3102287305"/>
                    </a:ext>
                  </a:extLst>
                </a:gridCol>
                <a:gridCol w="91747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4120849">
                  <a:extLst>
                    <a:ext uri="{9D8B030D-6E8A-4147-A177-3AD203B41FA5}">
                      <a16:colId xmlns:a16="http://schemas.microsoft.com/office/drawing/2014/main" val="786884226"/>
                    </a:ext>
                  </a:extLst>
                </a:gridCol>
                <a:gridCol w="2310493">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24.</a:t>
                      </a:r>
                    </a:p>
                  </a:txBody>
                  <a:tcPr/>
                </a:tc>
                <a:tc>
                  <a:txBody>
                    <a:bodyPr/>
                    <a:lstStyle/>
                    <a:p>
                      <a:r>
                        <a:rPr lang="en-GB" sz="800" dirty="0"/>
                        <a:t>Bulker Level 1 watched</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28.</a:t>
                      </a:r>
                    </a:p>
                  </a:txBody>
                  <a:tcPr/>
                </a:tc>
                <a:tc>
                  <a:txBody>
                    <a:bodyPr/>
                    <a:lstStyle/>
                    <a:p>
                      <a:r>
                        <a:rPr lang="en-GB" sz="800" dirty="0"/>
                        <a:t>Prototype level 4 watched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Prototype, Prototype‘s movement timer slows down. To be more specific his normal movement timer is -3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level 5 watched</a:t>
                      </a:r>
                    </a:p>
                    <a:p>
                      <a:endParaRPr lang="en-GB" sz="800" dirty="0"/>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-3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648831">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48080"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3693812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1228830394"/>
              </p:ext>
            </p:extLst>
          </p:nvPr>
        </p:nvGraphicFramePr>
        <p:xfrm>
          <a:off x="0" y="391886"/>
          <a:ext cx="12034157" cy="602673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1428750">
                  <a:extLst>
                    <a:ext uri="{9D8B030D-6E8A-4147-A177-3AD203B41FA5}">
                      <a16:colId xmlns:a16="http://schemas.microsoft.com/office/drawing/2014/main" val="3102287305"/>
                    </a:ext>
                  </a:extLst>
                </a:gridCol>
                <a:gridCol w="677635">
                  <a:extLst>
                    <a:ext uri="{9D8B030D-6E8A-4147-A177-3AD203B41FA5}">
                      <a16:colId xmlns:a16="http://schemas.microsoft.com/office/drawing/2014/main" val="4080696647"/>
                    </a:ext>
                  </a:extLst>
                </a:gridCol>
                <a:gridCol w="1306286">
                  <a:extLst>
                    <a:ext uri="{9D8B030D-6E8A-4147-A177-3AD203B41FA5}">
                      <a16:colId xmlns:a16="http://schemas.microsoft.com/office/drawing/2014/main" val="132880537"/>
                    </a:ext>
                  </a:extLst>
                </a:gridCol>
                <a:gridCol w="7143750">
                  <a:extLst>
                    <a:ext uri="{9D8B030D-6E8A-4147-A177-3AD203B41FA5}">
                      <a16:colId xmlns:a16="http://schemas.microsoft.com/office/drawing/2014/main" val="786884226"/>
                    </a:ext>
                  </a:extLst>
                </a:gridCol>
                <a:gridCol w="775607">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648831">
                <a:tc>
                  <a:txBody>
                    <a:bodyPr/>
                    <a:lstStyle/>
                    <a:p>
                      <a:r>
                        <a:rPr lang="en-GB" sz="800" dirty="0"/>
                        <a:t>30.</a:t>
                      </a:r>
                    </a:p>
                  </a:txBody>
                  <a:tcPr/>
                </a:tc>
                <a:tc>
                  <a:txBody>
                    <a:bodyPr/>
                    <a:lstStyle/>
                    <a:p>
                      <a:r>
                        <a:rPr lang="en-GB" sz="800" dirty="0" err="1"/>
                        <a:t>Gwiber</a:t>
                      </a:r>
                      <a:r>
                        <a:rPr lang="en-GB" sz="800" dirty="0"/>
                        <a:t> zone change level 1</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txBody>
                  <a:tcPr/>
                </a:tc>
                <a:tc>
                  <a:txBody>
                    <a:bodyPr/>
                    <a:lstStyle/>
                    <a:p>
                      <a:endParaRPr lang="en-GB" sz="800" dirty="0"/>
                    </a:p>
                  </a:txBody>
                  <a:tcPr/>
                </a:tc>
                <a:extLst>
                  <a:ext uri="{0D108BD9-81ED-4DB2-BD59-A6C34878D82A}">
                    <a16:rowId xmlns:a16="http://schemas.microsoft.com/office/drawing/2014/main" val="2541011158"/>
                  </a:ext>
                </a:extLst>
              </a:tr>
              <a:tr h="548322">
                <a:tc>
                  <a:txBody>
                    <a:bodyPr/>
                    <a:lstStyle/>
                    <a:p>
                      <a:r>
                        <a:rPr lang="en-GB" sz="800" dirty="0"/>
                        <a:t>31.</a:t>
                      </a:r>
                    </a:p>
                  </a:txBody>
                  <a:tcPr/>
                </a:tc>
                <a:tc>
                  <a:txBody>
                    <a:bodyPr/>
                    <a:lstStyle/>
                    <a:p>
                      <a:r>
                        <a:rPr lang="en-GB" sz="800" dirty="0" err="1"/>
                        <a:t>Gwiber</a:t>
                      </a:r>
                      <a:r>
                        <a:rPr lang="en-GB" sz="800" dirty="0"/>
                        <a:t> zone change level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4133394058"/>
                  </a:ext>
                </a:extLst>
              </a:tr>
              <a:tr h="648831">
                <a:tc>
                  <a:txBody>
                    <a:bodyPr/>
                    <a:lstStyle/>
                    <a:p>
                      <a:r>
                        <a:rPr lang="en-GB" sz="800" dirty="0"/>
                        <a:t>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zone change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3113226149"/>
                  </a:ext>
                </a:extLst>
              </a:tr>
              <a:tr h="685312">
                <a:tc>
                  <a:txBody>
                    <a:bodyPr/>
                    <a:lstStyle/>
                    <a:p>
                      <a:r>
                        <a:rPr lang="en-GB" sz="800" dirty="0"/>
                        <a:t>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156842521"/>
                  </a:ext>
                </a:extLst>
              </a:tr>
              <a:tr h="648831">
                <a:tc>
                  <a:txBody>
                    <a:bodyPr/>
                    <a:lstStyle/>
                    <a:p>
                      <a:r>
                        <a:rPr lang="en-GB" sz="800" dirty="0"/>
                        <a:t>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3341429027"/>
                  </a:ext>
                </a:extLst>
              </a:tr>
              <a:tr h="648831">
                <a:tc>
                  <a:txBody>
                    <a:bodyPr/>
                    <a:lstStyle/>
                    <a:p>
                      <a:r>
                        <a:rPr lang="en-GB" sz="800" dirty="0"/>
                        <a:t>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830951609"/>
                  </a:ext>
                </a:extLst>
              </a:tr>
              <a:tr h="648831">
                <a:tc>
                  <a:txBody>
                    <a:bodyPr/>
                    <a:lstStyle/>
                    <a:p>
                      <a:r>
                        <a:rPr lang="en-GB" sz="800" dirty="0"/>
                        <a:t>36.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951929266"/>
                  </a:ext>
                </a:extLst>
              </a:tr>
              <a:tr h="648831">
                <a:tc>
                  <a:txBody>
                    <a:bodyPr/>
                    <a:lstStyle/>
                    <a:p>
                      <a:r>
                        <a:rPr lang="en-GB" sz="800" dirty="0"/>
                        <a:t>37.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2263943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2957669" cy="369332"/>
          </a:xfrm>
          <a:prstGeom prst="rect">
            <a:avLst/>
          </a:prstGeom>
          <a:noFill/>
        </p:spPr>
        <p:txBody>
          <a:bodyPr wrap="none" rtlCol="0">
            <a:spAutoFit/>
          </a:bodyPr>
          <a:lstStyle/>
          <a:p>
            <a:r>
              <a:rPr lang="en-GB" dirty="0"/>
              <a:t>Enemy Zone Change Testing</a:t>
            </a:r>
          </a:p>
        </p:txBody>
      </p:sp>
    </p:spTree>
    <p:extLst>
      <p:ext uri="{BB962C8B-B14F-4D97-AF65-F5344CB8AC3E}">
        <p14:creationId xmlns:p14="http://schemas.microsoft.com/office/powerpoint/2010/main" val="10043919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extLst>
              <p:ext uri="{D42A27DB-BD31-4B8C-83A1-F6EECF244321}">
                <p14:modId xmlns:p14="http://schemas.microsoft.com/office/powerpoint/2010/main" val="48013024"/>
              </p:ext>
            </p:extLst>
          </p:nvPr>
        </p:nvGraphicFramePr>
        <p:xfrm>
          <a:off x="0" y="391886"/>
          <a:ext cx="10940142" cy="6048463"/>
        </p:xfrm>
        <a:graphic>
          <a:graphicData uri="http://schemas.openxmlformats.org/drawingml/2006/table">
            <a:tbl>
              <a:tblPr firstRow="1" bandRow="1">
                <a:tableStyleId>{5C22544A-7EE6-4342-B048-85BDC9FD1C3A}</a:tableStyleId>
              </a:tblPr>
              <a:tblGrid>
                <a:gridCol w="471903">
                  <a:extLst>
                    <a:ext uri="{9D8B030D-6E8A-4147-A177-3AD203B41FA5}">
                      <a16:colId xmlns:a16="http://schemas.microsoft.com/office/drawing/2014/main" val="2041145262"/>
                    </a:ext>
                  </a:extLst>
                </a:gridCol>
                <a:gridCol w="1657147">
                  <a:extLst>
                    <a:ext uri="{9D8B030D-6E8A-4147-A177-3AD203B41FA5}">
                      <a16:colId xmlns:a16="http://schemas.microsoft.com/office/drawing/2014/main" val="3102287305"/>
                    </a:ext>
                  </a:extLst>
                </a:gridCol>
                <a:gridCol w="616636">
                  <a:extLst>
                    <a:ext uri="{9D8B030D-6E8A-4147-A177-3AD203B41FA5}">
                      <a16:colId xmlns:a16="http://schemas.microsoft.com/office/drawing/2014/main" val="4080696647"/>
                    </a:ext>
                  </a:extLst>
                </a:gridCol>
                <a:gridCol w="1019984">
                  <a:extLst>
                    <a:ext uri="{9D8B030D-6E8A-4147-A177-3AD203B41FA5}">
                      <a16:colId xmlns:a16="http://schemas.microsoft.com/office/drawing/2014/main" val="132880537"/>
                    </a:ext>
                  </a:extLst>
                </a:gridCol>
                <a:gridCol w="3587236">
                  <a:extLst>
                    <a:ext uri="{9D8B030D-6E8A-4147-A177-3AD203B41FA5}">
                      <a16:colId xmlns:a16="http://schemas.microsoft.com/office/drawing/2014/main" val="786884226"/>
                    </a:ext>
                  </a:extLst>
                </a:gridCol>
                <a:gridCol w="3587236">
                  <a:extLst>
                    <a:ext uri="{9D8B030D-6E8A-4147-A177-3AD203B41FA5}">
                      <a16:colId xmlns:a16="http://schemas.microsoft.com/office/drawing/2014/main" val="3813578648"/>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648831">
                <a:tc>
                  <a:txBody>
                    <a:bodyPr/>
                    <a:lstStyle/>
                    <a:p>
                      <a:r>
                        <a:rPr lang="en-GB" sz="800" dirty="0"/>
                        <a:t>38.</a:t>
                      </a:r>
                    </a:p>
                  </a:txBody>
                  <a:tcPr/>
                </a:tc>
                <a:tc>
                  <a:txBody>
                    <a:bodyPr/>
                    <a:lstStyle/>
                    <a:p>
                      <a:r>
                        <a:rPr lang="en-GB" sz="800" dirty="0"/>
                        <a:t> Bulker zone change level 2</a:t>
                      </a:r>
                    </a:p>
                  </a:txBody>
                  <a:tcPr/>
                </a:tc>
                <a:tc>
                  <a:txBody>
                    <a:bodyPr/>
                    <a:lstStyle/>
                    <a:p>
                      <a:r>
                        <a:rPr lang="en-GB" sz="800" dirty="0"/>
                        <a:t>Rm_level2</a:t>
                      </a:r>
                    </a:p>
                  </a:txBody>
                  <a:tcPr/>
                </a:tc>
                <a:tc>
                  <a:txBody>
                    <a:bodyPr/>
                    <a:lstStyle/>
                    <a:p>
                      <a:r>
                        <a:rPr lang="en-GB" sz="800" dirty="0"/>
                        <a:t>Obj_amcd_bulker_lvl2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r h="648831">
                <a:tc>
                  <a:txBody>
                    <a:bodyPr/>
                    <a:lstStyle/>
                    <a:p>
                      <a:r>
                        <a:rPr lang="en-GB" sz="800" dirty="0"/>
                        <a:t>39.</a:t>
                      </a:r>
                    </a:p>
                  </a:txBody>
                  <a:tcPr/>
                </a:tc>
                <a:tc>
                  <a:txBody>
                    <a:bodyPr/>
                    <a:lstStyle/>
                    <a:p>
                      <a:r>
                        <a:rPr lang="en-GB" sz="800" dirty="0"/>
                        <a:t>Bulker zone change level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4133394058"/>
                  </a:ext>
                </a:extLst>
              </a:tr>
              <a:tr h="648831">
                <a:tc>
                  <a:txBody>
                    <a:bodyPr/>
                    <a:lstStyle/>
                    <a:p>
                      <a:r>
                        <a:rPr lang="en-GB" sz="800" dirty="0"/>
                        <a:t>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3113226149"/>
                  </a:ext>
                </a:extLst>
              </a:tr>
              <a:tr h="685312">
                <a:tc>
                  <a:txBody>
                    <a:bodyPr/>
                    <a:lstStyle/>
                    <a:p>
                      <a:r>
                        <a:rPr lang="en-GB" sz="800" dirty="0"/>
                        <a:t>41.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zone change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Prototype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Prototype is moving to, then the zone Prototype is moving to, will change its object to display the zone with both Prototype and K9. If Prototype moves to a zone, then the previous zone he was in, will return to normal, or if K9 was in the same zone, it will only display the K9 zone after Prototype leaves it. If Prototype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156842521"/>
                  </a:ext>
                </a:extLst>
              </a:tr>
              <a:tr h="734786">
                <a:tc>
                  <a:txBody>
                    <a:bodyPr/>
                    <a:lstStyle/>
                    <a:p>
                      <a:r>
                        <a:rPr lang="en-GB" sz="800" dirty="0"/>
                        <a:t>42.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Prototype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Prototype is moving to, then the zone Prototype is moving to, will change its object to display the zone with both Prototype and K9. If Prototype moves to a zone, then the previous zone he was in, will return to normal, or if K9 was in the same zone, it will only display the K9 zone after Prototype leaves it. If Prototype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3341429027"/>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2957669" cy="369332"/>
          </a:xfrm>
          <a:prstGeom prst="rect">
            <a:avLst/>
          </a:prstGeom>
          <a:noFill/>
        </p:spPr>
        <p:txBody>
          <a:bodyPr wrap="none" rtlCol="0">
            <a:spAutoFit/>
          </a:bodyPr>
          <a:lstStyle/>
          <a:p>
            <a:r>
              <a:rPr lang="en-GB" dirty="0"/>
              <a:t>Enemy Zone Change Testing</a:t>
            </a:r>
          </a:p>
        </p:txBody>
      </p:sp>
    </p:spTree>
    <p:extLst>
      <p:ext uri="{BB962C8B-B14F-4D97-AF65-F5344CB8AC3E}">
        <p14:creationId xmlns:p14="http://schemas.microsoft.com/office/powerpoint/2010/main" val="2951916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FED8-8070-9576-7EC6-AE635117491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5D6642C-B464-D525-3EB5-3AAB8B4ACC80}"/>
              </a:ext>
            </a:extLst>
          </p:cNvPr>
          <p:cNvGraphicFramePr>
            <a:graphicFrameLocks noGrp="1"/>
          </p:cNvGraphicFramePr>
          <p:nvPr>
            <p:extLst>
              <p:ext uri="{D42A27DB-BD31-4B8C-83A1-F6EECF244321}">
                <p14:modId xmlns:p14="http://schemas.microsoft.com/office/powerpoint/2010/main" val="701358460"/>
              </p:ext>
            </p:extLst>
          </p:nvPr>
        </p:nvGraphicFramePr>
        <p:xfrm>
          <a:off x="114300" y="391885"/>
          <a:ext cx="11487150" cy="5865583"/>
        </p:xfrm>
        <a:graphic>
          <a:graphicData uri="http://schemas.openxmlformats.org/drawingml/2006/table">
            <a:tbl>
              <a:tblPr firstRow="1" bandRow="1">
                <a:tableStyleId>{5C22544A-7EE6-4342-B048-85BDC9FD1C3A}</a:tableStyleId>
              </a:tblPr>
              <a:tblGrid>
                <a:gridCol w="495498">
                  <a:extLst>
                    <a:ext uri="{9D8B030D-6E8A-4147-A177-3AD203B41FA5}">
                      <a16:colId xmlns:a16="http://schemas.microsoft.com/office/drawing/2014/main" val="2041145262"/>
                    </a:ext>
                  </a:extLst>
                </a:gridCol>
                <a:gridCol w="1740005">
                  <a:extLst>
                    <a:ext uri="{9D8B030D-6E8A-4147-A177-3AD203B41FA5}">
                      <a16:colId xmlns:a16="http://schemas.microsoft.com/office/drawing/2014/main" val="3102287305"/>
                    </a:ext>
                  </a:extLst>
                </a:gridCol>
                <a:gridCol w="647468">
                  <a:extLst>
                    <a:ext uri="{9D8B030D-6E8A-4147-A177-3AD203B41FA5}">
                      <a16:colId xmlns:a16="http://schemas.microsoft.com/office/drawing/2014/main" val="4080696647"/>
                    </a:ext>
                  </a:extLst>
                </a:gridCol>
                <a:gridCol w="1070983">
                  <a:extLst>
                    <a:ext uri="{9D8B030D-6E8A-4147-A177-3AD203B41FA5}">
                      <a16:colId xmlns:a16="http://schemas.microsoft.com/office/drawing/2014/main" val="132880537"/>
                    </a:ext>
                  </a:extLst>
                </a:gridCol>
                <a:gridCol w="5002267">
                  <a:extLst>
                    <a:ext uri="{9D8B030D-6E8A-4147-A177-3AD203B41FA5}">
                      <a16:colId xmlns:a16="http://schemas.microsoft.com/office/drawing/2014/main" val="786884226"/>
                    </a:ext>
                  </a:extLst>
                </a:gridCol>
                <a:gridCol w="2530929">
                  <a:extLst>
                    <a:ext uri="{9D8B030D-6E8A-4147-A177-3AD203B41FA5}">
                      <a16:colId xmlns:a16="http://schemas.microsoft.com/office/drawing/2014/main" val="642979864"/>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43.</a:t>
                      </a:r>
                    </a:p>
                  </a:txBody>
                  <a:tcPr/>
                </a:tc>
                <a:tc>
                  <a:txBody>
                    <a:bodyPr/>
                    <a:lstStyle/>
                    <a:p>
                      <a:r>
                        <a:rPr lang="en-GB" sz="800" dirty="0"/>
                        <a:t>Oxygen Door/vent controller</a:t>
                      </a:r>
                    </a:p>
                  </a:txBody>
                  <a:tcPr/>
                </a:tc>
                <a:tc>
                  <a:txBody>
                    <a:bodyPr/>
                    <a:lstStyle/>
                    <a:p>
                      <a:r>
                        <a:rPr lang="en-GB" sz="800" dirty="0"/>
                        <a:t>Rm_level1 - 5</a:t>
                      </a:r>
                    </a:p>
                  </a:txBody>
                  <a:tcPr/>
                </a:tc>
                <a:tc>
                  <a:txBody>
                    <a:bodyPr/>
                    <a:lstStyle/>
                    <a:p>
                      <a:r>
                        <a:rPr lang="en-GB" sz="800" dirty="0" err="1"/>
                        <a:t>obj_oxygen_door_controller</a:t>
                      </a:r>
                      <a:endParaRPr lang="en-GB" sz="800" dirty="0"/>
                    </a:p>
                  </a:txBody>
                  <a:tcPr/>
                </a:tc>
                <a:tc>
                  <a:txBody>
                    <a:bodyPr/>
                    <a:lstStyle/>
                    <a:p>
                      <a:r>
                        <a:rPr lang="en-GB" sz="800" dirty="0"/>
                        <a:t>The Oxygen controller is very unique so discussing its function may take a bit, so I will break down its function into its key functions. </a:t>
                      </a:r>
                    </a:p>
                    <a:p>
                      <a:endParaRPr lang="en-GB" sz="800" dirty="0"/>
                    </a:p>
                    <a:p>
                      <a:r>
                        <a:rPr lang="en-GB" sz="800" dirty="0"/>
                        <a:t>The oxygen controller has 5 primary functions</a:t>
                      </a:r>
                    </a:p>
                    <a:p>
                      <a:endParaRPr lang="en-GB" sz="800" dirty="0"/>
                    </a:p>
                    <a:p>
                      <a:pPr marL="228600" indent="-228600">
                        <a:buAutoNum type="arabicPeriod"/>
                      </a:pPr>
                      <a:r>
                        <a:rPr lang="en-GB" sz="800" dirty="0"/>
                        <a:t>Sync Doors and Vents together</a:t>
                      </a:r>
                    </a:p>
                    <a:p>
                      <a:pPr marL="228600" indent="-228600">
                        <a:buAutoNum type="arabicPeriod"/>
                      </a:pPr>
                      <a:endParaRPr lang="en-GB" sz="800" dirty="0"/>
                    </a:p>
                    <a:p>
                      <a:pPr marL="228600" indent="-228600">
                        <a:buAutoNum type="arabicPeriod"/>
                      </a:pPr>
                      <a:r>
                        <a:rPr lang="en-GB" sz="800" dirty="0"/>
                        <a:t>Decrease Oxygen faster when more vents/doors are closed and increase it when less or none are closed (the oxygens speed is determined by the number of doors open and closed</a:t>
                      </a:r>
                    </a:p>
                    <a:p>
                      <a:pPr marL="228600" indent="-228600">
                        <a:buAutoNum type="arabicPeriod"/>
                      </a:pPr>
                      <a:endParaRPr lang="en-GB" sz="800" dirty="0"/>
                    </a:p>
                    <a:p>
                      <a:pPr marL="228600" indent="-228600">
                        <a:buAutoNum type="arabicPeriod"/>
                      </a:pPr>
                      <a:r>
                        <a:rPr lang="en-GB" sz="800" dirty="0"/>
                        <a:t>Acknowledge when oxygen = 0, and decrease HP</a:t>
                      </a:r>
                    </a:p>
                    <a:p>
                      <a:pPr marL="228600" indent="-228600">
                        <a:buAutoNum type="arabicPeriod"/>
                      </a:pPr>
                      <a:endParaRPr lang="en-GB" sz="800" dirty="0"/>
                    </a:p>
                    <a:p>
                      <a:pPr marL="228600" indent="-228600">
                        <a:buAutoNum type="arabicPeriod"/>
                      </a:pPr>
                      <a:r>
                        <a:rPr lang="en-GB" sz="800" dirty="0"/>
                        <a:t>If HP = 0, </a:t>
                      </a:r>
                      <a:r>
                        <a:rPr lang="en-GB" sz="800" dirty="0" err="1"/>
                        <a:t>global.dead</a:t>
                      </a:r>
                      <a:r>
                        <a:rPr lang="en-GB" sz="800" dirty="0"/>
                        <a:t> = true</a:t>
                      </a:r>
                    </a:p>
                    <a:p>
                      <a:pPr marL="228600" indent="-228600">
                        <a:buAutoNum type="arabicPeriod"/>
                      </a:pPr>
                      <a:endParaRPr lang="en-GB" sz="800" dirty="0"/>
                    </a:p>
                    <a:p>
                      <a:pPr marL="228600" indent="-228600">
                        <a:buAutoNum type="arabicPeriod"/>
                      </a:pPr>
                      <a:r>
                        <a:rPr lang="en-GB" sz="800" dirty="0"/>
                        <a:t>Change the doors/vents sprites based on whether the doors/vents are in an open or closed state.</a:t>
                      </a:r>
                    </a:p>
                  </a:txBody>
                  <a:tcPr/>
                </a:tc>
                <a:tc>
                  <a:txBody>
                    <a:bodyPr/>
                    <a:lstStyle/>
                    <a:p>
                      <a:pPr marL="228600" indent="-228600">
                        <a:buAutoNum type="arabicPeriod"/>
                      </a:pPr>
                      <a:endParaRPr lang="en-GB" sz="800" dirty="0"/>
                    </a:p>
                  </a:txBody>
                  <a:tcPr/>
                </a:tc>
                <a:extLst>
                  <a:ext uri="{0D108BD9-81ED-4DB2-BD59-A6C34878D82A}">
                    <a16:rowId xmlns:a16="http://schemas.microsoft.com/office/drawing/2014/main" val="289599235"/>
                  </a:ext>
                </a:extLst>
              </a:tr>
              <a:tr h="470623">
                <a:tc>
                  <a:txBody>
                    <a:bodyPr/>
                    <a:lstStyle/>
                    <a:p>
                      <a:r>
                        <a:rPr lang="en-GB" sz="800" dirty="0"/>
                        <a:t>44.</a:t>
                      </a:r>
                    </a:p>
                  </a:txBody>
                  <a:tcPr/>
                </a:tc>
                <a:tc>
                  <a:txBody>
                    <a:bodyPr/>
                    <a:lstStyle/>
                    <a:p>
                      <a:r>
                        <a:rPr lang="en-GB" sz="800" dirty="0"/>
                        <a:t>Camera controller level 1</a:t>
                      </a:r>
                    </a:p>
                  </a:txBody>
                  <a:tcPr/>
                </a:tc>
                <a:tc>
                  <a:txBody>
                    <a:bodyPr/>
                    <a:lstStyle/>
                    <a:p>
                      <a:r>
                        <a:rPr lang="en-GB" sz="800" dirty="0"/>
                        <a:t>Rm_level1</a:t>
                      </a:r>
                    </a:p>
                  </a:txBody>
                  <a:tcPr/>
                </a:tc>
                <a:tc>
                  <a:txBody>
                    <a:bodyPr/>
                    <a:lstStyle/>
                    <a:p>
                      <a:r>
                        <a:rPr lang="en-GB" sz="800" dirty="0"/>
                        <a:t>obj_camera_controller_lvl1</a:t>
                      </a:r>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1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2</a:t>
                      </a:r>
                    </a:p>
                    <a:p>
                      <a:endParaRPr lang="en-GB" sz="800" dirty="0"/>
                    </a:p>
                  </a:txBody>
                  <a:tcPr/>
                </a:tc>
                <a:tc>
                  <a:txBody>
                    <a:bodyPr/>
                    <a:lstStyle/>
                    <a:p>
                      <a:r>
                        <a:rPr lang="en-GB" sz="800" dirty="0"/>
                        <a:t>Rm_level2</a:t>
                      </a:r>
                    </a:p>
                  </a:txBody>
                  <a:tcPr/>
                </a:tc>
                <a:tc>
                  <a:txBody>
                    <a:bodyPr/>
                    <a:lstStyle/>
                    <a:p>
                      <a:r>
                        <a:rPr lang="en-GB" sz="800" dirty="0"/>
                        <a:t>Obj_camera_controller_lvl2</a:t>
                      </a:r>
                    </a:p>
                  </a:txBody>
                  <a:tcPr/>
                </a:tc>
                <a:tc>
                  <a:txBody>
                    <a:bodyPr/>
                    <a:lstStyle/>
                    <a:p>
                      <a:pPr marL="0" indent="0">
                        <a:buNone/>
                      </a:pPr>
                      <a:r>
                        <a:rPr lang="en-GB" sz="800" dirty="0"/>
                        <a:t>The camera controller is to change the player view to a specific zone within the room. Utilizing a script to identify what zone to look at. In addition, the controller itself in its create code contains all the co-ordinates of every zone in level 2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bl>
          </a:graphicData>
        </a:graphic>
      </p:graphicFrame>
      <p:sp>
        <p:nvSpPr>
          <p:cNvPr id="2" name="TextBox 1">
            <a:extLst>
              <a:ext uri="{FF2B5EF4-FFF2-40B4-BE49-F238E27FC236}">
                <a16:creationId xmlns:a16="http://schemas.microsoft.com/office/drawing/2014/main" id="{D6904CAE-3462-802B-2A36-A942CF4E9F87}"/>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25956008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6EFD9-5657-72F8-5C69-FD38EBC53D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769D7B3-5A5E-19FE-FCF9-91E8CFBD8B16}"/>
              </a:ext>
            </a:extLst>
          </p:cNvPr>
          <p:cNvGraphicFramePr>
            <a:graphicFrameLocks noGrp="1"/>
          </p:cNvGraphicFramePr>
          <p:nvPr>
            <p:extLst>
              <p:ext uri="{D42A27DB-BD31-4B8C-83A1-F6EECF244321}">
                <p14:modId xmlns:p14="http://schemas.microsoft.com/office/powerpoint/2010/main" val="1614178007"/>
              </p:ext>
            </p:extLst>
          </p:nvPr>
        </p:nvGraphicFramePr>
        <p:xfrm>
          <a:off x="114301" y="391885"/>
          <a:ext cx="10874827" cy="63532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3</a:t>
                      </a:r>
                    </a:p>
                    <a:p>
                      <a:endParaRPr lang="en-GB" sz="800" dirty="0"/>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obj_camera_controller_lvl3</a:t>
                      </a:r>
                    </a:p>
                    <a:p>
                      <a:endParaRPr lang="en-GB" sz="800" dirty="0"/>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3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endParaRPr lang="en-GB" sz="800" dirty="0"/>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47.</a:t>
                      </a:r>
                    </a:p>
                  </a:txBody>
                  <a:tcPr/>
                </a:tc>
                <a:tc>
                  <a:txBody>
                    <a:bodyPr/>
                    <a:lstStyle/>
                    <a:p>
                      <a:r>
                        <a:rPr lang="en-GB" sz="800" dirty="0"/>
                        <a:t>Camera controller level 4</a:t>
                      </a:r>
                    </a:p>
                  </a:txBody>
                  <a:tcPr/>
                </a:tc>
                <a:tc>
                  <a:txBody>
                    <a:bodyPr/>
                    <a:lstStyle/>
                    <a:p>
                      <a:r>
                        <a:rPr lang="en-GB" sz="800" dirty="0"/>
                        <a:t>Rm_level4</a:t>
                      </a:r>
                    </a:p>
                  </a:txBody>
                  <a:tcPr/>
                </a:tc>
                <a:tc>
                  <a:txBody>
                    <a:bodyPr/>
                    <a:lstStyle/>
                    <a:p>
                      <a:r>
                        <a:rPr lang="en-GB" sz="800" dirty="0"/>
                        <a:t>obj_camera_controller_lvl4</a:t>
                      </a:r>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4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5</a:t>
                      </a:r>
                    </a:p>
                    <a:p>
                      <a:endParaRPr lang="en-GB" sz="800" dirty="0"/>
                    </a:p>
                  </a:txBody>
                  <a:tcPr/>
                </a:tc>
                <a:tc>
                  <a:txBody>
                    <a:bodyPr/>
                    <a:lstStyle/>
                    <a:p>
                      <a:r>
                        <a:rPr lang="en-GB" sz="800" dirty="0"/>
                        <a:t>Rm_level5</a:t>
                      </a:r>
                    </a:p>
                  </a:txBody>
                  <a:tcPr/>
                </a:tc>
                <a:tc>
                  <a:txBody>
                    <a:bodyPr/>
                    <a:lstStyle/>
                    <a:p>
                      <a:r>
                        <a:rPr lang="en-GB" sz="800" dirty="0"/>
                        <a:t>Obj_camera_controller_lvl5</a:t>
                      </a:r>
                    </a:p>
                  </a:txBody>
                  <a:tcPr/>
                </a:tc>
                <a:tc>
                  <a:txBody>
                    <a:bodyPr/>
                    <a:lstStyle/>
                    <a:p>
                      <a:pPr marL="0" indent="0">
                        <a:buNone/>
                      </a:pPr>
                      <a:r>
                        <a:rPr lang="en-GB" sz="800" dirty="0"/>
                        <a:t>The camera controller is to change the player view to a specific zone within the room. Utilizing a script to identify what zone to look at. In addition, the controller itself in its create code contains all the co-ordinates of every zone in level 5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bl>
          </a:graphicData>
        </a:graphic>
      </p:graphicFrame>
      <p:sp>
        <p:nvSpPr>
          <p:cNvPr id="2" name="TextBox 1">
            <a:extLst>
              <a:ext uri="{FF2B5EF4-FFF2-40B4-BE49-F238E27FC236}">
                <a16:creationId xmlns:a16="http://schemas.microsoft.com/office/drawing/2014/main" id="{75F9E048-6337-9132-4E48-07400039BC98}"/>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23046066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23B9-484F-0887-686E-D8BB72489BF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4ADAA5F-494B-0AB9-AA89-C443F5417DB4}"/>
              </a:ext>
            </a:extLst>
          </p:cNvPr>
          <p:cNvGraphicFramePr>
            <a:graphicFrameLocks noGrp="1"/>
          </p:cNvGraphicFramePr>
          <p:nvPr>
            <p:extLst>
              <p:ext uri="{D42A27DB-BD31-4B8C-83A1-F6EECF244321}">
                <p14:modId xmlns:p14="http://schemas.microsoft.com/office/powerpoint/2010/main" val="878420764"/>
              </p:ext>
            </p:extLst>
          </p:nvPr>
        </p:nvGraphicFramePr>
        <p:xfrm>
          <a:off x="114301" y="391885"/>
          <a:ext cx="10874827" cy="2823738"/>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1</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obj_sound_controller_lvl1</a:t>
                      </a:r>
                    </a:p>
                    <a:p>
                      <a:endParaRPr lang="en-GB" sz="800" dirty="0"/>
                    </a:p>
                  </a:txBody>
                  <a:tcPr/>
                </a:tc>
                <a:tc>
                  <a:txBody>
                    <a:bodyPr/>
                    <a:lstStyle/>
                    <a:p>
                      <a:endParaRPr lang="en-GB" sz="800" dirty="0"/>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50.</a:t>
                      </a:r>
                    </a:p>
                  </a:txBody>
                  <a:tcPr/>
                </a:tc>
                <a:tc>
                  <a:txBody>
                    <a:bodyPr/>
                    <a:lstStyle/>
                    <a:p>
                      <a:r>
                        <a:rPr lang="en-GB" sz="800" dirty="0"/>
                        <a:t>Sound controller level 2</a:t>
                      </a:r>
                    </a:p>
                  </a:txBody>
                  <a:tcPr/>
                </a:tc>
                <a:tc>
                  <a:txBody>
                    <a:bodyPr/>
                    <a:lstStyle/>
                    <a:p>
                      <a:r>
                        <a:rPr lang="en-GB" sz="800" dirty="0"/>
                        <a:t>Rm_level2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obj_sound_controller_lvl2</a:t>
                      </a:r>
                    </a:p>
                    <a:p>
                      <a:endParaRPr lang="en-GB" sz="800" dirty="0"/>
                    </a:p>
                  </a:txBody>
                  <a:tcPr/>
                </a:tc>
                <a:tc>
                  <a:txBody>
                    <a:bodyPr/>
                    <a:lstStyle/>
                    <a:p>
                      <a:pPr marL="0" indent="0">
                        <a:buNone/>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51.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3</a:t>
                      </a:r>
                    </a:p>
                    <a:p>
                      <a:endParaRPr lang="en-GB" sz="800" dirty="0"/>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obj_sound_controller_lvl3</a:t>
                      </a:r>
                    </a:p>
                    <a:p>
                      <a:endParaRPr lang="en-GB" sz="800" dirty="0"/>
                    </a:p>
                  </a:txBody>
                  <a:tcPr/>
                </a:tc>
                <a:tc>
                  <a:txBody>
                    <a:bodyPr/>
                    <a:lstStyle/>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52.</a:t>
                      </a:r>
                    </a:p>
                  </a:txBody>
                  <a:tcPr/>
                </a:tc>
                <a:tc>
                  <a:txBody>
                    <a:bodyPr/>
                    <a:lstStyle/>
                    <a:p>
                      <a:r>
                        <a:rPr lang="en-GB" sz="800" dirty="0"/>
                        <a:t>Sound controller level 4</a:t>
                      </a:r>
                    </a:p>
                  </a:txBody>
                  <a:tcPr/>
                </a:tc>
                <a:tc>
                  <a:txBody>
                    <a:bodyPr/>
                    <a:lstStyle/>
                    <a:p>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obj_sound_controller_lvl4</a:t>
                      </a:r>
                    </a:p>
                    <a:p>
                      <a:endParaRPr lang="en-GB" sz="800" dirty="0"/>
                    </a:p>
                  </a:txBody>
                  <a:tcPr/>
                </a:tc>
                <a:tc>
                  <a:txBody>
                    <a:bodyPr/>
                    <a:lstStyle/>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53.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5</a:t>
                      </a:r>
                    </a:p>
                    <a:p>
                      <a:endParaRPr lang="en-GB" sz="800" dirty="0"/>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obj_sound_controller_lvl5</a:t>
                      </a:r>
                    </a:p>
                    <a:p>
                      <a:endParaRPr lang="en-GB" sz="800" dirty="0"/>
                    </a:p>
                  </a:txBody>
                  <a:tcPr/>
                </a:tc>
                <a:tc>
                  <a:txBody>
                    <a:bodyPr/>
                    <a:lstStyle/>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AA77FAAA-C496-9910-E97D-F48489976CBF}"/>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1894987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4528</TotalTime>
  <Words>16401</Words>
  <Application>Microsoft Office PowerPoint</Application>
  <PresentationFormat>Widescreen</PresentationFormat>
  <Paragraphs>1385</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Aptos</vt:lpstr>
      <vt:lpstr>Aptos Display</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Next Slides are the tests made for Build V.1.0 of Critical Failure  Testing  The each test will have a video to it at the end of this PowerPoint, showing the mechanic being tested.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ieuan Jarvis</dc:creator>
  <cp:lastModifiedBy>JAR24887099 (Ieuan Jarvis)</cp:lastModifiedBy>
  <cp:revision>418</cp:revision>
  <dcterms:created xsi:type="dcterms:W3CDTF">2025-10-10T09:00:53Z</dcterms:created>
  <dcterms:modified xsi:type="dcterms:W3CDTF">2026-02-25T15:55:45Z</dcterms:modified>
</cp:coreProperties>
</file>